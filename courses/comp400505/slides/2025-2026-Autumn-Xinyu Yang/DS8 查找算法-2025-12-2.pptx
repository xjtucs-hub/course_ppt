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13"/>
  </p:notesMasterIdLst>
  <p:sldIdLst>
    <p:sldId id="256" r:id="rId2"/>
    <p:sldId id="257" r:id="rId3"/>
    <p:sldId id="258" r:id="rId4"/>
    <p:sldId id="259" r:id="rId5"/>
    <p:sldId id="260" r:id="rId6"/>
    <p:sldId id="261" r:id="rId7"/>
    <p:sldId id="262" r:id="rId8"/>
    <p:sldId id="263" r:id="rId9"/>
    <p:sldId id="264" r:id="rId10"/>
    <p:sldId id="349" r:id="rId11"/>
    <p:sldId id="387" r:id="rId12"/>
    <p:sldId id="351" r:id="rId13"/>
    <p:sldId id="352" r:id="rId14"/>
    <p:sldId id="270" r:id="rId15"/>
    <p:sldId id="269" r:id="rId16"/>
    <p:sldId id="346" r:id="rId17"/>
    <p:sldId id="347" r:id="rId18"/>
    <p:sldId id="388" r:id="rId19"/>
    <p:sldId id="389" r:id="rId20"/>
    <p:sldId id="348" r:id="rId21"/>
    <p:sldId id="274" r:id="rId22"/>
    <p:sldId id="390" r:id="rId23"/>
    <p:sldId id="386" r:id="rId24"/>
    <p:sldId id="275" r:id="rId25"/>
    <p:sldId id="276" r:id="rId26"/>
    <p:sldId id="277" r:id="rId27"/>
    <p:sldId id="278" r:id="rId28"/>
    <p:sldId id="279" r:id="rId29"/>
    <p:sldId id="280" r:id="rId30"/>
    <p:sldId id="281" r:id="rId31"/>
    <p:sldId id="282" r:id="rId32"/>
    <p:sldId id="283" r:id="rId33"/>
    <p:sldId id="361" r:id="rId34"/>
    <p:sldId id="362" r:id="rId35"/>
    <p:sldId id="363" r:id="rId36"/>
    <p:sldId id="364" r:id="rId37"/>
    <p:sldId id="365" r:id="rId38"/>
    <p:sldId id="360" r:id="rId39"/>
    <p:sldId id="357" r:id="rId40"/>
    <p:sldId id="358" r:id="rId41"/>
    <p:sldId id="359" r:id="rId42"/>
    <p:sldId id="356" r:id="rId43"/>
    <p:sldId id="355" r:id="rId44"/>
    <p:sldId id="354" r:id="rId45"/>
    <p:sldId id="391" r:id="rId46"/>
    <p:sldId id="392" r:id="rId47"/>
    <p:sldId id="353" r:id="rId48"/>
    <p:sldId id="383"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66" r:id="rId63"/>
    <p:sldId id="367" r:id="rId64"/>
    <p:sldId id="385" r:id="rId65"/>
    <p:sldId id="368" r:id="rId66"/>
    <p:sldId id="369" r:id="rId67"/>
    <p:sldId id="370" r:id="rId68"/>
    <p:sldId id="317" r:id="rId69"/>
    <p:sldId id="318" r:id="rId70"/>
    <p:sldId id="319" r:id="rId71"/>
    <p:sldId id="320" r:id="rId72"/>
    <p:sldId id="321" r:id="rId73"/>
    <p:sldId id="322" r:id="rId74"/>
    <p:sldId id="323" r:id="rId75"/>
    <p:sldId id="324" r:id="rId76"/>
    <p:sldId id="376" r:id="rId77"/>
    <p:sldId id="377" r:id="rId78"/>
    <p:sldId id="330" r:id="rId79"/>
    <p:sldId id="331" r:id="rId80"/>
    <p:sldId id="393" r:id="rId81"/>
    <p:sldId id="394" r:id="rId82"/>
    <p:sldId id="395" r:id="rId83"/>
    <p:sldId id="396" r:id="rId84"/>
    <p:sldId id="397" r:id="rId85"/>
    <p:sldId id="398" r:id="rId86"/>
    <p:sldId id="399" r:id="rId87"/>
    <p:sldId id="400" r:id="rId88"/>
    <p:sldId id="401" r:id="rId89"/>
    <p:sldId id="332" r:id="rId90"/>
    <p:sldId id="333" r:id="rId91"/>
    <p:sldId id="334" r:id="rId92"/>
    <p:sldId id="335" r:id="rId93"/>
    <p:sldId id="336" r:id="rId94"/>
    <p:sldId id="337" r:id="rId95"/>
    <p:sldId id="378" r:id="rId96"/>
    <p:sldId id="402" r:id="rId97"/>
    <p:sldId id="403" r:id="rId98"/>
    <p:sldId id="404" r:id="rId99"/>
    <p:sldId id="405" r:id="rId100"/>
    <p:sldId id="406" r:id="rId101"/>
    <p:sldId id="407" r:id="rId102"/>
    <p:sldId id="408" r:id="rId103"/>
    <p:sldId id="409" r:id="rId104"/>
    <p:sldId id="410" r:id="rId105"/>
    <p:sldId id="411" r:id="rId106"/>
    <p:sldId id="412" r:id="rId107"/>
    <p:sldId id="343" r:id="rId108"/>
    <p:sldId id="344" r:id="rId109"/>
    <p:sldId id="413" r:id="rId110"/>
    <p:sldId id="345" r:id="rId111"/>
    <p:sldId id="384" r:id="rId1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692" y="36"/>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2025/12/2 Tuesday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38</a:t>
            </a:fld>
            <a:endParaRPr lang="zh-CN" altLang="en-US"/>
          </a:p>
        </p:txBody>
      </p:sp>
    </p:spTree>
    <p:extLst>
      <p:ext uri="{BB962C8B-B14F-4D97-AF65-F5344CB8AC3E}">
        <p14:creationId xmlns:p14="http://schemas.microsoft.com/office/powerpoint/2010/main" val="2122192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2025/12/2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西安交通大学计算机科学与技术学院</a:t>
            </a:r>
          </a:p>
        </p:txBody>
      </p:sp>
      <p:sp>
        <p:nvSpPr>
          <p:cNvPr id="11" name="TextBox 10"/>
          <p:cNvSpPr txBox="1"/>
          <p:nvPr userDrawn="1"/>
        </p:nvSpPr>
        <p:spPr>
          <a:xfrm>
            <a:off x="7884368" y="6441217"/>
            <a:ext cx="115212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/111</a:t>
            </a:r>
            <a:endParaRPr lang="zh-CN" altLang="en-US" dirty="0">
              <a:solidFill>
                <a:schemeClr val="bg1"/>
              </a:solidFill>
            </a:endParaRPr>
          </a:p>
        </p:txBody>
      </p:sp>
      <p:sp>
        <p:nvSpPr>
          <p:cNvPr id="12" name="TextBox 11"/>
          <p:cNvSpPr txBox="1"/>
          <p:nvPr userDrawn="1"/>
        </p:nvSpPr>
        <p:spPr>
          <a:xfrm>
            <a:off x="179512" y="6309320"/>
            <a:ext cx="1512168" cy="523220"/>
          </a:xfrm>
          <a:prstGeom prst="rect">
            <a:avLst/>
          </a:prstGeom>
          <a:noFill/>
        </p:spPr>
        <p:txBody>
          <a:bodyPr wrap="square" rtlCol="0">
            <a:spAutoFit/>
          </a:bodyPr>
          <a:lstStyle/>
          <a:p>
            <a:fld id="{96E4F326-64BA-411B-A3E2-178695AB5E51}" type="datetime1">
              <a:rPr lang="zh-CN" altLang="en-US" sz="1400" smtClean="0">
                <a:solidFill>
                  <a:schemeClr val="bg1"/>
                </a:solidFill>
                <a:latin typeface="黑体" panose="02010609060101010101" pitchFamily="49" charset="-122"/>
                <a:ea typeface="黑体" panose="02010609060101010101" pitchFamily="49" charset="-122"/>
              </a:rPr>
              <a:pPr/>
              <a:t>2025/12/2 Tuesday</a:t>
            </a:fld>
            <a:endParaRPr lang="zh-CN" altLang="en-US" sz="14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2025/12/2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2025/12/2 Tuesday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2025/12/2 Tuesday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2025/12/2 Tuesday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2025/12/2 Tuesday</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2025/12/2 Tuesday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2025/12/2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2025/12/2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2025/12/2 Tuesday</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tiff"/><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8</a:t>
            </a:r>
            <a:r>
              <a:rPr lang="zh-CN" altLang="zh-CN" sz="4400" b="1" dirty="0"/>
              <a:t>章 查找算法</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4139952" y="3212976"/>
            <a:ext cx="4932040" cy="2088232"/>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知识要点</a:t>
            </a:r>
            <a:endParaRPr lang="en-US" altLang="zh-CN" sz="2400" dirty="0"/>
          </a:p>
          <a:p>
            <a:r>
              <a:rPr lang="en-US" altLang="zh-CN" sz="2000" dirty="0"/>
              <a:t>(1) </a:t>
            </a:r>
            <a:r>
              <a:rPr lang="zh-CN" altLang="zh-CN" sz="2000" dirty="0"/>
              <a:t>理解查找的概念；</a:t>
            </a:r>
          </a:p>
          <a:p>
            <a:r>
              <a:rPr lang="en-US" altLang="zh-CN" sz="2000" dirty="0"/>
              <a:t>(2) </a:t>
            </a:r>
            <a:r>
              <a:rPr lang="zh-CN" altLang="zh-CN" sz="2000" dirty="0"/>
              <a:t>掌握静态查找表的方法；</a:t>
            </a:r>
          </a:p>
          <a:p>
            <a:r>
              <a:rPr lang="en-US" altLang="zh-CN" sz="2000" dirty="0"/>
              <a:t>(3) </a:t>
            </a:r>
            <a:r>
              <a:rPr lang="zh-CN" altLang="zh-CN" sz="2000" dirty="0"/>
              <a:t>熟悉并能运用散列技术解决实际问题；</a:t>
            </a:r>
          </a:p>
          <a:p>
            <a:r>
              <a:rPr lang="en-US" altLang="zh-CN" sz="2000" dirty="0"/>
              <a:t>(4) </a:t>
            </a:r>
            <a:r>
              <a:rPr lang="zh-CN" altLang="en-US" sz="2000" dirty="0"/>
              <a:t>了解</a:t>
            </a:r>
            <a:r>
              <a:rPr lang="zh-CN" altLang="zh-CN" sz="2000" dirty="0"/>
              <a:t>线性索引以及树形索引。</a:t>
            </a:r>
          </a:p>
          <a:p>
            <a:pPr algn="ctr"/>
            <a:endParaRPr lang="zh-CN" altLang="en-US" dirty="0"/>
          </a:p>
        </p:txBody>
      </p:sp>
      <p:sp>
        <p:nvSpPr>
          <p:cNvPr id="7" name="副标题 2"/>
          <p:cNvSpPr txBox="1">
            <a:spLocks/>
          </p:cNvSpPr>
          <p:nvPr/>
        </p:nvSpPr>
        <p:spPr>
          <a:xfrm>
            <a:off x="3563889" y="5949280"/>
            <a:ext cx="5976664" cy="432048"/>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a:latin typeface="华文行楷" panose="02010800040101010101" pitchFamily="2" charset="-122"/>
                <a:ea typeface="华文行楷" panose="02010800040101010101" pitchFamily="2" charset="-122"/>
              </a:rPr>
              <a:t>西安交通大学计算机科学与技术学院</a:t>
            </a: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2025/12/2 Tuesday</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8.1 </a:t>
            </a:r>
            <a:r>
              <a:rPr lang="zh-CN" altLang="zh-CN" b="1" dirty="0"/>
              <a:t>查找的基本概念</a:t>
            </a:r>
            <a:endParaRPr lang="zh-CN" altLang="en-US" dirty="0"/>
          </a:p>
        </p:txBody>
      </p:sp>
      <p:sp>
        <p:nvSpPr>
          <p:cNvPr id="3" name="内容占位符 2"/>
          <p:cNvSpPr>
            <a:spLocks noGrp="1"/>
          </p:cNvSpPr>
          <p:nvPr>
            <p:ph idx="1"/>
          </p:nvPr>
        </p:nvSpPr>
        <p:spPr>
          <a:xfrm>
            <a:off x="827584" y="1628800"/>
            <a:ext cx="7520940" cy="4608512"/>
          </a:xfrm>
        </p:spPr>
        <p:txBody>
          <a:bodyPr/>
          <a:lstStyle/>
          <a:p>
            <a:pPr marL="0" indent="0" algn="just"/>
            <a:r>
              <a:rPr lang="zh-CN" altLang="zh-CN" dirty="0">
                <a:solidFill>
                  <a:srgbClr val="FF0000"/>
                </a:solidFill>
              </a:rPr>
              <a:t>查找</a:t>
            </a:r>
            <a:r>
              <a:rPr lang="zh-CN" altLang="zh-CN" b="0" dirty="0">
                <a:solidFill>
                  <a:srgbClr val="FF0000"/>
                </a:solidFill>
              </a:rPr>
              <a:t>又称为检索</a:t>
            </a:r>
            <a:r>
              <a:rPr lang="zh-CN" altLang="en-US" b="0" dirty="0">
                <a:solidFill>
                  <a:srgbClr val="FF0000"/>
                </a:solidFill>
              </a:rPr>
              <a:t>（</a:t>
            </a:r>
            <a:r>
              <a:rPr lang="en-US" altLang="zh-CN" b="0" dirty="0">
                <a:solidFill>
                  <a:srgbClr val="FF0000"/>
                </a:solidFill>
              </a:rPr>
              <a:t>Search</a:t>
            </a:r>
            <a:r>
              <a:rPr lang="zh-CN" altLang="en-US" b="0" dirty="0">
                <a:solidFill>
                  <a:srgbClr val="FF0000"/>
                </a:solidFill>
              </a:rPr>
              <a:t>）：</a:t>
            </a:r>
            <a:r>
              <a:rPr lang="zh-CN" altLang="zh-CN" b="0" dirty="0"/>
              <a:t>确定一个已经给出的数据是否出现在某个数据元素集合</a:t>
            </a:r>
            <a:r>
              <a:rPr lang="zh-CN" altLang="en-US" b="0" dirty="0"/>
              <a:t>之</a:t>
            </a:r>
            <a:r>
              <a:rPr lang="zh-CN" altLang="zh-CN" b="0" dirty="0"/>
              <a:t>中。</a:t>
            </a:r>
            <a:endParaRPr lang="en-US" altLang="zh-CN" b="0" dirty="0"/>
          </a:p>
          <a:p>
            <a:pPr algn="just"/>
            <a:r>
              <a:rPr lang="zh-CN" altLang="zh-CN" dirty="0"/>
              <a:t>有关查找表的相关概念</a:t>
            </a:r>
            <a:r>
              <a:rPr lang="zh-CN" altLang="en-US" dirty="0"/>
              <a:t>：</a:t>
            </a:r>
            <a:endParaRPr lang="en-US" altLang="zh-CN" dirty="0"/>
          </a:p>
          <a:p>
            <a:pPr marL="0" indent="0" algn="just"/>
            <a:r>
              <a:rPr lang="zh-CN" altLang="zh-CN" dirty="0"/>
              <a:t>（</a:t>
            </a:r>
            <a:r>
              <a:rPr lang="en-US" altLang="zh-CN" dirty="0"/>
              <a:t>1</a:t>
            </a:r>
            <a:r>
              <a:rPr lang="zh-CN" altLang="zh-CN" dirty="0"/>
              <a:t>）</a:t>
            </a:r>
            <a:r>
              <a:rPr lang="zh-CN" altLang="zh-CN" dirty="0">
                <a:solidFill>
                  <a:srgbClr val="FF0000"/>
                </a:solidFill>
              </a:rPr>
              <a:t>键</a:t>
            </a:r>
            <a:r>
              <a:rPr lang="zh-CN" altLang="en-US" dirty="0">
                <a:solidFill>
                  <a:srgbClr val="FF0000"/>
                </a:solidFill>
              </a:rPr>
              <a:t>（</a:t>
            </a:r>
            <a:r>
              <a:rPr lang="en-US" altLang="zh-CN" dirty="0">
                <a:solidFill>
                  <a:srgbClr val="FF0000"/>
                </a:solidFill>
              </a:rPr>
              <a:t>Key</a:t>
            </a:r>
            <a:r>
              <a:rPr lang="zh-CN" altLang="en-US" dirty="0">
                <a:solidFill>
                  <a:srgbClr val="FF0000"/>
                </a:solidFill>
              </a:rPr>
              <a:t>）</a:t>
            </a:r>
            <a:r>
              <a:rPr lang="zh-CN" altLang="zh-CN" b="0" dirty="0"/>
              <a:t>是数据元素中的某个项或者组合项的值，用来标识一个数据元素。</a:t>
            </a:r>
            <a:endParaRPr lang="en-US" altLang="zh-CN" b="0" dirty="0"/>
          </a:p>
          <a:p>
            <a:pPr algn="just"/>
            <a:r>
              <a:rPr lang="en-US" altLang="zh-CN" b="0" dirty="0"/>
              <a:t>	</a:t>
            </a:r>
            <a:r>
              <a:rPr lang="zh-CN" altLang="zh-CN" b="0" dirty="0"/>
              <a:t>能够唯一确定一个数据元素的键，称为</a:t>
            </a:r>
            <a:r>
              <a:rPr lang="zh-CN" altLang="zh-CN" b="0" dirty="0">
                <a:solidFill>
                  <a:srgbClr val="FF0000"/>
                </a:solidFill>
              </a:rPr>
              <a:t>主键</a:t>
            </a:r>
            <a:r>
              <a:rPr lang="zh-CN" altLang="zh-CN" b="0" dirty="0"/>
              <a:t>。</a:t>
            </a:r>
            <a:endParaRPr lang="en-US" altLang="zh-CN" b="0" dirty="0"/>
          </a:p>
          <a:p>
            <a:pPr algn="just"/>
            <a:r>
              <a:rPr lang="en-US" altLang="zh-CN" b="0" dirty="0"/>
              <a:t>	</a:t>
            </a:r>
            <a:r>
              <a:rPr lang="zh-CN" altLang="zh-CN" b="0" dirty="0"/>
              <a:t>不能唯一确定一个数据元素的键，称为</a:t>
            </a:r>
            <a:r>
              <a:rPr lang="zh-CN" altLang="zh-CN" b="0" dirty="0">
                <a:solidFill>
                  <a:srgbClr val="FF0000"/>
                </a:solidFill>
              </a:rPr>
              <a:t>次键</a:t>
            </a:r>
            <a:r>
              <a:rPr lang="zh-CN" altLang="zh-CN" b="0" dirty="0"/>
              <a:t>。</a:t>
            </a:r>
            <a:endParaRPr lang="zh-CN" altLang="en-US" b="0" dirty="0"/>
          </a:p>
        </p:txBody>
      </p:sp>
    </p:spTree>
    <p:extLst>
      <p:ext uri="{BB962C8B-B14F-4D97-AF65-F5344CB8AC3E}">
        <p14:creationId xmlns:p14="http://schemas.microsoft.com/office/powerpoint/2010/main" val="1915953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08720"/>
            <a:ext cx="8460432" cy="4299929"/>
          </a:xfrm>
        </p:spPr>
        <p:txBody>
          <a:bodyPr>
            <a:normAutofit lnSpcReduction="10000"/>
          </a:bodyPr>
          <a:lstStyle/>
          <a:p>
            <a:pPr marL="0" indent="0" algn="just"/>
            <a:r>
              <a:rPr lang="zh-CN" altLang="zh-CN" b="0" dirty="0"/>
              <a:t>（</a:t>
            </a:r>
            <a:r>
              <a:rPr lang="en-US" altLang="zh-CN" b="0" dirty="0"/>
              <a:t>2</a:t>
            </a:r>
            <a:r>
              <a:rPr lang="zh-CN" altLang="zh-CN" b="0" dirty="0"/>
              <a:t>）</a:t>
            </a:r>
            <a:r>
              <a:rPr lang="zh-CN" altLang="zh-CN" dirty="0">
                <a:solidFill>
                  <a:srgbClr val="FF0000"/>
                </a:solidFill>
              </a:rPr>
              <a:t>查找表</a:t>
            </a:r>
            <a:r>
              <a:rPr lang="zh-CN" altLang="zh-CN" b="0" dirty="0"/>
              <a:t>指由具有同一类型（属性）的数据元素组成的集合。</a:t>
            </a:r>
          </a:p>
          <a:p>
            <a:pPr marL="457200" lvl="4" indent="0" algn="just"/>
            <a:r>
              <a:rPr lang="zh-CN" altLang="zh-CN" b="0" dirty="0">
                <a:solidFill>
                  <a:srgbClr val="FF0000"/>
                </a:solidFill>
              </a:rPr>
              <a:t>静态查找表</a:t>
            </a:r>
            <a:r>
              <a:rPr lang="zh-CN" altLang="zh-CN" b="0" dirty="0"/>
              <a:t>只允许进行查找，不能改变表中的数据元素。</a:t>
            </a:r>
          </a:p>
          <a:p>
            <a:pPr marL="457200" lvl="4" indent="0" algn="just"/>
            <a:r>
              <a:rPr lang="zh-CN" altLang="zh-CN" b="0" dirty="0">
                <a:solidFill>
                  <a:srgbClr val="FF0000"/>
                </a:solidFill>
              </a:rPr>
              <a:t>动态查找表</a:t>
            </a:r>
            <a:r>
              <a:rPr lang="zh-CN" altLang="zh-CN" b="0" dirty="0"/>
              <a:t>不仅可以实现查找，还允许</a:t>
            </a:r>
            <a:r>
              <a:rPr lang="zh-CN" altLang="en-US" b="0" dirty="0"/>
              <a:t>在</a:t>
            </a:r>
            <a:r>
              <a:rPr lang="zh-CN" altLang="zh-CN" b="0" dirty="0"/>
              <a:t>表中插入或删除数据元素。</a:t>
            </a:r>
          </a:p>
          <a:p>
            <a:pPr marL="0" indent="0" algn="just"/>
            <a:r>
              <a:rPr lang="zh-CN" altLang="zh-CN" b="0" dirty="0"/>
              <a:t>（</a:t>
            </a:r>
            <a:r>
              <a:rPr lang="en-US" altLang="zh-CN" b="0" dirty="0"/>
              <a:t>3</a:t>
            </a:r>
            <a:r>
              <a:rPr lang="zh-CN" altLang="zh-CN" b="0" dirty="0"/>
              <a:t>）</a:t>
            </a:r>
            <a:r>
              <a:rPr lang="zh-CN" altLang="zh-CN" dirty="0">
                <a:solidFill>
                  <a:srgbClr val="FF0000"/>
                </a:solidFill>
              </a:rPr>
              <a:t>查找</a:t>
            </a:r>
            <a:r>
              <a:rPr lang="zh-CN" altLang="zh-CN" b="0" dirty="0"/>
              <a:t>是指在查找表中</a:t>
            </a:r>
            <a:r>
              <a:rPr lang="zh-CN" altLang="en-US" b="0" dirty="0"/>
              <a:t>查询</a:t>
            </a:r>
            <a:r>
              <a:rPr lang="zh-CN" altLang="zh-CN" b="0" dirty="0"/>
              <a:t>键值与待查元素值相等的过程。</a:t>
            </a:r>
            <a:endParaRPr lang="en-US" altLang="zh-CN" b="0" dirty="0"/>
          </a:p>
          <a:p>
            <a:pPr marL="0" indent="0" algn="just"/>
            <a:r>
              <a:rPr lang="zh-CN" altLang="zh-CN" b="0" dirty="0"/>
              <a:t>（</a:t>
            </a:r>
            <a:r>
              <a:rPr lang="en-US" altLang="zh-CN" b="0" dirty="0"/>
              <a:t>4</a:t>
            </a:r>
            <a:r>
              <a:rPr lang="zh-CN" altLang="zh-CN" b="0" dirty="0"/>
              <a:t>）</a:t>
            </a:r>
            <a:r>
              <a:rPr lang="zh-CN" altLang="zh-CN" dirty="0">
                <a:solidFill>
                  <a:srgbClr val="FF0000"/>
                </a:solidFill>
              </a:rPr>
              <a:t>平均查找长度</a:t>
            </a:r>
            <a:r>
              <a:rPr lang="zh-CN" altLang="zh-CN" b="0" dirty="0"/>
              <a:t>是指查找过程中对键需要执行的平均比较次数，是一个查找算法优劣的衡量标准。</a:t>
            </a:r>
            <a:endParaRPr lang="en-US" altLang="zh-CN" b="0" dirty="0"/>
          </a:p>
          <a:p>
            <a:pPr marL="0" indent="0" algn="just"/>
            <a:r>
              <a:rPr lang="en-US" altLang="zh-CN" b="0" dirty="0"/>
              <a:t>	</a:t>
            </a:r>
            <a:r>
              <a:rPr lang="zh-CN" altLang="zh-CN" b="0" dirty="0"/>
              <a:t>对</a:t>
            </a:r>
            <a:r>
              <a:rPr lang="en-US" altLang="zh-CN" b="0" dirty="0"/>
              <a:t>n</a:t>
            </a:r>
            <a:r>
              <a:rPr lang="zh-CN" altLang="zh-CN" b="0" dirty="0"/>
              <a:t>个对象记录进行查找时，</a:t>
            </a:r>
            <a:r>
              <a:rPr lang="zh-CN" altLang="zh-CN" dirty="0">
                <a:solidFill>
                  <a:srgbClr val="FF0000"/>
                </a:solidFill>
              </a:rPr>
              <a:t>平均查找长度</a:t>
            </a:r>
            <a:r>
              <a:rPr lang="en-US" altLang="zh-CN" dirty="0">
                <a:solidFill>
                  <a:srgbClr val="FF0000"/>
                </a:solidFill>
              </a:rPr>
              <a:t>ASL</a:t>
            </a:r>
            <a:r>
              <a:rPr lang="zh-CN" altLang="zh-CN" dirty="0">
                <a:solidFill>
                  <a:srgbClr val="FF0000"/>
                </a:solidFill>
              </a:rPr>
              <a:t>为：</a:t>
            </a:r>
          </a:p>
        </p:txBody>
      </p:sp>
      <mc:AlternateContent xmlns:mc="http://schemas.openxmlformats.org/markup-compatibility/2006" xmlns:a14="http://schemas.microsoft.com/office/drawing/2010/main">
        <mc:Choice Requires="a14">
          <p:sp>
            <p:nvSpPr>
              <p:cNvPr id="2" name="矩形 1"/>
              <p:cNvSpPr/>
              <p:nvPr/>
            </p:nvSpPr>
            <p:spPr>
              <a:xfrm>
                <a:off x="3203848" y="4941168"/>
                <a:ext cx="2520280" cy="95725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a:rPr>
                        <m:t>𝐴𝑆𝐿</m:t>
                      </m:r>
                      <m:r>
                        <a:rPr lang="en-US" altLang="zh-CN" sz="2000" i="1">
                          <a:latin typeface="Cambria Math"/>
                        </a:rPr>
                        <m:t>=</m:t>
                      </m:r>
                      <m:nary>
                        <m:naryPr>
                          <m:chr m:val="∑"/>
                          <m:ctrlPr>
                            <a:rPr lang="en-US" altLang="zh-CN" sz="2000" i="1">
                              <a:latin typeface="Cambria Math" panose="02040503050406030204" pitchFamily="18" charset="0"/>
                            </a:rPr>
                          </m:ctrlPr>
                        </m:naryPr>
                        <m:sub>
                          <m:r>
                            <m:rPr>
                              <m:brk m:alnAt="23"/>
                            </m:rPr>
                            <a:rPr lang="en-US" altLang="zh-CN" sz="2000" i="1">
                              <a:latin typeface="Cambria Math"/>
                            </a:rPr>
                            <m:t>0</m:t>
                          </m:r>
                        </m:sub>
                        <m:sup>
                          <m:r>
                            <m:rPr>
                              <m:sty m:val="p"/>
                            </m:rPr>
                            <a:rPr lang="en-US" altLang="zh-CN" sz="2000" i="1">
                              <a:latin typeface="Cambria Math"/>
                            </a:rPr>
                            <m:t>n</m:t>
                          </m:r>
                          <m:r>
                            <a:rPr lang="en-US" altLang="zh-CN" sz="2000" i="1">
                              <a:latin typeface="Cambria Math"/>
                            </a:rPr>
                            <m:t>−1</m:t>
                          </m:r>
                        </m:sup>
                        <m:e>
                          <m:sSub>
                            <m:sSubPr>
                              <m:ctrlPr>
                                <a:rPr lang="en-US" altLang="zh-CN" sz="2000" i="1">
                                  <a:latin typeface="Cambria Math" panose="02040503050406030204" pitchFamily="18" charset="0"/>
                                </a:rPr>
                              </m:ctrlPr>
                            </m:sSubPr>
                            <m:e>
                              <m:r>
                                <a:rPr lang="en-US" altLang="zh-CN" sz="2000" i="1">
                                  <a:latin typeface="Cambria Math"/>
                                </a:rPr>
                                <m:t>𝑃</m:t>
                              </m:r>
                            </m:e>
                            <m:sub>
                              <m:r>
                                <a:rPr lang="en-US" altLang="zh-CN" sz="2000" i="1">
                                  <a:latin typeface="Cambria Math"/>
                                </a:rPr>
                                <m:t>𝑖</m:t>
                              </m:r>
                            </m:sub>
                          </m:sSub>
                          <m:sSub>
                            <m:sSubPr>
                              <m:ctrlPr>
                                <a:rPr lang="en-US" altLang="zh-CN" sz="2000" i="1">
                                  <a:latin typeface="Cambria Math" panose="02040503050406030204" pitchFamily="18" charset="0"/>
                                </a:rPr>
                              </m:ctrlPr>
                            </m:sSubPr>
                            <m:e>
                              <m:r>
                                <a:rPr lang="en-US" altLang="zh-CN" sz="2000" i="1">
                                  <a:latin typeface="Cambria Math"/>
                                </a:rPr>
                                <m:t>𝐶</m:t>
                              </m:r>
                            </m:e>
                            <m:sub>
                              <m:r>
                                <a:rPr lang="en-US" altLang="zh-CN" sz="2000" i="1">
                                  <a:latin typeface="Cambria Math"/>
                                </a:rPr>
                                <m:t>𝑖</m:t>
                              </m:r>
                            </m:sub>
                          </m:sSub>
                        </m:e>
                      </m:nary>
                    </m:oMath>
                  </m:oMathPara>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3203848" y="4941168"/>
                <a:ext cx="2520280" cy="957250"/>
              </a:xfrm>
              <a:prstGeom prst="rect">
                <a:avLst/>
              </a:prstGeom>
              <a:blipFill>
                <a:blip r:embed="rId2"/>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D05109B-22F7-4B2D-ABE8-BED2597131AA}"/>
              </a:ext>
            </a:extLst>
          </p:cNvPr>
          <p:cNvSpPr txBox="1"/>
          <p:nvPr/>
        </p:nvSpPr>
        <p:spPr>
          <a:xfrm>
            <a:off x="323528" y="5863284"/>
            <a:ext cx="8712968"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dirty="0">
                <a:effectLst/>
                <a:latin typeface="Times New Roman" panose="02020603050405020304" pitchFamily="18" charset="0"/>
                <a:ea typeface="宋体" panose="02010600030101010101" pitchFamily="2" charset="-122"/>
              </a:rPr>
              <a:t>C</a:t>
            </a:r>
            <a:r>
              <a:rPr lang="en-US" altLang="zh-CN" sz="1800" baseline="-25000" dirty="0">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为查找第</a:t>
            </a:r>
            <a:r>
              <a:rPr lang="en-US" altLang="zh-CN" sz="1800" dirty="0" err="1">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个记录所需的比较次数，</a:t>
            </a:r>
            <a:r>
              <a:rPr lang="en-US" altLang="zh-CN" sz="1800" dirty="0">
                <a:effectLst/>
                <a:latin typeface="Times New Roman" panose="02020603050405020304" pitchFamily="18" charset="0"/>
                <a:ea typeface="宋体" panose="02010600030101010101" pitchFamily="2" charset="-122"/>
              </a:rPr>
              <a:t>P</a:t>
            </a:r>
            <a:r>
              <a:rPr lang="en-US" altLang="zh-CN" sz="1800" baseline="-25000" dirty="0">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为查找第</a:t>
            </a:r>
            <a:r>
              <a:rPr lang="en-US" altLang="zh-CN" sz="1800" dirty="0" err="1">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个记录的查找概率（可能性）。</a:t>
            </a:r>
            <a:endParaRPr lang="zh-CN" altLang="en-US" dirty="0"/>
          </a:p>
        </p:txBody>
      </p:sp>
    </p:spTree>
    <p:extLst>
      <p:ext uri="{BB962C8B-B14F-4D97-AF65-F5344CB8AC3E}">
        <p14:creationId xmlns:p14="http://schemas.microsoft.com/office/powerpoint/2010/main" val="3234680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 </a:t>
            </a:r>
            <a:r>
              <a:rPr lang="zh-CN" altLang="zh-CN" b="1" dirty="0"/>
              <a:t>静态查找表</a:t>
            </a:r>
            <a:endParaRPr lang="zh-CN" altLang="en-US" dirty="0"/>
          </a:p>
        </p:txBody>
      </p:sp>
      <p:sp>
        <p:nvSpPr>
          <p:cNvPr id="3" name="内容占位符 2"/>
          <p:cNvSpPr>
            <a:spLocks noGrp="1"/>
          </p:cNvSpPr>
          <p:nvPr>
            <p:ph idx="1"/>
          </p:nvPr>
        </p:nvSpPr>
        <p:spPr>
          <a:xfrm>
            <a:off x="827584" y="1628800"/>
            <a:ext cx="7520940" cy="4464496"/>
          </a:xfrm>
        </p:spPr>
        <p:txBody>
          <a:bodyPr>
            <a:normAutofit lnSpcReduction="10000"/>
          </a:bodyPr>
          <a:lstStyle/>
          <a:p>
            <a:pPr marL="0" indent="0"/>
            <a:r>
              <a:rPr lang="zh-CN" altLang="zh-CN" b="0" dirty="0"/>
              <a:t>静态查找表大部分情况下采用</a:t>
            </a:r>
            <a:r>
              <a:rPr lang="zh-CN" altLang="zh-CN" b="0" dirty="0">
                <a:solidFill>
                  <a:srgbClr val="FF0000"/>
                </a:solidFill>
              </a:rPr>
              <a:t>顺序存储结构</a:t>
            </a:r>
            <a:r>
              <a:rPr lang="zh-CN" altLang="zh-CN" b="0" dirty="0"/>
              <a:t>，有时在概率不等的复杂情况下也可以采用链表结构。</a:t>
            </a:r>
            <a:endParaRPr lang="en-US" altLang="zh-CN" b="0" dirty="0"/>
          </a:p>
          <a:p>
            <a:r>
              <a:rPr lang="zh-CN" altLang="zh-CN" dirty="0"/>
              <a:t>算法</a:t>
            </a:r>
            <a:r>
              <a:rPr lang="en-US" altLang="zh-CN" dirty="0"/>
              <a:t>8.1</a:t>
            </a:r>
            <a:r>
              <a:rPr lang="zh-CN" altLang="zh-CN" dirty="0"/>
              <a:t>：定义记录的结构</a:t>
            </a:r>
          </a:p>
          <a:p>
            <a:r>
              <a:rPr lang="en-US" altLang="zh-CN" b="0" dirty="0" err="1"/>
              <a:t>const</a:t>
            </a:r>
            <a:r>
              <a:rPr lang="en-US" altLang="zh-CN" b="0" dirty="0"/>
              <a:t> </a:t>
            </a:r>
            <a:r>
              <a:rPr lang="en-US" altLang="zh-CN" b="0" dirty="0" err="1"/>
              <a:t>int</a:t>
            </a:r>
            <a:r>
              <a:rPr lang="en-US" altLang="zh-CN" b="0" dirty="0"/>
              <a:t> MAXSIZE=100;       //</a:t>
            </a:r>
            <a:r>
              <a:rPr lang="zh-CN" altLang="zh-CN" b="0" dirty="0"/>
              <a:t>静态表的最大长度</a:t>
            </a:r>
          </a:p>
          <a:p>
            <a:r>
              <a:rPr lang="en-US" altLang="zh-CN" b="0" dirty="0"/>
              <a:t>typedef int </a:t>
            </a:r>
            <a:r>
              <a:rPr lang="en-US" altLang="zh-CN" b="0" dirty="0" err="1"/>
              <a:t>KeyType</a:t>
            </a:r>
            <a:r>
              <a:rPr lang="en-US" altLang="zh-CN" b="0" dirty="0"/>
              <a:t>;               //</a:t>
            </a:r>
            <a:r>
              <a:rPr lang="zh-CN" altLang="zh-CN" b="0" dirty="0"/>
              <a:t>关键字的类型</a:t>
            </a:r>
          </a:p>
          <a:p>
            <a:r>
              <a:rPr lang="en-US" altLang="zh-CN" b="0" dirty="0"/>
              <a:t>typedef struct {                        //</a:t>
            </a:r>
            <a:r>
              <a:rPr lang="zh-CN" altLang="zh-CN" b="0" dirty="0"/>
              <a:t>记录</a:t>
            </a:r>
            <a:r>
              <a:rPr lang="en-US" altLang="zh-CN" b="0" dirty="0"/>
              <a:t>(</a:t>
            </a:r>
            <a:r>
              <a:rPr lang="zh-CN" altLang="zh-CN" b="0" dirty="0"/>
              <a:t>数据元素</a:t>
            </a:r>
            <a:r>
              <a:rPr lang="en-US" altLang="zh-CN" b="0" dirty="0"/>
              <a:t>)</a:t>
            </a:r>
            <a:r>
              <a:rPr lang="zh-CN" altLang="zh-CN" b="0" dirty="0"/>
              <a:t>的结构</a:t>
            </a:r>
          </a:p>
          <a:p>
            <a:r>
              <a:rPr lang="en-US" altLang="zh-CN" b="0" dirty="0"/>
              <a:t>	</a:t>
            </a:r>
            <a:r>
              <a:rPr lang="en-US" altLang="zh-CN" b="0" dirty="0" err="1"/>
              <a:t>KeyType</a:t>
            </a:r>
            <a:r>
              <a:rPr lang="en-US" altLang="zh-CN" b="0" dirty="0"/>
              <a:t> key;                      //</a:t>
            </a:r>
            <a:r>
              <a:rPr lang="zh-CN" altLang="zh-CN" b="0" dirty="0"/>
              <a:t>关键字域</a:t>
            </a:r>
          </a:p>
          <a:p>
            <a:r>
              <a:rPr lang="en-US" altLang="zh-CN" b="0" dirty="0"/>
              <a:t>	</a:t>
            </a:r>
            <a:r>
              <a:rPr lang="zh-CN" altLang="en-US" b="0" dirty="0"/>
              <a:t>。。。。。。</a:t>
            </a:r>
            <a:r>
              <a:rPr lang="en-US" altLang="zh-CN" b="0" dirty="0"/>
              <a:t>                    //</a:t>
            </a:r>
            <a:r>
              <a:rPr lang="zh-CN" altLang="zh-CN" b="0" dirty="0"/>
              <a:t>其他属性域</a:t>
            </a:r>
          </a:p>
          <a:p>
            <a:r>
              <a:rPr lang="en-US" altLang="zh-CN" b="0" dirty="0"/>
              <a:t>} </a:t>
            </a:r>
            <a:r>
              <a:rPr lang="en-US" altLang="zh-CN" b="0" dirty="0" err="1"/>
              <a:t>datanode</a:t>
            </a:r>
            <a:endParaRPr lang="zh-CN" altLang="zh-CN" b="0" dirty="0"/>
          </a:p>
          <a:p>
            <a:endParaRPr lang="zh-CN" altLang="en-US" b="0" dirty="0"/>
          </a:p>
        </p:txBody>
      </p:sp>
    </p:spTree>
    <p:extLst>
      <p:ext uri="{BB962C8B-B14F-4D97-AF65-F5344CB8AC3E}">
        <p14:creationId xmlns:p14="http://schemas.microsoft.com/office/powerpoint/2010/main" val="1508087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84576"/>
          </a:xfrm>
        </p:spPr>
        <p:txBody>
          <a:bodyPr>
            <a:normAutofit fontScale="77500" lnSpcReduction="20000"/>
          </a:bodyPr>
          <a:lstStyle/>
          <a:p>
            <a:r>
              <a:rPr lang="zh-CN" altLang="zh-CN" dirty="0"/>
              <a:t>顺序表类的定义如下：</a:t>
            </a:r>
          </a:p>
          <a:p>
            <a:r>
              <a:rPr lang="zh-CN" altLang="zh-CN" dirty="0"/>
              <a:t>算法</a:t>
            </a:r>
            <a:r>
              <a:rPr lang="en-US" altLang="zh-CN" dirty="0"/>
              <a:t>8.2</a:t>
            </a:r>
            <a:r>
              <a:rPr lang="zh-CN" altLang="zh-CN" dirty="0"/>
              <a:t>：顺序表类的定义</a:t>
            </a:r>
          </a:p>
          <a:p>
            <a:r>
              <a:rPr lang="en-US" altLang="zh-CN" b="0" dirty="0"/>
              <a:t>class </a:t>
            </a:r>
            <a:r>
              <a:rPr lang="en-US" altLang="zh-CN" b="0" dirty="0" err="1"/>
              <a:t>Sqtable</a:t>
            </a:r>
            <a:r>
              <a:rPr lang="en-US" altLang="zh-CN" b="0" dirty="0"/>
              <a:t>{</a:t>
            </a:r>
            <a:endParaRPr lang="zh-CN" altLang="zh-CN" b="0" dirty="0"/>
          </a:p>
          <a:p>
            <a:r>
              <a:rPr lang="en-US" altLang="zh-CN" b="0" dirty="0"/>
              <a:t>private:</a:t>
            </a:r>
            <a:endParaRPr lang="zh-CN" altLang="zh-CN" b="0" dirty="0"/>
          </a:p>
          <a:p>
            <a:r>
              <a:rPr lang="en-US" altLang="zh-CN" b="0" dirty="0"/>
              <a:t>	</a:t>
            </a:r>
            <a:r>
              <a:rPr lang="en-US" altLang="zh-CN" b="0" dirty="0" err="1"/>
              <a:t>datanode</a:t>
            </a:r>
            <a:r>
              <a:rPr lang="en-US" altLang="zh-CN" b="0" dirty="0"/>
              <a:t> r[MAXSIZE];              //</a:t>
            </a:r>
            <a:r>
              <a:rPr lang="zh-CN" altLang="zh-CN" b="0" dirty="0"/>
              <a:t>数组，查找表</a:t>
            </a:r>
          </a:p>
          <a:p>
            <a:r>
              <a:rPr lang="en-US" altLang="zh-CN" b="0" dirty="0"/>
              <a:t>	int n;                                            //</a:t>
            </a:r>
            <a:r>
              <a:rPr lang="zh-CN" altLang="zh-CN" b="0" dirty="0"/>
              <a:t>数据元素个数，表长</a:t>
            </a:r>
          </a:p>
          <a:p>
            <a:r>
              <a:rPr lang="en-US" altLang="zh-CN" b="0" dirty="0"/>
              <a:t>public:</a:t>
            </a:r>
            <a:endParaRPr lang="zh-CN" altLang="zh-CN" b="0" dirty="0"/>
          </a:p>
          <a:p>
            <a:r>
              <a:rPr lang="en-US" altLang="zh-CN" b="0" dirty="0"/>
              <a:t>	</a:t>
            </a:r>
            <a:r>
              <a:rPr lang="en-US" altLang="zh-CN" b="0" dirty="0" err="1"/>
              <a:t>Sqtable</a:t>
            </a:r>
            <a:r>
              <a:rPr lang="en-US" altLang="zh-CN" b="0" dirty="0"/>
              <a:t>();                                      //</a:t>
            </a:r>
            <a:r>
              <a:rPr lang="zh-CN" altLang="en-US" b="0" dirty="0"/>
              <a:t>构造函数</a:t>
            </a:r>
            <a:endParaRPr lang="zh-CN" altLang="zh-CN" b="0" dirty="0"/>
          </a:p>
          <a:p>
            <a:r>
              <a:rPr lang="en-US" altLang="zh-CN" b="0" dirty="0"/>
              <a:t>	void create();</a:t>
            </a:r>
            <a:endParaRPr lang="zh-CN" altLang="zh-CN" b="0" dirty="0"/>
          </a:p>
          <a:p>
            <a:r>
              <a:rPr lang="en-US" altLang="zh-CN" b="0" dirty="0"/>
              <a:t>	void output();</a:t>
            </a:r>
            <a:endParaRPr lang="zh-CN" altLang="zh-CN" b="0" dirty="0"/>
          </a:p>
          <a:p>
            <a:r>
              <a:rPr lang="en-US" altLang="zh-CN" b="0" dirty="0"/>
              <a:t>	</a:t>
            </a:r>
            <a:r>
              <a:rPr lang="en-US" altLang="zh-CN" b="0" dirty="0" err="1"/>
              <a:t>int</a:t>
            </a:r>
            <a:r>
              <a:rPr lang="en-US" altLang="zh-CN" b="0" dirty="0"/>
              <a:t> </a:t>
            </a:r>
            <a:r>
              <a:rPr lang="en-US" altLang="zh-CN" b="0" dirty="0" err="1"/>
              <a:t>sq_search</a:t>
            </a:r>
            <a:r>
              <a:rPr lang="en-US" altLang="zh-CN" b="0" dirty="0"/>
              <a:t>(</a:t>
            </a:r>
            <a:r>
              <a:rPr lang="en-US" altLang="zh-CN" b="0" dirty="0" err="1"/>
              <a:t>KeyType</a:t>
            </a:r>
            <a:r>
              <a:rPr lang="en-US" altLang="zh-CN" b="0" dirty="0"/>
              <a:t> k);       	//</a:t>
            </a:r>
            <a:r>
              <a:rPr lang="zh-CN" altLang="zh-CN" b="0" dirty="0"/>
              <a:t>顺序查找</a:t>
            </a:r>
          </a:p>
          <a:p>
            <a:r>
              <a:rPr lang="en-US" altLang="zh-CN" b="0" dirty="0"/>
              <a:t>      </a:t>
            </a:r>
            <a:r>
              <a:rPr lang="en-US" altLang="zh-CN" b="0" dirty="0" err="1"/>
              <a:t>int</a:t>
            </a:r>
            <a:r>
              <a:rPr lang="en-US" altLang="zh-CN" b="0" dirty="0"/>
              <a:t> </a:t>
            </a:r>
            <a:r>
              <a:rPr lang="en-US" altLang="zh-CN" b="0" dirty="0" err="1"/>
              <a:t>binary_search</a:t>
            </a:r>
            <a:r>
              <a:rPr lang="en-US" altLang="zh-CN" b="0" dirty="0"/>
              <a:t>(</a:t>
            </a:r>
            <a:r>
              <a:rPr lang="en-US" altLang="zh-CN" b="0" dirty="0" err="1"/>
              <a:t>KeyType</a:t>
            </a:r>
            <a:r>
              <a:rPr lang="en-US" altLang="zh-CN" b="0" dirty="0"/>
              <a:t> k);   	//</a:t>
            </a:r>
            <a:r>
              <a:rPr lang="zh-CN" altLang="zh-CN" b="0" dirty="0"/>
              <a:t>折半查找</a:t>
            </a:r>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60691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8.2.1 </a:t>
            </a:r>
            <a:r>
              <a:rPr lang="zh-CN" altLang="zh-CN" b="1" dirty="0"/>
              <a:t>顺序表的查找</a:t>
            </a:r>
            <a:endParaRPr lang="zh-CN" altLang="en-US" dirty="0"/>
          </a:p>
        </p:txBody>
      </p:sp>
      <p:sp>
        <p:nvSpPr>
          <p:cNvPr id="3" name="内容占位符 2"/>
          <p:cNvSpPr>
            <a:spLocks noGrp="1"/>
          </p:cNvSpPr>
          <p:nvPr>
            <p:ph idx="1"/>
          </p:nvPr>
        </p:nvSpPr>
        <p:spPr>
          <a:xfrm>
            <a:off x="827584" y="1628800"/>
            <a:ext cx="7520940" cy="4608512"/>
          </a:xfrm>
        </p:spPr>
        <p:txBody>
          <a:bodyPr>
            <a:normAutofit lnSpcReduction="10000"/>
          </a:bodyPr>
          <a:lstStyle/>
          <a:p>
            <a:pPr marL="0" indent="0" algn="just"/>
            <a:r>
              <a:rPr lang="zh-CN" altLang="zh-CN" dirty="0">
                <a:solidFill>
                  <a:srgbClr val="FF0000"/>
                </a:solidFill>
              </a:rPr>
              <a:t>顺序查找</a:t>
            </a:r>
            <a:r>
              <a:rPr lang="zh-CN" altLang="zh-CN" b="0" dirty="0"/>
              <a:t>又称线性查找，是最基本的查找方法之一。将待查找的元素存放于数组或链表中。</a:t>
            </a:r>
          </a:p>
          <a:p>
            <a:pPr marL="0" indent="0" algn="just"/>
            <a:r>
              <a:rPr lang="zh-CN" altLang="zh-CN" dirty="0">
                <a:solidFill>
                  <a:srgbClr val="FF0000"/>
                </a:solidFill>
              </a:rPr>
              <a:t>基本思想</a:t>
            </a:r>
            <a:r>
              <a:rPr lang="zh-CN" altLang="zh-CN" dirty="0"/>
              <a:t>：</a:t>
            </a:r>
            <a:endParaRPr lang="en-US" altLang="zh-CN" dirty="0"/>
          </a:p>
          <a:p>
            <a:pPr lvl="2" indent="-342900" algn="just">
              <a:buFont typeface="Wingdings" panose="05000000000000000000" pitchFamily="2" charset="2"/>
              <a:buChar char="l"/>
            </a:pPr>
            <a:r>
              <a:rPr lang="zh-CN" altLang="zh-CN" b="0" dirty="0"/>
              <a:t>按照元素存放位置顺序遍历所有元素，从而找到待查找的元素。</a:t>
            </a:r>
            <a:endParaRPr lang="en-US" altLang="zh-CN" b="0" dirty="0"/>
          </a:p>
          <a:p>
            <a:pPr lvl="3" indent="-342900" algn="just">
              <a:buFont typeface="Wingdings" panose="05000000000000000000" pitchFamily="2" charset="2"/>
              <a:buChar char="Ø"/>
            </a:pPr>
            <a:r>
              <a:rPr lang="zh-CN" altLang="zh-CN" b="0" dirty="0"/>
              <a:t>从表中的第一个记录开始，逐个进行记录的关键字与给定值的比较，如果某个记录的关键字与给定值比较相等，则查找成功；</a:t>
            </a:r>
            <a:endParaRPr lang="en-US" altLang="zh-CN" b="0" dirty="0"/>
          </a:p>
          <a:p>
            <a:pPr lvl="3" indent="-342900" algn="just">
              <a:buFont typeface="Wingdings" panose="05000000000000000000" pitchFamily="2" charset="2"/>
              <a:buChar char="Ø"/>
            </a:pPr>
            <a:r>
              <a:rPr lang="zh-CN" altLang="zh-CN" b="0" dirty="0"/>
              <a:t>反之，若直至最后一个记录，其关键字与给定值比较都不等，则表明表中没有所查记录，查找不成功。</a:t>
            </a:r>
          </a:p>
          <a:p>
            <a:endParaRPr lang="zh-CN" altLang="en-US" dirty="0"/>
          </a:p>
        </p:txBody>
      </p:sp>
    </p:spTree>
    <p:extLst>
      <p:ext uri="{BB962C8B-B14F-4D97-AF65-F5344CB8AC3E}">
        <p14:creationId xmlns:p14="http://schemas.microsoft.com/office/powerpoint/2010/main" val="1664222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136904" cy="5472608"/>
          </a:xfrm>
        </p:spPr>
        <p:txBody>
          <a:bodyPr>
            <a:normAutofit/>
          </a:bodyPr>
          <a:lstStyle/>
          <a:p>
            <a:r>
              <a:rPr lang="zh-CN" altLang="zh-CN" b="0" dirty="0"/>
              <a:t>已知表</a:t>
            </a:r>
            <a:r>
              <a:rPr lang="en-US" altLang="zh-CN" b="0" dirty="0"/>
              <a:t>r</a:t>
            </a:r>
            <a:r>
              <a:rPr lang="zh-CN" altLang="zh-CN" b="0" dirty="0"/>
              <a:t>，关键字数据</a:t>
            </a:r>
            <a:r>
              <a:rPr lang="en-US" altLang="zh-CN" b="0" dirty="0"/>
              <a:t>K</a:t>
            </a:r>
            <a:r>
              <a:rPr lang="zh-CN" altLang="zh-CN" b="0" dirty="0"/>
              <a:t>，表长</a:t>
            </a:r>
            <a:r>
              <a:rPr lang="en-US" altLang="zh-CN" b="0" dirty="0"/>
              <a:t>n</a:t>
            </a:r>
            <a:r>
              <a:rPr lang="zh-CN" altLang="zh-CN" b="0" dirty="0"/>
              <a:t>：</a:t>
            </a:r>
          </a:p>
          <a:p>
            <a:r>
              <a:rPr lang="zh-CN" altLang="zh-CN" dirty="0"/>
              <a:t>算法</a:t>
            </a:r>
            <a:r>
              <a:rPr lang="en-US" altLang="zh-CN" dirty="0"/>
              <a:t>8.3</a:t>
            </a:r>
            <a:r>
              <a:rPr lang="zh-CN" altLang="zh-CN" dirty="0"/>
              <a:t>：顺序查找算法</a:t>
            </a:r>
          </a:p>
          <a:p>
            <a:r>
              <a:rPr lang="en-US" altLang="zh-CN" b="0" dirty="0" err="1"/>
              <a:t>int</a:t>
            </a:r>
            <a:r>
              <a:rPr lang="en-US" altLang="zh-CN" b="0" dirty="0"/>
              <a:t> </a:t>
            </a:r>
            <a:r>
              <a:rPr lang="en-US" altLang="zh-CN" b="0" dirty="0" err="1"/>
              <a:t>Sqtable</a:t>
            </a:r>
            <a:r>
              <a:rPr lang="en-US" altLang="zh-CN" b="0" dirty="0"/>
              <a:t>::</a:t>
            </a:r>
            <a:r>
              <a:rPr lang="en-US" altLang="zh-CN" b="0" dirty="0" err="1"/>
              <a:t>sq_search</a:t>
            </a:r>
            <a:r>
              <a:rPr lang="en-US" altLang="zh-CN" b="0" dirty="0"/>
              <a:t>(</a:t>
            </a:r>
            <a:r>
              <a:rPr lang="en-US" altLang="zh-CN" b="0" dirty="0" err="1"/>
              <a:t>KeyType</a:t>
            </a:r>
            <a:r>
              <a:rPr lang="en-US" altLang="zh-CN" b="0" dirty="0"/>
              <a:t> K){</a:t>
            </a:r>
            <a:endParaRPr lang="zh-CN" altLang="zh-CN" b="0" dirty="0"/>
          </a:p>
          <a:p>
            <a:r>
              <a:rPr lang="en-US" altLang="zh-CN" b="0" dirty="0"/>
              <a:t>	r[n].key=K;        //</a:t>
            </a:r>
            <a:r>
              <a:rPr lang="zh-CN" altLang="zh-CN" b="0" dirty="0">
                <a:solidFill>
                  <a:srgbClr val="FF0000"/>
                </a:solidFill>
              </a:rPr>
              <a:t>设置监视哨</a:t>
            </a:r>
          </a:p>
          <a:p>
            <a:r>
              <a:rPr lang="en-US" altLang="zh-CN" b="0" dirty="0"/>
              <a:t>	</a:t>
            </a:r>
            <a:r>
              <a:rPr lang="en-US" altLang="zh-CN" b="0" dirty="0" err="1"/>
              <a:t>int</a:t>
            </a:r>
            <a:r>
              <a:rPr lang="en-US" altLang="zh-CN" b="0" dirty="0"/>
              <a:t> </a:t>
            </a:r>
            <a:r>
              <a:rPr lang="en-US" altLang="zh-CN" b="0" dirty="0" err="1"/>
              <a:t>i</a:t>
            </a:r>
            <a:r>
              <a:rPr lang="en-US" altLang="zh-CN" b="0" dirty="0"/>
              <a:t>=0;</a:t>
            </a:r>
            <a:endParaRPr lang="zh-CN" altLang="zh-CN" b="0" dirty="0"/>
          </a:p>
          <a:p>
            <a:r>
              <a:rPr lang="en-US" altLang="zh-CN" b="0" dirty="0"/>
              <a:t>	while(r[</a:t>
            </a:r>
            <a:r>
              <a:rPr lang="en-US" altLang="zh-CN" b="0" dirty="0" err="1"/>
              <a:t>i</a:t>
            </a:r>
            <a:r>
              <a:rPr lang="en-US" altLang="zh-CN" b="0" dirty="0"/>
              <a:t>].key!=K)  </a:t>
            </a:r>
            <a:r>
              <a:rPr lang="en-US" altLang="zh-CN" b="0" dirty="0" err="1"/>
              <a:t>i</a:t>
            </a:r>
            <a:r>
              <a:rPr lang="en-US" altLang="zh-CN" b="0" dirty="0"/>
              <a:t>++;</a:t>
            </a:r>
            <a:endParaRPr lang="zh-CN" altLang="zh-CN" b="0" dirty="0"/>
          </a:p>
          <a:p>
            <a:r>
              <a:rPr lang="en-US" altLang="zh-CN" b="0" dirty="0"/>
              <a:t>	if(</a:t>
            </a:r>
            <a:r>
              <a:rPr lang="en-US" altLang="zh-CN" b="0" dirty="0" err="1"/>
              <a:t>i</a:t>
            </a:r>
            <a:r>
              <a:rPr lang="en-US" altLang="zh-CN" b="0" dirty="0"/>
              <a:t>&lt;n) return </a:t>
            </a:r>
            <a:r>
              <a:rPr lang="en-US" altLang="zh-CN" b="0" dirty="0" err="1"/>
              <a:t>i</a:t>
            </a:r>
            <a:r>
              <a:rPr lang="en-US" altLang="zh-CN" b="0" dirty="0"/>
              <a:t>;  //</a:t>
            </a:r>
            <a:r>
              <a:rPr lang="zh-CN" altLang="zh-CN" b="0" dirty="0"/>
              <a:t>查找成功，该记录下标为</a:t>
            </a:r>
            <a:r>
              <a:rPr lang="en-US" altLang="zh-CN" b="0" dirty="0" err="1"/>
              <a:t>i</a:t>
            </a:r>
            <a:endParaRPr lang="zh-CN" altLang="zh-CN" b="0" dirty="0"/>
          </a:p>
          <a:p>
            <a:r>
              <a:rPr lang="en-US" altLang="zh-CN" b="0" dirty="0"/>
              <a:t>	else return -1;    //</a:t>
            </a:r>
            <a:r>
              <a:rPr lang="zh-CN" altLang="zh-CN" b="0" dirty="0"/>
              <a:t>查找失败</a:t>
            </a:r>
          </a:p>
          <a:p>
            <a:r>
              <a:rPr lang="en-US" altLang="zh-CN" b="0" dirty="0"/>
              <a:t>}</a:t>
            </a:r>
            <a:endParaRPr lang="zh-CN" altLang="zh-CN" b="0" dirty="0"/>
          </a:p>
          <a:p>
            <a:r>
              <a:rPr lang="zh-CN" altLang="en-US" b="0" dirty="0"/>
              <a:t>或者在</a:t>
            </a:r>
            <a:r>
              <a:rPr lang="en-US" altLang="zh-CN" b="0" dirty="0"/>
              <a:t>r[1…n]</a:t>
            </a:r>
            <a:r>
              <a:rPr lang="zh-CN" altLang="en-US" b="0" dirty="0"/>
              <a:t>存元素，</a:t>
            </a:r>
            <a:r>
              <a:rPr lang="en-US" altLang="zh-CN" b="0" dirty="0"/>
              <a:t>r[0].key=K</a:t>
            </a:r>
            <a:r>
              <a:rPr lang="zh-CN" altLang="en-US" b="0" dirty="0"/>
              <a:t>，从</a:t>
            </a:r>
            <a:r>
              <a:rPr lang="en-US" altLang="zh-CN" b="0" dirty="0"/>
              <a:t>r[n]…r[0]</a:t>
            </a:r>
            <a:r>
              <a:rPr lang="zh-CN" altLang="en-US" b="0" dirty="0"/>
              <a:t>倒着比较。</a:t>
            </a:r>
            <a:endParaRPr lang="zh-CN" altLang="en-US" dirty="0"/>
          </a:p>
        </p:txBody>
      </p:sp>
    </p:spTree>
    <p:extLst>
      <p:ext uri="{BB962C8B-B14F-4D97-AF65-F5344CB8AC3E}">
        <p14:creationId xmlns:p14="http://schemas.microsoft.com/office/powerpoint/2010/main" val="1152774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2400" dirty="0"/>
              <a:t>顺序表的性能分析：</a:t>
            </a:r>
            <a:endParaRPr lang="zh-CN" altLang="en-US" sz="2400" dirty="0"/>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928662" y="1428736"/>
                <a:ext cx="7520940" cy="4729158"/>
              </a:xfrm>
            </p:spPr>
            <p:txBody>
              <a:bodyPr>
                <a:normAutofit/>
              </a:bodyPr>
              <a:lstStyle/>
              <a:p>
                <a:pPr algn="just">
                  <a:buFont typeface="Arial" pitchFamily="34" charset="0"/>
                  <a:buChar char="•"/>
                </a:pPr>
                <a:r>
                  <a:rPr lang="zh-CN" altLang="en-US" b="0" dirty="0"/>
                  <a:t>假设顺序表中有</a:t>
                </a:r>
                <a:r>
                  <a:rPr lang="en-US" b="0" dirty="0"/>
                  <a:t>n</a:t>
                </a:r>
                <a:r>
                  <a:rPr lang="zh-CN" altLang="en-US" b="0" dirty="0"/>
                  <a:t>个记录，每个记录</a:t>
                </a:r>
                <a:r>
                  <a:rPr lang="en-US" b="0" dirty="0" err="1"/>
                  <a:t>r</a:t>
                </a:r>
                <a:r>
                  <a:rPr lang="en-US" b="0" baseline="-25000" dirty="0" err="1"/>
                  <a:t>i</a:t>
                </a:r>
                <a:r>
                  <a:rPr lang="zh-CN" altLang="en-US" b="0" dirty="0"/>
                  <a:t>（</a:t>
                </a:r>
                <a:r>
                  <a:rPr lang="en-US" b="0" dirty="0" err="1"/>
                  <a:t>i</a:t>
                </a:r>
                <a:r>
                  <a:rPr lang="en-US" b="0" dirty="0"/>
                  <a:t>=0,1,…,n-1</a:t>
                </a:r>
                <a:r>
                  <a:rPr lang="zh-CN" altLang="en-US" b="0" dirty="0"/>
                  <a:t>）被查找的概率为</a:t>
                </a:r>
                <a:r>
                  <a:rPr lang="en-US" b="0" dirty="0"/>
                  <a:t>P</a:t>
                </a:r>
                <a:r>
                  <a:rPr lang="en-US" b="0" baseline="-25000" dirty="0"/>
                  <a:t>i</a:t>
                </a:r>
                <a:r>
                  <a:rPr lang="zh-CN" altLang="en-US" b="0" dirty="0"/>
                  <a:t>，查找</a:t>
                </a:r>
                <a:r>
                  <a:rPr lang="en-US" b="0" dirty="0" err="1"/>
                  <a:t>r</a:t>
                </a:r>
                <a:r>
                  <a:rPr lang="en-US" b="0" baseline="-25000" dirty="0" err="1"/>
                  <a:t>i</a:t>
                </a:r>
                <a:r>
                  <a:rPr lang="zh-CN" altLang="en-US" b="0" dirty="0"/>
                  <a:t>所用比较次数为</a:t>
                </a:r>
                <a:r>
                  <a:rPr lang="en-US" b="0" dirty="0" err="1"/>
                  <a:t>C</a:t>
                </a:r>
                <a:r>
                  <a:rPr lang="en-US" b="0" baseline="-25000" dirty="0" err="1"/>
                  <a:t>i</a:t>
                </a:r>
                <a:r>
                  <a:rPr lang="en-US" b="0" baseline="-25000" dirty="0"/>
                  <a:t> </a:t>
                </a:r>
                <a:r>
                  <a:rPr lang="zh-CN" altLang="en-US" b="0" dirty="0"/>
                  <a:t>，查找到第</a:t>
                </a:r>
                <a:r>
                  <a:rPr lang="en-US" b="0" dirty="0" err="1"/>
                  <a:t>i</a:t>
                </a:r>
                <a:r>
                  <a:rPr lang="zh-CN" altLang="en-US" b="0" dirty="0"/>
                  <a:t>个元素需要比较</a:t>
                </a:r>
                <a:r>
                  <a:rPr lang="en-US" b="0" dirty="0"/>
                  <a:t>i+1</a:t>
                </a:r>
                <a:r>
                  <a:rPr lang="zh-CN" altLang="en-US" b="0" dirty="0"/>
                  <a:t>次，因此</a:t>
                </a:r>
                <a:r>
                  <a:rPr lang="en-US" b="0" dirty="0" err="1"/>
                  <a:t>C</a:t>
                </a:r>
                <a:r>
                  <a:rPr lang="en-US" b="0" baseline="-25000" dirty="0" err="1"/>
                  <a:t>i</a:t>
                </a:r>
                <a:r>
                  <a:rPr lang="en-US" b="0" baseline="-25000" dirty="0"/>
                  <a:t> </a:t>
                </a:r>
                <a:r>
                  <a:rPr lang="en-US" b="0" dirty="0"/>
                  <a:t>=i+1</a:t>
                </a:r>
                <a:r>
                  <a:rPr lang="zh-CN" altLang="en-US" b="0" dirty="0"/>
                  <a:t>。</a:t>
                </a:r>
                <a:endParaRPr lang="en-US" altLang="zh-CN" b="0" dirty="0"/>
              </a:p>
              <a:p>
                <a:pPr algn="just">
                  <a:buFont typeface="Arial" pitchFamily="34" charset="0"/>
                  <a:buChar char="•"/>
                </a:pPr>
                <a:r>
                  <a:rPr lang="zh-CN" altLang="en-US" b="0" dirty="0"/>
                  <a:t>假设每个记录的查找机会都相等，即</a:t>
                </a:r>
                <a:r>
                  <a:rPr lang="en-US" b="0" dirty="0"/>
                  <a:t>P</a:t>
                </a:r>
                <a:r>
                  <a:rPr lang="en-US" b="0" baseline="-25000" dirty="0"/>
                  <a:t>i</a:t>
                </a:r>
                <a:r>
                  <a:rPr lang="en-US" b="0" dirty="0"/>
                  <a:t>=1/n</a:t>
                </a:r>
                <a:r>
                  <a:rPr lang="zh-CN" altLang="en-US" b="0" dirty="0"/>
                  <a:t>，则在等概率情形下顺序查找的平均查找长度为：</a:t>
                </a:r>
              </a:p>
              <a:p>
                <a:pPr algn="just"/>
                <a:r>
                  <a:rPr lang="en-US" altLang="zh-CN" b="0" dirty="0"/>
                  <a:t>         </a:t>
                </a:r>
                <a14:m>
                  <m:oMath xmlns:m="http://schemas.openxmlformats.org/officeDocument/2006/math">
                    <m:r>
                      <a:rPr lang="en-US" altLang="zh-CN" b="0" i="1" smtClean="0">
                        <a:latin typeface="Cambria Math"/>
                      </a:rPr>
                      <m:t>𝐴</m:t>
                    </m:r>
                    <m:r>
                      <a:rPr lang="en-US" altLang="zh-CN" b="0" i="1" smtClean="0">
                        <a:latin typeface="Cambria Math"/>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a:rPr>
                          <m:t>0</m:t>
                        </m:r>
                      </m:sub>
                      <m:sup>
                        <m:r>
                          <m:rPr>
                            <m:sty m:val="p"/>
                          </m:rPr>
                          <a:rPr lang="en-US" altLang="zh-CN" b="0" i="1">
                            <a:latin typeface="Cambria Math"/>
                          </a:rPr>
                          <m:t>n</m:t>
                        </m:r>
                        <m:r>
                          <a:rPr lang="en-US" altLang="zh-CN" b="0" i="1">
                            <a:latin typeface="Cambria Math"/>
                          </a:rPr>
                          <m:t>−1</m:t>
                        </m:r>
                      </m:sup>
                      <m:e>
                        <m:sSub>
                          <m:sSubPr>
                            <m:ctrlPr>
                              <a:rPr lang="en-US" altLang="zh-CN" b="0" i="1" smtClean="0">
                                <a:latin typeface="Cambria Math" panose="02040503050406030204" pitchFamily="18" charset="0"/>
                              </a:rPr>
                            </m:ctrlPr>
                          </m:sSubPr>
                          <m:e>
                            <m:r>
                              <a:rPr lang="en-US" altLang="zh-CN" b="0" i="1" smtClean="0">
                                <a:latin typeface="Cambria Math"/>
                              </a:rPr>
                              <m:t>𝑃</m:t>
                            </m:r>
                          </m:e>
                          <m:sub>
                            <m:r>
                              <a:rPr lang="en-US" altLang="zh-CN" b="0" i="1" smtClean="0">
                                <a:latin typeface="Cambria Math"/>
                              </a:rPr>
                              <m:t>𝑖</m:t>
                            </m:r>
                          </m:sub>
                        </m:sSub>
                        <m:sSub>
                          <m:sSubPr>
                            <m:ctrlPr>
                              <a:rPr lang="en-US" altLang="zh-CN" b="0" i="1" smtClean="0">
                                <a:latin typeface="Cambria Math" panose="02040503050406030204" pitchFamily="18" charset="0"/>
                              </a:rPr>
                            </m:ctrlPr>
                          </m:sSubPr>
                          <m:e>
                            <m:r>
                              <a:rPr lang="en-US" altLang="zh-CN" b="0" i="1" smtClean="0">
                                <a:latin typeface="Cambria Math"/>
                              </a:rPr>
                              <m:t>𝐶</m:t>
                            </m:r>
                          </m:e>
                          <m:sub>
                            <m:r>
                              <a:rPr lang="en-US" altLang="zh-CN" b="0" i="1" smtClean="0">
                                <a:latin typeface="Cambria Math"/>
                              </a:rPr>
                              <m:t>𝑖</m:t>
                            </m:r>
                          </m:sub>
                        </m:sSub>
                      </m:e>
                    </m:nary>
                  </m:oMath>
                </a14:m>
                <a:r>
                  <a:rPr lang="en-US" altLang="zh-CN" b="0" dirty="0"/>
                  <a:t> = </a:t>
                </a:r>
                <a14:m>
                  <m:oMath xmlns:m="http://schemas.openxmlformats.org/officeDocument/2006/math">
                    <m:f>
                      <m:fPr>
                        <m:ctrlPr>
                          <a:rPr lang="en-US" altLang="zh-CN" b="0" i="1" dirty="0" smtClean="0">
                            <a:latin typeface="Cambria Math" panose="02040503050406030204" pitchFamily="18" charset="0"/>
                          </a:rPr>
                        </m:ctrlPr>
                      </m:fPr>
                      <m:num>
                        <m:r>
                          <a:rPr lang="en-US" altLang="zh-CN" b="0" i="1" dirty="0" smtClean="0">
                            <a:latin typeface="Cambria Math"/>
                          </a:rPr>
                          <m:t>1</m:t>
                        </m:r>
                      </m:num>
                      <m:den>
                        <m:r>
                          <a:rPr lang="en-US" altLang="zh-CN" b="0" i="1" dirty="0" smtClean="0">
                            <a:latin typeface="Cambria Math"/>
                          </a:rPr>
                          <m:t>𝑛</m:t>
                        </m:r>
                      </m:den>
                    </m:f>
                    <m:nary>
                      <m:naryPr>
                        <m:chr m:val="∑"/>
                        <m:ctrlPr>
                          <a:rPr lang="en-US" altLang="zh-CN" b="0" i="1">
                            <a:latin typeface="Cambria Math" panose="02040503050406030204" pitchFamily="18" charset="0"/>
                          </a:rPr>
                        </m:ctrlPr>
                      </m:naryPr>
                      <m:sub>
                        <m:r>
                          <m:rPr>
                            <m:brk m:alnAt="23"/>
                          </m:rPr>
                          <a:rPr lang="en-US" altLang="zh-CN" b="0" i="1">
                            <a:latin typeface="Cambria Math"/>
                          </a:rPr>
                          <m:t>0</m:t>
                        </m:r>
                      </m:sub>
                      <m:sup>
                        <m:r>
                          <m:rPr>
                            <m:sty m:val="p"/>
                          </m:rPr>
                          <a:rPr lang="en-US" altLang="zh-CN" b="0" i="1">
                            <a:latin typeface="Cambria Math"/>
                          </a:rPr>
                          <m:t>n</m:t>
                        </m:r>
                        <m:r>
                          <a:rPr lang="en-US" altLang="zh-CN" b="0" i="1">
                            <a:latin typeface="Cambria Math"/>
                          </a:rPr>
                          <m:t>−1</m:t>
                        </m:r>
                      </m:sup>
                      <m:e>
                        <m:r>
                          <a:rPr lang="en-US" altLang="zh-CN" b="0" i="1" smtClean="0">
                            <a:latin typeface="Cambria Math"/>
                          </a:rPr>
                          <m:t>(</m:t>
                        </m:r>
                        <m:r>
                          <a:rPr lang="en-US" altLang="zh-CN" b="0" i="1" smtClean="0">
                            <a:latin typeface="Cambria Math"/>
                          </a:rPr>
                          <m:t>𝑖</m:t>
                        </m:r>
                        <m:r>
                          <a:rPr lang="en-US" altLang="zh-CN" b="0" i="1" smtClean="0">
                            <a:latin typeface="Cambria Math"/>
                          </a:rPr>
                          <m:t>+1) </m:t>
                        </m:r>
                      </m:e>
                    </m:nary>
                  </m:oMath>
                </a14:m>
                <a:r>
                  <a:rPr lang="en-US" altLang="zh-CN" b="0" dirty="0"/>
                  <a:t>= </a:t>
                </a:r>
                <a14:m>
                  <m:oMath xmlns:m="http://schemas.openxmlformats.org/officeDocument/2006/math">
                    <m:f>
                      <m:fPr>
                        <m:ctrlPr>
                          <a:rPr lang="en-US" altLang="zh-CN" b="0" i="1" dirty="0" smtClean="0">
                            <a:latin typeface="Cambria Math" panose="02040503050406030204" pitchFamily="18" charset="0"/>
                          </a:rPr>
                        </m:ctrlPr>
                      </m:fPr>
                      <m:num>
                        <m:r>
                          <a:rPr lang="en-US" altLang="zh-CN" b="0" i="1" dirty="0" smtClean="0">
                            <a:latin typeface="Cambria Math"/>
                          </a:rPr>
                          <m:t>1</m:t>
                        </m:r>
                      </m:num>
                      <m:den>
                        <m:r>
                          <a:rPr lang="en-US" altLang="zh-CN" b="0" i="1" dirty="0" smtClean="0">
                            <a:latin typeface="Cambria Math"/>
                          </a:rPr>
                          <m:t>𝑛</m:t>
                        </m:r>
                      </m:den>
                    </m:f>
                    <m:r>
                      <a:rPr lang="en-US" altLang="zh-CN" b="0" i="1" dirty="0" smtClean="0">
                        <a:latin typeface="Cambria Math"/>
                      </a:rPr>
                      <m:t>∗</m:t>
                    </m:r>
                    <m:f>
                      <m:fPr>
                        <m:ctrlPr>
                          <a:rPr lang="en-US" altLang="zh-CN" b="0" i="1" dirty="0" smtClean="0">
                            <a:latin typeface="Cambria Math" panose="02040503050406030204" pitchFamily="18" charset="0"/>
                          </a:rPr>
                        </m:ctrlPr>
                      </m:fPr>
                      <m:num>
                        <m:r>
                          <a:rPr lang="en-US" altLang="zh-CN" b="0" i="1" dirty="0" smtClean="0">
                            <a:latin typeface="Cambria Math"/>
                          </a:rPr>
                          <m:t>𝑛</m:t>
                        </m:r>
                        <m:r>
                          <a:rPr lang="en-US" altLang="zh-CN" b="0" i="1" dirty="0" smtClean="0">
                            <a:latin typeface="Cambria Math"/>
                          </a:rPr>
                          <m:t>(</m:t>
                        </m:r>
                        <m:r>
                          <a:rPr lang="en-US" altLang="zh-CN" b="0" i="1" dirty="0" smtClean="0">
                            <a:latin typeface="Cambria Math"/>
                          </a:rPr>
                          <m:t>𝑛</m:t>
                        </m:r>
                        <m:r>
                          <a:rPr lang="en-US" altLang="zh-CN" b="0" i="1" dirty="0" smtClean="0">
                            <a:latin typeface="Cambria Math"/>
                          </a:rPr>
                          <m:t>+1)</m:t>
                        </m:r>
                      </m:num>
                      <m:den>
                        <m:r>
                          <a:rPr lang="en-US" altLang="zh-CN" b="0" i="1" dirty="0" smtClean="0">
                            <a:latin typeface="Cambria Math"/>
                          </a:rPr>
                          <m:t>2</m:t>
                        </m:r>
                      </m:den>
                    </m:f>
                  </m:oMath>
                </a14:m>
                <a:r>
                  <a:rPr lang="en-US" altLang="zh-CN" b="0" dirty="0"/>
                  <a:t> = </a:t>
                </a:r>
                <a14:m>
                  <m:oMath xmlns:m="http://schemas.openxmlformats.org/officeDocument/2006/math">
                    <m:f>
                      <m:fPr>
                        <m:ctrlPr>
                          <a:rPr lang="en-US" altLang="zh-CN" b="0" i="1" dirty="0">
                            <a:latin typeface="Cambria Math" panose="02040503050406030204" pitchFamily="18" charset="0"/>
                          </a:rPr>
                        </m:ctrlPr>
                      </m:fPr>
                      <m:num>
                        <m:r>
                          <a:rPr lang="en-US" altLang="zh-CN" b="0" i="1" dirty="0">
                            <a:latin typeface="Cambria Math"/>
                          </a:rPr>
                          <m:t>𝑛</m:t>
                        </m:r>
                        <m:r>
                          <a:rPr lang="en-US" altLang="zh-CN" b="0" i="1" dirty="0">
                            <a:latin typeface="Cambria Math"/>
                          </a:rPr>
                          <m:t>+1</m:t>
                        </m:r>
                      </m:num>
                      <m:den>
                        <m:r>
                          <a:rPr lang="en-US" altLang="zh-CN" b="0" i="1" dirty="0">
                            <a:latin typeface="Cambria Math"/>
                          </a:rPr>
                          <m:t>2</m:t>
                        </m:r>
                      </m:den>
                    </m:f>
                  </m:oMath>
                </a14:m>
                <a:endParaRPr lang="en-US" altLang="zh-CN" b="0" dirty="0"/>
              </a:p>
              <a:p>
                <a:pPr algn="just">
                  <a:buFont typeface="Arial" pitchFamily="34" charset="0"/>
                  <a:buChar char="•"/>
                </a:pPr>
                <a:r>
                  <a:rPr lang="zh-CN" altLang="en-US" b="0" dirty="0"/>
                  <a:t>当查找不成功时，平均查找长度为</a:t>
                </a:r>
                <a:r>
                  <a:rPr lang="en-US" b="0" dirty="0"/>
                  <a:t>n</a:t>
                </a:r>
                <a:r>
                  <a:rPr lang="zh-CN" altLang="en-US" b="0" dirty="0"/>
                  <a:t>，故算法的时间复杂度为</a:t>
                </a:r>
                <a:r>
                  <a:rPr lang="en-US" b="0" dirty="0"/>
                  <a:t>O(n)</a:t>
                </a:r>
                <a:r>
                  <a:rPr lang="zh-CN" altLang="en-US" b="0" dirty="0"/>
                  <a:t>。</a:t>
                </a:r>
                <a:r>
                  <a:rPr lang="en-US" dirty="0"/>
                  <a:t>	</a:t>
                </a:r>
                <a:endParaRPr lang="zh-CN" altLang="en-US" dirty="0"/>
              </a:p>
              <a:p>
                <a:endParaRPr lang="zh-CN" altLang="en-US" dirty="0"/>
              </a:p>
            </p:txBody>
          </p:sp>
        </mc:Choice>
        <mc:Fallback xmlns="">
          <p:sp>
            <p:nvSpPr>
              <p:cNvPr id="5" name="内容占位符 4"/>
              <p:cNvSpPr>
                <a:spLocks noGrp="1" noRot="1" noChangeAspect="1" noMove="1" noResize="1" noEditPoints="1" noAdjustHandles="1" noChangeArrowheads="1" noChangeShapeType="1" noTextEdit="1"/>
              </p:cNvSpPr>
              <p:nvPr>
                <p:ph idx="1"/>
              </p:nvPr>
            </p:nvSpPr>
            <p:spPr>
              <a:xfrm>
                <a:off x="928662" y="1428736"/>
                <a:ext cx="7520940" cy="4729158"/>
              </a:xfrm>
              <a:blipFill>
                <a:blip r:embed="rId2"/>
                <a:stretch>
                  <a:fillRect l="-1053" t="-773" r="-12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6019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2"/>
            <a:ext cx="7848872" cy="4896544"/>
          </a:xfrm>
        </p:spPr>
        <p:txBody>
          <a:bodyPr/>
          <a:lstStyle/>
          <a:p>
            <a:pPr algn="just"/>
            <a:r>
              <a:rPr lang="zh-CN" altLang="en-US" sz="3200" dirty="0">
                <a:solidFill>
                  <a:srgbClr val="FF0000"/>
                </a:solidFill>
              </a:rPr>
              <a:t>改进：自组织表</a:t>
            </a:r>
            <a:endParaRPr lang="en-US" altLang="zh-CN" sz="3200" dirty="0"/>
          </a:p>
          <a:p>
            <a:pPr algn="just"/>
            <a:r>
              <a:rPr lang="zh-CN" altLang="zh-CN" dirty="0"/>
              <a:t>对顺序表的查找有如下</a:t>
            </a:r>
            <a:r>
              <a:rPr lang="zh-CN" altLang="zh-CN" dirty="0">
                <a:solidFill>
                  <a:srgbClr val="FF0000"/>
                </a:solidFill>
              </a:rPr>
              <a:t>三种改进策略</a:t>
            </a:r>
            <a:r>
              <a:rPr lang="zh-CN" altLang="en-US" dirty="0">
                <a:solidFill>
                  <a:srgbClr val="FF0000"/>
                </a:solidFill>
              </a:rPr>
              <a:t>（自组织表）</a:t>
            </a:r>
            <a:r>
              <a:rPr lang="zh-CN" altLang="zh-CN" dirty="0"/>
              <a:t>：</a:t>
            </a:r>
          </a:p>
          <a:p>
            <a:pPr algn="just"/>
            <a:r>
              <a:rPr lang="en-US" altLang="zh-CN" dirty="0"/>
              <a:t>	</a:t>
            </a:r>
            <a:r>
              <a:rPr lang="zh-CN" altLang="zh-CN" b="0" dirty="0"/>
              <a:t>①每次成功查找将被查元素移动到查找表的表头；</a:t>
            </a:r>
          </a:p>
          <a:p>
            <a:pPr algn="just"/>
            <a:r>
              <a:rPr lang="en-US" altLang="zh-CN" b="0" dirty="0"/>
              <a:t>	</a:t>
            </a:r>
            <a:r>
              <a:rPr lang="zh-CN" altLang="zh-CN" b="0" dirty="0"/>
              <a:t>②每次成功查找将被查元素向前移动一个位置；</a:t>
            </a:r>
          </a:p>
          <a:p>
            <a:pPr algn="just"/>
            <a:r>
              <a:rPr lang="en-US" altLang="zh-CN" b="0" dirty="0"/>
              <a:t>	</a:t>
            </a:r>
            <a:r>
              <a:rPr lang="zh-CN" altLang="zh-CN" b="0" dirty="0"/>
              <a:t>③给每个元素增加一个频率域，每次成功查找时，更新该元素的频率并且移动元素的位置，以保持查找表中的元素按频率从大到小存储。</a:t>
            </a:r>
            <a:endParaRPr lang="en-US" altLang="zh-CN" b="0" dirty="0"/>
          </a:p>
          <a:p>
            <a:pPr algn="just"/>
            <a:r>
              <a:rPr lang="zh-CN" altLang="en-US" b="0" dirty="0"/>
              <a:t>根据</a:t>
            </a:r>
            <a:r>
              <a:rPr lang="zh-CN" altLang="en-US" b="0" dirty="0">
                <a:solidFill>
                  <a:srgbClr val="FF0000"/>
                </a:solidFill>
              </a:rPr>
              <a:t>“二八规律”</a:t>
            </a:r>
            <a:r>
              <a:rPr lang="zh-CN" altLang="en-US" b="0" dirty="0"/>
              <a:t>，</a:t>
            </a:r>
            <a:r>
              <a:rPr lang="en-US" altLang="zh-CN" b="0" dirty="0"/>
              <a:t>80%</a:t>
            </a:r>
            <a:r>
              <a:rPr lang="zh-CN" altLang="en-US" b="0" dirty="0"/>
              <a:t>的查找都会在前</a:t>
            </a:r>
            <a:r>
              <a:rPr lang="en-US" altLang="zh-CN" b="0" dirty="0"/>
              <a:t>20%</a:t>
            </a:r>
            <a:r>
              <a:rPr lang="zh-CN" altLang="en-US" b="0" dirty="0"/>
              <a:t>部分成功。</a:t>
            </a:r>
            <a:endParaRPr lang="zh-CN" altLang="zh-CN" b="0" dirty="0"/>
          </a:p>
        </p:txBody>
      </p:sp>
    </p:spTree>
    <p:extLst>
      <p:ext uri="{BB962C8B-B14F-4D97-AF65-F5344CB8AC3E}">
        <p14:creationId xmlns:p14="http://schemas.microsoft.com/office/powerpoint/2010/main" val="1537887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8.2.2 </a:t>
            </a:r>
            <a:r>
              <a:rPr lang="zh-CN" altLang="zh-CN" b="1" dirty="0"/>
              <a:t>折半查找</a:t>
            </a:r>
            <a:endParaRPr lang="zh-CN" altLang="en-US" dirty="0"/>
          </a:p>
        </p:txBody>
      </p:sp>
      <p:sp>
        <p:nvSpPr>
          <p:cNvPr id="3" name="内容占位符 2"/>
          <p:cNvSpPr>
            <a:spLocks noGrp="1"/>
          </p:cNvSpPr>
          <p:nvPr>
            <p:ph idx="1"/>
          </p:nvPr>
        </p:nvSpPr>
        <p:spPr>
          <a:xfrm>
            <a:off x="611560" y="1628800"/>
            <a:ext cx="8280920" cy="4680520"/>
          </a:xfrm>
        </p:spPr>
        <p:txBody>
          <a:bodyPr>
            <a:normAutofit/>
          </a:bodyPr>
          <a:lstStyle/>
          <a:p>
            <a:r>
              <a:rPr lang="zh-CN" altLang="zh-CN" dirty="0">
                <a:solidFill>
                  <a:srgbClr val="FF0000"/>
                </a:solidFill>
              </a:rPr>
              <a:t>折半查找</a:t>
            </a:r>
            <a:r>
              <a:rPr lang="zh-CN" altLang="zh-CN" b="0" dirty="0"/>
              <a:t>又称</a:t>
            </a:r>
            <a:r>
              <a:rPr lang="zh-CN" altLang="zh-CN" dirty="0"/>
              <a:t>二分</a:t>
            </a:r>
            <a:r>
              <a:rPr lang="zh-CN" altLang="en-US" dirty="0"/>
              <a:t>法</a:t>
            </a:r>
            <a:r>
              <a:rPr lang="zh-CN" altLang="zh-CN" dirty="0"/>
              <a:t>查找</a:t>
            </a:r>
            <a:r>
              <a:rPr lang="zh-CN" altLang="en-US" b="0" dirty="0"/>
              <a:t>：</a:t>
            </a:r>
            <a:endParaRPr lang="en-US" altLang="zh-CN" b="0" dirty="0"/>
          </a:p>
          <a:p>
            <a:pPr marL="0" indent="0"/>
            <a:r>
              <a:rPr lang="zh-CN" altLang="zh-CN" b="0" dirty="0"/>
              <a:t>折半查找只适用于对</a:t>
            </a:r>
            <a:r>
              <a:rPr lang="zh-CN" altLang="zh-CN" dirty="0"/>
              <a:t>有序</a:t>
            </a:r>
            <a:r>
              <a:rPr lang="zh-CN" altLang="en-US" dirty="0"/>
              <a:t>、</a:t>
            </a:r>
            <a:r>
              <a:rPr lang="zh-CN" altLang="zh-CN" dirty="0"/>
              <a:t>顺序表</a:t>
            </a:r>
            <a:r>
              <a:rPr lang="zh-CN" altLang="zh-CN" b="0" dirty="0"/>
              <a:t>进行查找的情况。</a:t>
            </a:r>
            <a:endParaRPr lang="en-US" altLang="zh-CN" b="0" dirty="0"/>
          </a:p>
          <a:p>
            <a:endParaRPr lang="zh-CN" altLang="en-US" dirty="0"/>
          </a:p>
        </p:txBody>
      </p:sp>
      <p:sp>
        <p:nvSpPr>
          <p:cNvPr id="4" name="矩形 3">
            <a:extLst>
              <a:ext uri="{FF2B5EF4-FFF2-40B4-BE49-F238E27FC236}">
                <a16:creationId xmlns:a16="http://schemas.microsoft.com/office/drawing/2014/main" id="{9A0E0EC7-93AD-4619-87CB-7EA09B85D498}"/>
              </a:ext>
            </a:extLst>
          </p:cNvPr>
          <p:cNvSpPr/>
          <p:nvPr/>
        </p:nvSpPr>
        <p:spPr>
          <a:xfrm>
            <a:off x="2267744" y="3329616"/>
            <a:ext cx="4181077" cy="428628"/>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1"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R</a:t>
            </a: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[0]  </a:t>
            </a:r>
            <a:r>
              <a:rPr kumimoji="0" lang="en-US" altLang="zh-CN" sz="2000" b="1" i="0" u="none" strike="noStrike" kern="0" cap="none" spc="0" normalizeH="0" baseline="0" noProof="0">
                <a:ln>
                  <a:noFill/>
                </a:ln>
                <a:solidFill>
                  <a:srgbClr val="3333FF"/>
                </a:solidFill>
                <a:effectLst/>
                <a:uLnTx/>
                <a:uFillTx/>
                <a:latin typeface="宋体" panose="02010600030101010101" pitchFamily="2" charset="-122"/>
                <a:ea typeface="宋体" panose="02010600030101010101" pitchFamily="2" charset="-122"/>
                <a:cs typeface="Consolas" panose="020B0609020204030204" pitchFamily="49" charset="0"/>
              </a:rPr>
              <a:t>…</a:t>
            </a: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0" lang="en-US" altLang="zh-CN" sz="2000" b="1" i="1" u="none" strike="noStrike" kern="0" cap="none" spc="0" normalizeH="0" baseline="0" noProof="0">
                <a:ln>
                  <a:noFill/>
                </a:ln>
                <a:solidFill>
                  <a:srgbClr val="FF33CC"/>
                </a:solidFill>
                <a:effectLst/>
                <a:uLnTx/>
                <a:uFillTx/>
                <a:latin typeface="Consolas" panose="020B0609020204030204" pitchFamily="49" charset="0"/>
                <a:ea typeface="宋体" panose="02010600030101010101" pitchFamily="2" charset="-122"/>
                <a:cs typeface="Consolas" panose="020B0609020204030204" pitchFamily="49" charset="0"/>
              </a:rPr>
              <a:t>R</a:t>
            </a:r>
            <a:r>
              <a:rPr kumimoji="0" lang="en-US" altLang="zh-CN" sz="2000" b="1" i="0" u="none" strike="noStrike" kern="0" cap="none" spc="0" normalizeH="0" baseline="0" noProof="0">
                <a:ln>
                  <a:noFill/>
                </a:ln>
                <a:solidFill>
                  <a:srgbClr val="FF33CC"/>
                </a:solidFill>
                <a:effectLst/>
                <a:uLnTx/>
                <a:uFillTx/>
                <a:latin typeface="Consolas" panose="020B0609020204030204" pitchFamily="49" charset="0"/>
                <a:ea typeface="宋体" panose="02010600030101010101" pitchFamily="2" charset="-122"/>
                <a:cs typeface="Consolas" panose="020B0609020204030204" pitchFamily="49" charset="0"/>
              </a:rPr>
              <a:t>[mid]</a:t>
            </a: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0" lang="en-US" altLang="zh-CN" sz="2000" b="1" i="0" u="none" strike="noStrike" kern="0" cap="none" spc="0" normalizeH="0" baseline="0" noProof="0">
                <a:ln>
                  <a:noFill/>
                </a:ln>
                <a:solidFill>
                  <a:srgbClr val="3333FF"/>
                </a:solidFill>
                <a:effectLst/>
                <a:uLnTx/>
                <a:uFillTx/>
                <a:latin typeface="宋体" panose="02010600030101010101" pitchFamily="2" charset="-122"/>
                <a:ea typeface="宋体" panose="02010600030101010101" pitchFamily="2" charset="-122"/>
                <a:cs typeface="Consolas" panose="020B0609020204030204" pitchFamily="49" charset="0"/>
              </a:rPr>
              <a:t>…</a:t>
            </a: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0" lang="en-US" altLang="zh-CN" sz="2000" b="1" i="1"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R</a:t>
            </a: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000" b="1" i="1"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n</a:t>
            </a: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a:t>
            </a:r>
            <a:endParaRPr kumimoji="0"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5" name="TextBox 10">
            <a:extLst>
              <a:ext uri="{FF2B5EF4-FFF2-40B4-BE49-F238E27FC236}">
                <a16:creationId xmlns:a16="http://schemas.microsoft.com/office/drawing/2014/main" id="{09889AEC-47ED-47AB-A38D-7927ABB55C70}"/>
              </a:ext>
            </a:extLst>
          </p:cNvPr>
          <p:cNvSpPr txBox="1"/>
          <p:nvPr/>
        </p:nvSpPr>
        <p:spPr>
          <a:xfrm>
            <a:off x="3118042" y="2858068"/>
            <a:ext cx="2687836" cy="400110"/>
          </a:xfrm>
          <a:prstGeom prst="rect">
            <a:avLst/>
          </a:prstGeom>
          <a:noFill/>
        </p:spPr>
        <p:txBody>
          <a:bodyPr wrap="square" rtlCol="0">
            <a:spAutoFit/>
          </a:bodyPr>
          <a:lstStyle/>
          <a:p>
            <a:pPr fontAlgn="base">
              <a:spcBef>
                <a:spcPct val="0"/>
              </a:spcBef>
              <a:spcAft>
                <a:spcPct val="0"/>
              </a:spcAft>
            </a:pPr>
            <a:r>
              <a:rPr lang="en-US" altLang="zh-CN" sz="20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和</a:t>
            </a:r>
            <a:r>
              <a:rPr lang="en-US" altLang="zh-CN" sz="20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[mid].key</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比较</a:t>
            </a:r>
          </a:p>
        </p:txBody>
      </p:sp>
      <p:grpSp>
        <p:nvGrpSpPr>
          <p:cNvPr id="6" name="组合 16">
            <a:extLst>
              <a:ext uri="{FF2B5EF4-FFF2-40B4-BE49-F238E27FC236}">
                <a16:creationId xmlns:a16="http://schemas.microsoft.com/office/drawing/2014/main" id="{E6453A4F-9334-4DCF-99AE-66DCCCFA7A34}"/>
              </a:ext>
            </a:extLst>
          </p:cNvPr>
          <p:cNvGrpSpPr/>
          <p:nvPr/>
        </p:nvGrpSpPr>
        <p:grpSpPr>
          <a:xfrm>
            <a:off x="632132" y="3758244"/>
            <a:ext cx="7316886" cy="1471680"/>
            <a:chOff x="1071538" y="3500438"/>
            <a:chExt cx="7000924" cy="1471680"/>
          </a:xfrm>
        </p:grpSpPr>
        <p:sp>
          <p:nvSpPr>
            <p:cNvPr id="7" name="矩形 6">
              <a:extLst>
                <a:ext uri="{FF2B5EF4-FFF2-40B4-BE49-F238E27FC236}">
                  <a16:creationId xmlns:a16="http://schemas.microsoft.com/office/drawing/2014/main" id="{10F20B25-4898-4823-9F17-1E534054194E}"/>
                </a:ext>
              </a:extLst>
            </p:cNvPr>
            <p:cNvSpPr/>
            <p:nvPr/>
          </p:nvSpPr>
          <p:spPr>
            <a:xfrm>
              <a:off x="1071538" y="4543490"/>
              <a:ext cx="1857388" cy="428628"/>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C00000"/>
                  </a:solidFill>
                  <a:effectLst/>
                  <a:uLnTx/>
                  <a:uFillTx/>
                  <a:latin typeface="Consolas" panose="020B0609020204030204" pitchFamily="49" charset="0"/>
                  <a:ea typeface="楷体" panose="02010609060101010101" pitchFamily="49" charset="-122"/>
                  <a:cs typeface="Consolas" panose="020B0609020204030204" pitchFamily="49" charset="0"/>
                </a:rPr>
                <a:t>左区间</a:t>
              </a:r>
            </a:p>
          </p:txBody>
        </p:sp>
        <p:sp>
          <p:nvSpPr>
            <p:cNvPr id="8" name="矩形 7">
              <a:extLst>
                <a:ext uri="{FF2B5EF4-FFF2-40B4-BE49-F238E27FC236}">
                  <a16:creationId xmlns:a16="http://schemas.microsoft.com/office/drawing/2014/main" id="{E952FAED-90BA-4AEC-A2A5-C7A4ECF55FDA}"/>
                </a:ext>
              </a:extLst>
            </p:cNvPr>
            <p:cNvSpPr/>
            <p:nvPr/>
          </p:nvSpPr>
          <p:spPr>
            <a:xfrm>
              <a:off x="6143636" y="4543490"/>
              <a:ext cx="1785950" cy="428628"/>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a:ln>
                    <a:noFill/>
                  </a:ln>
                  <a:solidFill>
                    <a:srgbClr val="C00000"/>
                  </a:solidFill>
                  <a:effectLst/>
                  <a:uLnTx/>
                  <a:uFillTx/>
                  <a:latin typeface="Consolas" panose="020B0609020204030204" pitchFamily="49" charset="0"/>
                  <a:ea typeface="楷体" panose="02010609060101010101" pitchFamily="49" charset="-122"/>
                  <a:cs typeface="Consolas" panose="020B0609020204030204" pitchFamily="49" charset="0"/>
                </a:rPr>
                <a:t>右区间</a:t>
              </a:r>
            </a:p>
          </p:txBody>
        </p:sp>
        <p:cxnSp>
          <p:nvCxnSpPr>
            <p:cNvPr id="9" name="直接箭头连接符 8">
              <a:extLst>
                <a:ext uri="{FF2B5EF4-FFF2-40B4-BE49-F238E27FC236}">
                  <a16:creationId xmlns:a16="http://schemas.microsoft.com/office/drawing/2014/main" id="{C0FE3EF4-97D6-49EF-9336-EA27C33AFA1E}"/>
                </a:ext>
              </a:extLst>
            </p:cNvPr>
            <p:cNvCxnSpPr/>
            <p:nvPr/>
          </p:nvCxnSpPr>
          <p:spPr>
            <a:xfrm rot="10800000" flipV="1">
              <a:off x="2357422" y="3500438"/>
              <a:ext cx="1143008" cy="1000130"/>
            </a:xfrm>
            <a:prstGeom prst="straightConnector1">
              <a:avLst/>
            </a:prstGeom>
            <a:noFill/>
            <a:ln w="28575" cap="flat" cmpd="sng" algn="ctr">
              <a:solidFill>
                <a:srgbClr val="9900CC"/>
              </a:solidFill>
              <a:prstDash val="solid"/>
              <a:tailEnd type="arrow"/>
            </a:ln>
            <a:effectLst/>
          </p:spPr>
        </p:cxnSp>
        <p:sp>
          <p:nvSpPr>
            <p:cNvPr id="10" name="TextBox 9">
              <a:extLst>
                <a:ext uri="{FF2B5EF4-FFF2-40B4-BE49-F238E27FC236}">
                  <a16:creationId xmlns:a16="http://schemas.microsoft.com/office/drawing/2014/main" id="{D1114D9E-A73B-4282-A284-F6F71A29478D}"/>
                </a:ext>
              </a:extLst>
            </p:cNvPr>
            <p:cNvSpPr txBox="1"/>
            <p:nvPr/>
          </p:nvSpPr>
          <p:spPr>
            <a:xfrm>
              <a:off x="1142976" y="3786190"/>
              <a:ext cx="1785950" cy="40011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1" i="1"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k</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&lt;</a:t>
              </a:r>
              <a:r>
                <a:rPr kumimoji="0" lang="en-US" altLang="zh-CN" sz="2000" b="1" i="1"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R</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[mid].key</a:t>
              </a:r>
              <a:endParaRPr kumimoji="0"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endParaRPr>
            </a:p>
          </p:txBody>
        </p:sp>
        <p:cxnSp>
          <p:nvCxnSpPr>
            <p:cNvPr id="11" name="直接箭头连接符 10">
              <a:extLst>
                <a:ext uri="{FF2B5EF4-FFF2-40B4-BE49-F238E27FC236}">
                  <a16:creationId xmlns:a16="http://schemas.microsoft.com/office/drawing/2014/main" id="{659301C0-6E11-4C85-8A23-CF58167D242C}"/>
                </a:ext>
              </a:extLst>
            </p:cNvPr>
            <p:cNvCxnSpPr/>
            <p:nvPr/>
          </p:nvCxnSpPr>
          <p:spPr>
            <a:xfrm rot="16200000" flipH="1">
              <a:off x="5639970" y="3504038"/>
              <a:ext cx="1043052" cy="1035851"/>
            </a:xfrm>
            <a:prstGeom prst="straightConnector1">
              <a:avLst/>
            </a:prstGeom>
            <a:noFill/>
            <a:ln w="28575" cap="flat" cmpd="sng" algn="ctr">
              <a:solidFill>
                <a:srgbClr val="9900CC"/>
              </a:solidFill>
              <a:prstDash val="solid"/>
              <a:tailEnd type="arrow"/>
            </a:ln>
            <a:effectLst/>
          </p:spPr>
        </p:cxnSp>
        <p:sp>
          <p:nvSpPr>
            <p:cNvPr id="12" name="TextBox 15">
              <a:extLst>
                <a:ext uri="{FF2B5EF4-FFF2-40B4-BE49-F238E27FC236}">
                  <a16:creationId xmlns:a16="http://schemas.microsoft.com/office/drawing/2014/main" id="{85A84429-117B-479A-99FC-A6D17458053D}"/>
                </a:ext>
              </a:extLst>
            </p:cNvPr>
            <p:cNvSpPr txBox="1"/>
            <p:nvPr/>
          </p:nvSpPr>
          <p:spPr>
            <a:xfrm>
              <a:off x="6286512" y="3814708"/>
              <a:ext cx="1785950" cy="40011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1" i="1"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k</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&gt;</a:t>
              </a:r>
              <a:r>
                <a:rPr kumimoji="0" lang="en-US" altLang="zh-CN" sz="2000" b="1" i="1"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R</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[mid].key</a:t>
              </a:r>
              <a:endParaRPr kumimoji="0"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747F79F4-D2D4-4E61-885F-D56DB9A1A6A4}"/>
                </a:ext>
              </a:extLst>
            </p:cNvPr>
            <p:cNvCxnSpPr/>
            <p:nvPr/>
          </p:nvCxnSpPr>
          <p:spPr>
            <a:xfrm rot="5400000">
              <a:off x="3929058" y="4000504"/>
              <a:ext cx="1000132" cy="1588"/>
            </a:xfrm>
            <a:prstGeom prst="straightConnector1">
              <a:avLst/>
            </a:prstGeom>
            <a:noFill/>
            <a:ln w="28575" cap="flat" cmpd="sng" algn="ctr">
              <a:solidFill>
                <a:srgbClr val="9900CC"/>
              </a:solidFill>
              <a:prstDash val="solid"/>
              <a:tailEnd type="arrow"/>
            </a:ln>
            <a:effectLst/>
          </p:spPr>
        </p:cxnSp>
        <p:sp>
          <p:nvSpPr>
            <p:cNvPr id="14" name="TextBox 19">
              <a:extLst>
                <a:ext uri="{FF2B5EF4-FFF2-40B4-BE49-F238E27FC236}">
                  <a16:creationId xmlns:a16="http://schemas.microsoft.com/office/drawing/2014/main" id="{EE141837-AB14-460A-907D-254D2B17810A}"/>
                </a:ext>
              </a:extLst>
            </p:cNvPr>
            <p:cNvSpPr txBox="1"/>
            <p:nvPr/>
          </p:nvSpPr>
          <p:spPr>
            <a:xfrm>
              <a:off x="4429124" y="3857628"/>
              <a:ext cx="1785950" cy="400110"/>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1" i="1"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k</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a:t>
              </a:r>
              <a:r>
                <a:rPr kumimoji="0" lang="en-US" altLang="zh-CN" sz="2000" b="1" i="1"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R</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[mid].key</a:t>
              </a:r>
              <a:endParaRPr kumimoji="0"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endParaRPr>
            </a:p>
          </p:txBody>
        </p:sp>
        <p:sp>
          <p:nvSpPr>
            <p:cNvPr id="15" name="TextBox 20">
              <a:extLst>
                <a:ext uri="{FF2B5EF4-FFF2-40B4-BE49-F238E27FC236}">
                  <a16:creationId xmlns:a16="http://schemas.microsoft.com/office/drawing/2014/main" id="{0D0497F2-E0EC-45F1-A171-C0617C3906FC}"/>
                </a:ext>
              </a:extLst>
            </p:cNvPr>
            <p:cNvSpPr txBox="1"/>
            <p:nvPr/>
          </p:nvSpPr>
          <p:spPr>
            <a:xfrm>
              <a:off x="3929058" y="4572008"/>
              <a:ext cx="1071570" cy="400110"/>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Consolas" panose="020B0609020204030204" pitchFamily="49" charset="0"/>
                </a:rPr>
                <a:t>成功</a:t>
              </a:r>
            </a:p>
          </p:txBody>
        </p:sp>
      </p:grpSp>
    </p:spTree>
    <p:extLst>
      <p:ext uri="{BB962C8B-B14F-4D97-AF65-F5344CB8AC3E}">
        <p14:creationId xmlns:p14="http://schemas.microsoft.com/office/powerpoint/2010/main" val="88671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8.2.2 </a:t>
            </a:r>
            <a:r>
              <a:rPr lang="zh-CN" altLang="zh-CN" b="1" dirty="0"/>
              <a:t>折半查找</a:t>
            </a:r>
            <a:endParaRPr lang="zh-CN" altLang="en-US" dirty="0"/>
          </a:p>
        </p:txBody>
      </p:sp>
      <p:sp>
        <p:nvSpPr>
          <p:cNvPr id="3" name="内容占位符 2"/>
          <p:cNvSpPr>
            <a:spLocks noGrp="1"/>
          </p:cNvSpPr>
          <p:nvPr>
            <p:ph idx="1"/>
          </p:nvPr>
        </p:nvSpPr>
        <p:spPr>
          <a:xfrm>
            <a:off x="611560" y="1628800"/>
            <a:ext cx="8064896" cy="4680520"/>
          </a:xfrm>
        </p:spPr>
        <p:txBody>
          <a:bodyPr>
            <a:normAutofit/>
          </a:bodyPr>
          <a:lstStyle/>
          <a:p>
            <a:pPr marL="0" indent="0" algn="just"/>
            <a:r>
              <a:rPr lang="zh-CN" altLang="zh-CN" dirty="0">
                <a:solidFill>
                  <a:srgbClr val="FF0000"/>
                </a:solidFill>
              </a:rPr>
              <a:t>算法步骤：</a:t>
            </a:r>
          </a:p>
          <a:p>
            <a:pPr marL="0" indent="0" algn="just"/>
            <a:r>
              <a:rPr lang="zh-CN" altLang="zh-CN" b="0" dirty="0"/>
              <a:t>给定一个</a:t>
            </a:r>
            <a:r>
              <a:rPr lang="zh-CN" altLang="en-US" b="0" dirty="0"/>
              <a:t>待查找</a:t>
            </a:r>
            <a:r>
              <a:rPr lang="zh-CN" altLang="zh-CN" dirty="0"/>
              <a:t>关键值</a:t>
            </a:r>
            <a:r>
              <a:rPr lang="en-US" altLang="zh-CN" dirty="0"/>
              <a:t>K</a:t>
            </a:r>
            <a:r>
              <a:rPr lang="zh-CN" altLang="zh-CN" b="0" dirty="0"/>
              <a:t>，在存储表</a:t>
            </a:r>
            <a:r>
              <a:rPr lang="en-US" altLang="zh-CN" dirty="0"/>
              <a:t>r[</a:t>
            </a:r>
            <a:r>
              <a:rPr lang="en-US" altLang="zh-CN" dirty="0" err="1"/>
              <a:t>low..high</a:t>
            </a:r>
            <a:r>
              <a:rPr lang="en-US" altLang="zh-CN" dirty="0"/>
              <a:t>]</a:t>
            </a:r>
            <a:r>
              <a:rPr lang="zh-CN" altLang="zh-CN" b="0" dirty="0"/>
              <a:t>中查找</a:t>
            </a:r>
            <a:r>
              <a:rPr lang="zh-CN" altLang="en-US" b="0" dirty="0"/>
              <a:t>。</a:t>
            </a:r>
            <a:endParaRPr lang="en-US" altLang="zh-CN" b="0" dirty="0"/>
          </a:p>
          <a:p>
            <a:pPr marL="0" indent="0" algn="just"/>
            <a:r>
              <a:rPr lang="zh-CN" altLang="en-US" b="0" dirty="0"/>
              <a:t>每次与</a:t>
            </a:r>
            <a:r>
              <a:rPr lang="en-US" altLang="zh-CN" dirty="0"/>
              <a:t>mid=(</a:t>
            </a:r>
            <a:r>
              <a:rPr lang="en-US" altLang="zh-CN" dirty="0" err="1"/>
              <a:t>low+high</a:t>
            </a:r>
            <a:r>
              <a:rPr lang="en-US" altLang="zh-CN" dirty="0"/>
              <a:t>)/2</a:t>
            </a:r>
            <a:r>
              <a:rPr lang="zh-CN" altLang="en-US" b="0" dirty="0"/>
              <a:t>的位置元素比较，</a:t>
            </a:r>
            <a:r>
              <a:rPr lang="zh-CN" altLang="zh-CN" b="0" dirty="0"/>
              <a:t>根据比较的结果可分为以下三种情况：</a:t>
            </a:r>
          </a:p>
          <a:p>
            <a:pPr marL="0" indent="0" algn="just"/>
            <a:r>
              <a:rPr lang="zh-CN" altLang="zh-CN" sz="2000" b="0" dirty="0"/>
              <a:t>（</a:t>
            </a:r>
            <a:r>
              <a:rPr lang="en-US" altLang="zh-CN" sz="2000" b="0" dirty="0"/>
              <a:t>1</a:t>
            </a:r>
            <a:r>
              <a:rPr lang="zh-CN" altLang="zh-CN" sz="2000" b="0" dirty="0"/>
              <a:t>）如果</a:t>
            </a:r>
            <a:r>
              <a:rPr lang="en-US" altLang="zh-CN" sz="2000" dirty="0"/>
              <a:t>K</a:t>
            </a:r>
            <a:r>
              <a:rPr lang="zh-CN" altLang="zh-CN" sz="2000" dirty="0"/>
              <a:t>与</a:t>
            </a:r>
            <a:r>
              <a:rPr lang="en-US" altLang="zh-CN" sz="2000" dirty="0"/>
              <a:t>r[mid]</a:t>
            </a:r>
            <a:r>
              <a:rPr lang="zh-CN" altLang="zh-CN" sz="2000" dirty="0"/>
              <a:t>的值相等</a:t>
            </a:r>
            <a:r>
              <a:rPr lang="zh-CN" altLang="zh-CN" sz="2000" b="0" dirty="0"/>
              <a:t>，则</a:t>
            </a:r>
            <a:r>
              <a:rPr lang="en-US" altLang="zh-CN" sz="2000" b="0" dirty="0"/>
              <a:t>r[mid]</a:t>
            </a:r>
            <a:r>
              <a:rPr lang="zh-CN" altLang="zh-CN" sz="2000" b="0" dirty="0"/>
              <a:t>的值为查找的记录；</a:t>
            </a:r>
          </a:p>
          <a:p>
            <a:pPr marL="0" indent="0" algn="just"/>
            <a:r>
              <a:rPr lang="zh-CN" altLang="zh-CN" sz="2000" b="0" dirty="0"/>
              <a:t>（</a:t>
            </a:r>
            <a:r>
              <a:rPr lang="en-US" altLang="zh-CN" sz="2000" b="0" dirty="0"/>
              <a:t>2</a:t>
            </a:r>
            <a:r>
              <a:rPr lang="zh-CN" altLang="zh-CN" sz="2000" b="0" dirty="0"/>
              <a:t>）如果</a:t>
            </a:r>
            <a:r>
              <a:rPr lang="en-US" altLang="zh-CN" sz="2000" dirty="0"/>
              <a:t>K</a:t>
            </a:r>
            <a:r>
              <a:rPr lang="zh-CN" altLang="zh-CN" sz="2000" dirty="0"/>
              <a:t>小于</a:t>
            </a:r>
            <a:r>
              <a:rPr lang="en-US" altLang="zh-CN" sz="2000" dirty="0"/>
              <a:t>r[mid]</a:t>
            </a:r>
            <a:r>
              <a:rPr lang="zh-CN" altLang="zh-CN" sz="2000" dirty="0"/>
              <a:t>的值</a:t>
            </a:r>
            <a:r>
              <a:rPr lang="zh-CN" altLang="zh-CN" sz="2000" b="0" dirty="0"/>
              <a:t>，则在</a:t>
            </a:r>
            <a:r>
              <a:rPr lang="en-US" altLang="zh-CN" sz="2000" b="0" dirty="0"/>
              <a:t>r[low,mid-1]</a:t>
            </a:r>
            <a:r>
              <a:rPr lang="zh-CN" altLang="zh-CN" sz="2000" b="0" dirty="0"/>
              <a:t>中进行查找；</a:t>
            </a:r>
          </a:p>
          <a:p>
            <a:pPr marL="0" indent="0" algn="just"/>
            <a:r>
              <a:rPr lang="zh-CN" altLang="zh-CN" sz="2000" b="0" dirty="0"/>
              <a:t>（</a:t>
            </a:r>
            <a:r>
              <a:rPr lang="en-US" altLang="zh-CN" sz="2000" b="0" dirty="0"/>
              <a:t>3</a:t>
            </a:r>
            <a:r>
              <a:rPr lang="zh-CN" altLang="zh-CN" sz="2000" b="0" dirty="0"/>
              <a:t>）如果</a:t>
            </a:r>
            <a:r>
              <a:rPr lang="en-US" altLang="zh-CN" sz="2000" dirty="0"/>
              <a:t>K</a:t>
            </a:r>
            <a:r>
              <a:rPr lang="zh-CN" altLang="zh-CN" sz="2000" dirty="0"/>
              <a:t>大于</a:t>
            </a:r>
            <a:r>
              <a:rPr lang="en-US" altLang="zh-CN" sz="2000" dirty="0"/>
              <a:t>r[mid]</a:t>
            </a:r>
            <a:r>
              <a:rPr lang="zh-CN" altLang="zh-CN" sz="2000" dirty="0"/>
              <a:t>的值</a:t>
            </a:r>
            <a:r>
              <a:rPr lang="zh-CN" altLang="zh-CN" sz="2000" b="0" dirty="0"/>
              <a:t>，则在</a:t>
            </a:r>
            <a:r>
              <a:rPr lang="en-US" altLang="zh-CN" sz="2000" b="0" dirty="0"/>
              <a:t>r[mid+1,high]</a:t>
            </a:r>
            <a:r>
              <a:rPr lang="zh-CN" altLang="zh-CN" sz="2000" b="0" dirty="0"/>
              <a:t>中进行查找。</a:t>
            </a:r>
          </a:p>
          <a:p>
            <a:endParaRPr lang="zh-CN" altLang="en-US" dirty="0"/>
          </a:p>
        </p:txBody>
      </p:sp>
    </p:spTree>
    <p:extLst>
      <p:ext uri="{BB962C8B-B14F-4D97-AF65-F5344CB8AC3E}">
        <p14:creationId xmlns:p14="http://schemas.microsoft.com/office/powerpoint/2010/main" val="2462040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5574" y="2060848"/>
            <a:ext cx="7704856" cy="504056"/>
          </a:xfrm>
        </p:spPr>
        <p:txBody>
          <a:bodyPr>
            <a:normAutofit/>
          </a:bodyPr>
          <a:lstStyle/>
          <a:p>
            <a:r>
              <a:rPr lang="zh-CN" altLang="zh-CN" b="0" dirty="0"/>
              <a:t>（</a:t>
            </a:r>
            <a:r>
              <a:rPr lang="en-US" altLang="zh-CN" b="0" dirty="0"/>
              <a:t>1</a:t>
            </a:r>
            <a:r>
              <a:rPr lang="zh-CN" altLang="zh-CN" b="0" dirty="0"/>
              <a:t>）如查找给定值</a:t>
            </a:r>
            <a:r>
              <a:rPr lang="en-US" altLang="zh-CN" b="0" dirty="0"/>
              <a:t>key=27</a:t>
            </a:r>
            <a:r>
              <a:rPr lang="zh-CN" altLang="zh-CN" b="0" dirty="0"/>
              <a:t>的元素</a:t>
            </a:r>
            <a:endParaRPr lang="zh-CN" altLang="en-US" b="0" dirty="0"/>
          </a:p>
        </p:txBody>
      </p:sp>
      <p:pic>
        <p:nvPicPr>
          <p:cNvPr id="4" name="图片 3" descr="C:\Users\xhb\Desktop\2014-11-17\例9.1-(1).tif"/>
          <p:cNvPicPr/>
          <p:nvPr/>
        </p:nvPicPr>
        <p:blipFill>
          <a:blip r:embed="rId2" cstate="print"/>
          <a:srcRect/>
          <a:stretch>
            <a:fillRect/>
          </a:stretch>
        </p:blipFill>
        <p:spPr bwMode="auto">
          <a:xfrm>
            <a:off x="2059608" y="2780928"/>
            <a:ext cx="4800303" cy="864096"/>
          </a:xfrm>
          <a:prstGeom prst="rect">
            <a:avLst/>
          </a:prstGeom>
          <a:noFill/>
          <a:ln w="9525">
            <a:noFill/>
            <a:miter lim="800000"/>
            <a:headEnd/>
            <a:tailEnd/>
          </a:ln>
        </p:spPr>
      </p:pic>
      <p:pic>
        <p:nvPicPr>
          <p:cNvPr id="5" name="图片 4" descr="C:\Users\xhb\Desktop\2014-11-17\例9.1-(2).tif"/>
          <p:cNvPicPr/>
          <p:nvPr/>
        </p:nvPicPr>
        <p:blipFill>
          <a:blip r:embed="rId3" cstate="print"/>
          <a:srcRect/>
          <a:stretch>
            <a:fillRect/>
          </a:stretch>
        </p:blipFill>
        <p:spPr bwMode="auto">
          <a:xfrm>
            <a:off x="2051720" y="3933056"/>
            <a:ext cx="4718560" cy="936104"/>
          </a:xfrm>
          <a:prstGeom prst="rect">
            <a:avLst/>
          </a:prstGeom>
          <a:noFill/>
          <a:ln w="9525">
            <a:noFill/>
            <a:miter lim="800000"/>
            <a:headEnd/>
            <a:tailEnd/>
          </a:ln>
        </p:spPr>
      </p:pic>
      <p:pic>
        <p:nvPicPr>
          <p:cNvPr id="6" name="图片 5" descr="C:\Users\xhb\Desktop\2014-11-17\例9.1-(3).tif"/>
          <p:cNvPicPr/>
          <p:nvPr/>
        </p:nvPicPr>
        <p:blipFill>
          <a:blip r:embed="rId4" cstate="print"/>
          <a:srcRect/>
          <a:stretch>
            <a:fillRect/>
          </a:stretch>
        </p:blipFill>
        <p:spPr bwMode="auto">
          <a:xfrm>
            <a:off x="2076861" y="5064494"/>
            <a:ext cx="4655379" cy="1100810"/>
          </a:xfrm>
          <a:prstGeom prst="rect">
            <a:avLst/>
          </a:prstGeom>
          <a:noFill/>
          <a:ln w="9525">
            <a:noFill/>
            <a:miter lim="800000"/>
            <a:headEnd/>
            <a:tailEnd/>
          </a:ln>
        </p:spPr>
      </p:pic>
      <p:sp>
        <p:nvSpPr>
          <p:cNvPr id="7" name="矩形 6"/>
          <p:cNvSpPr/>
          <p:nvPr/>
        </p:nvSpPr>
        <p:spPr>
          <a:xfrm>
            <a:off x="4738002" y="5751879"/>
            <a:ext cx="4138424" cy="400110"/>
          </a:xfrm>
          <a:prstGeom prst="rect">
            <a:avLst/>
          </a:prstGeom>
        </p:spPr>
        <p:txBody>
          <a:bodyPr wrap="squar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Key == r[mid]</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查找成功</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内容占位符 2"/>
          <p:cNvSpPr txBox="1">
            <a:spLocks/>
          </p:cNvSpPr>
          <p:nvPr/>
        </p:nvSpPr>
        <p:spPr>
          <a:xfrm>
            <a:off x="799547" y="764704"/>
            <a:ext cx="7876910" cy="1296144"/>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gn="just">
              <a:lnSpc>
                <a:spcPct val="100000"/>
              </a:lnSpc>
              <a:spcBef>
                <a:spcPts val="600"/>
              </a:spcBef>
            </a:pPr>
            <a:r>
              <a:rPr lang="zh-CN" altLang="zh-CN" dirty="0"/>
              <a:t>【例</a:t>
            </a:r>
            <a:r>
              <a:rPr lang="en-US" altLang="zh-CN" dirty="0"/>
              <a:t>8.1</a:t>
            </a:r>
            <a:r>
              <a:rPr lang="zh-CN" altLang="zh-CN" dirty="0"/>
              <a:t>】已知一个有</a:t>
            </a:r>
            <a:r>
              <a:rPr lang="en-US" altLang="zh-CN" dirty="0"/>
              <a:t>11</a:t>
            </a:r>
            <a:r>
              <a:rPr lang="zh-CN" altLang="zh-CN" dirty="0"/>
              <a:t>个数据元素的有序表：</a:t>
            </a:r>
            <a:endParaRPr lang="en-US" altLang="zh-CN" dirty="0"/>
          </a:p>
          <a:p>
            <a:pPr marL="0" indent="0" algn="just">
              <a:lnSpc>
                <a:spcPct val="100000"/>
              </a:lnSpc>
              <a:spcBef>
                <a:spcPts val="600"/>
              </a:spcBef>
            </a:pPr>
            <a:r>
              <a:rPr lang="zh-CN" altLang="zh-CN" dirty="0"/>
              <a:t>（</a:t>
            </a:r>
            <a:r>
              <a:rPr lang="en-US" altLang="zh-CN" dirty="0"/>
              <a:t>04</a:t>
            </a:r>
            <a:r>
              <a:rPr lang="zh-CN" altLang="zh-CN" dirty="0"/>
              <a:t>，</a:t>
            </a:r>
            <a:r>
              <a:rPr lang="en-US" altLang="zh-CN" dirty="0"/>
              <a:t>15</a:t>
            </a:r>
            <a:r>
              <a:rPr lang="zh-CN" altLang="zh-CN" dirty="0"/>
              <a:t>，</a:t>
            </a:r>
            <a:r>
              <a:rPr lang="en-US" altLang="zh-CN" dirty="0"/>
              <a:t>20</a:t>
            </a:r>
            <a:r>
              <a:rPr lang="zh-CN" altLang="zh-CN" dirty="0"/>
              <a:t>，</a:t>
            </a:r>
            <a:r>
              <a:rPr lang="en-US" altLang="zh-CN" dirty="0"/>
              <a:t>27</a:t>
            </a:r>
            <a:r>
              <a:rPr lang="zh-CN" altLang="zh-CN" dirty="0"/>
              <a:t>，</a:t>
            </a:r>
            <a:r>
              <a:rPr lang="en-US" altLang="zh-CN" dirty="0"/>
              <a:t>39</a:t>
            </a:r>
            <a:r>
              <a:rPr lang="zh-CN" altLang="zh-CN" dirty="0"/>
              <a:t>，</a:t>
            </a:r>
            <a:r>
              <a:rPr lang="en-US" altLang="zh-CN" dirty="0"/>
              <a:t>46</a:t>
            </a:r>
            <a:r>
              <a:rPr lang="zh-CN" altLang="zh-CN" dirty="0"/>
              <a:t>，</a:t>
            </a:r>
            <a:r>
              <a:rPr lang="en-US" altLang="zh-CN" dirty="0"/>
              <a:t>59</a:t>
            </a:r>
            <a:r>
              <a:rPr lang="zh-CN" altLang="zh-CN" dirty="0"/>
              <a:t>，</a:t>
            </a:r>
            <a:r>
              <a:rPr lang="en-US" altLang="zh-CN" dirty="0"/>
              <a:t>61</a:t>
            </a:r>
            <a:r>
              <a:rPr lang="zh-CN" altLang="zh-CN" dirty="0"/>
              <a:t>，</a:t>
            </a:r>
            <a:r>
              <a:rPr lang="en-US" altLang="zh-CN" dirty="0"/>
              <a:t>78</a:t>
            </a:r>
            <a:r>
              <a:rPr lang="zh-CN" altLang="zh-CN" dirty="0"/>
              <a:t>，</a:t>
            </a:r>
            <a:r>
              <a:rPr lang="en-US" altLang="zh-CN" dirty="0"/>
              <a:t>82</a:t>
            </a:r>
            <a:r>
              <a:rPr lang="zh-CN" altLang="zh-CN" dirty="0"/>
              <a:t>，</a:t>
            </a:r>
            <a:r>
              <a:rPr lang="en-US" altLang="zh-CN" dirty="0"/>
              <a:t>95</a:t>
            </a:r>
            <a:r>
              <a:rPr lang="zh-CN" altLang="zh-CN" dirty="0"/>
              <a:t>），以折半查找方法查找关键字为</a:t>
            </a:r>
            <a:r>
              <a:rPr lang="en-US" altLang="zh-CN" dirty="0"/>
              <a:t>27</a:t>
            </a:r>
            <a:r>
              <a:rPr lang="zh-CN" altLang="zh-CN" dirty="0"/>
              <a:t>和</a:t>
            </a:r>
            <a:r>
              <a:rPr lang="en-US" altLang="zh-CN" dirty="0"/>
              <a:t>86</a:t>
            </a:r>
            <a:r>
              <a:rPr lang="zh-CN" altLang="zh-CN" dirty="0"/>
              <a:t>的数据元素。</a:t>
            </a:r>
            <a:endParaRPr lang="en-US" altLang="zh-CN" dirty="0"/>
          </a:p>
        </p:txBody>
      </p:sp>
    </p:spTree>
    <p:extLst>
      <p:ext uri="{BB962C8B-B14F-4D97-AF65-F5344CB8AC3E}">
        <p14:creationId xmlns:p14="http://schemas.microsoft.com/office/powerpoint/2010/main" val="3724014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836712"/>
            <a:ext cx="7488832" cy="576064"/>
          </a:xfrm>
        </p:spPr>
        <p:txBody>
          <a:bodyPr/>
          <a:lstStyle/>
          <a:p>
            <a:r>
              <a:rPr lang="zh-CN" altLang="zh-CN" dirty="0"/>
              <a:t>（</a:t>
            </a:r>
            <a:r>
              <a:rPr lang="en-US" altLang="zh-CN" dirty="0"/>
              <a:t>2</a:t>
            </a:r>
            <a:r>
              <a:rPr lang="zh-CN" altLang="zh-CN" dirty="0"/>
              <a:t>）如查找给定值</a:t>
            </a:r>
            <a:r>
              <a:rPr lang="en-US" altLang="zh-CN" dirty="0"/>
              <a:t>key=86</a:t>
            </a:r>
            <a:endParaRPr lang="zh-CN" altLang="en-US" dirty="0"/>
          </a:p>
        </p:txBody>
      </p:sp>
      <p:pic>
        <p:nvPicPr>
          <p:cNvPr id="4" name="图片 3"/>
          <p:cNvPicPr/>
          <p:nvPr/>
        </p:nvPicPr>
        <p:blipFill>
          <a:blip r:embed="rId2" cstate="print"/>
          <a:stretch>
            <a:fillRect/>
          </a:stretch>
        </p:blipFill>
        <p:spPr>
          <a:xfrm>
            <a:off x="1907704" y="1484784"/>
            <a:ext cx="5184576" cy="3744416"/>
          </a:xfrm>
          <a:prstGeom prst="rect">
            <a:avLst/>
          </a:prstGeom>
        </p:spPr>
      </p:pic>
      <p:sp>
        <p:nvSpPr>
          <p:cNvPr id="5" name="矩形 4"/>
          <p:cNvSpPr/>
          <p:nvPr/>
        </p:nvSpPr>
        <p:spPr>
          <a:xfrm>
            <a:off x="1043608" y="5373216"/>
            <a:ext cx="7776864" cy="646331"/>
          </a:xfrm>
          <a:prstGeom prst="rect">
            <a:avLst/>
          </a:prstGeom>
        </p:spPr>
        <p:txBody>
          <a:bodyPr wrap="square">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Low</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high</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mid</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均指着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95</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且不相等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，表明查找表中没有与</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key</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相等的关键字，即</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查找不成功</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27573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268760"/>
            <a:ext cx="8280920" cy="4968552"/>
          </a:xfrm>
        </p:spPr>
        <p:txBody>
          <a:bodyPr>
            <a:noAutofit/>
          </a:bodyPr>
          <a:lstStyle/>
          <a:p>
            <a:pPr>
              <a:lnSpc>
                <a:spcPct val="140000"/>
              </a:lnSpc>
            </a:pPr>
            <a:r>
              <a:rPr lang="zh-CN" altLang="zh-CN" dirty="0"/>
              <a:t>算法</a:t>
            </a:r>
            <a:r>
              <a:rPr lang="en-US" altLang="zh-CN" dirty="0"/>
              <a:t>8.5</a:t>
            </a:r>
            <a:r>
              <a:rPr lang="zh-CN" altLang="zh-CN" dirty="0"/>
              <a:t>：折半查找的</a:t>
            </a:r>
            <a:r>
              <a:rPr lang="zh-CN" altLang="zh-CN" dirty="0">
                <a:solidFill>
                  <a:srgbClr val="FF0000"/>
                </a:solidFill>
              </a:rPr>
              <a:t>递归算法</a:t>
            </a:r>
          </a:p>
          <a:p>
            <a:pPr>
              <a:lnSpc>
                <a:spcPct val="140000"/>
              </a:lnSpc>
            </a:pPr>
            <a:r>
              <a:rPr lang="en-US" altLang="zh-CN" b="0" dirty="0" err="1"/>
              <a:t>int</a:t>
            </a:r>
            <a:r>
              <a:rPr lang="en-US" altLang="zh-CN" b="0" dirty="0"/>
              <a:t> </a:t>
            </a:r>
            <a:r>
              <a:rPr lang="en-US" altLang="zh-CN" b="0" dirty="0" err="1"/>
              <a:t>Sqtable</a:t>
            </a:r>
            <a:r>
              <a:rPr lang="en-US" altLang="zh-CN" b="0" dirty="0"/>
              <a:t>:: </a:t>
            </a:r>
            <a:r>
              <a:rPr lang="en-US" altLang="zh-CN" b="0" dirty="0" err="1"/>
              <a:t>binary_search</a:t>
            </a:r>
            <a:r>
              <a:rPr lang="en-US" altLang="zh-CN" b="0" dirty="0"/>
              <a:t>(</a:t>
            </a:r>
            <a:r>
              <a:rPr lang="en-US" altLang="zh-CN" b="0" dirty="0" err="1"/>
              <a:t>KeyType</a:t>
            </a:r>
            <a:r>
              <a:rPr lang="en-US" altLang="zh-CN" b="0" dirty="0"/>
              <a:t> k, </a:t>
            </a:r>
            <a:r>
              <a:rPr lang="en-US" altLang="zh-CN" b="0" dirty="0" err="1"/>
              <a:t>int</a:t>
            </a:r>
            <a:r>
              <a:rPr lang="en-US" altLang="zh-CN" b="0" dirty="0"/>
              <a:t> low, </a:t>
            </a:r>
            <a:r>
              <a:rPr lang="en-US" altLang="zh-CN" b="0" dirty="0" err="1"/>
              <a:t>int</a:t>
            </a:r>
            <a:r>
              <a:rPr lang="en-US" altLang="zh-CN" b="0" dirty="0"/>
              <a:t> high){</a:t>
            </a:r>
            <a:endParaRPr lang="zh-CN" altLang="zh-CN" b="0" dirty="0"/>
          </a:p>
          <a:p>
            <a:pPr>
              <a:lnSpc>
                <a:spcPct val="140000"/>
              </a:lnSpc>
            </a:pPr>
            <a:r>
              <a:rPr lang="en-US" altLang="zh-CN" b="0" dirty="0"/>
              <a:t>	if  ( low &gt; high ) return –1;</a:t>
            </a:r>
            <a:endParaRPr lang="zh-CN" altLang="zh-CN" b="0" dirty="0"/>
          </a:p>
          <a:p>
            <a:pPr>
              <a:lnSpc>
                <a:spcPct val="140000"/>
              </a:lnSpc>
            </a:pPr>
            <a:r>
              <a:rPr lang="en-US" altLang="zh-CN" b="0" dirty="0"/>
              <a:t>	</a:t>
            </a:r>
            <a:r>
              <a:rPr lang="en-US" altLang="zh-CN" b="0" dirty="0" err="1"/>
              <a:t>int</a:t>
            </a:r>
            <a:r>
              <a:rPr lang="en-US" altLang="zh-CN" b="0" dirty="0"/>
              <a:t> mid = (low + high) / 2;</a:t>
            </a:r>
            <a:endParaRPr lang="zh-CN" altLang="zh-CN" b="0" dirty="0"/>
          </a:p>
          <a:p>
            <a:pPr>
              <a:lnSpc>
                <a:spcPct val="140000"/>
              </a:lnSpc>
            </a:pPr>
            <a:r>
              <a:rPr lang="en-US" altLang="zh-CN" b="0" dirty="0"/>
              <a:t>	if  ( k == r[mid].key ) return mid;</a:t>
            </a:r>
            <a:endParaRPr lang="zh-CN" altLang="zh-CN" b="0" dirty="0"/>
          </a:p>
          <a:p>
            <a:pPr>
              <a:lnSpc>
                <a:spcPct val="140000"/>
              </a:lnSpc>
            </a:pPr>
            <a:r>
              <a:rPr lang="en-US" altLang="zh-CN" b="0" dirty="0"/>
              <a:t>	else if  ( k &lt; r[mid].key ) return </a:t>
            </a:r>
            <a:r>
              <a:rPr lang="en-US" altLang="zh-CN" b="0" dirty="0" err="1"/>
              <a:t>binary_search</a:t>
            </a:r>
            <a:r>
              <a:rPr lang="en-US" altLang="zh-CN" b="0" dirty="0"/>
              <a:t>(k, low, mid-1);</a:t>
            </a:r>
            <a:endParaRPr lang="zh-CN" altLang="zh-CN" b="0" dirty="0"/>
          </a:p>
          <a:p>
            <a:pPr>
              <a:lnSpc>
                <a:spcPct val="140000"/>
              </a:lnSpc>
            </a:pPr>
            <a:r>
              <a:rPr lang="en-US" altLang="zh-CN" b="0" dirty="0"/>
              <a:t>		else return </a:t>
            </a:r>
            <a:r>
              <a:rPr lang="en-US" altLang="zh-CN" b="0" dirty="0" err="1"/>
              <a:t>binary_search</a:t>
            </a:r>
            <a:r>
              <a:rPr lang="en-US" altLang="zh-CN" b="0" dirty="0"/>
              <a:t>(k, mid+1, high);</a:t>
            </a:r>
            <a:endParaRPr lang="zh-CN" altLang="zh-CN" b="0" dirty="0"/>
          </a:p>
          <a:p>
            <a:pPr>
              <a:lnSpc>
                <a:spcPct val="140000"/>
              </a:lnSpc>
            </a:pPr>
            <a:r>
              <a:rPr lang="en-US" altLang="zh-CN" b="0" dirty="0"/>
              <a:t>}</a:t>
            </a:r>
            <a:endParaRPr lang="zh-CN" altLang="zh-CN" b="0" dirty="0"/>
          </a:p>
        </p:txBody>
      </p:sp>
    </p:spTree>
    <p:extLst>
      <p:ext uri="{BB962C8B-B14F-4D97-AF65-F5344CB8AC3E}">
        <p14:creationId xmlns:p14="http://schemas.microsoft.com/office/powerpoint/2010/main" val="679790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836712"/>
            <a:ext cx="8208912" cy="5472608"/>
          </a:xfrm>
        </p:spPr>
        <p:txBody>
          <a:bodyPr>
            <a:noAutofit/>
          </a:bodyPr>
          <a:lstStyle/>
          <a:p>
            <a:pPr>
              <a:lnSpc>
                <a:spcPct val="110000"/>
              </a:lnSpc>
              <a:spcBef>
                <a:spcPts val="0"/>
              </a:spcBef>
            </a:pPr>
            <a:r>
              <a:rPr lang="zh-CN" altLang="zh-CN" dirty="0"/>
              <a:t>算法</a:t>
            </a:r>
            <a:r>
              <a:rPr lang="en-US" altLang="zh-CN" dirty="0"/>
              <a:t>8.4</a:t>
            </a:r>
            <a:r>
              <a:rPr lang="zh-CN" altLang="zh-CN" dirty="0"/>
              <a:t>：折半查找的</a:t>
            </a:r>
            <a:r>
              <a:rPr lang="zh-CN" altLang="zh-CN" dirty="0">
                <a:solidFill>
                  <a:srgbClr val="FF0000"/>
                </a:solidFill>
              </a:rPr>
              <a:t>非递归算法</a:t>
            </a:r>
          </a:p>
          <a:p>
            <a:pPr>
              <a:lnSpc>
                <a:spcPct val="110000"/>
              </a:lnSpc>
              <a:spcBef>
                <a:spcPts val="0"/>
              </a:spcBef>
            </a:pPr>
            <a:r>
              <a:rPr lang="en-US" altLang="zh-CN" b="0" dirty="0" err="1"/>
              <a:t>int</a:t>
            </a:r>
            <a:r>
              <a:rPr lang="en-US" altLang="zh-CN" b="0" dirty="0"/>
              <a:t> </a:t>
            </a:r>
            <a:r>
              <a:rPr lang="en-US" altLang="zh-CN" b="0" dirty="0" err="1"/>
              <a:t>Sqtable</a:t>
            </a:r>
            <a:r>
              <a:rPr lang="en-US" altLang="zh-CN" b="0" dirty="0"/>
              <a:t>:: </a:t>
            </a:r>
            <a:r>
              <a:rPr lang="en-US" altLang="zh-CN" b="0" dirty="0" err="1"/>
              <a:t>binary_search</a:t>
            </a:r>
            <a:r>
              <a:rPr lang="en-US" altLang="zh-CN" b="0" dirty="0"/>
              <a:t>(</a:t>
            </a:r>
            <a:r>
              <a:rPr lang="en-US" altLang="zh-CN" b="0" dirty="0" err="1"/>
              <a:t>KeyType</a:t>
            </a:r>
            <a:r>
              <a:rPr lang="en-US" altLang="zh-CN" b="0" dirty="0"/>
              <a:t>  K){</a:t>
            </a:r>
            <a:endParaRPr lang="zh-CN" altLang="zh-CN" b="0" dirty="0"/>
          </a:p>
          <a:p>
            <a:pPr>
              <a:lnSpc>
                <a:spcPct val="110000"/>
              </a:lnSpc>
              <a:spcBef>
                <a:spcPts val="0"/>
              </a:spcBef>
            </a:pPr>
            <a:r>
              <a:rPr lang="en-US" altLang="zh-CN" b="0" dirty="0"/>
              <a:t>	</a:t>
            </a:r>
            <a:r>
              <a:rPr lang="en-US" altLang="zh-CN" b="0" dirty="0" err="1"/>
              <a:t>int</a:t>
            </a:r>
            <a:r>
              <a:rPr lang="en-US" altLang="zh-CN" b="0" dirty="0"/>
              <a:t> mid, low, high;</a:t>
            </a:r>
            <a:endParaRPr lang="zh-CN" altLang="zh-CN" b="0" dirty="0"/>
          </a:p>
          <a:p>
            <a:pPr>
              <a:lnSpc>
                <a:spcPct val="110000"/>
              </a:lnSpc>
              <a:spcBef>
                <a:spcPts val="0"/>
              </a:spcBef>
            </a:pPr>
            <a:r>
              <a:rPr lang="en-US" altLang="zh-CN" b="0" dirty="0"/>
              <a:t>	low=0; high=n-1;</a:t>
            </a:r>
            <a:endParaRPr lang="zh-CN" altLang="zh-CN" b="0" dirty="0"/>
          </a:p>
          <a:p>
            <a:pPr>
              <a:lnSpc>
                <a:spcPct val="110000"/>
              </a:lnSpc>
              <a:spcBef>
                <a:spcPts val="0"/>
              </a:spcBef>
            </a:pPr>
            <a:r>
              <a:rPr lang="en-US" altLang="zh-CN" b="0" dirty="0"/>
              <a:t>	while( low &lt;= high ){</a:t>
            </a:r>
            <a:endParaRPr lang="zh-CN" altLang="zh-CN" b="0" dirty="0"/>
          </a:p>
          <a:p>
            <a:pPr>
              <a:lnSpc>
                <a:spcPct val="110000"/>
              </a:lnSpc>
              <a:spcBef>
                <a:spcPts val="0"/>
              </a:spcBef>
            </a:pPr>
            <a:r>
              <a:rPr lang="en-US" altLang="zh-CN" b="0" dirty="0"/>
              <a:t>		mid=(</a:t>
            </a:r>
            <a:r>
              <a:rPr lang="en-US" altLang="zh-CN" b="0" dirty="0" err="1"/>
              <a:t>low+high</a:t>
            </a:r>
            <a:r>
              <a:rPr lang="en-US" altLang="zh-CN" b="0" dirty="0"/>
              <a:t>)/2;</a:t>
            </a:r>
            <a:endParaRPr lang="zh-CN" altLang="zh-CN" b="0" dirty="0"/>
          </a:p>
          <a:p>
            <a:pPr>
              <a:lnSpc>
                <a:spcPct val="110000"/>
              </a:lnSpc>
              <a:spcBef>
                <a:spcPts val="0"/>
              </a:spcBef>
            </a:pPr>
            <a:r>
              <a:rPr lang="en-US" altLang="zh-CN" b="0" dirty="0"/>
              <a:t>		if(K==r[mid].key) return mid;    //</a:t>
            </a:r>
            <a:r>
              <a:rPr lang="zh-CN" altLang="zh-CN" b="0" dirty="0">
                <a:solidFill>
                  <a:srgbClr val="FF0000"/>
                </a:solidFill>
              </a:rPr>
              <a:t>查找成功</a:t>
            </a:r>
          </a:p>
          <a:p>
            <a:pPr>
              <a:lnSpc>
                <a:spcPct val="110000"/>
              </a:lnSpc>
              <a:spcBef>
                <a:spcPts val="0"/>
              </a:spcBef>
            </a:pPr>
            <a:r>
              <a:rPr lang="en-US" altLang="zh-CN" b="0" dirty="0"/>
              <a:t>		if(K&lt; r[mid].key) high=mid-1;</a:t>
            </a:r>
            <a:endParaRPr lang="zh-CN" altLang="zh-CN" b="0" dirty="0"/>
          </a:p>
          <a:p>
            <a:pPr>
              <a:lnSpc>
                <a:spcPct val="110000"/>
              </a:lnSpc>
              <a:spcBef>
                <a:spcPts val="0"/>
              </a:spcBef>
            </a:pPr>
            <a:r>
              <a:rPr lang="en-US" altLang="zh-CN" b="0" dirty="0"/>
              <a:t>		else low=mid+1;</a:t>
            </a:r>
            <a:endParaRPr lang="zh-CN" altLang="zh-CN" b="0" dirty="0"/>
          </a:p>
          <a:p>
            <a:pPr>
              <a:lnSpc>
                <a:spcPct val="110000"/>
              </a:lnSpc>
              <a:spcBef>
                <a:spcPts val="0"/>
              </a:spcBef>
            </a:pPr>
            <a:r>
              <a:rPr lang="en-US" altLang="zh-CN" b="0" dirty="0"/>
              <a:t>	}</a:t>
            </a:r>
            <a:endParaRPr lang="zh-CN" altLang="zh-CN" b="0" dirty="0"/>
          </a:p>
          <a:p>
            <a:pPr>
              <a:lnSpc>
                <a:spcPct val="110000"/>
              </a:lnSpc>
              <a:spcBef>
                <a:spcPts val="0"/>
              </a:spcBef>
            </a:pPr>
            <a:r>
              <a:rPr lang="en-US" altLang="zh-CN" b="0" dirty="0"/>
              <a:t>      return -1; 	                                         //</a:t>
            </a:r>
            <a:r>
              <a:rPr lang="zh-CN" altLang="zh-CN" b="0" dirty="0">
                <a:solidFill>
                  <a:srgbClr val="FF0000"/>
                </a:solidFill>
              </a:rPr>
              <a:t>查找失败</a:t>
            </a:r>
            <a:endParaRPr lang="zh-CN" altLang="zh-CN" b="0" dirty="0"/>
          </a:p>
          <a:p>
            <a:pPr>
              <a:lnSpc>
                <a:spcPct val="110000"/>
              </a:lnSpc>
              <a:spcBef>
                <a:spcPts val="0"/>
              </a:spcBef>
            </a:pPr>
            <a:r>
              <a:rPr lang="en-US" altLang="zh-CN" b="0" dirty="0"/>
              <a:t>}	</a:t>
            </a:r>
            <a:endParaRPr lang="zh-CN" altLang="zh-CN" b="0" dirty="0"/>
          </a:p>
        </p:txBody>
      </p:sp>
    </p:spTree>
    <p:extLst>
      <p:ext uri="{BB962C8B-B14F-4D97-AF65-F5344CB8AC3E}">
        <p14:creationId xmlns:p14="http://schemas.microsoft.com/office/powerpoint/2010/main" val="1516829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208912" cy="2520280"/>
          </a:xfrm>
        </p:spPr>
        <p:txBody>
          <a:bodyPr>
            <a:normAutofit fontScale="92500" lnSpcReduction="10000"/>
          </a:bodyPr>
          <a:lstStyle/>
          <a:p>
            <a:r>
              <a:rPr lang="zh-CN" altLang="en-US" sz="2000" dirty="0"/>
              <a:t>折半查找算法的复杂度分析</a:t>
            </a:r>
            <a:r>
              <a:rPr lang="zh-CN" altLang="en-US" sz="2000" b="0" dirty="0"/>
              <a:t>：</a:t>
            </a:r>
            <a:endParaRPr lang="en-US" altLang="zh-CN" sz="2000" b="0" dirty="0"/>
          </a:p>
          <a:p>
            <a:pPr marL="0" indent="0" algn="just"/>
            <a:r>
              <a:rPr lang="zh-CN" altLang="zh-CN" sz="2000" b="0" dirty="0"/>
              <a:t>折半查找可描述为二叉树的形式，称为</a:t>
            </a:r>
            <a:r>
              <a:rPr lang="zh-CN" altLang="zh-CN" sz="2000" dirty="0">
                <a:solidFill>
                  <a:srgbClr val="FF0000"/>
                </a:solidFill>
              </a:rPr>
              <a:t>折半查找判定树</a:t>
            </a:r>
            <a:r>
              <a:rPr lang="zh-CN" altLang="zh-CN" sz="2000" b="0" dirty="0"/>
              <a:t>。</a:t>
            </a:r>
            <a:endParaRPr lang="en-US" altLang="zh-CN" sz="2000" b="0" dirty="0"/>
          </a:p>
          <a:p>
            <a:pPr marL="0" indent="0" algn="just"/>
            <a:r>
              <a:rPr lang="zh-CN" altLang="zh-CN" sz="2000" b="0" dirty="0"/>
              <a:t>设待查区间为</a:t>
            </a:r>
            <a:r>
              <a:rPr lang="en-US" altLang="zh-CN" sz="2000" b="0" dirty="0"/>
              <a:t>[</a:t>
            </a:r>
            <a:r>
              <a:rPr lang="en-US" altLang="zh-CN" sz="2000" b="0" dirty="0" err="1"/>
              <a:t>low..high</a:t>
            </a:r>
            <a:r>
              <a:rPr lang="en-US" altLang="zh-CN" sz="2000" b="0" dirty="0"/>
              <a:t>]</a:t>
            </a:r>
            <a:r>
              <a:rPr lang="zh-CN" altLang="zh-CN" sz="2000" b="0" dirty="0"/>
              <a:t>，则折半查找判定树递归定义如下：</a:t>
            </a:r>
          </a:p>
          <a:p>
            <a:pPr marL="0" indent="0" algn="just"/>
            <a:r>
              <a:rPr lang="zh-CN" altLang="zh-CN" sz="2000" b="0" dirty="0"/>
              <a:t>（</a:t>
            </a:r>
            <a:r>
              <a:rPr lang="en-US" altLang="zh-CN" sz="2000" b="0" dirty="0"/>
              <a:t>1</a:t>
            </a:r>
            <a:r>
              <a:rPr lang="zh-CN" altLang="zh-CN" sz="2000" b="0" dirty="0"/>
              <a:t>）如果</a:t>
            </a:r>
            <a:r>
              <a:rPr lang="en-US" altLang="zh-CN" sz="2000" b="0" dirty="0"/>
              <a:t>low&gt;high</a:t>
            </a:r>
            <a:r>
              <a:rPr lang="zh-CN" altLang="zh-CN" sz="2000" b="0" dirty="0"/>
              <a:t>，则折半查找判定树为空。</a:t>
            </a:r>
          </a:p>
          <a:p>
            <a:pPr marL="0" indent="0" algn="just"/>
            <a:r>
              <a:rPr lang="zh-CN" altLang="zh-CN" sz="2000" b="0" dirty="0"/>
              <a:t>（</a:t>
            </a:r>
            <a:r>
              <a:rPr lang="en-US" altLang="zh-CN" sz="2000" b="0" dirty="0"/>
              <a:t>2</a:t>
            </a:r>
            <a:r>
              <a:rPr lang="zh-CN" altLang="zh-CN" sz="2000" b="0" dirty="0"/>
              <a:t>）如果</a:t>
            </a:r>
            <a:r>
              <a:rPr lang="en-US" altLang="zh-CN" sz="2000" b="0" dirty="0"/>
              <a:t>low&lt;=high</a:t>
            </a:r>
            <a:r>
              <a:rPr lang="zh-CN" altLang="zh-CN" sz="2000" b="0" dirty="0"/>
              <a:t>，则折半查找判定树的根为</a:t>
            </a:r>
            <a:r>
              <a:rPr lang="en-US" altLang="zh-CN" sz="2000" b="0" dirty="0"/>
              <a:t>mid=(</a:t>
            </a:r>
            <a:r>
              <a:rPr lang="en-US" altLang="zh-CN" sz="2000" b="0" dirty="0" err="1"/>
              <a:t>low+high</a:t>
            </a:r>
            <a:r>
              <a:rPr lang="en-US" altLang="zh-CN" sz="2000" b="0" dirty="0"/>
              <a:t>)/2</a:t>
            </a:r>
            <a:r>
              <a:rPr lang="zh-CN" altLang="zh-CN" sz="2000" b="0" dirty="0"/>
              <a:t>，左子树的查找区间为</a:t>
            </a:r>
            <a:r>
              <a:rPr lang="en-US" altLang="zh-CN" sz="2000" b="0" dirty="0"/>
              <a:t>[low..mid-1]</a:t>
            </a:r>
            <a:r>
              <a:rPr lang="zh-CN" altLang="zh-CN" sz="2000" b="0" dirty="0"/>
              <a:t>，右子树的查找区间为</a:t>
            </a:r>
            <a:r>
              <a:rPr lang="en-US" altLang="zh-CN" sz="2000" b="0" dirty="0"/>
              <a:t>[mid+1..high]</a:t>
            </a:r>
            <a:r>
              <a:rPr lang="zh-CN" altLang="zh-CN" sz="2000" b="0" dirty="0"/>
              <a:t>。</a:t>
            </a:r>
          </a:p>
        </p:txBody>
      </p:sp>
      <p:sp>
        <p:nvSpPr>
          <p:cNvPr id="4" name="矩形 3"/>
          <p:cNvSpPr/>
          <p:nvPr/>
        </p:nvSpPr>
        <p:spPr>
          <a:xfrm>
            <a:off x="323528" y="3861048"/>
            <a:ext cx="5572260" cy="707886"/>
          </a:xfrm>
          <a:prstGeom prst="rect">
            <a:avLst/>
          </a:prstGeom>
        </p:spPr>
        <p:txBody>
          <a:bodyPr wrap="square">
            <a:spAutoFit/>
          </a:bodyPr>
          <a:lstStyle/>
          <a:p>
            <a:r>
              <a:rPr lang="zh-CN" altLang="zh-CN" sz="2000" dirty="0">
                <a:latin typeface="楷体" pitchFamily="49" charset="-122"/>
                <a:ea typeface="楷体" pitchFamily="49" charset="-122"/>
              </a:rPr>
              <a:t>【例</a:t>
            </a:r>
            <a:r>
              <a:rPr lang="en-US" altLang="zh-CN" sz="2000" dirty="0">
                <a:latin typeface="楷体" pitchFamily="49" charset="-122"/>
                <a:ea typeface="楷体" pitchFamily="49" charset="-122"/>
              </a:rPr>
              <a:t>8.1</a:t>
            </a:r>
            <a:r>
              <a:rPr lang="zh-CN" altLang="zh-CN" sz="2000" dirty="0">
                <a:latin typeface="楷体" pitchFamily="49" charset="-122"/>
                <a:ea typeface="楷体" pitchFamily="49" charset="-122"/>
              </a:rPr>
              <a:t>】的折半查找判定树如图</a:t>
            </a:r>
            <a:r>
              <a:rPr lang="en-US" altLang="zh-CN" sz="2000" dirty="0">
                <a:latin typeface="楷体" pitchFamily="49" charset="-122"/>
                <a:ea typeface="楷体" pitchFamily="49" charset="-122"/>
              </a:rPr>
              <a:t>8-2</a:t>
            </a:r>
            <a:r>
              <a:rPr lang="zh-CN" altLang="zh-CN" sz="2000" dirty="0">
                <a:latin typeface="楷体" pitchFamily="49" charset="-122"/>
                <a:ea typeface="楷体" pitchFamily="49" charset="-122"/>
              </a:rPr>
              <a:t>所示。</a:t>
            </a:r>
            <a:endParaRPr lang="en-US" altLang="zh-CN" sz="2000" dirty="0">
              <a:latin typeface="楷体" pitchFamily="49" charset="-122"/>
              <a:ea typeface="楷体" pitchFamily="49" charset="-122"/>
            </a:endParaRPr>
          </a:p>
          <a:p>
            <a:r>
              <a:rPr lang="zh-CN" altLang="zh-CN" sz="2000" dirty="0"/>
              <a:t>（</a:t>
            </a:r>
            <a:r>
              <a:rPr lang="en-US" altLang="zh-CN" sz="2000" dirty="0"/>
              <a:t>04,15,20,27,39,46,59,61,78,82,95</a:t>
            </a:r>
            <a:r>
              <a:rPr lang="zh-CN" altLang="en-US" sz="2000" dirty="0"/>
              <a:t>）</a:t>
            </a:r>
            <a:endParaRPr lang="zh-CN" altLang="zh-CN" sz="2000" dirty="0">
              <a:latin typeface="楷体" pitchFamily="49" charset="-122"/>
              <a:ea typeface="楷体" pitchFamily="49" charset="-122"/>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1" y="3573016"/>
            <a:ext cx="3368333"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95536" y="5013176"/>
            <a:ext cx="4680520" cy="1200329"/>
          </a:xfrm>
          <a:prstGeom prst="rect">
            <a:avLst/>
          </a:prstGeom>
        </p:spPr>
        <p:txBody>
          <a:bodyPr wrap="square">
            <a:spAutoFit/>
          </a:bodyPr>
          <a:lstStyle/>
          <a:p>
            <a:r>
              <a:rPr lang="zh-CN" altLang="zh-CN" sz="2400" b="1" dirty="0">
                <a:solidFill>
                  <a:srgbClr val="FF0000"/>
                </a:solidFill>
                <a:latin typeface="楷体" panose="02010609060101010101" pitchFamily="49" charset="-122"/>
                <a:ea typeface="楷体" panose="02010609060101010101" pitchFamily="49" charset="-122"/>
              </a:rPr>
              <a:t>★注：折半查找中，</a:t>
            </a:r>
            <a:r>
              <a:rPr lang="zh-CN" altLang="en-US" sz="2400" b="1" dirty="0">
                <a:solidFill>
                  <a:srgbClr val="FF0000"/>
                </a:solidFill>
                <a:latin typeface="楷体" panose="02010609060101010101" pitchFamily="49" charset="-122"/>
                <a:ea typeface="楷体" panose="02010609060101010101" pitchFamily="49" charset="-122"/>
              </a:rPr>
              <a:t>元素查找比较次数等于所在层高，</a:t>
            </a:r>
            <a:r>
              <a:rPr lang="zh-CN" altLang="zh-CN" sz="2400" b="1" dirty="0">
                <a:solidFill>
                  <a:srgbClr val="FF0000"/>
                </a:solidFill>
                <a:latin typeface="楷体" panose="02010609060101010101" pitchFamily="49" charset="-122"/>
                <a:ea typeface="楷体" panose="02010609060101010101" pitchFamily="49" charset="-122"/>
              </a:rPr>
              <a:t>最大比较次数等于判定树的</a:t>
            </a:r>
            <a:r>
              <a:rPr lang="zh-CN" altLang="en-US" sz="2400" b="1" dirty="0">
                <a:solidFill>
                  <a:srgbClr val="FF0000"/>
                </a:solidFill>
                <a:latin typeface="楷体" panose="02010609060101010101" pitchFamily="49" charset="-122"/>
                <a:ea typeface="楷体" panose="02010609060101010101" pitchFamily="49" charset="-122"/>
              </a:rPr>
              <a:t>高度</a:t>
            </a:r>
            <a:r>
              <a:rPr lang="zh-CN" altLang="zh-CN" sz="2400" b="1" dirty="0">
                <a:solidFill>
                  <a:srgbClr val="FF0000"/>
                </a:solidFill>
                <a:latin typeface="楷体" panose="02010609060101010101" pitchFamily="49" charset="-122"/>
                <a:ea typeface="楷体" panose="02010609060101010101" pitchFamily="49" charset="-122"/>
              </a:rPr>
              <a:t>。</a:t>
            </a:r>
          </a:p>
        </p:txBody>
      </p:sp>
      <p:grpSp>
        <p:nvGrpSpPr>
          <p:cNvPr id="7" name="组合 6"/>
          <p:cNvGrpSpPr/>
          <p:nvPr/>
        </p:nvGrpSpPr>
        <p:grpSpPr>
          <a:xfrm>
            <a:off x="5508104" y="5301208"/>
            <a:ext cx="468054" cy="376590"/>
            <a:chOff x="5040050" y="5509815"/>
            <a:chExt cx="468054" cy="376590"/>
          </a:xfrm>
        </p:grpSpPr>
        <p:sp>
          <p:nvSpPr>
            <p:cNvPr id="2" name="椭圆 1"/>
            <p:cNvSpPr/>
            <p:nvPr/>
          </p:nvSpPr>
          <p:spPr>
            <a:xfrm>
              <a:off x="5076056" y="5509815"/>
              <a:ext cx="360041" cy="37659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6" name="TextBox 5"/>
            <p:cNvSpPr txBox="1"/>
            <p:nvPr/>
          </p:nvSpPr>
          <p:spPr>
            <a:xfrm>
              <a:off x="5040050" y="5569495"/>
              <a:ext cx="468054" cy="253916"/>
            </a:xfrm>
            <a:prstGeom prst="rect">
              <a:avLst/>
            </a:prstGeom>
            <a:noFill/>
          </p:spPr>
          <p:txBody>
            <a:bodyPr wrap="square" rtlCol="0">
              <a:spAutoFit/>
            </a:bodyPr>
            <a:lstStyle/>
            <a:p>
              <a:r>
                <a:rPr lang="en-US" altLang="zh-CN" sz="1050" dirty="0"/>
                <a:t>04</a:t>
              </a:r>
              <a:endParaRPr lang="zh-CN" altLang="en-US" sz="1050" dirty="0"/>
            </a:p>
          </p:txBody>
        </p:sp>
      </p:grpSp>
      <p:grpSp>
        <p:nvGrpSpPr>
          <p:cNvPr id="9" name="组合 8"/>
          <p:cNvGrpSpPr/>
          <p:nvPr/>
        </p:nvGrpSpPr>
        <p:grpSpPr>
          <a:xfrm>
            <a:off x="6801413" y="5157192"/>
            <a:ext cx="362875" cy="263860"/>
            <a:chOff x="5032270" y="5509815"/>
            <a:chExt cx="468054" cy="476782"/>
          </a:xfrm>
        </p:grpSpPr>
        <p:sp>
          <p:nvSpPr>
            <p:cNvPr id="10" name="椭圆 9"/>
            <p:cNvSpPr/>
            <p:nvPr/>
          </p:nvSpPr>
          <p:spPr>
            <a:xfrm>
              <a:off x="5076056" y="5509815"/>
              <a:ext cx="360041" cy="37659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11" name="TextBox 10"/>
            <p:cNvSpPr txBox="1"/>
            <p:nvPr/>
          </p:nvSpPr>
          <p:spPr>
            <a:xfrm>
              <a:off x="5032270" y="5569495"/>
              <a:ext cx="468054" cy="417102"/>
            </a:xfrm>
            <a:prstGeom prst="rect">
              <a:avLst/>
            </a:prstGeom>
            <a:noFill/>
          </p:spPr>
          <p:txBody>
            <a:bodyPr wrap="square" rtlCol="0">
              <a:spAutoFit/>
            </a:bodyPr>
            <a:lstStyle/>
            <a:p>
              <a:r>
                <a:rPr lang="en-US" altLang="zh-CN" sz="900" dirty="0"/>
                <a:t>39</a:t>
              </a:r>
              <a:endParaRPr lang="zh-CN" altLang="en-US" sz="900" dirty="0"/>
            </a:p>
          </p:txBody>
        </p:sp>
      </p:grpSp>
      <p:cxnSp>
        <p:nvCxnSpPr>
          <p:cNvPr id="12" name="直接连接符 11"/>
          <p:cNvCxnSpPr>
            <a:endCxn id="2" idx="7"/>
          </p:cNvCxnSpPr>
          <p:nvPr/>
        </p:nvCxnSpPr>
        <p:spPr>
          <a:xfrm flipH="1">
            <a:off x="5851424" y="5252459"/>
            <a:ext cx="88728" cy="103899"/>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876256" y="5085184"/>
            <a:ext cx="73746" cy="105036"/>
          </a:xfrm>
          <a:prstGeom prst="line">
            <a:avLst/>
          </a:prstGeom>
          <a:ln w="158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530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57263" y="1048525"/>
                <a:ext cx="7520940" cy="5044771"/>
              </a:xfrm>
            </p:spPr>
            <p:txBody>
              <a:bodyPr>
                <a:normAutofit/>
              </a:bodyPr>
              <a:lstStyle/>
              <a:p>
                <a:pPr marL="0" indent="0" algn="just"/>
                <a:r>
                  <a:rPr lang="zh-CN" altLang="zh-CN" b="0" dirty="0"/>
                  <a:t>假定查找表中的每个记录的查找概率都相等（</a:t>
                </a:r>
                <a:r>
                  <a:rPr lang="en-US" altLang="zh-CN" b="0" dirty="0"/>
                  <a:t>P</a:t>
                </a:r>
                <a:r>
                  <a:rPr lang="en-US" altLang="zh-CN" b="0" baseline="-25000" dirty="0"/>
                  <a:t>i</a:t>
                </a:r>
                <a:r>
                  <a:rPr lang="en-US" altLang="zh-CN" b="0" dirty="0"/>
                  <a:t>=</a:t>
                </a:r>
                <a14:m>
                  <m:oMath xmlns:m="http://schemas.openxmlformats.org/officeDocument/2006/math">
                    <m:f>
                      <m:fPr>
                        <m:ctrlPr>
                          <a:rPr lang="zh-CN" altLang="zh-CN" b="0" i="1">
                            <a:latin typeface="Cambria Math" panose="02040503050406030204" pitchFamily="18" charset="0"/>
                          </a:rPr>
                        </m:ctrlPr>
                      </m:fPr>
                      <m:num>
                        <m:r>
                          <a:rPr lang="en-US" altLang="zh-CN" b="0">
                            <a:latin typeface="Cambria Math"/>
                          </a:rPr>
                          <m:t>1</m:t>
                        </m:r>
                      </m:num>
                      <m:den>
                        <m:r>
                          <m:rPr>
                            <m:sty m:val="p"/>
                          </m:rPr>
                          <a:rPr lang="en-US" altLang="zh-CN" b="0">
                            <a:latin typeface="Cambria Math"/>
                          </a:rPr>
                          <m:t>n</m:t>
                        </m:r>
                      </m:den>
                    </m:f>
                  </m:oMath>
                </a14:m>
                <a:r>
                  <a:rPr lang="zh-CN" altLang="zh-CN" b="0" dirty="0"/>
                  <a:t>），则查找成功时折半查找的平均查找长度为：</a:t>
                </a:r>
              </a:p>
              <a:p>
                <a:pPr marL="0" indent="0" algn="just"/>
                <a:endParaRPr lang="en-US" altLang="zh-CN" dirty="0"/>
              </a:p>
              <a:p>
                <a:pPr marL="0" indent="0" algn="just"/>
                <a:endParaRPr lang="en-US" altLang="zh-CN" dirty="0"/>
              </a:p>
              <a:p>
                <a:pPr marL="0" indent="0" algn="just"/>
                <a:r>
                  <a:rPr lang="zh-CN" altLang="en-US" b="0" dirty="0"/>
                  <a:t>即第</a:t>
                </a:r>
                <a:r>
                  <a:rPr lang="en-US" altLang="zh-CN" b="0" dirty="0"/>
                  <a:t>j</a:t>
                </a:r>
                <a:r>
                  <a:rPr lang="zh-CN" altLang="en-US" b="0" dirty="0"/>
                  <a:t>层最多有</a:t>
                </a:r>
                <a:r>
                  <a:rPr lang="en-US" altLang="zh-CN" b="0" dirty="0"/>
                  <a:t>2</a:t>
                </a:r>
                <a:r>
                  <a:rPr lang="en-US" altLang="zh-CN" b="0" baseline="30000" dirty="0"/>
                  <a:t>j-1</a:t>
                </a:r>
                <a:r>
                  <a:rPr lang="zh-CN" altLang="en-US" b="0" dirty="0"/>
                  <a:t>个结点，每个结点比较次数为</a:t>
                </a:r>
                <a:r>
                  <a:rPr lang="en-US" altLang="zh-CN" b="0" dirty="0"/>
                  <a:t>j</a:t>
                </a:r>
                <a:r>
                  <a:rPr lang="zh-CN" altLang="en-US" b="0" dirty="0"/>
                  <a:t>。</a:t>
                </a:r>
                <a:endParaRPr lang="en-US" altLang="zh-CN" b="0" dirty="0"/>
              </a:p>
              <a:p>
                <a:pPr marL="0" indent="0" algn="just"/>
                <a:r>
                  <a:rPr lang="zh-CN" altLang="zh-CN" b="0" dirty="0"/>
                  <a:t>对任意的</a:t>
                </a:r>
                <a:r>
                  <a:rPr lang="en-US" altLang="zh-CN" b="0" dirty="0"/>
                  <a:t>n</a:t>
                </a:r>
                <a:r>
                  <a:rPr lang="zh-CN" altLang="zh-CN" b="0" dirty="0"/>
                  <a:t>，当</a:t>
                </a:r>
                <a:r>
                  <a:rPr lang="en-US" altLang="zh-CN" b="0" dirty="0"/>
                  <a:t>n</a:t>
                </a:r>
                <a:r>
                  <a:rPr lang="zh-CN" altLang="zh-CN" b="0" dirty="0"/>
                  <a:t>较大（</a:t>
                </a:r>
                <a:r>
                  <a:rPr lang="en-US" altLang="zh-CN" b="0" dirty="0"/>
                  <a:t>n&gt;50</a:t>
                </a:r>
                <a:r>
                  <a:rPr lang="zh-CN" altLang="zh-CN" b="0" dirty="0"/>
                  <a:t>）时，可有近似结果</a:t>
                </a:r>
                <a:r>
                  <a:rPr lang="en-US" altLang="zh-CN" b="0" dirty="0" err="1"/>
                  <a:t>ASL</a:t>
                </a:r>
                <a:r>
                  <a:rPr lang="en-US" altLang="zh-CN" b="0" baseline="-25000" dirty="0" err="1"/>
                  <a:t>bs</a:t>
                </a:r>
                <a:r>
                  <a:rPr lang="en-US" altLang="zh-CN" b="0" dirty="0"/>
                  <a:t>=log</a:t>
                </a:r>
                <a:r>
                  <a:rPr lang="en-US" altLang="zh-CN" b="0" baseline="-25000" dirty="0"/>
                  <a:t>2</a:t>
                </a:r>
                <a:r>
                  <a:rPr lang="en-US" altLang="zh-CN" b="0" dirty="0"/>
                  <a:t>(n+1)-1</a:t>
                </a:r>
              </a:p>
              <a:p>
                <a:pPr marL="0" indent="0" algn="just"/>
                <a:endParaRPr lang="en-US" altLang="zh-CN" b="0" dirty="0"/>
              </a:p>
              <a:p>
                <a:pPr marL="0" indent="0" algn="just"/>
                <a:r>
                  <a:rPr lang="en-US" altLang="zh-CN" b="0" dirty="0">
                    <a:solidFill>
                      <a:srgbClr val="FF0000"/>
                    </a:solidFill>
                  </a:rPr>
                  <a:t>	</a:t>
                </a:r>
                <a:r>
                  <a:rPr lang="zh-CN" altLang="zh-CN" b="0" dirty="0">
                    <a:solidFill>
                      <a:srgbClr val="FF0000"/>
                    </a:solidFill>
                  </a:rPr>
                  <a:t>折半查找的平均时间复杂度为</a:t>
                </a:r>
                <a:r>
                  <a:rPr lang="en-US" altLang="zh-CN" b="0" dirty="0">
                    <a:solidFill>
                      <a:srgbClr val="FF0000"/>
                    </a:solidFill>
                  </a:rPr>
                  <a:t> </a:t>
                </a:r>
                <a:r>
                  <a:rPr lang="en-US" altLang="zh-CN" dirty="0">
                    <a:solidFill>
                      <a:srgbClr val="FF0000"/>
                    </a:solidFill>
                  </a:rPr>
                  <a:t>O(log</a:t>
                </a:r>
                <a:r>
                  <a:rPr lang="en-US" altLang="zh-CN" baseline="-25000" dirty="0">
                    <a:solidFill>
                      <a:srgbClr val="FF0000"/>
                    </a:solidFill>
                  </a:rPr>
                  <a:t>2</a:t>
                </a:r>
                <a:r>
                  <a:rPr lang="en-US" altLang="zh-CN" dirty="0">
                    <a:solidFill>
                      <a:srgbClr val="FF0000"/>
                    </a:solidFill>
                  </a:rPr>
                  <a:t>n)</a:t>
                </a:r>
                <a:r>
                  <a:rPr lang="zh-CN" altLang="zh-CN" b="0" dirty="0">
                    <a:solidFill>
                      <a:srgbClr val="FF0000"/>
                    </a:solidFill>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57263" y="1048525"/>
                <a:ext cx="7520940" cy="5044771"/>
              </a:xfrm>
              <a:blipFill>
                <a:blip r:embed="rId2"/>
                <a:stretch>
                  <a:fillRect l="-1216" r="-1297"/>
                </a:stretch>
              </a:blipFill>
            </p:spPr>
            <p:txBody>
              <a:bodyPr/>
              <a:lstStyle/>
              <a:p>
                <a:r>
                  <a:rPr lang="zh-CN" altLang="en-US">
                    <a:noFill/>
                  </a:rPr>
                  <a:t> </a:t>
                </a:r>
              </a:p>
            </p:txBody>
          </p:sp>
        </mc:Fallback>
      </mc:AlternateContent>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7664" y="2204864"/>
            <a:ext cx="6170621"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7984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659A1-784E-4572-B5D8-9B997BB858D8}"/>
              </a:ext>
            </a:extLst>
          </p:cNvPr>
          <p:cNvSpPr>
            <a:spLocks noGrp="1"/>
          </p:cNvSpPr>
          <p:nvPr>
            <p:ph type="title"/>
          </p:nvPr>
        </p:nvSpPr>
        <p:spPr>
          <a:xfrm>
            <a:off x="611560" y="1196752"/>
            <a:ext cx="7920880" cy="4176463"/>
          </a:xfrm>
        </p:spPr>
        <p:txBody>
          <a:bodyPr/>
          <a:lstStyle/>
          <a:p>
            <a:pPr>
              <a:lnSpc>
                <a:spcPts val="2800"/>
              </a:lnSpc>
              <a:spcBef>
                <a:spcPct val="50000"/>
              </a:spcBef>
            </a:pPr>
            <a:r>
              <a:rPr kumimoji="1" lang="en-US" altLang="zh-CN" sz="2400" dirty="0">
                <a:solidFill>
                  <a:srgbClr val="C00000"/>
                </a:solidFill>
                <a:latin typeface="Consolas" panose="020B0609020204030204" pitchFamily="49" charset="0"/>
                <a:ea typeface="黑体" panose="02010609060101010101" pitchFamily="2" charset="-122"/>
                <a:cs typeface="Consolas" panose="020B0609020204030204" pitchFamily="49" charset="0"/>
              </a:rPr>
              <a:t>【</a:t>
            </a:r>
            <a:r>
              <a:rPr kumimoji="1" lang="zh-CN" altLang="en-US" sz="2400" dirty="0">
                <a:solidFill>
                  <a:srgbClr val="C00000"/>
                </a:solidFill>
                <a:latin typeface="Consolas" panose="020B0609020204030204" pitchFamily="49" charset="0"/>
                <a:ea typeface="黑体" panose="02010609060101010101" pitchFamily="2" charset="-122"/>
                <a:cs typeface="Consolas" panose="020B0609020204030204" pitchFamily="49" charset="0"/>
              </a:rPr>
              <a:t>例</a:t>
            </a:r>
            <a:r>
              <a:rPr kumimoji="1" lang="en-US" altLang="zh-CN" sz="2400" dirty="0">
                <a:solidFill>
                  <a:srgbClr val="C00000"/>
                </a:solidFill>
                <a:latin typeface="Consolas" panose="020B0609020204030204" pitchFamily="49" charset="0"/>
                <a:ea typeface="黑体" panose="02010609060101010101" pitchFamily="2" charset="-122"/>
                <a:cs typeface="Consolas" panose="020B0609020204030204" pitchFamily="49" charset="0"/>
              </a:rPr>
              <a:t>】</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对于给定</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11</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个数据元素的有序表：</a:t>
            </a:r>
            <a:br>
              <a:rPr kumimoji="1" lang="en-US" altLang="zh-CN" sz="2400" dirty="0">
                <a:latin typeface="Consolas" panose="020B0609020204030204" pitchFamily="49" charset="0"/>
                <a:ea typeface="楷体" panose="02010609060101010101" pitchFamily="49" charset="-122"/>
                <a:cs typeface="Consolas" panose="020B0609020204030204" pitchFamily="49" charset="0"/>
              </a:rPr>
            </a:br>
            <a:r>
              <a:rPr kumimoji="1" lang="en-US" altLang="zh-CN" sz="2400" dirty="0">
                <a:latin typeface="Consolas" panose="020B0609020204030204" pitchFamily="49" charset="0"/>
                <a:ea typeface="楷体" panose="02010609060101010101" pitchFamily="49" charset="-122"/>
                <a:cs typeface="Consolas" panose="020B0609020204030204" pitchFamily="49" charset="0"/>
              </a:rPr>
              <a:t>    (2</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15</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25</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28</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29</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35</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40)</a:t>
            </a:r>
            <a:br>
              <a:rPr kumimoji="1" lang="en-US" altLang="zh-CN" sz="2400" dirty="0">
                <a:latin typeface="Consolas" panose="020B0609020204030204" pitchFamily="49" charset="0"/>
                <a:ea typeface="楷体" panose="02010609060101010101" pitchFamily="49" charset="-122"/>
                <a:cs typeface="Consolas" panose="020B0609020204030204" pitchFamily="49" charset="0"/>
              </a:rPr>
            </a:br>
            <a:r>
              <a:rPr kumimoji="1" lang="zh-CN" altLang="en-US" sz="2400" dirty="0">
                <a:latin typeface="Consolas" panose="020B0609020204030204" pitchFamily="49" charset="0"/>
                <a:ea typeface="楷体" panose="02010609060101010101" pitchFamily="49" charset="-122"/>
                <a:cs typeface="Consolas" panose="020B0609020204030204" pitchFamily="49" charset="0"/>
              </a:rPr>
              <a:t>采用二分查找，试问：</a:t>
            </a:r>
            <a:br>
              <a:rPr kumimoji="1" lang="zh-CN" altLang="en-US" sz="2400" dirty="0">
                <a:latin typeface="Consolas" panose="020B0609020204030204" pitchFamily="49" charset="0"/>
                <a:ea typeface="楷体" panose="02010609060101010101" pitchFamily="49" charset="-122"/>
                <a:cs typeface="Consolas" panose="020B0609020204030204" pitchFamily="49" charset="0"/>
              </a:rPr>
            </a:br>
            <a:r>
              <a:rPr kumimoji="1" lang="zh-CN" altLang="en-US" sz="2400" dirty="0">
                <a:latin typeface="Consolas" panose="020B0609020204030204" pitchFamily="49" charset="0"/>
                <a:ea typeface="楷体" panose="02010609060101010101" pitchFamily="49" charset="-122"/>
                <a:cs typeface="Consolas" panose="020B0609020204030204" pitchFamily="49" charset="0"/>
              </a:rPr>
              <a:t>  （</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）若查找给定值为</a:t>
            </a:r>
            <a:r>
              <a:rPr kumimoji="1" lang="en-US" altLang="zh-CN" sz="2400" dirty="0">
                <a:solidFill>
                  <a:srgbClr val="FF33CC"/>
                </a:solidFill>
                <a:latin typeface="Consolas" panose="020B0609020204030204" pitchFamily="49" charset="0"/>
                <a:ea typeface="楷体" panose="02010609060101010101" pitchFamily="49" charset="-122"/>
                <a:cs typeface="Consolas" panose="020B0609020204030204" pitchFamily="49" charset="0"/>
              </a:rPr>
              <a:t>20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的元素，将依次与表中哪些元素比较？</a:t>
            </a:r>
            <a:br>
              <a:rPr kumimoji="1" lang="zh-CN" altLang="en-US" sz="2400" dirty="0">
                <a:latin typeface="Consolas" panose="020B0609020204030204" pitchFamily="49" charset="0"/>
                <a:ea typeface="楷体" panose="02010609060101010101" pitchFamily="49" charset="-122"/>
                <a:cs typeface="Consolas" panose="020B0609020204030204" pitchFamily="49" charset="0"/>
              </a:rPr>
            </a:br>
            <a:r>
              <a:rPr kumimoji="1" lang="zh-CN" altLang="en-US" sz="2400" dirty="0">
                <a:latin typeface="Consolas" panose="020B0609020204030204" pitchFamily="49" charset="0"/>
                <a:ea typeface="楷体" panose="02010609060101010101" pitchFamily="49" charset="-122"/>
                <a:cs typeface="Consolas" panose="020B0609020204030204" pitchFamily="49" charset="0"/>
              </a:rPr>
              <a:t>  （</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）若查找给定值为</a:t>
            </a:r>
            <a:r>
              <a:rPr kumimoji="1" lang="en-US" altLang="zh-CN" sz="2400" dirty="0">
                <a:solidFill>
                  <a:srgbClr val="FF33CC"/>
                </a:solidFill>
                <a:latin typeface="Consolas" panose="020B0609020204030204" pitchFamily="49" charset="0"/>
                <a:ea typeface="楷体" panose="02010609060101010101" pitchFamily="49" charset="-122"/>
                <a:cs typeface="Consolas" panose="020B0609020204030204" pitchFamily="49" charset="0"/>
              </a:rPr>
              <a:t>26</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的元素，将依次与哪些元素比较？</a:t>
            </a:r>
            <a:br>
              <a:rPr kumimoji="1" lang="zh-CN" altLang="en-US" sz="2400" dirty="0">
                <a:latin typeface="Consolas" panose="020B0609020204030204" pitchFamily="49" charset="0"/>
                <a:ea typeface="楷体" panose="02010609060101010101" pitchFamily="49" charset="-122"/>
                <a:cs typeface="Consolas" panose="020B0609020204030204" pitchFamily="49" charset="0"/>
              </a:rPr>
            </a:br>
            <a:r>
              <a:rPr kumimoji="1" lang="zh-CN" altLang="en-US" sz="2400" dirty="0">
                <a:latin typeface="Consolas" panose="020B0609020204030204" pitchFamily="49" charset="0"/>
                <a:ea typeface="楷体" panose="02010609060101010101" pitchFamily="49" charset="-122"/>
                <a:cs typeface="Consolas" panose="020B0609020204030204" pitchFamily="49" charset="0"/>
              </a:rPr>
              <a:t>  （</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）假设查找表中每个元素的概率相同，求</a:t>
            </a:r>
            <a:r>
              <a:rPr kumimoji="1" lang="zh-CN" altLang="en-US" sz="2400" dirty="0">
                <a:solidFill>
                  <a:srgbClr val="FF33CC"/>
                </a:solidFill>
                <a:latin typeface="Consolas" panose="020B0609020204030204" pitchFamily="49" charset="0"/>
                <a:ea typeface="楷体" panose="02010609060101010101" pitchFamily="49" charset="-122"/>
                <a:cs typeface="Consolas" panose="020B0609020204030204" pitchFamily="49" charset="0"/>
              </a:rPr>
              <a:t>平均查找长度</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br>
              <a:rPr kumimoji="1" lang="zh-CN" altLang="en-US" sz="2400" dirty="0">
                <a:latin typeface="Consolas" panose="020B0609020204030204" pitchFamily="49" charset="0"/>
                <a:ea typeface="楷体" panose="02010609060101010101" pitchFamily="49" charset="-122"/>
                <a:cs typeface="Consolas" panose="020B0609020204030204" pitchFamily="49" charset="0"/>
              </a:rPr>
            </a:br>
            <a:endParaRPr lang="zh-CN" altLang="en-US" sz="2400" dirty="0"/>
          </a:p>
        </p:txBody>
      </p:sp>
    </p:spTree>
    <p:extLst>
      <p:ext uri="{BB962C8B-B14F-4D97-AF65-F5344CB8AC3E}">
        <p14:creationId xmlns:p14="http://schemas.microsoft.com/office/powerpoint/2010/main" val="3639881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DC45B75-39B9-479F-B791-B245629E5DE2}"/>
              </a:ext>
            </a:extLst>
          </p:cNvPr>
          <p:cNvSpPr/>
          <p:nvPr/>
        </p:nvSpPr>
        <p:spPr>
          <a:xfrm>
            <a:off x="1115616" y="1268760"/>
            <a:ext cx="7056784" cy="3139321"/>
          </a:xfrm>
          <a:prstGeom prst="rect">
            <a:avLst/>
          </a:prstGeom>
        </p:spPr>
        <p:txBody>
          <a:bodyPr wrap="square">
            <a:spAutoFit/>
          </a:bodyPr>
          <a:lstStyle/>
          <a:p>
            <a:r>
              <a:rPr kumimoji="1" lang="zh-CN" altLang="en-US" sz="2400" dirty="0">
                <a:solidFill>
                  <a:srgbClr val="FF0000"/>
                </a:solidFill>
                <a:latin typeface="Consolas" panose="020B0609020204030204" pitchFamily="49" charset="0"/>
                <a:ea typeface="楷体" panose="02010609060101010101" pitchFamily="49" charset="-122"/>
                <a:cs typeface="Consolas" panose="020B0609020204030204" pitchFamily="49" charset="0"/>
              </a:rPr>
              <a:t>解：</a:t>
            </a:r>
            <a:endParaRPr kumimoji="1" lang="en-US" altLang="zh-CN" sz="24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spcBef>
                <a:spcPts val="600"/>
              </a:spcBef>
              <a:spcAft>
                <a:spcPts val="600"/>
              </a:spcAft>
            </a:pP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）若查找给定值为</a:t>
            </a:r>
            <a:r>
              <a:rPr kumimoji="1" lang="en-US" altLang="zh-CN" sz="2400" dirty="0">
                <a:solidFill>
                  <a:srgbClr val="C00000"/>
                </a:solidFill>
                <a:latin typeface="Consolas" panose="020B0609020204030204" pitchFamily="49" charset="0"/>
                <a:ea typeface="楷体" panose="02010609060101010101" pitchFamily="49" charset="-122"/>
                <a:cs typeface="Consolas" panose="020B0609020204030204" pitchFamily="49" charset="0"/>
              </a:rPr>
              <a:t>20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的元素，依次与表中</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25</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15</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元素比较，共比较</a:t>
            </a:r>
            <a:r>
              <a:rPr kumimoji="1" lang="en-US" altLang="zh-CN" sz="2400" dirty="0">
                <a:solidFill>
                  <a:srgbClr val="FF0000"/>
                </a:solidFill>
                <a:latin typeface="Consolas" panose="020B0609020204030204" pitchFamily="49" charset="0"/>
                <a:ea typeface="楷体" panose="02010609060101010101" pitchFamily="49" charset="-122"/>
                <a:cs typeface="Consolas" panose="020B0609020204030204" pitchFamily="49" charset="0"/>
              </a:rPr>
              <a:t>4</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次。</a:t>
            </a:r>
            <a:endParaRPr kumimoji="1" lang="en-US" altLang="zh-CN" sz="2400" dirty="0">
              <a:latin typeface="Consolas" panose="020B0609020204030204" pitchFamily="49" charset="0"/>
              <a:ea typeface="楷体" panose="02010609060101010101" pitchFamily="49" charset="-122"/>
              <a:cs typeface="Consolas" panose="020B0609020204030204" pitchFamily="49" charset="0"/>
            </a:endParaRPr>
          </a:p>
          <a:p>
            <a:pPr>
              <a:spcBef>
                <a:spcPts val="600"/>
              </a:spcBef>
              <a:spcAft>
                <a:spcPts val="600"/>
              </a:spcAft>
            </a:pP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）若查找给定值为</a:t>
            </a:r>
            <a:r>
              <a:rPr kumimoji="1" lang="en-US" altLang="zh-CN" sz="2400" dirty="0">
                <a:solidFill>
                  <a:srgbClr val="C00000"/>
                </a:solidFill>
                <a:latin typeface="Consolas" panose="020B0609020204030204" pitchFamily="49" charset="0"/>
                <a:ea typeface="楷体" panose="02010609060101010101" pitchFamily="49" charset="-122"/>
                <a:cs typeface="Consolas" panose="020B0609020204030204" pitchFamily="49" charset="0"/>
              </a:rPr>
              <a:t>26</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的元素，依次与</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25</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30</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28</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元素比较，共比较</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次</a:t>
            </a:r>
            <a:endParaRPr kumimoji="1" lang="en-US" altLang="zh-CN" sz="2400" dirty="0">
              <a:latin typeface="Consolas" panose="020B0609020204030204" pitchFamily="49" charset="0"/>
              <a:ea typeface="楷体" panose="02010609060101010101" pitchFamily="49" charset="-122"/>
              <a:cs typeface="Consolas" panose="020B0609020204030204" pitchFamily="49" charset="0"/>
            </a:endParaRPr>
          </a:p>
          <a:p>
            <a:pPr>
              <a:spcBef>
                <a:spcPts val="600"/>
              </a:spcBef>
              <a:spcAft>
                <a:spcPts val="600"/>
              </a:spcAft>
            </a:pPr>
            <a:r>
              <a:rPr kumimoji="1" lang="zh-CN" altLang="en-US" sz="24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3</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）在查找成功时平均查找长度</a:t>
            </a:r>
            <a:endParaRPr kumimoji="1" lang="en-US" altLang="zh-CN" sz="2400" dirty="0">
              <a:latin typeface="Consolas" panose="020B0609020204030204" pitchFamily="49" charset="0"/>
              <a:ea typeface="楷体" panose="02010609060101010101" pitchFamily="49" charset="-122"/>
              <a:cs typeface="Consolas" panose="020B0609020204030204" pitchFamily="49" charset="0"/>
            </a:endParaRPr>
          </a:p>
          <a:p>
            <a:endParaRPr lang="zh-CN" altLang="en-US" sz="2400" dirty="0"/>
          </a:p>
        </p:txBody>
      </p:sp>
      <p:pic>
        <p:nvPicPr>
          <p:cNvPr id="5" name="Picture 4">
            <a:extLst>
              <a:ext uri="{FF2B5EF4-FFF2-40B4-BE49-F238E27FC236}">
                <a16:creationId xmlns:a16="http://schemas.microsoft.com/office/drawing/2014/main" id="{4C4A70C2-ACF4-4A5A-AEB9-31EBF7A2D3A2}"/>
              </a:ext>
            </a:extLst>
          </p:cNvPr>
          <p:cNvPicPr>
            <a:picLocks noChangeAspect="1" noChangeArrowheads="1"/>
          </p:cNvPicPr>
          <p:nvPr/>
        </p:nvPicPr>
        <p:blipFill>
          <a:blip r:embed="rId2" cstate="print"/>
          <a:srcRect/>
          <a:stretch>
            <a:fillRect/>
          </a:stretch>
        </p:blipFill>
        <p:spPr bwMode="auto">
          <a:xfrm>
            <a:off x="2572306" y="4042273"/>
            <a:ext cx="4143404" cy="731615"/>
          </a:xfrm>
          <a:prstGeom prst="rect">
            <a:avLst/>
          </a:prstGeom>
          <a:noFill/>
          <a:ln w="9525">
            <a:noFill/>
            <a:miter lim="800000"/>
            <a:headEnd/>
            <a:tailEnd/>
          </a:ln>
        </p:spPr>
      </p:pic>
      <p:sp>
        <p:nvSpPr>
          <p:cNvPr id="6" name="文本框 5">
            <a:extLst>
              <a:ext uri="{FF2B5EF4-FFF2-40B4-BE49-F238E27FC236}">
                <a16:creationId xmlns:a16="http://schemas.microsoft.com/office/drawing/2014/main" id="{30D30FC0-D276-4542-8DE3-E3781DC16476}"/>
              </a:ext>
            </a:extLst>
          </p:cNvPr>
          <p:cNvSpPr txBox="1"/>
          <p:nvPr/>
        </p:nvSpPr>
        <p:spPr>
          <a:xfrm>
            <a:off x="2123728" y="692696"/>
            <a:ext cx="6297459" cy="646331"/>
          </a:xfrm>
          <a:prstGeom prst="rect">
            <a:avLst/>
          </a:prstGeom>
          <a:noFill/>
        </p:spPr>
        <p:txBody>
          <a:bodyPr wrap="square">
            <a:spAutoFit/>
          </a:bodyPr>
          <a:lstStyle/>
          <a:p>
            <a:r>
              <a:rPr kumimoji="1" lang="en-US" altLang="zh-CN" sz="1800" dirty="0">
                <a:latin typeface="Consolas" panose="020B0609020204030204" pitchFamily="49" charset="0"/>
                <a:ea typeface="楷体" panose="02010609060101010101" pitchFamily="49" charset="-122"/>
                <a:cs typeface="Consolas" panose="020B0609020204030204" pitchFamily="49" charset="0"/>
              </a:rPr>
              <a:t> (2</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3</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10</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15</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20</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25</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28</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29</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30</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35</a:t>
            </a:r>
            <a:r>
              <a:rPr kumimoji="1" lang="zh-CN" altLang="en-US" sz="1800" dirty="0">
                <a:latin typeface="Consolas" panose="020B0609020204030204" pitchFamily="49" charset="0"/>
                <a:ea typeface="楷体" panose="02010609060101010101" pitchFamily="49" charset="-122"/>
                <a:cs typeface="Consolas" panose="020B0609020204030204" pitchFamily="49" charset="0"/>
              </a:rPr>
              <a:t>，</a:t>
            </a:r>
            <a:r>
              <a:rPr kumimoji="1" lang="en-US" altLang="zh-CN" sz="1800" dirty="0">
                <a:latin typeface="Consolas" panose="020B0609020204030204" pitchFamily="49" charset="0"/>
                <a:ea typeface="楷体" panose="02010609060101010101" pitchFamily="49" charset="-122"/>
                <a:cs typeface="Consolas" panose="020B0609020204030204" pitchFamily="49" charset="0"/>
              </a:rPr>
              <a:t>40)</a:t>
            </a:r>
            <a:br>
              <a:rPr kumimoji="1" lang="en-US" altLang="zh-CN" sz="1800" dirty="0">
                <a:latin typeface="Consolas" panose="020B0609020204030204" pitchFamily="49" charset="0"/>
                <a:ea typeface="楷体" panose="02010609060101010101" pitchFamily="49" charset="-122"/>
                <a:cs typeface="Consolas" panose="020B0609020204030204" pitchFamily="49" charset="0"/>
              </a:rPr>
            </a:br>
            <a:endParaRPr lang="zh-CN" altLang="en-US" dirty="0"/>
          </a:p>
        </p:txBody>
      </p:sp>
    </p:spTree>
    <p:extLst>
      <p:ext uri="{BB962C8B-B14F-4D97-AF65-F5344CB8AC3E}">
        <p14:creationId xmlns:p14="http://schemas.microsoft.com/office/powerpoint/2010/main" val="185175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solidFill>
                  <a:srgbClr val="FF0000"/>
                </a:solidFill>
              </a:rPr>
              <a:t>折半</a:t>
            </a:r>
            <a:r>
              <a:rPr lang="zh-CN" altLang="zh-CN" sz="2400" dirty="0">
                <a:solidFill>
                  <a:srgbClr val="FF0000"/>
                </a:solidFill>
              </a:rPr>
              <a:t>查找的优点与缺点</a:t>
            </a:r>
            <a:r>
              <a:rPr lang="zh-CN" altLang="zh-CN" sz="2400" dirty="0"/>
              <a:t>：</a:t>
            </a:r>
            <a:endParaRPr lang="zh-CN" altLang="en-US" sz="2400" dirty="0"/>
          </a:p>
        </p:txBody>
      </p:sp>
      <p:sp>
        <p:nvSpPr>
          <p:cNvPr id="3" name="内容占位符 2"/>
          <p:cNvSpPr>
            <a:spLocks noGrp="1"/>
          </p:cNvSpPr>
          <p:nvPr>
            <p:ph idx="1"/>
          </p:nvPr>
        </p:nvSpPr>
        <p:spPr>
          <a:xfrm>
            <a:off x="827584" y="1628800"/>
            <a:ext cx="7704856" cy="4608512"/>
          </a:xfrm>
        </p:spPr>
        <p:txBody>
          <a:bodyPr>
            <a:normAutofit/>
          </a:bodyPr>
          <a:lstStyle/>
          <a:p>
            <a:pPr algn="just">
              <a:buFont typeface="Wingdings" panose="05000000000000000000" pitchFamily="2" charset="2"/>
              <a:buChar char="n"/>
            </a:pPr>
            <a:r>
              <a:rPr lang="zh-CN" altLang="zh-CN" dirty="0"/>
              <a:t>折半查找的效率高，但是首先需要将表按关键字大小排序</a:t>
            </a:r>
            <a:r>
              <a:rPr lang="zh-CN" altLang="zh-CN" b="0" dirty="0"/>
              <a:t>，而排序本身又是一种非常费时的操作。</a:t>
            </a:r>
            <a:r>
              <a:rPr lang="zh-CN" altLang="en-US" b="0" dirty="0"/>
              <a:t>即使</a:t>
            </a:r>
            <a:r>
              <a:rPr lang="zh-CN" altLang="zh-CN" b="0" dirty="0"/>
              <a:t>采用高效的排序方法也要花费</a:t>
            </a:r>
            <a:r>
              <a:rPr lang="en-US" altLang="zh-CN" b="0" dirty="0"/>
              <a:t>O(</a:t>
            </a:r>
            <a:r>
              <a:rPr lang="en-US" altLang="zh-CN" b="0" dirty="0" err="1"/>
              <a:t>nlogn</a:t>
            </a:r>
            <a:r>
              <a:rPr lang="en-US" altLang="zh-CN" b="0" dirty="0"/>
              <a:t>)</a:t>
            </a:r>
            <a:r>
              <a:rPr lang="zh-CN" altLang="zh-CN" b="0" dirty="0"/>
              <a:t>的时间。</a:t>
            </a:r>
          </a:p>
          <a:p>
            <a:pPr algn="just">
              <a:buFont typeface="Wingdings" panose="05000000000000000000" pitchFamily="2" charset="2"/>
              <a:buChar char="n"/>
            </a:pPr>
            <a:r>
              <a:rPr lang="zh-CN" altLang="zh-CN" dirty="0"/>
              <a:t>折半查找只适用于顺序存储结构</a:t>
            </a:r>
            <a:r>
              <a:rPr lang="zh-CN" altLang="zh-CN" b="0" dirty="0"/>
              <a:t>。为保持表的有序性，在顺序结构里插入和删除都必须移动大量的结点。因此，</a:t>
            </a:r>
            <a:r>
              <a:rPr lang="zh-CN" altLang="zh-CN" dirty="0"/>
              <a:t>折半查找特别适用于那种一经建立就很少改动</a:t>
            </a:r>
            <a:r>
              <a:rPr lang="zh-CN" altLang="zh-CN" b="0" dirty="0"/>
              <a:t>且经常需要进行查找的线性表。</a:t>
            </a:r>
            <a:endParaRPr lang="en-US" altLang="zh-CN" b="0" dirty="0"/>
          </a:p>
          <a:p>
            <a:pPr algn="just">
              <a:buFont typeface="Wingdings" panose="05000000000000000000" pitchFamily="2" charset="2"/>
              <a:buChar char="n"/>
            </a:pPr>
            <a:r>
              <a:rPr lang="zh-CN" altLang="zh-CN" b="0" dirty="0"/>
              <a:t>链式结构不适合实现二分查找算法。</a:t>
            </a:r>
          </a:p>
          <a:p>
            <a:endParaRPr lang="zh-CN" altLang="en-US" dirty="0"/>
          </a:p>
        </p:txBody>
      </p:sp>
    </p:spTree>
    <p:extLst>
      <p:ext uri="{BB962C8B-B14F-4D97-AF65-F5344CB8AC3E}">
        <p14:creationId xmlns:p14="http://schemas.microsoft.com/office/powerpoint/2010/main" val="632825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 </a:t>
            </a:r>
            <a:r>
              <a:rPr lang="zh-CN" altLang="zh-CN" b="1" dirty="0"/>
              <a:t>散列表</a:t>
            </a:r>
            <a:endParaRPr lang="zh-CN" altLang="en-US" dirty="0"/>
          </a:p>
        </p:txBody>
      </p:sp>
      <p:sp>
        <p:nvSpPr>
          <p:cNvPr id="3" name="内容占位符 2"/>
          <p:cNvSpPr>
            <a:spLocks noGrp="1"/>
          </p:cNvSpPr>
          <p:nvPr>
            <p:ph idx="1"/>
          </p:nvPr>
        </p:nvSpPr>
        <p:spPr>
          <a:xfrm>
            <a:off x="827584" y="1628800"/>
            <a:ext cx="7704856" cy="4680520"/>
          </a:xfrm>
        </p:spPr>
        <p:txBody>
          <a:bodyPr>
            <a:normAutofit/>
          </a:bodyPr>
          <a:lstStyle/>
          <a:p>
            <a:pPr algn="just">
              <a:buFont typeface="Wingdings" panose="05000000000000000000" pitchFamily="2" charset="2"/>
              <a:buChar char="l"/>
            </a:pPr>
            <a:r>
              <a:rPr lang="zh-CN" altLang="zh-CN" b="0" dirty="0">
                <a:solidFill>
                  <a:srgbClr val="FF0000"/>
                </a:solidFill>
              </a:rPr>
              <a:t>散列表</a:t>
            </a:r>
            <a:r>
              <a:rPr lang="zh-CN" altLang="zh-CN" b="0" dirty="0"/>
              <a:t>是一种非关键字查找方法，可像数组检索一样实现随机查找。</a:t>
            </a:r>
            <a:endParaRPr lang="en-US" altLang="zh-CN" b="0" dirty="0"/>
          </a:p>
          <a:p>
            <a:pPr algn="just">
              <a:buFont typeface="Wingdings" panose="05000000000000000000" pitchFamily="2" charset="2"/>
              <a:buChar char="l"/>
            </a:pPr>
            <a:r>
              <a:rPr lang="zh-CN" altLang="zh-CN" b="0" dirty="0"/>
              <a:t>将关键字映射到表中的位置来访问记录的过程称为</a:t>
            </a:r>
            <a:r>
              <a:rPr lang="zh-CN" altLang="zh-CN" b="0" dirty="0">
                <a:solidFill>
                  <a:srgbClr val="FF0000"/>
                </a:solidFill>
              </a:rPr>
              <a:t>散列，又称哈希</a:t>
            </a:r>
            <a:r>
              <a:rPr lang="zh-CN" altLang="zh-CN" b="0" dirty="0"/>
              <a:t>。</a:t>
            </a:r>
            <a:endParaRPr lang="en-US" altLang="zh-CN" b="0" dirty="0"/>
          </a:p>
          <a:p>
            <a:pPr algn="just">
              <a:buFont typeface="Wingdings" panose="05000000000000000000" pitchFamily="2" charset="2"/>
              <a:buChar char="l"/>
            </a:pPr>
            <a:r>
              <a:rPr lang="zh-CN" altLang="en-US" dirty="0">
                <a:solidFill>
                  <a:srgbClr val="FF0000"/>
                </a:solidFill>
              </a:rPr>
              <a:t>哈希函数：</a:t>
            </a:r>
            <a:r>
              <a:rPr lang="zh-CN" altLang="zh-CN" b="0" dirty="0"/>
              <a:t>一个哈希表使用一个</a:t>
            </a:r>
            <a:r>
              <a:rPr lang="zh-CN" altLang="zh-CN" b="0" dirty="0">
                <a:solidFill>
                  <a:srgbClr val="FF0000"/>
                </a:solidFill>
              </a:rPr>
              <a:t>函数</a:t>
            </a:r>
            <a:r>
              <a:rPr lang="en-US" altLang="zh-CN" b="0" dirty="0">
                <a:solidFill>
                  <a:srgbClr val="FF0000"/>
                </a:solidFill>
              </a:rPr>
              <a:t>H</a:t>
            </a:r>
            <a:r>
              <a:rPr lang="zh-CN" altLang="zh-CN" b="0" dirty="0">
                <a:solidFill>
                  <a:srgbClr val="FF0000"/>
                </a:solidFill>
              </a:rPr>
              <a:t>（称为哈希函数）</a:t>
            </a:r>
            <a:r>
              <a:rPr lang="zh-CN" altLang="zh-CN" b="0" dirty="0"/>
              <a:t>，把关键字映射到非负整数（或表的索引值）。</a:t>
            </a:r>
            <a:endParaRPr lang="en-US" altLang="zh-CN" b="0" dirty="0"/>
          </a:p>
          <a:p>
            <a:pPr algn="just"/>
            <a:r>
              <a:rPr lang="en-US" altLang="zh-CN" b="0" dirty="0">
                <a:solidFill>
                  <a:srgbClr val="FF0000"/>
                </a:solidFill>
              </a:rPr>
              <a:t>                                Address=H(key)</a:t>
            </a:r>
            <a:endParaRPr lang="zh-CN" altLang="zh-CN" b="0" dirty="0">
              <a:solidFill>
                <a:srgbClr val="FF0000"/>
              </a:solidFill>
            </a:endParaRPr>
          </a:p>
          <a:p>
            <a:pPr algn="just"/>
            <a:r>
              <a:rPr lang="zh-CN" altLang="zh-CN" dirty="0"/>
              <a:t>★注：按哈希表的存储范围来定义存储大小。</a:t>
            </a:r>
            <a:endParaRPr lang="en-US" altLang="zh-CN" dirty="0"/>
          </a:p>
          <a:p>
            <a:pPr algn="just"/>
            <a:r>
              <a:rPr lang="zh-CN" altLang="zh-CN" dirty="0">
                <a:solidFill>
                  <a:srgbClr val="FF0000"/>
                </a:solidFill>
              </a:rPr>
              <a:t>哈希函数既是建存储表的函数也是哈希查找的函数。</a:t>
            </a:r>
          </a:p>
          <a:p>
            <a:endParaRPr lang="zh-CN" altLang="en-US" b="0" dirty="0"/>
          </a:p>
        </p:txBody>
      </p:sp>
    </p:spTree>
    <p:extLst>
      <p:ext uri="{BB962C8B-B14F-4D97-AF65-F5344CB8AC3E}">
        <p14:creationId xmlns:p14="http://schemas.microsoft.com/office/powerpoint/2010/main" val="1839867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A4ED725-CA83-4F7C-BD90-F5FDEE2F7442}"/>
              </a:ext>
            </a:extLst>
          </p:cNvPr>
          <p:cNvSpPr>
            <a:spLocks noChangeArrowheads="1"/>
          </p:cNvSpPr>
          <p:nvPr/>
        </p:nvSpPr>
        <p:spPr bwMode="auto">
          <a:xfrm>
            <a:off x="323528" y="1412776"/>
            <a:ext cx="9649072"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fontAlgn="base">
              <a:spcBef>
                <a:spcPts val="1200"/>
              </a:spcBef>
              <a:spcAft>
                <a:spcPct val="0"/>
              </a:spcAft>
              <a:buFont typeface="Arial" panose="020B0604020202020204" pitchFamily="34" charset="0"/>
              <a:buChar char="•"/>
            </a:pPr>
            <a:r>
              <a:rPr lang="zh-CN" altLang="en-US" sz="2400" dirty="0">
                <a:solidFill>
                  <a:srgbClr val="C0504D"/>
                </a:solidFill>
                <a:cs typeface="Times New Roman" panose="02020603050405020304" pitchFamily="18" charset="0"/>
              </a:rPr>
              <a:t>基本思想：</a:t>
            </a:r>
            <a:r>
              <a:rPr lang="zh-CN" altLang="en-US" sz="2400" dirty="0">
                <a:solidFill>
                  <a:prstClr val="black"/>
                </a:solidFill>
                <a:cs typeface="Times New Roman" panose="02020603050405020304" pitchFamily="18" charset="0"/>
              </a:rPr>
              <a:t>记录的存储位置与关键字之间存在对应关系，</a:t>
            </a:r>
            <a:endParaRPr lang="en-US" altLang="zh-CN" sz="2400" dirty="0">
              <a:solidFill>
                <a:prstClr val="black"/>
              </a:solidFill>
              <a:cs typeface="Times New Roman" panose="02020603050405020304" pitchFamily="18" charset="0"/>
            </a:endParaRPr>
          </a:p>
          <a:p>
            <a:pPr marL="0" indent="0" fontAlgn="base">
              <a:spcBef>
                <a:spcPts val="1200"/>
              </a:spcBef>
              <a:spcAft>
                <a:spcPct val="0"/>
              </a:spcAft>
            </a:pPr>
            <a:r>
              <a:rPr lang="en-US" altLang="zh-CN" sz="2400" dirty="0">
                <a:solidFill>
                  <a:srgbClr val="FF3300"/>
                </a:solidFill>
                <a:cs typeface="Times New Roman" panose="02020603050405020304" pitchFamily="18" charset="0"/>
              </a:rPr>
              <a:t>    Loc(</a:t>
            </a:r>
            <a:r>
              <a:rPr lang="en-US" altLang="zh-CN" sz="2400" dirty="0" err="1">
                <a:solidFill>
                  <a:srgbClr val="FF3300"/>
                </a:solidFill>
                <a:cs typeface="Times New Roman" panose="02020603050405020304" pitchFamily="18" charset="0"/>
              </a:rPr>
              <a:t>i</a:t>
            </a:r>
            <a:r>
              <a:rPr lang="en-US" altLang="zh-CN" sz="2400" dirty="0">
                <a:solidFill>
                  <a:srgbClr val="FF3300"/>
                </a:solidFill>
                <a:cs typeface="Times New Roman" panose="02020603050405020304" pitchFamily="18" charset="0"/>
              </a:rPr>
              <a:t>) = H(</a:t>
            </a:r>
            <a:r>
              <a:rPr lang="en-US" altLang="zh-CN" sz="2400" dirty="0" err="1">
                <a:solidFill>
                  <a:srgbClr val="FF3300"/>
                </a:solidFill>
                <a:cs typeface="Times New Roman" panose="02020603050405020304" pitchFamily="18" charset="0"/>
              </a:rPr>
              <a:t>key</a:t>
            </a:r>
            <a:r>
              <a:rPr lang="en-US" altLang="zh-CN" sz="2400" baseline="-25000" dirty="0" err="1">
                <a:solidFill>
                  <a:srgbClr val="FF3300"/>
                </a:solidFill>
                <a:cs typeface="Times New Roman" panose="02020603050405020304" pitchFamily="18" charset="0"/>
              </a:rPr>
              <a:t>i</a:t>
            </a:r>
            <a:r>
              <a:rPr lang="en-US" altLang="zh-CN" sz="2400" dirty="0">
                <a:solidFill>
                  <a:srgbClr val="FF3300"/>
                </a:solidFill>
                <a:cs typeface="Times New Roman" panose="02020603050405020304" pitchFamily="18" charset="0"/>
              </a:rPr>
              <a:t>)</a:t>
            </a:r>
            <a:r>
              <a:rPr lang="en-US" altLang="zh-CN" sz="2400" dirty="0">
                <a:solidFill>
                  <a:prstClr val="black"/>
                </a:solidFill>
                <a:cs typeface="Times New Roman" panose="02020603050405020304" pitchFamily="18" charset="0"/>
              </a:rPr>
              <a:t> </a:t>
            </a:r>
          </a:p>
        </p:txBody>
      </p:sp>
      <p:sp>
        <p:nvSpPr>
          <p:cNvPr id="5" name="Rectangle 8">
            <a:extLst>
              <a:ext uri="{FF2B5EF4-FFF2-40B4-BE49-F238E27FC236}">
                <a16:creationId xmlns:a16="http://schemas.microsoft.com/office/drawing/2014/main" id="{E963FD4D-C036-4657-AE74-3DEF19192694}"/>
              </a:ext>
            </a:extLst>
          </p:cNvPr>
          <p:cNvSpPr>
            <a:spLocks noChangeArrowheads="1"/>
          </p:cNvSpPr>
          <p:nvPr/>
        </p:nvSpPr>
        <p:spPr bwMode="auto">
          <a:xfrm>
            <a:off x="644414" y="4350047"/>
            <a:ext cx="77636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342900" marR="0" lvl="0" indent="-342900" algn="ctr" defTabSz="91440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2400" b="1" i="0" u="none" strike="noStrike" kern="0" cap="none" spc="0" normalizeH="0" baseline="0" noProof="0" dirty="0">
                <a:ln>
                  <a:noFill/>
                </a:ln>
                <a:solidFill>
                  <a:srgbClr val="C0504D"/>
                </a:solidFill>
                <a:effectLst/>
                <a:uLnTx/>
                <a:uFillTx/>
                <a:latin typeface="Times New Roman" panose="02020603050405020304" pitchFamily="18" charset="0"/>
                <a:ea typeface="楷体_GB2312"/>
              </a:rPr>
              <a:t>优点：</a:t>
            </a:r>
            <a:r>
              <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_GB2312"/>
              </a:rPr>
              <a:t>查找速度极快</a:t>
            </a:r>
            <a:r>
              <a:rPr kumimoji="0"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楷体_GB2312"/>
              </a:rPr>
              <a:t>O(1)</a:t>
            </a:r>
            <a:r>
              <a:rPr kumimoji="0"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楷体_GB2312"/>
              </a:rPr>
              <a:t>，</a:t>
            </a:r>
            <a:r>
              <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_GB2312"/>
              </a:rPr>
              <a:t>查找效率与元素个数</a:t>
            </a:r>
            <a:r>
              <a:rPr kumimoji="0" lang="en-US" altLang="zh-CN" sz="2400" b="1" i="0" u="none" strike="noStrike" kern="0" cap="none" spc="0" normalizeH="0" baseline="0" noProof="0" dirty="0">
                <a:ln>
                  <a:noFill/>
                </a:ln>
                <a:solidFill>
                  <a:prstClr val="black"/>
                </a:solidFill>
                <a:effectLst/>
                <a:uLnTx/>
                <a:uFillTx/>
                <a:latin typeface="Times New Roman" panose="02020603050405020304" pitchFamily="18" charset="0"/>
                <a:ea typeface="楷体_GB2312"/>
              </a:rPr>
              <a:t>n</a:t>
            </a:r>
            <a:r>
              <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_GB2312"/>
              </a:rPr>
              <a:t>无关</a:t>
            </a:r>
          </a:p>
        </p:txBody>
      </p:sp>
      <p:grpSp>
        <p:nvGrpSpPr>
          <p:cNvPr id="6" name="Group 9">
            <a:extLst>
              <a:ext uri="{FF2B5EF4-FFF2-40B4-BE49-F238E27FC236}">
                <a16:creationId xmlns:a16="http://schemas.microsoft.com/office/drawing/2014/main" id="{D07B6F58-F570-48EA-9E95-BE784201E1C8}"/>
              </a:ext>
            </a:extLst>
          </p:cNvPr>
          <p:cNvGrpSpPr/>
          <p:nvPr/>
        </p:nvGrpSpPr>
        <p:grpSpPr bwMode="auto">
          <a:xfrm>
            <a:off x="3886389" y="1957939"/>
            <a:ext cx="2520950" cy="461963"/>
            <a:chOff x="3515" y="1298"/>
            <a:chExt cx="1588" cy="291"/>
          </a:xfrm>
        </p:grpSpPr>
        <p:sp>
          <p:nvSpPr>
            <p:cNvPr id="7" name="AutoShape 10">
              <a:extLst>
                <a:ext uri="{FF2B5EF4-FFF2-40B4-BE49-F238E27FC236}">
                  <a16:creationId xmlns:a16="http://schemas.microsoft.com/office/drawing/2014/main" id="{9BF54A9B-E9C3-4948-A9D1-645748C2C18E}"/>
                </a:ext>
              </a:extLst>
            </p:cNvPr>
            <p:cNvSpPr>
              <a:spLocks noChangeArrowheads="1"/>
            </p:cNvSpPr>
            <p:nvPr/>
          </p:nvSpPr>
          <p:spPr bwMode="auto">
            <a:xfrm>
              <a:off x="3515" y="1434"/>
              <a:ext cx="544" cy="91"/>
            </a:xfrm>
            <a:prstGeom prst="rightArrow">
              <a:avLst>
                <a:gd name="adj1" fmla="val 50000"/>
                <a:gd name="adj2" fmla="val 149423"/>
              </a:avLst>
            </a:prstGeom>
            <a:solidFill>
              <a:srgbClr val="4F81B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latin typeface="Times New Roman" panose="02020603050405020304" pitchFamily="18" charset="0"/>
                <a:ea typeface="楷体_GB2312"/>
              </a:endParaRPr>
            </a:p>
          </p:txBody>
        </p:sp>
        <p:sp>
          <p:nvSpPr>
            <p:cNvPr id="8" name="Text Box 11">
              <a:extLst>
                <a:ext uri="{FF2B5EF4-FFF2-40B4-BE49-F238E27FC236}">
                  <a16:creationId xmlns:a16="http://schemas.microsoft.com/office/drawing/2014/main" id="{D4D6C272-94E2-4BAD-8120-D4E4F4F2CE93}"/>
                </a:ext>
              </a:extLst>
            </p:cNvPr>
            <p:cNvSpPr txBox="1">
              <a:spLocks noChangeArrowheads="1"/>
            </p:cNvSpPr>
            <p:nvPr/>
          </p:nvSpPr>
          <p:spPr bwMode="auto">
            <a:xfrm>
              <a:off x="4059" y="1298"/>
              <a:ext cx="1044"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342900" marR="0" lvl="0" indent="-342900" algn="ctr" defTabSz="914400" eaLnBrk="0" fontAlgn="base" latinLnBrk="0" hangingPunct="0">
                <a:lnSpc>
                  <a:spcPct val="100000"/>
                </a:lnSpc>
                <a:spcBef>
                  <a:spcPct val="50000"/>
                </a:spcBef>
                <a:spcAft>
                  <a:spcPct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_GB2312"/>
                </a:rPr>
                <a:t>哈希函数</a:t>
              </a:r>
            </a:p>
          </p:txBody>
        </p:sp>
      </p:grpSp>
      <p:grpSp>
        <p:nvGrpSpPr>
          <p:cNvPr id="9" name="Group 12">
            <a:extLst>
              <a:ext uri="{FF2B5EF4-FFF2-40B4-BE49-F238E27FC236}">
                <a16:creationId xmlns:a16="http://schemas.microsoft.com/office/drawing/2014/main" id="{E0188E9B-4CDC-468A-BAF9-35B71A0B9497}"/>
              </a:ext>
            </a:extLst>
          </p:cNvPr>
          <p:cNvGrpSpPr/>
          <p:nvPr/>
        </p:nvGrpSpPr>
        <p:grpSpPr bwMode="auto">
          <a:xfrm>
            <a:off x="1694994" y="2835205"/>
            <a:ext cx="5246389" cy="1284288"/>
            <a:chOff x="2111" y="3256"/>
            <a:chExt cx="2396" cy="633"/>
          </a:xfrm>
        </p:grpSpPr>
        <p:sp>
          <p:nvSpPr>
            <p:cNvPr id="10" name="Oval 13">
              <a:extLst>
                <a:ext uri="{FF2B5EF4-FFF2-40B4-BE49-F238E27FC236}">
                  <a16:creationId xmlns:a16="http://schemas.microsoft.com/office/drawing/2014/main" id="{1287C58C-391E-492D-9D50-D9D9651F9736}"/>
                </a:ext>
              </a:extLst>
            </p:cNvPr>
            <p:cNvSpPr>
              <a:spLocks noChangeArrowheads="1"/>
            </p:cNvSpPr>
            <p:nvPr/>
          </p:nvSpPr>
          <p:spPr bwMode="auto">
            <a:xfrm>
              <a:off x="2111" y="3256"/>
              <a:ext cx="833" cy="633"/>
            </a:xfrm>
            <a:prstGeom prst="ellipse">
              <a:avLst/>
            </a:prstGeom>
            <a:solidFill>
              <a:srgbClr val="CCFFCC"/>
            </a:solidFill>
            <a:ln w="9525">
              <a:solidFill>
                <a:sysClr val="windowText" lastClr="000000"/>
              </a:solidFill>
              <a:round/>
            </a:ln>
          </p:spPr>
          <p:txBody>
            <a:bodyPr wrap="none" anchor="ctr"/>
            <a:lstStyle>
              <a:lvl1pPr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楷体_GB2312"/>
                </a:rPr>
                <a:t>关键字</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楷体_GB2312"/>
                </a:rPr>
                <a:t>集合</a:t>
              </a:r>
            </a:p>
          </p:txBody>
        </p:sp>
        <p:sp>
          <p:nvSpPr>
            <p:cNvPr id="11" name="Oval 14">
              <a:extLst>
                <a:ext uri="{FF2B5EF4-FFF2-40B4-BE49-F238E27FC236}">
                  <a16:creationId xmlns:a16="http://schemas.microsoft.com/office/drawing/2014/main" id="{B434FBD2-922B-42D8-B99C-36022343E958}"/>
                </a:ext>
              </a:extLst>
            </p:cNvPr>
            <p:cNvSpPr>
              <a:spLocks noChangeArrowheads="1"/>
            </p:cNvSpPr>
            <p:nvPr/>
          </p:nvSpPr>
          <p:spPr bwMode="auto">
            <a:xfrm>
              <a:off x="3674" y="3256"/>
              <a:ext cx="833" cy="633"/>
            </a:xfrm>
            <a:prstGeom prst="ellipse">
              <a:avLst/>
            </a:prstGeom>
            <a:solidFill>
              <a:srgbClr val="CCFFCC"/>
            </a:solidFill>
            <a:ln w="9525">
              <a:solidFill>
                <a:sysClr val="windowText" lastClr="000000"/>
              </a:solidFill>
              <a:round/>
            </a:ln>
          </p:spPr>
          <p:txBody>
            <a:bodyPr wrap="none" anchor="ctr"/>
            <a:lstStyle>
              <a:lvl1pPr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楷体_GB2312"/>
                </a:rPr>
                <a:t>存储地址</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楷体_GB2312"/>
                </a:rPr>
                <a:t>集合</a:t>
              </a:r>
            </a:p>
          </p:txBody>
        </p:sp>
        <p:sp>
          <p:nvSpPr>
            <p:cNvPr id="12" name="AutoShape 15">
              <a:extLst>
                <a:ext uri="{FF2B5EF4-FFF2-40B4-BE49-F238E27FC236}">
                  <a16:creationId xmlns:a16="http://schemas.microsoft.com/office/drawing/2014/main" id="{A7705E08-6317-4742-B84D-599A9BEA6B4E}"/>
                </a:ext>
              </a:extLst>
            </p:cNvPr>
            <p:cNvSpPr>
              <a:spLocks noChangeArrowheads="1"/>
            </p:cNvSpPr>
            <p:nvPr/>
          </p:nvSpPr>
          <p:spPr bwMode="auto">
            <a:xfrm>
              <a:off x="2955" y="3511"/>
              <a:ext cx="733" cy="133"/>
            </a:xfrm>
            <a:prstGeom prst="rightArrow">
              <a:avLst>
                <a:gd name="adj1" fmla="val 50000"/>
                <a:gd name="adj2" fmla="val 137756"/>
              </a:avLst>
            </a:prstGeom>
            <a:solidFill>
              <a:srgbClr val="CCFFCC"/>
            </a:solidFill>
            <a:ln w="9525">
              <a:solidFill>
                <a:sysClr val="windowText" lastClr="000000"/>
              </a:solidFill>
              <a:miter lim="800000"/>
            </a:ln>
          </p:spPr>
          <p:txBody>
            <a:bodyPr wrap="none" anchor="ctr"/>
            <a:lstStyle>
              <a:lvl1pPr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3200" b="1" i="0" u="none" strike="noStrike" kern="0" cap="none" spc="0" normalizeH="0" baseline="0" noProof="0">
                <a:ln>
                  <a:noFill/>
                </a:ln>
                <a:solidFill>
                  <a:prstClr val="black"/>
                </a:solidFill>
                <a:effectLst/>
                <a:uLnTx/>
                <a:uFillTx/>
                <a:latin typeface="Times New Roman" panose="02020603050405020304" pitchFamily="18" charset="0"/>
                <a:ea typeface="楷体_GB2312"/>
              </a:endParaRPr>
            </a:p>
          </p:txBody>
        </p:sp>
        <p:sp>
          <p:nvSpPr>
            <p:cNvPr id="13" name="Text Box 16">
              <a:extLst>
                <a:ext uri="{FF2B5EF4-FFF2-40B4-BE49-F238E27FC236}">
                  <a16:creationId xmlns:a16="http://schemas.microsoft.com/office/drawing/2014/main" id="{7AAC9E46-60AA-47F7-A53B-5D35C1D4514E}"/>
                </a:ext>
              </a:extLst>
            </p:cNvPr>
            <p:cNvSpPr txBox="1">
              <a:spLocks noChangeArrowheads="1"/>
            </p:cNvSpPr>
            <p:nvPr/>
          </p:nvSpPr>
          <p:spPr bwMode="auto">
            <a:xfrm>
              <a:off x="3106" y="3272"/>
              <a:ext cx="342" cy="22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hash</a:t>
              </a: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3695169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latin typeface="微软雅黑" pitchFamily="34" charset="-122"/>
                <a:ea typeface="微软雅黑" pitchFamily="34" charset="-122"/>
              </a:rPr>
              <a:t>哈希冲突：</a:t>
            </a:r>
            <a:endParaRPr lang="zh-CN" altLang="en-US" b="1" dirty="0"/>
          </a:p>
        </p:txBody>
      </p:sp>
      <p:sp>
        <p:nvSpPr>
          <p:cNvPr id="3" name="内容占位符 2"/>
          <p:cNvSpPr>
            <a:spLocks noGrp="1"/>
          </p:cNvSpPr>
          <p:nvPr>
            <p:ph idx="1"/>
          </p:nvPr>
        </p:nvSpPr>
        <p:spPr>
          <a:xfrm>
            <a:off x="827584" y="1628800"/>
            <a:ext cx="7520940" cy="4536504"/>
          </a:xfrm>
        </p:spPr>
        <p:txBody>
          <a:bodyPr>
            <a:normAutofit/>
          </a:bodyPr>
          <a:lstStyle/>
          <a:p>
            <a:pPr>
              <a:lnSpc>
                <a:spcPct val="110000"/>
              </a:lnSpc>
              <a:spcBef>
                <a:spcPts val="600"/>
              </a:spcBef>
              <a:buFont typeface="Wingdings" pitchFamily="2" charset="2"/>
              <a:buChar char="u"/>
            </a:pPr>
            <a:r>
              <a:rPr lang="zh-CN" altLang="en-US" dirty="0">
                <a:solidFill>
                  <a:srgbClr val="FF0000"/>
                </a:solidFill>
                <a:latin typeface="微软雅黑" pitchFamily="34" charset="-122"/>
                <a:ea typeface="微软雅黑" pitchFamily="34" charset="-122"/>
              </a:rPr>
              <a:t>哈希冲突</a:t>
            </a:r>
            <a:r>
              <a:rPr lang="zh-CN" altLang="en-US" dirty="0">
                <a:latin typeface="微软雅黑" pitchFamily="34" charset="-122"/>
                <a:ea typeface="微软雅黑" pitchFamily="34" charset="-122"/>
              </a:rPr>
              <a:t>：不同关键字经哈希函数映射地址相同称为哈希冲突。</a:t>
            </a:r>
            <a:endParaRPr lang="en-US" altLang="zh-CN" dirty="0">
              <a:latin typeface="微软雅黑" pitchFamily="34" charset="-122"/>
              <a:ea typeface="微软雅黑" pitchFamily="34" charset="-122"/>
            </a:endParaRPr>
          </a:p>
          <a:p>
            <a:pPr>
              <a:lnSpc>
                <a:spcPct val="110000"/>
              </a:lnSpc>
              <a:spcBef>
                <a:spcPts val="600"/>
              </a:spcBef>
              <a:buFont typeface="Wingdings" pitchFamily="2" charset="2"/>
              <a:buChar char="u"/>
            </a:pPr>
            <a:r>
              <a:rPr lang="zh-CN" altLang="en-US" dirty="0">
                <a:latin typeface="微软雅黑" pitchFamily="34" charset="-122"/>
                <a:ea typeface="微软雅黑" pitchFamily="34" charset="-122"/>
              </a:rPr>
              <a:t>一般来说，由于哈希函数把关键字的大值域映射到哈希表空间的小值域，故哈希冲突是难于避免的。</a:t>
            </a:r>
            <a:endParaRPr lang="en-US" altLang="zh-CN" dirty="0">
              <a:latin typeface="微软雅黑" pitchFamily="34" charset="-122"/>
              <a:ea typeface="微软雅黑" pitchFamily="34" charset="-122"/>
            </a:endParaRPr>
          </a:p>
          <a:p>
            <a:pPr>
              <a:lnSpc>
                <a:spcPct val="110000"/>
              </a:lnSpc>
              <a:spcBef>
                <a:spcPts val="600"/>
              </a:spcBef>
              <a:buFont typeface="Wingdings" pitchFamily="2" charset="2"/>
              <a:buChar char="u"/>
            </a:pPr>
            <a:endParaRPr lang="en-US" altLang="zh-CN" dirty="0">
              <a:latin typeface="微软雅黑" pitchFamily="34" charset="-122"/>
              <a:ea typeface="微软雅黑" pitchFamily="34" charset="-122"/>
            </a:endParaRPr>
          </a:p>
          <a:p>
            <a:pPr marL="0" indent="0">
              <a:lnSpc>
                <a:spcPct val="110000"/>
              </a:lnSpc>
              <a:spcBef>
                <a:spcPts val="600"/>
              </a:spcBef>
            </a:pPr>
            <a:r>
              <a:rPr lang="zh-CN" altLang="en-US" dirty="0">
                <a:latin typeface="微软雅黑" pitchFamily="34" charset="-122"/>
                <a:ea typeface="微软雅黑" pitchFamily="34" charset="-122"/>
              </a:rPr>
              <a:t>哈希表构建的关键问题：</a:t>
            </a:r>
            <a:endParaRPr lang="en-US" altLang="zh-CN" dirty="0">
              <a:latin typeface="微软雅黑" pitchFamily="34" charset="-122"/>
              <a:ea typeface="微软雅黑" pitchFamily="34" charset="-122"/>
            </a:endParaRPr>
          </a:p>
          <a:p>
            <a:pPr marL="0" indent="0">
              <a:lnSpc>
                <a:spcPct val="110000"/>
              </a:lnSpc>
              <a:spcBef>
                <a:spcPts val="600"/>
              </a:spcBef>
            </a:pPr>
            <a:r>
              <a:rPr lang="en-US" altLang="zh-CN" dirty="0">
                <a:latin typeface="微软雅黑" pitchFamily="34" charset="-122"/>
                <a:ea typeface="微软雅黑" pitchFamily="34" charset="-122"/>
              </a:rPr>
              <a:t>	1</a:t>
            </a:r>
            <a:r>
              <a:rPr lang="zh-CN" altLang="en-US" dirty="0">
                <a:latin typeface="微软雅黑" pitchFamily="34" charset="-122"/>
                <a:ea typeface="微软雅黑" pitchFamily="34" charset="-122"/>
              </a:rPr>
              <a:t>）构造合适的</a:t>
            </a:r>
            <a:r>
              <a:rPr lang="zh-CN" altLang="en-US" dirty="0">
                <a:solidFill>
                  <a:srgbClr val="FF0000"/>
                </a:solidFill>
                <a:latin typeface="微软雅黑" pitchFamily="34" charset="-122"/>
                <a:ea typeface="微软雅黑" pitchFamily="34" charset="-122"/>
              </a:rPr>
              <a:t>哈希函数</a:t>
            </a:r>
            <a:r>
              <a:rPr lang="zh-CN" altLang="en-US" dirty="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marL="0" indent="0">
              <a:lnSpc>
                <a:spcPct val="110000"/>
              </a:lnSpc>
              <a:spcBef>
                <a:spcPts val="600"/>
              </a:spcBef>
            </a:pPr>
            <a:r>
              <a:rPr lang="en-US" altLang="zh-CN" dirty="0">
                <a:latin typeface="微软雅黑" pitchFamily="34" charset="-122"/>
                <a:ea typeface="微软雅黑" pitchFamily="34" charset="-122"/>
              </a:rPr>
              <a:t>	2</a:t>
            </a:r>
            <a:r>
              <a:rPr lang="zh-CN" altLang="en-US" dirty="0">
                <a:latin typeface="微软雅黑" pitchFamily="34" charset="-122"/>
                <a:ea typeface="微软雅黑" pitchFamily="34" charset="-122"/>
              </a:rPr>
              <a:t>）设计合理的</a:t>
            </a:r>
            <a:r>
              <a:rPr lang="zh-CN" altLang="en-US" dirty="0">
                <a:solidFill>
                  <a:srgbClr val="FF0000"/>
                </a:solidFill>
                <a:latin typeface="微软雅黑" pitchFamily="34" charset="-122"/>
                <a:ea typeface="微软雅黑" pitchFamily="34" charset="-122"/>
              </a:rPr>
              <a:t>哈希冲突解决方案</a:t>
            </a:r>
            <a:r>
              <a:rPr lang="zh-CN" altLang="en-US" dirty="0">
                <a:latin typeface="微软雅黑" pitchFamily="34" charset="-122"/>
                <a:ea typeface="微软雅黑" pitchFamily="34" charset="-122"/>
              </a:rPr>
              <a:t>。</a:t>
            </a:r>
            <a:endParaRPr lang="zh-CN"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2329458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8.3.1 </a:t>
            </a:r>
            <a:r>
              <a:rPr lang="zh-CN" altLang="zh-CN" b="1" dirty="0"/>
              <a:t>哈希函数的常用构建方法</a:t>
            </a:r>
            <a:endParaRPr lang="zh-CN" altLang="en-US" dirty="0"/>
          </a:p>
        </p:txBody>
      </p:sp>
      <p:sp>
        <p:nvSpPr>
          <p:cNvPr id="3" name="内容占位符 2"/>
          <p:cNvSpPr>
            <a:spLocks noGrp="1"/>
          </p:cNvSpPr>
          <p:nvPr>
            <p:ph idx="1"/>
          </p:nvPr>
        </p:nvSpPr>
        <p:spPr>
          <a:xfrm>
            <a:off x="611560" y="1772816"/>
            <a:ext cx="7992888" cy="4032448"/>
          </a:xfrm>
        </p:spPr>
        <p:txBody>
          <a:bodyPr>
            <a:normAutofit lnSpcReduction="10000"/>
          </a:bodyPr>
          <a:lstStyle/>
          <a:p>
            <a:pPr>
              <a:lnSpc>
                <a:spcPct val="150000"/>
              </a:lnSpc>
            </a:pPr>
            <a:r>
              <a:rPr lang="zh-CN" altLang="zh-CN" dirty="0"/>
              <a:t>构造哈希函数需要注意的</a:t>
            </a:r>
            <a:r>
              <a:rPr lang="zh-CN" altLang="zh-CN" dirty="0">
                <a:solidFill>
                  <a:srgbClr val="FF0000"/>
                </a:solidFill>
              </a:rPr>
              <a:t>几点要求：</a:t>
            </a:r>
          </a:p>
          <a:p>
            <a:pPr>
              <a:lnSpc>
                <a:spcPct val="150000"/>
              </a:lnSpc>
            </a:pPr>
            <a:r>
              <a:rPr lang="zh-CN" altLang="zh-CN" b="0" dirty="0"/>
              <a:t>（</a:t>
            </a:r>
            <a:r>
              <a:rPr lang="en-US" altLang="zh-CN" b="0" dirty="0"/>
              <a:t>1</a:t>
            </a:r>
            <a:r>
              <a:rPr lang="zh-CN" altLang="zh-CN" b="0" dirty="0"/>
              <a:t>）让哈希地址在哈希表中尽可能的</a:t>
            </a:r>
            <a:r>
              <a:rPr lang="zh-CN" altLang="zh-CN" b="0" dirty="0">
                <a:solidFill>
                  <a:srgbClr val="FF0000"/>
                </a:solidFill>
              </a:rPr>
              <a:t>分布均匀</a:t>
            </a:r>
            <a:r>
              <a:rPr lang="zh-CN" altLang="zh-CN" b="0" dirty="0"/>
              <a:t>，即减少冲突；</a:t>
            </a:r>
          </a:p>
          <a:p>
            <a:pPr>
              <a:lnSpc>
                <a:spcPct val="150000"/>
              </a:lnSpc>
            </a:pPr>
            <a:r>
              <a:rPr lang="zh-CN" altLang="zh-CN" b="0" dirty="0"/>
              <a:t>（</a:t>
            </a:r>
            <a:r>
              <a:rPr lang="en-US" altLang="zh-CN" b="0" dirty="0"/>
              <a:t>2</a:t>
            </a:r>
            <a:r>
              <a:rPr lang="zh-CN" altLang="zh-CN" b="0" dirty="0"/>
              <a:t>）哈希函数计算一定要</a:t>
            </a:r>
            <a:r>
              <a:rPr lang="zh-CN" altLang="zh-CN" b="0" dirty="0">
                <a:solidFill>
                  <a:srgbClr val="FF0000"/>
                </a:solidFill>
              </a:rPr>
              <a:t>简单且快速</a:t>
            </a:r>
            <a:r>
              <a:rPr lang="zh-CN" altLang="zh-CN" b="0" dirty="0"/>
              <a:t>；</a:t>
            </a:r>
          </a:p>
          <a:p>
            <a:pPr>
              <a:lnSpc>
                <a:spcPct val="150000"/>
              </a:lnSpc>
            </a:pPr>
            <a:r>
              <a:rPr lang="zh-CN" altLang="zh-CN" b="0" dirty="0"/>
              <a:t>（</a:t>
            </a:r>
            <a:r>
              <a:rPr lang="en-US" altLang="zh-CN" b="0" dirty="0"/>
              <a:t>3</a:t>
            </a:r>
            <a:r>
              <a:rPr lang="zh-CN" altLang="zh-CN" b="0" dirty="0"/>
              <a:t>）哈希函数的</a:t>
            </a:r>
            <a:r>
              <a:rPr lang="zh-CN" altLang="zh-CN" b="0" dirty="0">
                <a:solidFill>
                  <a:srgbClr val="FF0000"/>
                </a:solidFill>
              </a:rPr>
              <a:t>定义域</a:t>
            </a:r>
            <a:r>
              <a:rPr lang="zh-CN" altLang="zh-CN" dirty="0"/>
              <a:t>必须包括需要存储的全部关键字</a:t>
            </a:r>
            <a:r>
              <a:rPr lang="zh-CN" altLang="en-US" dirty="0"/>
              <a:t>；</a:t>
            </a:r>
            <a:endParaRPr lang="en-US" altLang="zh-CN" dirty="0"/>
          </a:p>
          <a:p>
            <a:pPr>
              <a:lnSpc>
                <a:spcPct val="150000"/>
              </a:lnSpc>
            </a:pPr>
            <a:r>
              <a:rPr lang="zh-CN" altLang="en-US" b="0" dirty="0"/>
              <a:t>（</a:t>
            </a:r>
            <a:r>
              <a:rPr lang="en-US" altLang="zh-CN" b="0" dirty="0"/>
              <a:t>4</a:t>
            </a:r>
            <a:r>
              <a:rPr lang="zh-CN" altLang="en-US" b="0" dirty="0"/>
              <a:t>）若</a:t>
            </a:r>
            <a:r>
              <a:rPr lang="zh-CN" altLang="zh-CN" b="0" dirty="0"/>
              <a:t>哈希表允许有</a:t>
            </a:r>
            <a:r>
              <a:rPr lang="en-US" altLang="zh-CN" b="0" dirty="0"/>
              <a:t>m</a:t>
            </a:r>
            <a:r>
              <a:rPr lang="zh-CN" altLang="zh-CN" b="0" dirty="0"/>
              <a:t>个地址时，</a:t>
            </a:r>
            <a:r>
              <a:rPr lang="zh-CN" altLang="zh-CN" b="0" dirty="0">
                <a:solidFill>
                  <a:srgbClr val="FF0000"/>
                </a:solidFill>
              </a:rPr>
              <a:t>其值域</a:t>
            </a:r>
            <a:r>
              <a:rPr lang="zh-CN" altLang="zh-CN" dirty="0"/>
              <a:t>必须在</a:t>
            </a:r>
            <a:r>
              <a:rPr lang="en-US" altLang="zh-CN" dirty="0"/>
              <a:t>[0..m-1]</a:t>
            </a:r>
            <a:r>
              <a:rPr lang="zh-CN" altLang="zh-CN" dirty="0"/>
              <a:t>之间</a:t>
            </a:r>
            <a:r>
              <a:rPr lang="zh-CN" altLang="zh-CN" b="0" dirty="0"/>
              <a:t>。</a:t>
            </a:r>
            <a:endParaRPr lang="zh-CN" altLang="en-US" b="0" dirty="0"/>
          </a:p>
        </p:txBody>
      </p:sp>
    </p:spTree>
    <p:extLst>
      <p:ext uri="{BB962C8B-B14F-4D97-AF65-F5344CB8AC3E}">
        <p14:creationId xmlns:p14="http://schemas.microsoft.com/office/powerpoint/2010/main" val="3236381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824536"/>
          </a:xfrm>
        </p:spPr>
        <p:txBody>
          <a:bodyPr>
            <a:normAutofit/>
          </a:bodyPr>
          <a:lstStyle/>
          <a:p>
            <a:pPr marL="457200" indent="-457200">
              <a:buAutoNum type="arabicPeriod"/>
            </a:pPr>
            <a:r>
              <a:rPr lang="zh-CN" altLang="zh-CN" dirty="0">
                <a:solidFill>
                  <a:srgbClr val="FF0000"/>
                </a:solidFill>
              </a:rPr>
              <a:t>直接定址法</a:t>
            </a:r>
          </a:p>
          <a:p>
            <a:pPr algn="just">
              <a:buFont typeface="Wingdings" panose="05000000000000000000" pitchFamily="2" charset="2"/>
              <a:buChar char="l"/>
            </a:pPr>
            <a:r>
              <a:rPr lang="zh-CN" altLang="zh-CN" b="0" dirty="0"/>
              <a:t>哈希函数</a:t>
            </a:r>
            <a:r>
              <a:rPr lang="en-US" altLang="zh-CN" b="0" dirty="0">
                <a:solidFill>
                  <a:srgbClr val="FF0000"/>
                </a:solidFill>
              </a:rPr>
              <a:t>Hash(key)=a*</a:t>
            </a:r>
            <a:r>
              <a:rPr lang="en-US" altLang="zh-CN" b="0" dirty="0" err="1">
                <a:solidFill>
                  <a:srgbClr val="FF0000"/>
                </a:solidFill>
              </a:rPr>
              <a:t>key+b</a:t>
            </a:r>
            <a:r>
              <a:rPr lang="zh-CN" altLang="zh-CN" b="0" dirty="0"/>
              <a:t>，其中</a:t>
            </a:r>
            <a:r>
              <a:rPr lang="en-US" altLang="zh-CN" b="0" dirty="0"/>
              <a:t>a</a:t>
            </a:r>
            <a:r>
              <a:rPr lang="zh-CN" altLang="zh-CN" b="0" dirty="0"/>
              <a:t>和</a:t>
            </a:r>
            <a:r>
              <a:rPr lang="en-US" altLang="zh-CN" b="0" dirty="0"/>
              <a:t>b</a:t>
            </a:r>
            <a:r>
              <a:rPr lang="zh-CN" altLang="zh-CN" b="0" dirty="0"/>
              <a:t>都为常数。</a:t>
            </a:r>
            <a:endParaRPr lang="en-US" altLang="zh-CN" b="0" dirty="0"/>
          </a:p>
          <a:p>
            <a:pPr algn="just">
              <a:buFont typeface="Wingdings" panose="05000000000000000000" pitchFamily="2" charset="2"/>
              <a:buChar char="l"/>
            </a:pPr>
            <a:r>
              <a:rPr lang="zh-CN" altLang="zh-CN" b="0" dirty="0"/>
              <a:t>直接定址法取关键字的</a:t>
            </a:r>
            <a:r>
              <a:rPr lang="zh-CN" altLang="zh-CN" dirty="0"/>
              <a:t>某个线性函数</a:t>
            </a:r>
            <a:r>
              <a:rPr lang="zh-CN" altLang="zh-CN" b="0" dirty="0"/>
              <a:t>值为哈希地址。</a:t>
            </a:r>
            <a:endParaRPr lang="en-US" altLang="zh-CN" b="0" dirty="0"/>
          </a:p>
          <a:p>
            <a:pPr algn="just">
              <a:buFont typeface="Wingdings" panose="05000000000000000000" pitchFamily="2" charset="2"/>
              <a:buChar char="l"/>
            </a:pPr>
            <a:r>
              <a:rPr lang="zh-CN" altLang="zh-CN" dirty="0"/>
              <a:t>此类哈希函数计算方法最简单，是一对一的映射，一般不会产生冲突。</a:t>
            </a:r>
            <a:endParaRPr lang="zh-CN" altLang="zh-CN" b="0" dirty="0"/>
          </a:p>
          <a:p>
            <a:pPr algn="just">
              <a:buFont typeface="Wingdings" panose="05000000000000000000" pitchFamily="2" charset="2"/>
              <a:buChar char="l"/>
            </a:pPr>
            <a:r>
              <a:rPr lang="zh-CN" altLang="zh-CN" dirty="0"/>
              <a:t>直接定址法适用于关键字分布基本连续的情况</a:t>
            </a:r>
            <a:r>
              <a:rPr lang="zh-CN" altLang="zh-CN" b="0" dirty="0"/>
              <a:t>，如果关键字分布不连续，空位较多，就会造成存储空间的浪费。实际中很少使用直接定址法。</a:t>
            </a:r>
          </a:p>
          <a:p>
            <a:endParaRPr lang="zh-CN" altLang="en-US" dirty="0"/>
          </a:p>
        </p:txBody>
      </p:sp>
    </p:spTree>
    <p:extLst>
      <p:ext uri="{BB962C8B-B14F-4D97-AF65-F5344CB8AC3E}">
        <p14:creationId xmlns:p14="http://schemas.microsoft.com/office/powerpoint/2010/main" val="1853090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920880" cy="3600399"/>
          </a:xfrm>
        </p:spPr>
        <p:txBody>
          <a:bodyPr>
            <a:normAutofit/>
          </a:bodyPr>
          <a:lstStyle/>
          <a:p>
            <a:r>
              <a:rPr lang="zh-CN" altLang="zh-CN" b="0" dirty="0"/>
              <a:t>【例</a:t>
            </a:r>
            <a:r>
              <a:rPr lang="en-US" altLang="zh-CN" b="0" dirty="0"/>
              <a:t>8.2</a:t>
            </a:r>
            <a:r>
              <a:rPr lang="zh-CN" altLang="zh-CN" b="0" dirty="0"/>
              <a:t>】有一组记录元素的关键字集合</a:t>
            </a:r>
            <a:r>
              <a:rPr lang="en-US" altLang="zh-CN" b="0" dirty="0"/>
              <a:t>{100</a:t>
            </a:r>
            <a:r>
              <a:rPr lang="zh-CN" altLang="zh-CN" b="0" dirty="0"/>
              <a:t>，</a:t>
            </a:r>
            <a:r>
              <a:rPr lang="en-US" altLang="zh-CN" b="0" dirty="0"/>
              <a:t>300</a:t>
            </a:r>
            <a:r>
              <a:rPr lang="zh-CN" altLang="zh-CN" b="0" dirty="0"/>
              <a:t>，</a:t>
            </a:r>
            <a:r>
              <a:rPr lang="en-US" altLang="zh-CN" b="0" dirty="0"/>
              <a:t>500</a:t>
            </a:r>
            <a:r>
              <a:rPr lang="zh-CN" altLang="zh-CN" b="0" dirty="0"/>
              <a:t>，</a:t>
            </a:r>
            <a:r>
              <a:rPr lang="en-US" altLang="zh-CN" b="0" dirty="0"/>
              <a:t>700</a:t>
            </a:r>
            <a:r>
              <a:rPr lang="zh-CN" altLang="zh-CN" b="0" dirty="0"/>
              <a:t>，</a:t>
            </a:r>
            <a:r>
              <a:rPr lang="en-US" altLang="zh-CN" b="0" dirty="0"/>
              <a:t>800</a:t>
            </a:r>
            <a:r>
              <a:rPr lang="zh-CN" altLang="zh-CN" b="0" dirty="0"/>
              <a:t>，</a:t>
            </a:r>
            <a:r>
              <a:rPr lang="en-US" altLang="zh-CN" b="0" dirty="0"/>
              <a:t>900}</a:t>
            </a:r>
            <a:r>
              <a:rPr lang="zh-CN" altLang="zh-CN" b="0" dirty="0"/>
              <a:t>，选取的哈希函数为</a:t>
            </a:r>
            <a:r>
              <a:rPr lang="zh-CN" altLang="en-US" b="0" dirty="0"/>
              <a:t>：</a:t>
            </a:r>
            <a:endParaRPr lang="en-US" altLang="zh-CN" b="0" dirty="0"/>
          </a:p>
          <a:p>
            <a:r>
              <a:rPr lang="en-US" altLang="zh-CN" b="0" dirty="0"/>
              <a:t>                  </a:t>
            </a:r>
            <a:r>
              <a:rPr lang="en-US" altLang="zh-CN" dirty="0">
                <a:solidFill>
                  <a:srgbClr val="FF0000"/>
                </a:solidFill>
              </a:rPr>
              <a:t>Hash(key)=key/100</a:t>
            </a:r>
          </a:p>
          <a:p>
            <a:r>
              <a:rPr lang="en-US" altLang="zh-CN" b="0" dirty="0"/>
              <a:t>       </a:t>
            </a:r>
            <a:r>
              <a:rPr lang="zh-CN" altLang="zh-CN" b="0" dirty="0"/>
              <a:t>采用直接定址法后的存放如下所示：</a:t>
            </a:r>
            <a:endParaRPr lang="en-US" altLang="zh-CN" b="0" dirty="0"/>
          </a:p>
          <a:p>
            <a:r>
              <a:rPr lang="en-US" altLang="zh-CN" b="0" dirty="0"/>
              <a:t>       Hash(100)=1</a:t>
            </a:r>
            <a:r>
              <a:rPr lang="zh-CN" altLang="en-US" b="0" dirty="0"/>
              <a:t>；</a:t>
            </a:r>
            <a:r>
              <a:rPr lang="en-US" altLang="zh-CN" b="0" dirty="0"/>
              <a:t> Hash(300)=3</a:t>
            </a:r>
            <a:r>
              <a:rPr lang="zh-CN" altLang="en-US" b="0" dirty="0"/>
              <a:t>；</a:t>
            </a:r>
            <a:r>
              <a:rPr lang="en-US" altLang="zh-CN" b="0" dirty="0"/>
              <a:t> Hash(500)=5</a:t>
            </a:r>
            <a:r>
              <a:rPr lang="zh-CN" altLang="en-US" b="0" dirty="0"/>
              <a:t>；</a:t>
            </a:r>
            <a:endParaRPr lang="zh-CN" altLang="zh-CN" b="0" dirty="0"/>
          </a:p>
          <a:p>
            <a:r>
              <a:rPr lang="en-US" altLang="zh-CN" b="0" dirty="0"/>
              <a:t>       Hash(700)=7</a:t>
            </a:r>
            <a:r>
              <a:rPr lang="zh-CN" altLang="en-US" b="0" dirty="0"/>
              <a:t>；</a:t>
            </a:r>
            <a:r>
              <a:rPr lang="en-US" altLang="zh-CN" b="0" dirty="0"/>
              <a:t> Hash(800)=8</a:t>
            </a:r>
            <a:r>
              <a:rPr lang="zh-CN" altLang="en-US" b="0" dirty="0"/>
              <a:t>；</a:t>
            </a:r>
            <a:r>
              <a:rPr lang="en-US" altLang="zh-CN" b="0" dirty="0"/>
              <a:t> Hash(900)=9</a:t>
            </a:r>
            <a:r>
              <a:rPr lang="zh-CN" altLang="en-US" b="0" dirty="0"/>
              <a:t>；</a:t>
            </a:r>
            <a:endParaRPr lang="zh-CN" altLang="en-US" dirty="0"/>
          </a:p>
        </p:txBody>
      </p:sp>
      <p:pic>
        <p:nvPicPr>
          <p:cNvPr id="4" name="图片 3" descr="C:\Users\xhb\Pictures\第9章\例9.2.tif"/>
          <p:cNvPicPr/>
          <p:nvPr/>
        </p:nvPicPr>
        <p:blipFill>
          <a:blip r:embed="rId2" cstate="print"/>
          <a:srcRect/>
          <a:stretch>
            <a:fillRect/>
          </a:stretch>
        </p:blipFill>
        <p:spPr bwMode="auto">
          <a:xfrm>
            <a:off x="1438873" y="4869160"/>
            <a:ext cx="6480719" cy="504056"/>
          </a:xfrm>
          <a:prstGeom prst="rect">
            <a:avLst/>
          </a:prstGeom>
          <a:noFill/>
          <a:ln w="9525">
            <a:noFill/>
            <a:miter lim="800000"/>
            <a:headEnd/>
            <a:tailEnd/>
          </a:ln>
        </p:spPr>
      </p:pic>
    </p:spTree>
    <p:extLst>
      <p:ext uri="{BB962C8B-B14F-4D97-AF65-F5344CB8AC3E}">
        <p14:creationId xmlns:p14="http://schemas.microsoft.com/office/powerpoint/2010/main" val="136178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76864" cy="5112568"/>
          </a:xfrm>
        </p:spPr>
        <p:txBody>
          <a:bodyPr>
            <a:normAutofit/>
          </a:bodyPr>
          <a:lstStyle/>
          <a:p>
            <a:r>
              <a:rPr lang="en-US" altLang="zh-CN" dirty="0"/>
              <a:t>2</a:t>
            </a:r>
            <a:r>
              <a:rPr lang="zh-CN" altLang="zh-CN" dirty="0"/>
              <a:t>．</a:t>
            </a:r>
            <a:r>
              <a:rPr lang="zh-CN" altLang="zh-CN" dirty="0">
                <a:solidFill>
                  <a:srgbClr val="FF0000"/>
                </a:solidFill>
              </a:rPr>
              <a:t>除留余数法</a:t>
            </a:r>
          </a:p>
          <a:p>
            <a:pPr algn="just">
              <a:buFont typeface="Wingdings" panose="05000000000000000000" pitchFamily="2" charset="2"/>
              <a:buChar char="l"/>
            </a:pPr>
            <a:r>
              <a:rPr lang="zh-CN" altLang="zh-CN" b="0" dirty="0"/>
              <a:t>哈希函数</a:t>
            </a:r>
            <a:r>
              <a:rPr lang="en-US" altLang="zh-CN" b="0" dirty="0">
                <a:solidFill>
                  <a:srgbClr val="FF0000"/>
                </a:solidFill>
              </a:rPr>
              <a:t>Hash(key)=key % p</a:t>
            </a:r>
            <a:r>
              <a:rPr lang="zh-CN" altLang="zh-CN" b="0" dirty="0"/>
              <a:t>，如果哈希表中允许的地址数为</a:t>
            </a:r>
            <a:r>
              <a:rPr lang="en-US" altLang="zh-CN" b="0" dirty="0"/>
              <a:t>m</a:t>
            </a:r>
            <a:r>
              <a:rPr lang="zh-CN" altLang="zh-CN" b="0" dirty="0"/>
              <a:t>，</a:t>
            </a:r>
            <a:r>
              <a:rPr lang="en-US" altLang="zh-CN" b="0" dirty="0"/>
              <a:t>p</a:t>
            </a:r>
            <a:r>
              <a:rPr lang="zh-CN" altLang="zh-CN" b="0" dirty="0"/>
              <a:t>为不大于</a:t>
            </a:r>
            <a:r>
              <a:rPr lang="en-US" altLang="zh-CN" b="0" dirty="0"/>
              <a:t>m</a:t>
            </a:r>
            <a:r>
              <a:rPr lang="zh-CN" altLang="zh-CN" b="0" dirty="0"/>
              <a:t>的最大质数。</a:t>
            </a:r>
            <a:endParaRPr lang="en-US" altLang="zh-CN" b="0" dirty="0"/>
          </a:p>
          <a:p>
            <a:pPr algn="just">
              <a:buFont typeface="Wingdings" panose="05000000000000000000" pitchFamily="2" charset="2"/>
              <a:buChar char="l"/>
            </a:pPr>
            <a:r>
              <a:rPr lang="zh-CN" altLang="zh-CN" dirty="0"/>
              <a:t>除留余数法是通过取关键字除以</a:t>
            </a:r>
            <a:r>
              <a:rPr lang="en-US" altLang="zh-CN" dirty="0"/>
              <a:t>p</a:t>
            </a:r>
            <a:r>
              <a:rPr lang="zh-CN" altLang="zh-CN" dirty="0"/>
              <a:t>的余数作为哈希地址。</a:t>
            </a:r>
            <a:r>
              <a:rPr lang="zh-CN" altLang="zh-CN" b="0" dirty="0"/>
              <a:t>为了减少冲突，在一般情况下，</a:t>
            </a:r>
            <a:r>
              <a:rPr lang="en-US" altLang="zh-CN" b="0" dirty="0"/>
              <a:t>p</a:t>
            </a:r>
            <a:r>
              <a:rPr lang="zh-CN" altLang="zh-CN" b="0" dirty="0"/>
              <a:t>最好为素数或不包含小于</a:t>
            </a:r>
            <a:r>
              <a:rPr lang="en-US" altLang="zh-CN" b="0" dirty="0"/>
              <a:t>20</a:t>
            </a:r>
            <a:r>
              <a:rPr lang="zh-CN" altLang="zh-CN" b="0" dirty="0"/>
              <a:t>的素数因子的合数。</a:t>
            </a:r>
          </a:p>
          <a:p>
            <a:pPr algn="just">
              <a:buFont typeface="Wingdings" panose="05000000000000000000" pitchFamily="2" charset="2"/>
              <a:buChar char="l"/>
            </a:pPr>
            <a:r>
              <a:rPr lang="zh-CN" altLang="zh-CN" b="0" dirty="0"/>
              <a:t>如有一个关键字</a:t>
            </a:r>
            <a:r>
              <a:rPr lang="en-US" altLang="zh-CN" b="0" dirty="0"/>
              <a:t>key=11516287</a:t>
            </a:r>
            <a:r>
              <a:rPr lang="zh-CN" altLang="zh-CN" b="0" dirty="0"/>
              <a:t>，哈希表大小</a:t>
            </a:r>
            <a:r>
              <a:rPr lang="en-US" altLang="zh-CN" b="0" dirty="0"/>
              <a:t>m=100</a:t>
            </a:r>
            <a:r>
              <a:rPr lang="zh-CN" altLang="zh-CN" b="0" dirty="0"/>
              <a:t>，取质数</a:t>
            </a:r>
            <a:r>
              <a:rPr lang="en-US" altLang="zh-CN" b="0" dirty="0"/>
              <a:t>p=97</a:t>
            </a:r>
            <a:r>
              <a:rPr lang="zh-CN" altLang="zh-CN" b="0" dirty="0"/>
              <a:t>，哈希函数</a:t>
            </a:r>
            <a:r>
              <a:rPr lang="en-US" altLang="zh-CN" b="0" dirty="0"/>
              <a:t>Hash(key)=key % p</a:t>
            </a:r>
            <a:r>
              <a:rPr lang="zh-CN" altLang="zh-CN" b="0" dirty="0"/>
              <a:t>，则哈希地址为</a:t>
            </a:r>
            <a:r>
              <a:rPr lang="en-US" altLang="zh-CN" b="0" dirty="0"/>
              <a:t>Hash(11516287)=11516287 % 97=59</a:t>
            </a:r>
            <a:r>
              <a:rPr lang="zh-CN" altLang="zh-CN" b="0" dirty="0"/>
              <a:t>。</a:t>
            </a:r>
          </a:p>
          <a:p>
            <a:endParaRPr lang="zh-CN" altLang="en-US" dirty="0"/>
          </a:p>
        </p:txBody>
      </p:sp>
    </p:spTree>
    <p:extLst>
      <p:ext uri="{BB962C8B-B14F-4D97-AF65-F5344CB8AC3E}">
        <p14:creationId xmlns:p14="http://schemas.microsoft.com/office/powerpoint/2010/main" val="1311279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848872" cy="5544616"/>
          </a:xfrm>
        </p:spPr>
        <p:txBody>
          <a:bodyPr>
            <a:normAutofit/>
          </a:bodyPr>
          <a:lstStyle/>
          <a:p>
            <a:r>
              <a:rPr lang="en-US" altLang="zh-CN" dirty="0"/>
              <a:t>3</a:t>
            </a:r>
            <a:r>
              <a:rPr lang="zh-CN" altLang="zh-CN" dirty="0"/>
              <a:t>．</a:t>
            </a:r>
            <a:r>
              <a:rPr lang="zh-CN" altLang="zh-CN" dirty="0">
                <a:solidFill>
                  <a:srgbClr val="FF0000"/>
                </a:solidFill>
              </a:rPr>
              <a:t>平方取中法</a:t>
            </a:r>
          </a:p>
          <a:p>
            <a:pPr algn="just">
              <a:buFont typeface="Wingdings" panose="05000000000000000000" pitchFamily="2" charset="2"/>
              <a:buChar char="l"/>
            </a:pPr>
            <a:r>
              <a:rPr lang="zh-CN" altLang="zh-CN" dirty="0">
                <a:solidFill>
                  <a:srgbClr val="FF0000"/>
                </a:solidFill>
              </a:rPr>
              <a:t>平方取中法</a:t>
            </a:r>
            <a:r>
              <a:rPr lang="zh-CN" altLang="zh-CN" b="0" dirty="0"/>
              <a:t>首先通过计算关键字的平方值来扩大相近数之间的差别，然后按照哈希表的大小</a:t>
            </a:r>
            <a:r>
              <a:rPr lang="zh-CN" altLang="zh-CN" b="0" dirty="0">
                <a:solidFill>
                  <a:srgbClr val="FF0000"/>
                </a:solidFill>
              </a:rPr>
              <a:t>取中间的几位数</a:t>
            </a:r>
            <a:r>
              <a:rPr lang="zh-CN" altLang="zh-CN" b="0" dirty="0"/>
              <a:t>作为哈希地址。</a:t>
            </a:r>
            <a:endParaRPr lang="en-US" altLang="zh-CN" b="0" dirty="0"/>
          </a:p>
          <a:p>
            <a:pPr algn="just">
              <a:buFont typeface="Wingdings" panose="05000000000000000000" pitchFamily="2" charset="2"/>
              <a:buChar char="l"/>
            </a:pPr>
            <a:r>
              <a:rPr lang="zh-CN" altLang="zh-CN" b="0" dirty="0"/>
              <a:t>由于</a:t>
            </a:r>
            <a:r>
              <a:rPr lang="zh-CN" altLang="zh-CN" dirty="0"/>
              <a:t>一个乘积的中间几位数与乘数的每一位都相关</a:t>
            </a:r>
            <a:r>
              <a:rPr lang="zh-CN" altLang="zh-CN" b="0" dirty="0"/>
              <a:t>，从而由此产生的哈希地址比较均匀。</a:t>
            </a:r>
            <a:endParaRPr lang="en-US" altLang="zh-CN" b="0" dirty="0"/>
          </a:p>
          <a:p>
            <a:pPr algn="just">
              <a:buFont typeface="Wingdings" panose="05000000000000000000" pitchFamily="2" charset="2"/>
              <a:buChar char="l"/>
            </a:pPr>
            <a:r>
              <a:rPr lang="zh-CN" altLang="zh-CN" b="0" dirty="0"/>
              <a:t>这种方法在词典处理中应用十分广泛。</a:t>
            </a:r>
          </a:p>
          <a:p>
            <a:pPr marL="0" indent="0" algn="just"/>
            <a:r>
              <a:rPr lang="zh-CN" altLang="zh-CN" sz="2000" b="0" dirty="0"/>
              <a:t>【例</a:t>
            </a:r>
            <a:r>
              <a:rPr lang="en-US" altLang="zh-CN" sz="2000" b="0" dirty="0"/>
              <a:t>8.3</a:t>
            </a:r>
            <a:r>
              <a:rPr lang="zh-CN" altLang="zh-CN" sz="2000" b="0" dirty="0"/>
              <a:t>】有一组记录元素的关键字集合</a:t>
            </a:r>
            <a:r>
              <a:rPr lang="en-US" altLang="zh-CN" sz="2000" b="0" dirty="0"/>
              <a:t>{0100</a:t>
            </a:r>
            <a:r>
              <a:rPr lang="zh-CN" altLang="zh-CN" sz="2000" b="0" dirty="0"/>
              <a:t>，</a:t>
            </a:r>
            <a:r>
              <a:rPr lang="en-US" altLang="zh-CN" sz="2000" b="0" dirty="0"/>
              <a:t>0110</a:t>
            </a:r>
            <a:r>
              <a:rPr lang="zh-CN" altLang="zh-CN" sz="2000" b="0" dirty="0"/>
              <a:t>，</a:t>
            </a:r>
            <a:r>
              <a:rPr lang="en-US" altLang="zh-CN" sz="2000" b="0" dirty="0"/>
              <a:t>1010</a:t>
            </a:r>
            <a:r>
              <a:rPr lang="zh-CN" altLang="zh-CN" sz="2000" b="0" dirty="0"/>
              <a:t>，</a:t>
            </a:r>
            <a:r>
              <a:rPr lang="en-US" altLang="zh-CN" sz="2000" b="0" dirty="0"/>
              <a:t>1001</a:t>
            </a:r>
            <a:r>
              <a:rPr lang="zh-CN" altLang="zh-CN" sz="2000" b="0" dirty="0"/>
              <a:t>，</a:t>
            </a:r>
            <a:r>
              <a:rPr lang="en-US" altLang="zh-CN" sz="2000" b="0" dirty="0"/>
              <a:t>0111}</a:t>
            </a:r>
            <a:r>
              <a:rPr lang="zh-CN" altLang="zh-CN" sz="2000" b="0" dirty="0"/>
              <a:t>，将每个关键字平方后得到集合</a:t>
            </a:r>
            <a:r>
              <a:rPr lang="en-US" altLang="zh-CN" sz="2000" b="0" dirty="0"/>
              <a:t>{0010000</a:t>
            </a:r>
            <a:r>
              <a:rPr lang="zh-CN" altLang="zh-CN" sz="2000" b="0" dirty="0"/>
              <a:t>，</a:t>
            </a:r>
            <a:r>
              <a:rPr lang="en-US" altLang="zh-CN" sz="2000" b="0" dirty="0"/>
              <a:t>0012100</a:t>
            </a:r>
            <a:r>
              <a:rPr lang="zh-CN" altLang="zh-CN" sz="2000" b="0" dirty="0"/>
              <a:t>，</a:t>
            </a:r>
            <a:r>
              <a:rPr lang="en-US" altLang="zh-CN" sz="2000" b="0" dirty="0"/>
              <a:t>1020100</a:t>
            </a:r>
            <a:r>
              <a:rPr lang="zh-CN" altLang="zh-CN" sz="2000" b="0" dirty="0"/>
              <a:t>，</a:t>
            </a:r>
            <a:r>
              <a:rPr lang="en-US" altLang="zh-CN" sz="2000" b="0" dirty="0"/>
              <a:t>1002001</a:t>
            </a:r>
            <a:r>
              <a:rPr lang="zh-CN" altLang="zh-CN" sz="2000" b="0" dirty="0"/>
              <a:t>，</a:t>
            </a:r>
            <a:r>
              <a:rPr lang="en-US" altLang="zh-CN" sz="2000" b="0" dirty="0"/>
              <a:t>0012321}</a:t>
            </a:r>
            <a:r>
              <a:rPr lang="zh-CN" altLang="zh-CN" sz="2000" b="0" dirty="0"/>
              <a:t>，如果哈希表的长度为</a:t>
            </a:r>
            <a:r>
              <a:rPr lang="en-US" altLang="zh-CN" sz="2000" b="0" dirty="0"/>
              <a:t>1000</a:t>
            </a:r>
            <a:r>
              <a:rPr lang="zh-CN" altLang="zh-CN" sz="2000" b="0" dirty="0"/>
              <a:t>，则可以取第</a:t>
            </a:r>
            <a:r>
              <a:rPr lang="en-US" altLang="zh-CN" sz="2000" b="0" dirty="0"/>
              <a:t>3</a:t>
            </a:r>
            <a:r>
              <a:rPr lang="zh-CN" altLang="zh-CN" sz="2000" b="0" dirty="0"/>
              <a:t>，</a:t>
            </a:r>
            <a:r>
              <a:rPr lang="en-US" altLang="zh-CN" sz="2000" b="0" dirty="0"/>
              <a:t>4</a:t>
            </a:r>
            <a:r>
              <a:rPr lang="zh-CN" altLang="zh-CN" sz="2000" b="0" dirty="0"/>
              <a:t>，</a:t>
            </a:r>
            <a:r>
              <a:rPr lang="en-US" altLang="zh-CN" sz="2000" b="0" dirty="0"/>
              <a:t>5</a:t>
            </a:r>
            <a:r>
              <a:rPr lang="zh-CN" altLang="zh-CN" sz="2000" b="0" dirty="0"/>
              <a:t>位作为哈希地址，分别为</a:t>
            </a:r>
            <a:r>
              <a:rPr lang="en-US" altLang="zh-CN" sz="2000" b="0" dirty="0"/>
              <a:t>{100</a:t>
            </a:r>
            <a:r>
              <a:rPr lang="zh-CN" altLang="zh-CN" sz="2000" b="0" dirty="0"/>
              <a:t>，</a:t>
            </a:r>
            <a:r>
              <a:rPr lang="en-US" altLang="zh-CN" sz="2000" b="0" dirty="0"/>
              <a:t>121</a:t>
            </a:r>
            <a:r>
              <a:rPr lang="zh-CN" altLang="zh-CN" sz="2000" b="0" dirty="0"/>
              <a:t>，</a:t>
            </a:r>
            <a:r>
              <a:rPr lang="en-US" altLang="zh-CN" sz="2000" b="0" dirty="0"/>
              <a:t>201</a:t>
            </a:r>
            <a:r>
              <a:rPr lang="zh-CN" altLang="zh-CN" sz="2000" b="0" dirty="0"/>
              <a:t>，</a:t>
            </a:r>
            <a:r>
              <a:rPr lang="en-US" altLang="zh-CN" sz="2000" b="0" dirty="0"/>
              <a:t>020</a:t>
            </a:r>
            <a:r>
              <a:rPr lang="zh-CN" altLang="zh-CN" sz="2000" b="0" dirty="0"/>
              <a:t>，</a:t>
            </a:r>
            <a:r>
              <a:rPr lang="en-US" altLang="zh-CN" sz="2000" b="0" dirty="0"/>
              <a:t>123}</a:t>
            </a:r>
            <a:r>
              <a:rPr lang="zh-CN" altLang="zh-CN" sz="2000" b="0" dirty="0"/>
              <a:t>。</a:t>
            </a:r>
          </a:p>
          <a:p>
            <a:endParaRPr lang="zh-CN" altLang="en-US" dirty="0"/>
          </a:p>
        </p:txBody>
      </p:sp>
    </p:spTree>
    <p:extLst>
      <p:ext uri="{BB962C8B-B14F-4D97-AF65-F5344CB8AC3E}">
        <p14:creationId xmlns:p14="http://schemas.microsoft.com/office/powerpoint/2010/main" val="3382288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776864" cy="5256584"/>
          </a:xfrm>
        </p:spPr>
        <p:txBody>
          <a:bodyPr>
            <a:normAutofit/>
          </a:bodyPr>
          <a:lstStyle/>
          <a:p>
            <a:pPr algn="just"/>
            <a:r>
              <a:rPr lang="en-US" altLang="zh-CN" dirty="0"/>
              <a:t>4</a:t>
            </a:r>
            <a:r>
              <a:rPr lang="zh-CN" altLang="zh-CN" dirty="0"/>
              <a:t>．</a:t>
            </a:r>
            <a:r>
              <a:rPr lang="zh-CN" altLang="zh-CN" dirty="0">
                <a:solidFill>
                  <a:srgbClr val="FF0000"/>
                </a:solidFill>
              </a:rPr>
              <a:t>随机数法</a:t>
            </a:r>
          </a:p>
          <a:p>
            <a:pPr algn="just">
              <a:buFont typeface="Wingdings" panose="05000000000000000000" pitchFamily="2" charset="2"/>
              <a:buChar char="l"/>
            </a:pPr>
            <a:r>
              <a:rPr lang="zh-CN" altLang="zh-CN" b="0" dirty="0"/>
              <a:t>哈希函数</a:t>
            </a:r>
            <a:r>
              <a:rPr lang="en-US" altLang="zh-CN" b="0" dirty="0">
                <a:solidFill>
                  <a:srgbClr val="FF0000"/>
                </a:solidFill>
              </a:rPr>
              <a:t>Hash(key)=Random(key)</a:t>
            </a:r>
            <a:r>
              <a:rPr lang="zh-CN" altLang="zh-CN" b="0" dirty="0"/>
              <a:t>，即取关键字的随机函数值作为关键字的哈希地址。其中</a:t>
            </a:r>
            <a:r>
              <a:rPr lang="en-US" altLang="zh-CN" b="0" dirty="0">
                <a:solidFill>
                  <a:srgbClr val="FF0000"/>
                </a:solidFill>
              </a:rPr>
              <a:t>Random</a:t>
            </a:r>
            <a:r>
              <a:rPr lang="zh-CN" altLang="zh-CN" b="0" dirty="0">
                <a:solidFill>
                  <a:srgbClr val="FF0000"/>
                </a:solidFill>
              </a:rPr>
              <a:t>为</a:t>
            </a:r>
            <a:r>
              <a:rPr lang="zh-CN" altLang="zh-CN" dirty="0">
                <a:solidFill>
                  <a:srgbClr val="FF0000"/>
                </a:solidFill>
              </a:rPr>
              <a:t>伪随机</a:t>
            </a:r>
            <a:r>
              <a:rPr lang="zh-CN" altLang="zh-CN" b="0" dirty="0">
                <a:solidFill>
                  <a:srgbClr val="FF0000"/>
                </a:solidFill>
              </a:rPr>
              <a:t>函数</a:t>
            </a:r>
            <a:r>
              <a:rPr lang="zh-CN" altLang="zh-CN" b="0" dirty="0"/>
              <a:t>，其取值在</a:t>
            </a:r>
            <a:r>
              <a:rPr lang="en-US" altLang="zh-CN" b="0" dirty="0"/>
              <a:t>0</a:t>
            </a:r>
            <a:r>
              <a:rPr lang="zh-CN" altLang="zh-CN" b="0" dirty="0"/>
              <a:t>到</a:t>
            </a:r>
            <a:r>
              <a:rPr lang="en-US" altLang="zh-CN" b="0" dirty="0"/>
              <a:t>m-1</a:t>
            </a:r>
            <a:r>
              <a:rPr lang="zh-CN" altLang="zh-CN" b="0" dirty="0"/>
              <a:t>之间。</a:t>
            </a:r>
          </a:p>
          <a:p>
            <a:pPr algn="just"/>
            <a:r>
              <a:rPr lang="en-US" altLang="zh-CN" dirty="0"/>
              <a:t>5</a:t>
            </a:r>
            <a:r>
              <a:rPr lang="zh-CN" altLang="zh-CN" dirty="0"/>
              <a:t>．</a:t>
            </a:r>
            <a:r>
              <a:rPr lang="zh-CN" altLang="zh-CN" dirty="0">
                <a:solidFill>
                  <a:srgbClr val="FF0000"/>
                </a:solidFill>
              </a:rPr>
              <a:t>截断法</a:t>
            </a:r>
          </a:p>
          <a:p>
            <a:pPr algn="just">
              <a:buFont typeface="Wingdings" panose="05000000000000000000" pitchFamily="2" charset="2"/>
              <a:buChar char="l"/>
            </a:pPr>
            <a:r>
              <a:rPr lang="zh-CN" altLang="zh-CN" b="0" dirty="0"/>
              <a:t>忽略关键字中的一部分，</a:t>
            </a:r>
            <a:r>
              <a:rPr lang="zh-CN" altLang="en-US" b="0" dirty="0">
                <a:solidFill>
                  <a:srgbClr val="FF0000"/>
                </a:solidFill>
              </a:rPr>
              <a:t>选取</a:t>
            </a:r>
            <a:r>
              <a:rPr lang="zh-CN" altLang="zh-CN" b="0" dirty="0">
                <a:solidFill>
                  <a:srgbClr val="FF0000"/>
                </a:solidFill>
              </a:rPr>
              <a:t>剩余部分作为表的</a:t>
            </a:r>
            <a:r>
              <a:rPr lang="zh-CN" altLang="en-US" b="0" dirty="0">
                <a:solidFill>
                  <a:srgbClr val="FF0000"/>
                </a:solidFill>
              </a:rPr>
              <a:t>哈希</a:t>
            </a:r>
            <a:r>
              <a:rPr lang="zh-CN" altLang="zh-CN" b="0" dirty="0">
                <a:solidFill>
                  <a:srgbClr val="FF0000"/>
                </a:solidFill>
              </a:rPr>
              <a:t>值</a:t>
            </a:r>
            <a:r>
              <a:rPr lang="zh-CN" altLang="zh-CN" b="0" dirty="0"/>
              <a:t>。如</a:t>
            </a:r>
            <a:r>
              <a:rPr lang="en-US" altLang="zh-CN" b="0" dirty="0"/>
              <a:t>key=11516287</a:t>
            </a:r>
            <a:r>
              <a:rPr lang="zh-CN" altLang="zh-CN" b="0" dirty="0"/>
              <a:t>保留第</a:t>
            </a:r>
            <a:r>
              <a:rPr lang="en-US" altLang="zh-CN" b="0" dirty="0"/>
              <a:t>3</a:t>
            </a:r>
            <a:r>
              <a:rPr lang="zh-CN" altLang="zh-CN" b="0" dirty="0"/>
              <a:t>，</a:t>
            </a:r>
            <a:r>
              <a:rPr lang="en-US" altLang="zh-CN" b="0" dirty="0"/>
              <a:t>4</a:t>
            </a:r>
            <a:r>
              <a:rPr lang="zh-CN" altLang="zh-CN" b="0" dirty="0"/>
              <a:t>，</a:t>
            </a:r>
            <a:r>
              <a:rPr lang="en-US" altLang="zh-CN" b="0" dirty="0"/>
              <a:t>8</a:t>
            </a:r>
            <a:r>
              <a:rPr lang="zh-CN" altLang="zh-CN" b="0" dirty="0"/>
              <a:t>位，则哈希地址为</a:t>
            </a:r>
            <a:r>
              <a:rPr lang="en-US" altLang="zh-CN" b="0" dirty="0"/>
              <a:t>517</a:t>
            </a:r>
            <a:r>
              <a:rPr lang="zh-CN" altLang="zh-CN" b="0" dirty="0"/>
              <a:t>。再如学号，采用学号的后三位。即寻找区分性好的段作为哈希地址。</a:t>
            </a:r>
          </a:p>
          <a:p>
            <a:endParaRPr lang="zh-CN" altLang="en-US" dirty="0"/>
          </a:p>
        </p:txBody>
      </p:sp>
    </p:spTree>
    <p:extLst>
      <p:ext uri="{BB962C8B-B14F-4D97-AF65-F5344CB8AC3E}">
        <p14:creationId xmlns:p14="http://schemas.microsoft.com/office/powerpoint/2010/main" val="4237002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60840" cy="4896544"/>
          </a:xfrm>
        </p:spPr>
        <p:txBody>
          <a:bodyPr>
            <a:normAutofit/>
          </a:bodyPr>
          <a:lstStyle/>
          <a:p>
            <a:pPr algn="just"/>
            <a:r>
              <a:rPr lang="en-US" altLang="zh-CN" dirty="0"/>
              <a:t>6</a:t>
            </a:r>
            <a:r>
              <a:rPr lang="zh-CN" altLang="zh-CN" dirty="0"/>
              <a:t>．</a:t>
            </a:r>
            <a:r>
              <a:rPr lang="zh-CN" altLang="zh-CN" dirty="0">
                <a:solidFill>
                  <a:srgbClr val="FF0000"/>
                </a:solidFill>
              </a:rPr>
              <a:t>折叠法</a:t>
            </a:r>
          </a:p>
          <a:p>
            <a:pPr algn="just">
              <a:buFont typeface="Wingdings" panose="05000000000000000000" pitchFamily="2" charset="2"/>
              <a:buChar char="l"/>
            </a:pPr>
            <a:r>
              <a:rPr lang="zh-CN" altLang="zh-CN" dirty="0"/>
              <a:t>把关键字自左到右分成位数相等的几部分</a:t>
            </a:r>
            <a:r>
              <a:rPr lang="zh-CN" altLang="zh-CN" b="0" dirty="0"/>
              <a:t>，每一部分的位数应与哈希表地址位数相同，</a:t>
            </a:r>
            <a:r>
              <a:rPr lang="zh-CN" altLang="zh-CN" dirty="0"/>
              <a:t>把这些部分的数据叠加起来</a:t>
            </a:r>
            <a:r>
              <a:rPr lang="zh-CN" altLang="zh-CN" b="0" dirty="0"/>
              <a:t>，可得到该关键字的哈希地址。</a:t>
            </a:r>
            <a:endParaRPr lang="en-US" altLang="zh-CN" b="0" dirty="0"/>
          </a:p>
          <a:p>
            <a:pPr algn="just">
              <a:buFont typeface="Wingdings" panose="05000000000000000000" pitchFamily="2" charset="2"/>
              <a:buChar char="l"/>
            </a:pPr>
            <a:r>
              <a:rPr lang="zh-CN" altLang="zh-CN" b="0" dirty="0"/>
              <a:t>折叠法有两种叠加方法：</a:t>
            </a:r>
          </a:p>
          <a:p>
            <a:pPr algn="just"/>
            <a:r>
              <a:rPr lang="zh-CN" altLang="zh-CN" b="0" dirty="0"/>
              <a:t>①</a:t>
            </a:r>
            <a:r>
              <a:rPr lang="zh-CN" altLang="zh-CN" dirty="0">
                <a:solidFill>
                  <a:srgbClr val="FF0000"/>
                </a:solidFill>
              </a:rPr>
              <a:t>移位法</a:t>
            </a:r>
            <a:r>
              <a:rPr lang="zh-CN" altLang="zh-CN" b="0" dirty="0"/>
              <a:t>：</a:t>
            </a:r>
            <a:r>
              <a:rPr lang="zh-CN" altLang="zh-CN" dirty="0"/>
              <a:t>把各部分的最后一位对齐相加；</a:t>
            </a:r>
          </a:p>
          <a:p>
            <a:pPr algn="just"/>
            <a:r>
              <a:rPr lang="zh-CN" altLang="zh-CN" b="0" dirty="0"/>
              <a:t>②</a:t>
            </a:r>
            <a:r>
              <a:rPr lang="zh-CN" altLang="zh-CN" dirty="0">
                <a:solidFill>
                  <a:srgbClr val="FF0000"/>
                </a:solidFill>
              </a:rPr>
              <a:t>分界法</a:t>
            </a:r>
            <a:r>
              <a:rPr lang="zh-CN" altLang="zh-CN" b="0" dirty="0"/>
              <a:t>：</a:t>
            </a:r>
            <a:r>
              <a:rPr lang="zh-CN" altLang="zh-CN" dirty="0"/>
              <a:t>各部分不折断，沿各部分的分界来回折叠，然后对齐相加</a:t>
            </a:r>
            <a:r>
              <a:rPr lang="zh-CN" altLang="zh-CN" b="0" dirty="0"/>
              <a:t>，将相加的结果作为哈希地址。</a:t>
            </a:r>
          </a:p>
          <a:p>
            <a:endParaRPr lang="zh-CN" altLang="en-US" dirty="0"/>
          </a:p>
        </p:txBody>
      </p:sp>
    </p:spTree>
    <p:extLst>
      <p:ext uri="{BB962C8B-B14F-4D97-AF65-F5344CB8AC3E}">
        <p14:creationId xmlns:p14="http://schemas.microsoft.com/office/powerpoint/2010/main" val="2840956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24744"/>
            <a:ext cx="7520940" cy="4083905"/>
          </a:xfrm>
        </p:spPr>
        <p:txBody>
          <a:bodyPr/>
          <a:lstStyle/>
          <a:p>
            <a:pPr algn="just"/>
            <a:r>
              <a:rPr lang="en-US" altLang="zh-CN" b="0" dirty="0"/>
              <a:t>	</a:t>
            </a:r>
            <a:r>
              <a:rPr lang="zh-CN" altLang="zh-CN" b="0" dirty="0"/>
              <a:t>如</a:t>
            </a:r>
            <a:r>
              <a:rPr lang="en-US" altLang="zh-CN" b="0" dirty="0"/>
              <a:t>key=11516287</a:t>
            </a:r>
            <a:r>
              <a:rPr lang="zh-CN" altLang="zh-CN" b="0" dirty="0"/>
              <a:t>，若存储空间限定为</a:t>
            </a:r>
            <a:r>
              <a:rPr lang="en-US" altLang="zh-CN" b="0" dirty="0"/>
              <a:t>3</a:t>
            </a:r>
            <a:r>
              <a:rPr lang="zh-CN" altLang="zh-CN" b="0" dirty="0"/>
              <a:t>位，则划分结果为每段</a:t>
            </a:r>
            <a:r>
              <a:rPr lang="en-US" altLang="zh-CN" b="0" dirty="0"/>
              <a:t>3</a:t>
            </a:r>
            <a:r>
              <a:rPr lang="zh-CN" altLang="zh-CN" b="0" dirty="0"/>
              <a:t>位。将关键字划分为</a:t>
            </a:r>
            <a:r>
              <a:rPr lang="en-US" altLang="zh-CN" b="0" dirty="0"/>
              <a:t>3</a:t>
            </a:r>
            <a:r>
              <a:rPr lang="zh-CN" altLang="zh-CN" b="0" dirty="0"/>
              <a:t>段：</a:t>
            </a:r>
            <a:r>
              <a:rPr lang="en-US" altLang="zh-CN" b="0" dirty="0"/>
              <a:t>[1 1 5]</a:t>
            </a:r>
            <a:r>
              <a:rPr lang="zh-CN" altLang="zh-CN" b="0" dirty="0"/>
              <a:t>，</a:t>
            </a:r>
            <a:r>
              <a:rPr lang="en-US" altLang="zh-CN" b="0" dirty="0"/>
              <a:t>[1 6 2]</a:t>
            </a:r>
            <a:r>
              <a:rPr lang="zh-CN" altLang="zh-CN" b="0" dirty="0"/>
              <a:t>，</a:t>
            </a:r>
            <a:r>
              <a:rPr lang="en-US" altLang="zh-CN" b="0" dirty="0"/>
              <a:t>[8 7]</a:t>
            </a:r>
            <a:r>
              <a:rPr lang="zh-CN" altLang="zh-CN" b="0" dirty="0"/>
              <a:t>，累加结果如果超出地址位数的最高位则删除，仅保留最低的</a:t>
            </a:r>
            <a:r>
              <a:rPr lang="en-US" altLang="zh-CN" b="0" dirty="0"/>
              <a:t>3</a:t>
            </a:r>
            <a:r>
              <a:rPr lang="zh-CN" altLang="zh-CN" b="0" dirty="0"/>
              <a:t>位作为哈希地址，如图</a:t>
            </a:r>
            <a:r>
              <a:rPr lang="en-US" altLang="zh-CN" b="0" dirty="0"/>
              <a:t>8-3</a:t>
            </a:r>
            <a:r>
              <a:rPr lang="zh-CN" altLang="zh-CN" b="0" dirty="0"/>
              <a:t>所示。</a:t>
            </a:r>
          </a:p>
          <a:p>
            <a:r>
              <a:rPr lang="en-US" altLang="zh-CN" b="0" dirty="0"/>
              <a:t>			[1 1 5]</a:t>
            </a:r>
            <a:r>
              <a:rPr lang="zh-CN" altLang="zh-CN" b="0" dirty="0"/>
              <a:t>，</a:t>
            </a:r>
            <a:r>
              <a:rPr lang="en-US" altLang="zh-CN" b="0" dirty="0"/>
              <a:t>[1 6 2]</a:t>
            </a:r>
            <a:r>
              <a:rPr lang="zh-CN" altLang="zh-CN" b="0" dirty="0"/>
              <a:t>，</a:t>
            </a:r>
            <a:r>
              <a:rPr lang="en-US" altLang="zh-CN" b="0" dirty="0"/>
              <a:t>[8 7]</a:t>
            </a:r>
            <a:endParaRPr lang="zh-CN" altLang="zh-CN" b="0" dirty="0"/>
          </a:p>
          <a:p>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3810875"/>
            <a:ext cx="5518184" cy="2330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3914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04856" cy="4968552"/>
          </a:xfrm>
        </p:spPr>
        <p:txBody>
          <a:bodyPr>
            <a:normAutofit/>
          </a:bodyPr>
          <a:lstStyle/>
          <a:p>
            <a:pPr marL="0" indent="0" algn="just"/>
            <a:r>
              <a:rPr lang="zh-CN" altLang="zh-CN" b="0" dirty="0"/>
              <a:t>在实际工作中，需要根据不同的情况来采用不同的哈希函数。通常考虑的因素有：</a:t>
            </a:r>
          </a:p>
          <a:p>
            <a:pPr lvl="3" algn="just"/>
            <a:r>
              <a:rPr lang="zh-CN" altLang="zh-CN" b="0" dirty="0"/>
              <a:t>计算哈希函数所需的时间；</a:t>
            </a:r>
          </a:p>
          <a:p>
            <a:pPr lvl="3" algn="just"/>
            <a:r>
              <a:rPr lang="zh-CN" altLang="zh-CN" b="0" dirty="0"/>
              <a:t>关键字的长度；</a:t>
            </a:r>
          </a:p>
          <a:p>
            <a:pPr lvl="3" algn="just"/>
            <a:r>
              <a:rPr lang="zh-CN" altLang="zh-CN" b="0" dirty="0"/>
              <a:t>哈希表空间的大小；</a:t>
            </a:r>
          </a:p>
          <a:p>
            <a:pPr lvl="3" algn="just"/>
            <a:r>
              <a:rPr lang="zh-CN" altLang="zh-CN" b="0" dirty="0"/>
              <a:t>关键字的分布情况；</a:t>
            </a:r>
          </a:p>
          <a:p>
            <a:pPr lvl="3" algn="just"/>
            <a:r>
              <a:rPr lang="zh-CN" altLang="zh-CN" b="0" dirty="0"/>
              <a:t>记录的查找频率。</a:t>
            </a:r>
          </a:p>
          <a:p>
            <a:endParaRPr lang="zh-CN" altLang="en-US" dirty="0"/>
          </a:p>
        </p:txBody>
      </p:sp>
      <p:sp>
        <p:nvSpPr>
          <p:cNvPr id="4" name="矩形 3"/>
          <p:cNvSpPr/>
          <p:nvPr/>
        </p:nvSpPr>
        <p:spPr>
          <a:xfrm>
            <a:off x="1043608" y="5013175"/>
            <a:ext cx="7344816" cy="830997"/>
          </a:xfrm>
          <a:prstGeom prst="rect">
            <a:avLst/>
          </a:prstGeom>
        </p:spPr>
        <p:txBody>
          <a:bodyPr wrap="square">
            <a:spAutoFit/>
          </a:bodyPr>
          <a:lstStyle/>
          <a:p>
            <a:r>
              <a:rPr lang="zh-CN" altLang="zh-CN" sz="2400" dirty="0"/>
              <a:t>★注：哈希函数不是一个完全的随机数，是与关键字的值相关的伪随机数。如此才能将存储与查找相对应。</a:t>
            </a:r>
          </a:p>
        </p:txBody>
      </p:sp>
    </p:spTree>
    <p:extLst>
      <p:ext uri="{BB962C8B-B14F-4D97-AF65-F5344CB8AC3E}">
        <p14:creationId xmlns:p14="http://schemas.microsoft.com/office/powerpoint/2010/main" val="2909255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8.3.2 </a:t>
            </a:r>
            <a:r>
              <a:rPr lang="zh-CN" altLang="zh-CN" b="1" dirty="0"/>
              <a:t>解决冲突的办法</a:t>
            </a:r>
            <a:endParaRPr lang="zh-CN" altLang="en-US" dirty="0"/>
          </a:p>
        </p:txBody>
      </p:sp>
      <p:sp>
        <p:nvSpPr>
          <p:cNvPr id="3" name="内容占位符 2"/>
          <p:cNvSpPr>
            <a:spLocks noGrp="1"/>
          </p:cNvSpPr>
          <p:nvPr>
            <p:ph idx="1"/>
          </p:nvPr>
        </p:nvSpPr>
        <p:spPr>
          <a:xfrm>
            <a:off x="827584" y="1628800"/>
            <a:ext cx="7704856" cy="3672408"/>
          </a:xfrm>
        </p:spPr>
        <p:txBody>
          <a:bodyPr/>
          <a:lstStyle/>
          <a:p>
            <a:pPr marL="0" indent="0" algn="just">
              <a:spcBef>
                <a:spcPts val="1200"/>
              </a:spcBef>
            </a:pPr>
            <a:r>
              <a:rPr lang="zh-CN" altLang="zh-CN" dirty="0"/>
              <a:t>冲突解决技术可以分为两类：</a:t>
            </a:r>
            <a:r>
              <a:rPr lang="zh-CN" altLang="zh-CN" dirty="0">
                <a:solidFill>
                  <a:srgbClr val="FF0000"/>
                </a:solidFill>
              </a:rPr>
              <a:t>开放哈希和封闭哈希</a:t>
            </a:r>
            <a:endParaRPr lang="en-US" altLang="zh-CN" dirty="0">
              <a:solidFill>
                <a:srgbClr val="FF0000"/>
              </a:solidFill>
            </a:endParaRPr>
          </a:p>
          <a:p>
            <a:pPr marL="0" indent="0" algn="just">
              <a:spcBef>
                <a:spcPts val="1200"/>
              </a:spcBef>
            </a:pPr>
            <a:r>
              <a:rPr lang="zh-CN" altLang="zh-CN" dirty="0"/>
              <a:t>两种解决冲突的方法的</a:t>
            </a:r>
            <a:r>
              <a:rPr lang="zh-CN" altLang="en-US" dirty="0">
                <a:solidFill>
                  <a:srgbClr val="FF0000"/>
                </a:solidFill>
              </a:rPr>
              <a:t>区别</a:t>
            </a:r>
            <a:r>
              <a:rPr lang="zh-CN" altLang="zh-CN" b="0" dirty="0"/>
              <a:t>：</a:t>
            </a:r>
            <a:endParaRPr lang="en-US" altLang="zh-CN" b="0" dirty="0"/>
          </a:p>
          <a:p>
            <a:pPr lvl="2" indent="-216000" algn="just">
              <a:spcBef>
                <a:spcPts val="1200"/>
              </a:spcBef>
              <a:buFont typeface="Wingdings" panose="05000000000000000000" pitchFamily="2" charset="2"/>
              <a:buChar char="l"/>
            </a:pPr>
            <a:r>
              <a:rPr lang="zh-CN" altLang="zh-CN" b="0" dirty="0">
                <a:solidFill>
                  <a:srgbClr val="FF0000"/>
                </a:solidFill>
              </a:rPr>
              <a:t>开放哈希法是冲突</a:t>
            </a:r>
            <a:r>
              <a:rPr lang="zh-CN" altLang="en-US" b="0" dirty="0">
                <a:solidFill>
                  <a:srgbClr val="FF0000"/>
                </a:solidFill>
              </a:rPr>
              <a:t>元素</a:t>
            </a:r>
            <a:r>
              <a:rPr lang="zh-CN" altLang="zh-CN" b="0" dirty="0">
                <a:solidFill>
                  <a:srgbClr val="FF0000"/>
                </a:solidFill>
              </a:rPr>
              <a:t>不占哈希表空间</a:t>
            </a:r>
            <a:r>
              <a:rPr lang="zh-CN" altLang="zh-CN" b="0" dirty="0"/>
              <a:t>，即不在哈希表中存放，而是存放到哈希表之外的空间中去；</a:t>
            </a:r>
            <a:endParaRPr lang="en-US" altLang="zh-CN" b="0" dirty="0"/>
          </a:p>
          <a:p>
            <a:pPr lvl="2" indent="-216000" algn="just">
              <a:spcBef>
                <a:spcPts val="1200"/>
              </a:spcBef>
              <a:buFont typeface="Wingdings" panose="05000000000000000000" pitchFamily="2" charset="2"/>
              <a:buChar char="l"/>
            </a:pPr>
            <a:r>
              <a:rPr lang="zh-CN" altLang="zh-CN" b="0" dirty="0">
                <a:solidFill>
                  <a:srgbClr val="FF0000"/>
                </a:solidFill>
              </a:rPr>
              <a:t>封闭哈希法允许冲突元素存放到哈希表空间中</a:t>
            </a:r>
            <a:r>
              <a:rPr lang="zh-CN" altLang="zh-CN" b="0" dirty="0"/>
              <a:t>，即放到哈希表的空闲区域中。</a:t>
            </a:r>
            <a:endParaRPr lang="zh-CN" altLang="en-US" b="0" dirty="0"/>
          </a:p>
        </p:txBody>
      </p:sp>
    </p:spTree>
    <p:extLst>
      <p:ext uri="{BB962C8B-B14F-4D97-AF65-F5344CB8AC3E}">
        <p14:creationId xmlns:p14="http://schemas.microsoft.com/office/powerpoint/2010/main" val="4089000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632848" cy="4968552"/>
          </a:xfrm>
        </p:spPr>
        <p:txBody>
          <a:bodyPr>
            <a:normAutofit/>
          </a:bodyPr>
          <a:lstStyle/>
          <a:p>
            <a:pPr algn="just"/>
            <a:r>
              <a:rPr lang="en-US" altLang="zh-CN" dirty="0"/>
              <a:t>1</a:t>
            </a:r>
            <a:r>
              <a:rPr lang="zh-CN" altLang="zh-CN" dirty="0"/>
              <a:t>．开放哈希法</a:t>
            </a:r>
          </a:p>
          <a:p>
            <a:pPr algn="just"/>
            <a:r>
              <a:rPr lang="zh-CN" altLang="zh-CN" dirty="0">
                <a:solidFill>
                  <a:srgbClr val="FF0000"/>
                </a:solidFill>
              </a:rPr>
              <a:t>（</a:t>
            </a:r>
            <a:r>
              <a:rPr lang="en-US" altLang="zh-CN" dirty="0">
                <a:solidFill>
                  <a:srgbClr val="FF0000"/>
                </a:solidFill>
              </a:rPr>
              <a:t>1</a:t>
            </a:r>
            <a:r>
              <a:rPr lang="zh-CN" altLang="zh-CN" dirty="0">
                <a:solidFill>
                  <a:srgbClr val="FF0000"/>
                </a:solidFill>
              </a:rPr>
              <a:t>）链地址法</a:t>
            </a:r>
          </a:p>
          <a:p>
            <a:pPr algn="just">
              <a:buFont typeface="Wingdings" panose="05000000000000000000" pitchFamily="2" charset="2"/>
              <a:buChar char="u"/>
            </a:pPr>
            <a:r>
              <a:rPr lang="zh-CN" altLang="zh-CN" b="0" dirty="0"/>
              <a:t>链地址法首先对关键字集合用某一个哈希函数计算它们的存放位置。</a:t>
            </a:r>
            <a:endParaRPr lang="en-US" altLang="zh-CN" b="0" dirty="0"/>
          </a:p>
          <a:p>
            <a:pPr algn="just">
              <a:buFont typeface="Wingdings" panose="05000000000000000000" pitchFamily="2" charset="2"/>
              <a:buChar char="u"/>
            </a:pPr>
            <a:r>
              <a:rPr lang="zh-CN" altLang="zh-CN" b="0" dirty="0"/>
              <a:t>假设哈希表的地址空间是从</a:t>
            </a:r>
            <a:r>
              <a:rPr lang="en-US" altLang="zh-CN" b="0" dirty="0"/>
              <a:t>0</a:t>
            </a:r>
            <a:r>
              <a:rPr lang="zh-CN" altLang="zh-CN" b="0" dirty="0"/>
              <a:t>到</a:t>
            </a:r>
            <a:r>
              <a:rPr lang="en-US" altLang="zh-CN" b="0" dirty="0"/>
              <a:t>m-1</a:t>
            </a:r>
            <a:r>
              <a:rPr lang="zh-CN" altLang="zh-CN" b="0" dirty="0"/>
              <a:t>，则关键字集合中的所有关键字被划分为</a:t>
            </a:r>
            <a:r>
              <a:rPr lang="en-US" altLang="zh-CN" b="0" dirty="0"/>
              <a:t>m</a:t>
            </a:r>
            <a:r>
              <a:rPr lang="zh-CN" altLang="zh-CN" b="0" dirty="0"/>
              <a:t>个子集，具有相同地址的关键字归于同一子集。</a:t>
            </a:r>
            <a:endParaRPr lang="en-US" altLang="zh-CN" b="0" dirty="0"/>
          </a:p>
          <a:p>
            <a:pPr algn="just">
              <a:buFont typeface="Wingdings" panose="05000000000000000000" pitchFamily="2" charset="2"/>
              <a:buChar char="u"/>
            </a:pPr>
            <a:r>
              <a:rPr lang="zh-CN" altLang="zh-CN" b="0" dirty="0"/>
              <a:t>将所有关键字为同一子集的记录存储在同一</a:t>
            </a:r>
            <a:r>
              <a:rPr lang="zh-CN" altLang="en-US" b="0" dirty="0"/>
              <a:t>个</a:t>
            </a:r>
            <a:r>
              <a:rPr lang="zh-CN" altLang="zh-CN" b="0" dirty="0"/>
              <a:t>线性链表中，各个链表的表头结点组成一个向量。</a:t>
            </a:r>
          </a:p>
          <a:p>
            <a:endParaRPr lang="zh-CN" altLang="en-US" dirty="0"/>
          </a:p>
        </p:txBody>
      </p:sp>
    </p:spTree>
    <p:extLst>
      <p:ext uri="{BB962C8B-B14F-4D97-AF65-F5344CB8AC3E}">
        <p14:creationId xmlns:p14="http://schemas.microsoft.com/office/powerpoint/2010/main" val="1676686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704856" cy="4968552"/>
          </a:xfrm>
        </p:spPr>
        <p:txBody>
          <a:bodyPr>
            <a:normAutofit/>
          </a:bodyPr>
          <a:lstStyle/>
          <a:p>
            <a:pPr marL="0" indent="0" algn="just"/>
            <a:r>
              <a:rPr lang="zh-CN" altLang="zh-CN" b="0" dirty="0"/>
              <a:t>【例</a:t>
            </a:r>
            <a:r>
              <a:rPr lang="en-US" altLang="zh-CN" b="0" dirty="0"/>
              <a:t>8.8</a:t>
            </a:r>
            <a:r>
              <a:rPr lang="zh-CN" altLang="zh-CN" b="0" dirty="0"/>
              <a:t>】将一组记录元素的关键字集合</a:t>
            </a:r>
            <a:r>
              <a:rPr lang="en-US" altLang="zh-CN" b="0" dirty="0"/>
              <a:t>{11</a:t>
            </a:r>
            <a:r>
              <a:rPr lang="zh-CN" altLang="zh-CN" b="0" dirty="0"/>
              <a:t>，</a:t>
            </a:r>
            <a:r>
              <a:rPr lang="en-US" altLang="zh-CN" b="0" dirty="0"/>
              <a:t>21</a:t>
            </a:r>
            <a:r>
              <a:rPr lang="zh-CN" altLang="zh-CN" b="0" dirty="0"/>
              <a:t>，</a:t>
            </a:r>
            <a:r>
              <a:rPr lang="en-US" altLang="zh-CN" b="0" dirty="0"/>
              <a:t>35</a:t>
            </a:r>
            <a:r>
              <a:rPr lang="zh-CN" altLang="zh-CN" b="0" dirty="0"/>
              <a:t>，</a:t>
            </a:r>
            <a:r>
              <a:rPr lang="en-US" altLang="zh-CN" b="0" dirty="0"/>
              <a:t>41</a:t>
            </a:r>
            <a:r>
              <a:rPr lang="zh-CN" altLang="zh-CN" b="0" dirty="0"/>
              <a:t>，</a:t>
            </a:r>
            <a:r>
              <a:rPr lang="en-US" altLang="zh-CN" b="0" dirty="0"/>
              <a:t>43</a:t>
            </a:r>
            <a:r>
              <a:rPr lang="zh-CN" altLang="zh-CN" b="0" dirty="0"/>
              <a:t>，</a:t>
            </a:r>
            <a:r>
              <a:rPr lang="en-US" altLang="zh-CN" b="0" dirty="0"/>
              <a:t>55</a:t>
            </a:r>
            <a:r>
              <a:rPr lang="zh-CN" altLang="zh-CN" b="0" dirty="0"/>
              <a:t>，</a:t>
            </a:r>
            <a:r>
              <a:rPr lang="en-US" altLang="zh-CN" b="0" dirty="0"/>
              <a:t>61</a:t>
            </a:r>
            <a:r>
              <a:rPr lang="zh-CN" altLang="zh-CN" b="0" dirty="0"/>
              <a:t>，</a:t>
            </a:r>
            <a:r>
              <a:rPr lang="en-US" altLang="zh-CN" b="0" dirty="0"/>
              <a:t>66</a:t>
            </a:r>
            <a:r>
              <a:rPr lang="zh-CN" altLang="zh-CN" b="0" dirty="0"/>
              <a:t>，</a:t>
            </a:r>
            <a:r>
              <a:rPr lang="en-US" altLang="zh-CN" b="0" dirty="0"/>
              <a:t>75}</a:t>
            </a:r>
            <a:r>
              <a:rPr lang="zh-CN" altLang="zh-CN" b="0" dirty="0"/>
              <a:t>，按照哈希函数</a:t>
            </a:r>
            <a:r>
              <a:rPr lang="en-US" altLang="zh-CN" dirty="0">
                <a:solidFill>
                  <a:srgbClr val="FF0000"/>
                </a:solidFill>
              </a:rPr>
              <a:t>Hash(x)=x%11</a:t>
            </a:r>
            <a:r>
              <a:rPr lang="zh-CN" altLang="zh-CN" b="0" dirty="0"/>
              <a:t>，采用链地址法表示关键字在哈希表中的位置，如图</a:t>
            </a:r>
            <a:r>
              <a:rPr lang="en-US" altLang="zh-CN" b="0" dirty="0"/>
              <a:t>8-4(a)</a:t>
            </a:r>
            <a:r>
              <a:rPr lang="zh-CN" altLang="zh-CN" b="0" dirty="0"/>
              <a:t>和</a:t>
            </a:r>
            <a:r>
              <a:rPr lang="en-US" altLang="zh-CN" b="0" dirty="0"/>
              <a:t>(b)</a:t>
            </a:r>
            <a:r>
              <a:rPr lang="zh-CN" altLang="zh-CN" b="0" dirty="0"/>
              <a:t>所示。</a:t>
            </a:r>
          </a:p>
          <a:p>
            <a:pPr marL="685800" lvl="4" indent="0">
              <a:buNone/>
            </a:pPr>
            <a:r>
              <a:rPr lang="en-US" altLang="zh-CN" b="0" dirty="0"/>
              <a:t>Hash(11)= Hash(55)= Hash(66)=0</a:t>
            </a:r>
            <a:endParaRPr lang="zh-CN" altLang="zh-CN" b="0" dirty="0"/>
          </a:p>
          <a:p>
            <a:pPr marL="685800" lvl="4" indent="0">
              <a:buNone/>
            </a:pPr>
            <a:r>
              <a:rPr lang="en-US" altLang="zh-CN" b="0" dirty="0"/>
              <a:t>Hash(35)=2</a:t>
            </a:r>
            <a:endParaRPr lang="zh-CN" altLang="zh-CN" b="0" dirty="0"/>
          </a:p>
          <a:p>
            <a:pPr marL="685800" lvl="4" indent="0">
              <a:buNone/>
            </a:pPr>
            <a:r>
              <a:rPr lang="en-US" altLang="zh-CN" b="0" dirty="0"/>
              <a:t>Hash(61)=6</a:t>
            </a:r>
            <a:endParaRPr lang="zh-CN" altLang="zh-CN" b="0" dirty="0"/>
          </a:p>
          <a:p>
            <a:pPr marL="685800" lvl="4" indent="0">
              <a:buNone/>
            </a:pPr>
            <a:r>
              <a:rPr lang="en-US" altLang="zh-CN" b="0" dirty="0"/>
              <a:t>Hash(41)=8 </a:t>
            </a:r>
            <a:endParaRPr lang="zh-CN" altLang="zh-CN" b="0" dirty="0"/>
          </a:p>
          <a:p>
            <a:pPr marL="685800" lvl="4" indent="0">
              <a:buNone/>
            </a:pPr>
            <a:r>
              <a:rPr lang="en-US" altLang="zh-CN" b="0" dirty="0"/>
              <a:t>Hash(75)=9</a:t>
            </a:r>
            <a:endParaRPr lang="zh-CN" altLang="zh-CN" b="0" dirty="0"/>
          </a:p>
          <a:p>
            <a:pPr marL="685800" lvl="4" indent="0">
              <a:buNone/>
            </a:pPr>
            <a:r>
              <a:rPr lang="en-US" altLang="zh-CN" b="0" dirty="0"/>
              <a:t>Hash(21)=Hash(43)=10</a:t>
            </a:r>
            <a:endParaRPr lang="zh-CN" altLang="zh-CN" b="0" dirty="0"/>
          </a:p>
          <a:p>
            <a:endParaRPr lang="zh-CN" altLang="en-US" dirty="0"/>
          </a:p>
        </p:txBody>
      </p:sp>
    </p:spTree>
    <p:extLst>
      <p:ext uri="{BB962C8B-B14F-4D97-AF65-F5344CB8AC3E}">
        <p14:creationId xmlns:p14="http://schemas.microsoft.com/office/powerpoint/2010/main" val="1614690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268760"/>
            <a:ext cx="4320480" cy="360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064" y="1268760"/>
            <a:ext cx="3384376" cy="360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331640" y="5301208"/>
            <a:ext cx="6336704" cy="369332"/>
          </a:xfrm>
          <a:prstGeom prst="rect">
            <a:avLst/>
          </a:prstGeom>
        </p:spPr>
        <p:txBody>
          <a:bodyPr wrap="squar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8-4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用链地址法得到的哈希表结构（表头结点的表示方法）</a:t>
            </a:r>
          </a:p>
        </p:txBody>
      </p:sp>
    </p:spTree>
    <p:extLst>
      <p:ext uri="{BB962C8B-B14F-4D97-AF65-F5344CB8AC3E}">
        <p14:creationId xmlns:p14="http://schemas.microsoft.com/office/powerpoint/2010/main" val="1665269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4"/>
            <a:ext cx="7416824" cy="3579849"/>
          </a:xfrm>
        </p:spPr>
        <p:txBody>
          <a:bodyPr/>
          <a:lstStyle/>
          <a:p>
            <a:pPr marL="0" indent="0" algn="just"/>
            <a:r>
              <a:rPr lang="zh-CN" altLang="zh-CN" dirty="0">
                <a:solidFill>
                  <a:srgbClr val="FF0000"/>
                </a:solidFill>
              </a:rPr>
              <a:t>平均搜索长度</a:t>
            </a:r>
            <a:r>
              <a:rPr lang="en-US" altLang="zh-CN" dirty="0">
                <a:solidFill>
                  <a:srgbClr val="FF0000"/>
                </a:solidFill>
              </a:rPr>
              <a:t>ASL</a:t>
            </a:r>
            <a:r>
              <a:rPr lang="zh-CN" altLang="en-US" dirty="0">
                <a:solidFill>
                  <a:srgbClr val="FF0000"/>
                </a:solidFill>
              </a:rPr>
              <a:t>：</a:t>
            </a:r>
            <a:endParaRPr lang="en-US" altLang="zh-CN" dirty="0">
              <a:solidFill>
                <a:srgbClr val="FF0000"/>
              </a:solidFill>
            </a:endParaRPr>
          </a:p>
          <a:p>
            <a:pPr marL="0" indent="0" algn="just"/>
            <a:r>
              <a:rPr lang="zh-CN" altLang="zh-CN" b="0" dirty="0"/>
              <a:t>使用平均搜索长度</a:t>
            </a:r>
            <a:r>
              <a:rPr lang="en-US" altLang="zh-CN" b="0" dirty="0"/>
              <a:t>ASL</a:t>
            </a:r>
            <a:r>
              <a:rPr lang="zh-CN" altLang="zh-CN" b="0" dirty="0"/>
              <a:t>来衡量哈希方法的搜索性能，即用搜索成功情况下的平均比较次数来表示。</a:t>
            </a:r>
            <a:endParaRPr lang="en-US" altLang="zh-CN" b="0" dirty="0"/>
          </a:p>
          <a:p>
            <a:pPr marL="0" indent="0" algn="just"/>
            <a:r>
              <a:rPr lang="zh-CN" altLang="zh-CN" b="0" dirty="0"/>
              <a:t>【例</a:t>
            </a:r>
            <a:r>
              <a:rPr lang="en-US" altLang="zh-CN" b="0" dirty="0"/>
              <a:t>8.8</a:t>
            </a:r>
            <a:r>
              <a:rPr lang="zh-CN" altLang="zh-CN" b="0" dirty="0"/>
              <a:t>】</a:t>
            </a:r>
            <a:r>
              <a:rPr lang="zh-CN" altLang="zh-CN" dirty="0"/>
              <a:t>搜索</a:t>
            </a:r>
            <a:r>
              <a:rPr lang="zh-CN" altLang="zh-CN" dirty="0">
                <a:solidFill>
                  <a:srgbClr val="FF0000"/>
                </a:solidFill>
              </a:rPr>
              <a:t>成功</a:t>
            </a:r>
            <a:r>
              <a:rPr lang="zh-CN" altLang="zh-CN" dirty="0"/>
              <a:t>的平均查找长度</a:t>
            </a:r>
            <a:r>
              <a:rPr lang="zh-CN" altLang="zh-CN" b="0" dirty="0"/>
              <a:t>为：</a:t>
            </a:r>
          </a:p>
          <a:p>
            <a:endParaRPr lang="zh-CN" altLang="en-US" dirty="0"/>
          </a:p>
        </p:txBody>
      </p:sp>
      <p:sp>
        <p:nvSpPr>
          <p:cNvPr id="6" name="Rectangle 4">
            <a:extLst>
              <a:ext uri="{FF2B5EF4-FFF2-40B4-BE49-F238E27FC236}">
                <a16:creationId xmlns:a16="http://schemas.microsoft.com/office/drawing/2014/main" id="{AC9AD1DD-4BAC-40F4-B912-BF22934E1DFC}"/>
              </a:ext>
            </a:extLst>
          </p:cNvPr>
          <p:cNvSpPr>
            <a:spLocks noChangeArrowheads="1"/>
          </p:cNvSpPr>
          <p:nvPr/>
        </p:nvSpPr>
        <p:spPr bwMode="auto">
          <a:xfrm>
            <a:off x="0" y="423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5">
            <a:extLst>
              <a:ext uri="{FF2B5EF4-FFF2-40B4-BE49-F238E27FC236}">
                <a16:creationId xmlns:a16="http://schemas.microsoft.com/office/drawing/2014/main" id="{90BF038F-F65A-42B6-BB37-AEFE824D48B6}"/>
              </a:ext>
            </a:extLst>
          </p:cNvPr>
          <p:cNvSpPr>
            <a:spLocks noChangeArrowheads="1"/>
          </p:cNvSpPr>
          <p:nvPr/>
        </p:nvSpPr>
        <p:spPr bwMode="auto">
          <a:xfrm>
            <a:off x="0" y="847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3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9" name="图片 8">
            <a:extLst>
              <a:ext uri="{FF2B5EF4-FFF2-40B4-BE49-F238E27FC236}">
                <a16:creationId xmlns:a16="http://schemas.microsoft.com/office/drawing/2014/main" id="{A4FAC19A-34BB-4144-B1CC-DD758E133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3212976"/>
            <a:ext cx="7272808" cy="930243"/>
          </a:xfrm>
          <a:prstGeom prst="rect">
            <a:avLst/>
          </a:prstGeom>
        </p:spPr>
      </p:pic>
      <p:pic>
        <p:nvPicPr>
          <p:cNvPr id="11" name="图片 10">
            <a:extLst>
              <a:ext uri="{FF2B5EF4-FFF2-40B4-BE49-F238E27FC236}">
                <a16:creationId xmlns:a16="http://schemas.microsoft.com/office/drawing/2014/main" id="{CE7D261F-CAC3-4EBE-A50E-047C10D0B4F8}"/>
              </a:ext>
            </a:extLst>
          </p:cNvPr>
          <p:cNvPicPr/>
          <p:nvPr/>
        </p:nvPicPr>
        <p:blipFill>
          <a:blip r:embed="rId3" cstate="print"/>
          <a:srcRect/>
          <a:stretch>
            <a:fillRect/>
          </a:stretch>
        </p:blipFill>
        <p:spPr bwMode="auto">
          <a:xfrm>
            <a:off x="1331640" y="4293096"/>
            <a:ext cx="2304256" cy="1944216"/>
          </a:xfrm>
          <a:prstGeom prst="rect">
            <a:avLst/>
          </a:prstGeom>
          <a:noFill/>
          <a:ln w="9525">
            <a:noFill/>
            <a:miter lim="800000"/>
            <a:headEnd/>
            <a:tailEnd/>
          </a:ln>
        </p:spPr>
      </p:pic>
    </p:spTree>
    <p:extLst>
      <p:ext uri="{BB962C8B-B14F-4D97-AF65-F5344CB8AC3E}">
        <p14:creationId xmlns:p14="http://schemas.microsoft.com/office/powerpoint/2010/main" val="355926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4464496" cy="4176464"/>
          </a:xfrm>
        </p:spPr>
        <p:txBody>
          <a:bodyPr>
            <a:normAutofit/>
          </a:bodyPr>
          <a:lstStyle/>
          <a:p>
            <a:pPr>
              <a:spcBef>
                <a:spcPts val="1200"/>
              </a:spcBef>
            </a:pPr>
            <a:r>
              <a:rPr lang="zh-CN" altLang="zh-CN" sz="2800" dirty="0">
                <a:solidFill>
                  <a:srgbClr val="FF0000"/>
                </a:solidFill>
              </a:rPr>
              <a:t>（</a:t>
            </a:r>
            <a:r>
              <a:rPr lang="en-US" altLang="zh-CN" sz="2800" dirty="0">
                <a:solidFill>
                  <a:srgbClr val="FF0000"/>
                </a:solidFill>
              </a:rPr>
              <a:t>2</a:t>
            </a:r>
            <a:r>
              <a:rPr lang="zh-CN" altLang="zh-CN" sz="2800" dirty="0">
                <a:solidFill>
                  <a:srgbClr val="FF0000"/>
                </a:solidFill>
              </a:rPr>
              <a:t>）公共溢出区</a:t>
            </a:r>
            <a:r>
              <a:rPr lang="zh-CN" altLang="en-US" sz="2800" dirty="0">
                <a:solidFill>
                  <a:srgbClr val="FF0000"/>
                </a:solidFill>
              </a:rPr>
              <a:t>法</a:t>
            </a:r>
            <a:endParaRPr lang="zh-CN" altLang="zh-CN" sz="2800" dirty="0">
              <a:solidFill>
                <a:srgbClr val="FF0000"/>
              </a:solidFill>
            </a:endParaRPr>
          </a:p>
          <a:p>
            <a:pPr>
              <a:spcBef>
                <a:spcPts val="1200"/>
              </a:spcBef>
              <a:buFont typeface="Wingdings" panose="05000000000000000000" pitchFamily="2" charset="2"/>
              <a:buChar char="n"/>
            </a:pPr>
            <a:r>
              <a:rPr lang="zh-CN" altLang="zh-CN" sz="2000" dirty="0"/>
              <a:t>通过使用</a:t>
            </a:r>
            <a:r>
              <a:rPr lang="zh-CN" altLang="en-US" sz="2000" dirty="0"/>
              <a:t>另外的</a:t>
            </a:r>
            <a:r>
              <a:rPr lang="zh-CN" altLang="zh-CN" sz="2000" dirty="0"/>
              <a:t>一维数组来存储发生冲突的元素，</a:t>
            </a:r>
            <a:r>
              <a:rPr lang="zh-CN" altLang="zh-CN" sz="2000" dirty="0">
                <a:solidFill>
                  <a:srgbClr val="FF0000"/>
                </a:solidFill>
              </a:rPr>
              <a:t>发生冲突的元素在溢出区内依次顺序存放</a:t>
            </a:r>
            <a:r>
              <a:rPr lang="zh-CN" altLang="zh-CN" sz="2000" dirty="0"/>
              <a:t>。</a:t>
            </a:r>
          </a:p>
          <a:p>
            <a:pPr>
              <a:spcBef>
                <a:spcPts val="1200"/>
              </a:spcBef>
              <a:buFont typeface="Wingdings" panose="05000000000000000000" pitchFamily="2" charset="2"/>
              <a:buChar char="n"/>
            </a:pPr>
            <a:r>
              <a:rPr lang="zh-CN" altLang="zh-CN" sz="2000" b="0" dirty="0"/>
              <a:t>假设使用的哈希函数为</a:t>
            </a:r>
            <a:r>
              <a:rPr lang="en-US" altLang="zh-CN" sz="2000" b="0" dirty="0"/>
              <a:t>H(key)=key%7</a:t>
            </a:r>
            <a:r>
              <a:rPr lang="zh-CN" altLang="zh-CN" sz="2000" b="0" dirty="0"/>
              <a:t>，需要插入的元素为</a:t>
            </a:r>
            <a:r>
              <a:rPr lang="en-US" altLang="zh-CN" sz="2000" b="0" dirty="0"/>
              <a:t>8</a:t>
            </a:r>
            <a:r>
              <a:rPr lang="zh-CN" altLang="zh-CN" sz="2000" b="0" dirty="0"/>
              <a:t>，</a:t>
            </a:r>
            <a:r>
              <a:rPr lang="en-US" altLang="zh-CN" sz="2000" b="0" dirty="0"/>
              <a:t>12</a:t>
            </a:r>
            <a:r>
              <a:rPr lang="zh-CN" altLang="zh-CN" sz="2000" b="0" dirty="0"/>
              <a:t>，</a:t>
            </a:r>
            <a:r>
              <a:rPr lang="en-US" altLang="zh-CN" sz="2000" b="0" dirty="0"/>
              <a:t>6</a:t>
            </a:r>
            <a:r>
              <a:rPr lang="zh-CN" altLang="zh-CN" sz="2000" b="0" dirty="0"/>
              <a:t>，</a:t>
            </a:r>
            <a:r>
              <a:rPr lang="en-US" altLang="zh-CN" sz="2000" b="0" dirty="0"/>
              <a:t>10</a:t>
            </a:r>
            <a:r>
              <a:rPr lang="zh-CN" altLang="zh-CN" sz="2000" b="0" dirty="0"/>
              <a:t>，</a:t>
            </a:r>
            <a:r>
              <a:rPr lang="en-US" altLang="zh-CN" sz="2000" b="0" dirty="0"/>
              <a:t>16</a:t>
            </a:r>
            <a:r>
              <a:rPr lang="zh-CN" altLang="zh-CN" sz="2000" b="0" dirty="0"/>
              <a:t>，</a:t>
            </a:r>
            <a:r>
              <a:rPr lang="en-US" altLang="zh-CN" sz="2000" b="0" dirty="0"/>
              <a:t>23</a:t>
            </a:r>
            <a:r>
              <a:rPr lang="zh-CN" altLang="zh-CN" sz="2000" b="0" dirty="0"/>
              <a:t>，</a:t>
            </a:r>
            <a:r>
              <a:rPr lang="en-US" altLang="zh-CN" sz="2000" b="0" dirty="0"/>
              <a:t>36</a:t>
            </a:r>
            <a:r>
              <a:rPr lang="zh-CN" altLang="zh-CN" sz="2000" b="0" dirty="0"/>
              <a:t>，</a:t>
            </a:r>
            <a:r>
              <a:rPr lang="en-US" altLang="zh-CN" sz="2000" b="0" dirty="0"/>
              <a:t>29</a:t>
            </a:r>
            <a:r>
              <a:rPr lang="zh-CN" altLang="zh-CN" sz="2000" b="0" dirty="0"/>
              <a:t>，存储结果如图</a:t>
            </a:r>
            <a:r>
              <a:rPr lang="en-US" altLang="zh-CN" sz="2000" b="0" dirty="0"/>
              <a:t>8-5</a:t>
            </a:r>
            <a:r>
              <a:rPr lang="zh-CN" altLang="zh-CN" sz="2000" b="0" dirty="0"/>
              <a:t>所示。</a:t>
            </a:r>
          </a:p>
          <a:p>
            <a:pPr>
              <a:spcBef>
                <a:spcPts val="1200"/>
              </a:spcBef>
            </a:pPr>
            <a:endParaRPr lang="zh-CN" altLang="en-US" sz="2000"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056" y="1124744"/>
            <a:ext cx="3991719" cy="4189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251520" y="5013176"/>
            <a:ext cx="5136342" cy="461665"/>
          </a:xfrm>
          <a:prstGeom prst="rect">
            <a:avLst/>
          </a:prstGeom>
        </p:spPr>
        <p:txBody>
          <a:bodyPr wrap="none">
            <a:spAutoFit/>
          </a:bodyPr>
          <a:lstStyle/>
          <a:p>
            <a:r>
              <a:rPr lang="zh-CN" altLang="zh-CN" sz="2400" b="1" dirty="0">
                <a:latin typeface="楷体" panose="02010609060101010101" pitchFamily="49" charset="-122"/>
                <a:ea typeface="楷体" panose="02010609060101010101" pitchFamily="49" charset="-122"/>
              </a:rPr>
              <a:t>★注：溢出区长度</a:t>
            </a:r>
            <a:r>
              <a:rPr lang="en-US" altLang="zh-CN" sz="2400" b="1" dirty="0">
                <a:latin typeface="楷体" panose="02010609060101010101" pitchFamily="49" charset="-122"/>
                <a:ea typeface="楷体" panose="02010609060101010101" pitchFamily="49" charset="-122"/>
              </a:rPr>
              <a:t>+1</a:t>
            </a:r>
            <a:r>
              <a:rPr lang="zh-CN" altLang="zh-CN" sz="2400" b="1" dirty="0">
                <a:latin typeface="楷体" panose="02010609060101010101" pitchFamily="49" charset="-122"/>
                <a:ea typeface="楷体" panose="02010609060101010101" pitchFamily="49" charset="-122"/>
              </a:rPr>
              <a:t>为失败的次数。</a:t>
            </a:r>
          </a:p>
        </p:txBody>
      </p:sp>
    </p:spTree>
    <p:extLst>
      <p:ext uri="{BB962C8B-B14F-4D97-AF65-F5344CB8AC3E}">
        <p14:creationId xmlns:p14="http://schemas.microsoft.com/office/powerpoint/2010/main" val="2789548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2</a:t>
            </a:r>
            <a:r>
              <a:rPr lang="zh-CN" altLang="zh-CN" sz="2400" dirty="0"/>
              <a:t>．</a:t>
            </a:r>
            <a:r>
              <a:rPr lang="zh-CN" altLang="zh-CN" sz="2400" b="1" dirty="0">
                <a:solidFill>
                  <a:srgbClr val="FF0000"/>
                </a:solidFill>
              </a:rPr>
              <a:t>封闭哈希</a:t>
            </a:r>
            <a:endParaRPr lang="zh-CN" altLang="en-US" sz="2400" b="1" dirty="0">
              <a:solidFill>
                <a:srgbClr val="FF0000"/>
              </a:solidFill>
            </a:endParaRPr>
          </a:p>
        </p:txBody>
      </p:sp>
      <p:sp>
        <p:nvSpPr>
          <p:cNvPr id="3" name="内容占位符 2"/>
          <p:cNvSpPr>
            <a:spLocks noGrp="1"/>
          </p:cNvSpPr>
          <p:nvPr>
            <p:ph idx="1"/>
          </p:nvPr>
        </p:nvSpPr>
        <p:spPr>
          <a:xfrm>
            <a:off x="827584" y="1628800"/>
            <a:ext cx="7488832" cy="3384375"/>
          </a:xfrm>
        </p:spPr>
        <p:txBody>
          <a:bodyPr/>
          <a:lstStyle/>
          <a:p>
            <a:pPr algn="just"/>
            <a:r>
              <a:rPr lang="zh-CN" altLang="zh-CN" dirty="0">
                <a:solidFill>
                  <a:srgbClr val="FF0000"/>
                </a:solidFill>
              </a:rPr>
              <a:t>（</a:t>
            </a:r>
            <a:r>
              <a:rPr lang="en-US" altLang="zh-CN" dirty="0">
                <a:solidFill>
                  <a:srgbClr val="FF0000"/>
                </a:solidFill>
              </a:rPr>
              <a:t>1</a:t>
            </a:r>
            <a:r>
              <a:rPr lang="zh-CN" altLang="zh-CN" dirty="0">
                <a:solidFill>
                  <a:srgbClr val="FF0000"/>
                </a:solidFill>
              </a:rPr>
              <a:t>）线性探测法</a:t>
            </a:r>
            <a:r>
              <a:rPr lang="zh-CN" altLang="zh-CN" dirty="0"/>
              <a:t>（</a:t>
            </a:r>
            <a:r>
              <a:rPr lang="en-US" altLang="zh-CN" dirty="0"/>
              <a:t>linear probing</a:t>
            </a:r>
            <a:r>
              <a:rPr lang="zh-CN" altLang="zh-CN" dirty="0"/>
              <a:t>）</a:t>
            </a:r>
          </a:p>
          <a:p>
            <a:pPr algn="just">
              <a:spcBef>
                <a:spcPts val="1200"/>
              </a:spcBef>
              <a:buFont typeface="Wingdings" panose="05000000000000000000" pitchFamily="2" charset="2"/>
              <a:buChar char="u"/>
            </a:pPr>
            <a:r>
              <a:rPr lang="zh-CN" altLang="zh-CN" dirty="0"/>
              <a:t>线性探测法从发生冲突的地址单元开始，依次探测下一个地址单元</a:t>
            </a:r>
            <a:r>
              <a:rPr lang="zh-CN" altLang="zh-CN" b="0" dirty="0"/>
              <a:t>（把哈希表看成循环表，用表空间加</a:t>
            </a:r>
            <a:r>
              <a:rPr lang="en-US" altLang="zh-CN" b="0" dirty="0"/>
              <a:t>1</a:t>
            </a:r>
            <a:r>
              <a:rPr lang="zh-CN" altLang="zh-CN" b="0" dirty="0"/>
              <a:t>取模实现），直到遇到一个空闲单元或探测完所有地址单元时为止。</a:t>
            </a:r>
          </a:p>
          <a:p>
            <a:pPr algn="just">
              <a:spcBef>
                <a:spcPts val="1200"/>
              </a:spcBef>
              <a:buFont typeface="Wingdings" panose="05000000000000000000" pitchFamily="2" charset="2"/>
              <a:buChar char="u"/>
            </a:pPr>
            <a:r>
              <a:rPr lang="zh-CN" altLang="zh-CN" b="0" dirty="0"/>
              <a:t>线性探查法用递推公式表示为：</a:t>
            </a:r>
          </a:p>
          <a:p>
            <a:endParaRPr lang="zh-CN" alt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4869160"/>
            <a:ext cx="46196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5689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836712"/>
            <a:ext cx="7992888" cy="3168352"/>
          </a:xfrm>
        </p:spPr>
        <p:txBody>
          <a:bodyPr>
            <a:noAutofit/>
          </a:bodyPr>
          <a:lstStyle/>
          <a:p>
            <a:pPr marL="0" indent="0" algn="just"/>
            <a:r>
              <a:rPr lang="zh-CN" altLang="zh-CN" sz="2000" b="0" dirty="0"/>
              <a:t>【例</a:t>
            </a:r>
            <a:r>
              <a:rPr lang="en-US" altLang="zh-CN" sz="2000" b="0" dirty="0"/>
              <a:t>8.3</a:t>
            </a:r>
            <a:r>
              <a:rPr lang="zh-CN" altLang="zh-CN" sz="2000" b="0" dirty="0"/>
              <a:t>】给出一组关键字集合</a:t>
            </a:r>
            <a:r>
              <a:rPr lang="en-US" altLang="zh-CN" sz="2000" b="0" dirty="0"/>
              <a:t>{28</a:t>
            </a:r>
            <a:r>
              <a:rPr lang="zh-CN" altLang="zh-CN" sz="2000" b="0" dirty="0"/>
              <a:t>，</a:t>
            </a:r>
            <a:r>
              <a:rPr lang="en-US" altLang="zh-CN" sz="2000" b="0" dirty="0"/>
              <a:t>8</a:t>
            </a:r>
            <a:r>
              <a:rPr lang="zh-CN" altLang="zh-CN" sz="2000" b="0" dirty="0"/>
              <a:t>，</a:t>
            </a:r>
            <a:r>
              <a:rPr lang="en-US" altLang="zh-CN" sz="2000" b="0" dirty="0"/>
              <a:t>21</a:t>
            </a:r>
            <a:r>
              <a:rPr lang="zh-CN" altLang="zh-CN" sz="2000" b="0" dirty="0"/>
              <a:t>，</a:t>
            </a:r>
            <a:r>
              <a:rPr lang="en-US" altLang="zh-CN" sz="2000" b="0" dirty="0"/>
              <a:t>22</a:t>
            </a:r>
            <a:r>
              <a:rPr lang="zh-CN" altLang="zh-CN" sz="2000" b="0" dirty="0"/>
              <a:t>，</a:t>
            </a:r>
            <a:r>
              <a:rPr lang="en-US" altLang="zh-CN" sz="2000" b="0" dirty="0"/>
              <a:t>6</a:t>
            </a:r>
            <a:r>
              <a:rPr lang="zh-CN" altLang="zh-CN" sz="2000" b="0" dirty="0"/>
              <a:t>，</a:t>
            </a:r>
            <a:r>
              <a:rPr lang="en-US" altLang="zh-CN" sz="2000" b="0" dirty="0"/>
              <a:t>27}</a:t>
            </a:r>
            <a:r>
              <a:rPr lang="zh-CN" altLang="zh-CN" sz="2000" b="0" dirty="0"/>
              <a:t>，已知哈希表的地址空间为</a:t>
            </a:r>
            <a:r>
              <a:rPr lang="en-US" altLang="zh-CN" sz="2000" b="0" dirty="0"/>
              <a:t>[0..6]</a:t>
            </a:r>
            <a:r>
              <a:rPr lang="zh-CN" altLang="zh-CN" sz="2000" b="0" dirty="0"/>
              <a:t>，采用哈希函数</a:t>
            </a:r>
            <a:r>
              <a:rPr lang="en-US" altLang="zh-CN" sz="2000" b="0" dirty="0"/>
              <a:t>Hash(key)=key%7</a:t>
            </a:r>
            <a:r>
              <a:rPr lang="zh-CN" altLang="zh-CN" sz="2000" b="0" dirty="0"/>
              <a:t>，线性探测法处理冲突，将关键字依次映射到哈希表中</a:t>
            </a:r>
            <a:r>
              <a:rPr lang="zh-CN" altLang="en-US" sz="2000" b="0" dirty="0"/>
              <a:t>。</a:t>
            </a:r>
            <a:endParaRPr lang="en-US" altLang="zh-CN" sz="2000" b="0" dirty="0"/>
          </a:p>
          <a:p>
            <a:pPr algn="just"/>
            <a:r>
              <a:rPr lang="zh-CN" altLang="en-US" sz="2000" b="0" dirty="0"/>
              <a:t>其中：</a:t>
            </a:r>
            <a:endParaRPr lang="en-US" altLang="zh-CN" sz="2000" b="0" dirty="0"/>
          </a:p>
          <a:p>
            <a:pPr algn="just"/>
            <a:r>
              <a:rPr lang="en-US" altLang="zh-CN" sz="2000" b="0" dirty="0"/>
              <a:t>Hash(28)=Hash(21)=0</a:t>
            </a:r>
          </a:p>
          <a:p>
            <a:pPr algn="just"/>
            <a:r>
              <a:rPr lang="en-US" altLang="zh-CN" sz="2000" b="0" dirty="0"/>
              <a:t>Hash(8)=Hash(22)=1</a:t>
            </a:r>
          </a:p>
          <a:p>
            <a:pPr algn="just"/>
            <a:r>
              <a:rPr lang="en-US" altLang="zh-CN" sz="2000" b="0" dirty="0"/>
              <a:t>Hash(6)=Hash(27)=6</a:t>
            </a:r>
            <a:endParaRPr lang="zh-CN" altLang="zh-CN" sz="2000" b="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0032" y="2370073"/>
            <a:ext cx="4032448" cy="3939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467544" y="4725144"/>
            <a:ext cx="3960440" cy="830997"/>
          </a:xfrm>
          <a:prstGeom prst="rect">
            <a:avLst/>
          </a:prstGeom>
        </p:spPr>
        <p:txBody>
          <a:bodyPr wrap="square">
            <a:spAutoFit/>
          </a:bodyPr>
          <a:lstStyle/>
          <a:p>
            <a:r>
              <a:rPr lang="zh-CN" altLang="en-US" sz="2400" dirty="0">
                <a:solidFill>
                  <a:srgbClr val="FF0000"/>
                </a:solidFill>
                <a:latin typeface="Times New Roman" pitchFamily="18" charset="0"/>
                <a:ea typeface="楷体" panose="02010609060101010101" pitchFamily="49" charset="-122"/>
                <a:cs typeface="Times New Roman" pitchFamily="18" charset="0"/>
              </a:rPr>
              <a:t>注：</a:t>
            </a:r>
            <a:r>
              <a:rPr lang="zh-CN" altLang="zh-CN" sz="2400" b="1" dirty="0">
                <a:solidFill>
                  <a:srgbClr val="FF0000"/>
                </a:solidFill>
                <a:latin typeface="Times New Roman" pitchFamily="18" charset="0"/>
                <a:ea typeface="楷体" panose="02010609060101010101" pitchFamily="49" charset="-122"/>
                <a:cs typeface="Times New Roman" pitchFamily="18" charset="0"/>
              </a:rPr>
              <a:t>用线性探测法解决冲突时，容易产生“堆积”现象。</a:t>
            </a:r>
            <a:endParaRPr lang="zh-CN" altLang="en-US" sz="2400" b="1" dirty="0">
              <a:solidFill>
                <a:srgbClr val="FF0000"/>
              </a:solidFill>
              <a:latin typeface="Times New Roman" pitchFamily="18" charset="0"/>
              <a:ea typeface="楷体" panose="02010609060101010101" pitchFamily="49" charset="-122"/>
              <a:cs typeface="Times New Roman" pitchFamily="18" charset="0"/>
            </a:endParaRPr>
          </a:p>
        </p:txBody>
      </p:sp>
    </p:spTree>
    <p:extLst>
      <p:ext uri="{BB962C8B-B14F-4D97-AF65-F5344CB8AC3E}">
        <p14:creationId xmlns:p14="http://schemas.microsoft.com/office/powerpoint/2010/main" val="3015418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2743572"/>
            <a:ext cx="6496050" cy="133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403648" y="4341862"/>
            <a:ext cx="4968552" cy="461665"/>
          </a:xfrm>
          <a:prstGeom prst="rect">
            <a:avLst/>
          </a:prstGeom>
        </p:spPr>
        <p:txBody>
          <a:bodyPr wrap="square">
            <a:spAutoFit/>
          </a:bodyPr>
          <a:lstStyle/>
          <a:p>
            <a:r>
              <a:rPr lang="zh-CN" altLang="zh-CN" sz="2400" dirty="0">
                <a:latin typeface="楷体" panose="02010609060101010101" pitchFamily="49" charset="-122"/>
                <a:ea typeface="楷体" panose="02010609060101010101" pitchFamily="49" charset="-122"/>
                <a:cs typeface="Times New Roman" panose="02020603050405020304" pitchFamily="18" charset="0"/>
              </a:rPr>
              <a:t>所对应</a:t>
            </a:r>
            <a:r>
              <a:rPr lang="zh-CN" altLang="en-US"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查找成功的</a:t>
            </a:r>
            <a:r>
              <a:rPr lang="zh-CN" altLang="zh-CN"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平均查找长度</a:t>
            </a:r>
            <a:r>
              <a:rPr lang="zh-CN" altLang="zh-CN" sz="2400" dirty="0">
                <a:latin typeface="楷体" panose="02010609060101010101" pitchFamily="49" charset="-122"/>
                <a:ea typeface="楷体" panose="02010609060101010101" pitchFamily="49" charset="-122"/>
                <a:cs typeface="Times New Roman" panose="02020603050405020304" pitchFamily="18" charset="0"/>
              </a:rPr>
              <a:t>为：</a:t>
            </a:r>
          </a:p>
        </p:txBody>
      </p:sp>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9322" y="4917926"/>
            <a:ext cx="5920135" cy="1031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827584" y="1124744"/>
            <a:ext cx="7560840" cy="1421928"/>
          </a:xfrm>
          <a:prstGeom prst="rect">
            <a:avLst/>
          </a:prstGeom>
        </p:spPr>
        <p:txBody>
          <a:bodyPr wrap="square">
            <a:spAutoFit/>
          </a:bodyPr>
          <a:lstStyle/>
          <a:p>
            <a:pPr algn="just">
              <a:lnSpc>
                <a:spcPct val="120000"/>
              </a:lnSpc>
              <a:spcBef>
                <a:spcPts val="600"/>
              </a:spcBef>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堆积现象</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将造成不是同一子集的结点也处在同一个探测序列之中，</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产生冲突叠加效应</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从而增加了探测序列的长度，即增加了查找时间。</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32298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11560" y="1214422"/>
            <a:ext cx="7992888" cy="4734858"/>
          </a:xfrm>
        </p:spPr>
        <p:txBody>
          <a:bodyPr>
            <a:normAutofit lnSpcReduction="10000"/>
          </a:bodyPr>
          <a:lstStyle/>
          <a:p>
            <a:pPr marL="0" indent="0" algn="just"/>
            <a:r>
              <a:rPr lang="zh-CN" altLang="en-US" dirty="0">
                <a:solidFill>
                  <a:srgbClr val="FF0000"/>
                </a:solidFill>
              </a:rPr>
              <a:t>（</a:t>
            </a:r>
            <a:r>
              <a:rPr lang="en-US" dirty="0">
                <a:solidFill>
                  <a:srgbClr val="FF0000"/>
                </a:solidFill>
              </a:rPr>
              <a:t>2</a:t>
            </a:r>
            <a:r>
              <a:rPr lang="zh-CN" altLang="en-US" dirty="0">
                <a:solidFill>
                  <a:srgbClr val="FF0000"/>
                </a:solidFill>
              </a:rPr>
              <a:t>）平方探测法</a:t>
            </a:r>
            <a:r>
              <a:rPr lang="zh-CN" altLang="en-US" dirty="0"/>
              <a:t>（</a:t>
            </a:r>
            <a:r>
              <a:rPr lang="en-US" dirty="0"/>
              <a:t>quadratic probing</a:t>
            </a:r>
            <a:r>
              <a:rPr lang="zh-CN" altLang="en-US" dirty="0"/>
              <a:t>）</a:t>
            </a:r>
          </a:p>
          <a:p>
            <a:pPr marL="0" lvl="1" indent="0" algn="just">
              <a:buNone/>
            </a:pPr>
            <a:r>
              <a:rPr lang="zh-CN" altLang="en-US" dirty="0"/>
              <a:t>平方探测法也叫</a:t>
            </a:r>
            <a:r>
              <a:rPr lang="zh-CN" altLang="en-US" b="1" dirty="0">
                <a:solidFill>
                  <a:srgbClr val="FF0000"/>
                </a:solidFill>
              </a:rPr>
              <a:t>二次探测法</a:t>
            </a:r>
            <a:r>
              <a:rPr lang="zh-CN" altLang="en-US" dirty="0"/>
              <a:t>。为了减轻线性探测法产生的局部</a:t>
            </a:r>
            <a:r>
              <a:rPr lang="en-US" dirty="0"/>
              <a:t>“</a:t>
            </a:r>
            <a:r>
              <a:rPr lang="zh-CN" altLang="en-US" dirty="0"/>
              <a:t>堆积</a:t>
            </a:r>
            <a:r>
              <a:rPr lang="en-US" dirty="0"/>
              <a:t>”</a:t>
            </a:r>
            <a:r>
              <a:rPr lang="zh-CN" altLang="en-US" dirty="0"/>
              <a:t>问题。二次探测法采用如下探测方法：</a:t>
            </a:r>
            <a:endParaRPr lang="en-US" altLang="zh-CN" dirty="0"/>
          </a:p>
          <a:p>
            <a:pPr marL="0" lvl="1" indent="0" algn="just">
              <a:buNone/>
            </a:pPr>
            <a:r>
              <a:rPr lang="en-US" altLang="zh-CN" dirty="0"/>
              <a:t>		h</a:t>
            </a:r>
            <a:r>
              <a:rPr lang="en-US" altLang="zh-CN" baseline="-25000" dirty="0"/>
              <a:t>0</a:t>
            </a:r>
            <a:r>
              <a:rPr lang="en-US" altLang="zh-CN" dirty="0"/>
              <a:t> = Hash(key) </a:t>
            </a:r>
          </a:p>
          <a:p>
            <a:pPr marL="0" lvl="1" indent="0" algn="just">
              <a:buNone/>
            </a:pPr>
            <a:r>
              <a:rPr lang="en-US" dirty="0"/>
              <a:t>		h</a:t>
            </a:r>
            <a:r>
              <a:rPr lang="en-US" baseline="-25000" dirty="0"/>
              <a:t>i </a:t>
            </a:r>
            <a:r>
              <a:rPr lang="en-US" dirty="0"/>
              <a:t>= ( h</a:t>
            </a:r>
            <a:r>
              <a:rPr lang="en-US" baseline="-25000" dirty="0"/>
              <a:t>0</a:t>
            </a:r>
            <a:r>
              <a:rPr lang="en-US" dirty="0"/>
              <a:t> + d</a:t>
            </a:r>
            <a:r>
              <a:rPr lang="en-US" baseline="-25000" dirty="0"/>
              <a:t>i</a:t>
            </a:r>
            <a:r>
              <a:rPr lang="en-US" dirty="0"/>
              <a:t> ) % m</a:t>
            </a:r>
            <a:endParaRPr lang="zh-CN" altLang="en-US" dirty="0"/>
          </a:p>
          <a:p>
            <a:pPr marL="0" lvl="1" indent="0" algn="just">
              <a:buNone/>
            </a:pPr>
            <a:r>
              <a:rPr lang="zh-CN" altLang="en-US" b="0" dirty="0"/>
              <a:t>其中：</a:t>
            </a:r>
            <a:r>
              <a:rPr lang="en-US" b="0" dirty="0"/>
              <a:t>Hash(key)</a:t>
            </a:r>
            <a:r>
              <a:rPr lang="zh-CN" altLang="en-US" b="0" dirty="0"/>
              <a:t>为哈希函数；</a:t>
            </a:r>
            <a:endParaRPr lang="en-US" altLang="zh-CN" b="0" dirty="0"/>
          </a:p>
          <a:p>
            <a:pPr marL="0" lvl="1" indent="0" algn="just">
              <a:buNone/>
            </a:pPr>
            <a:r>
              <a:rPr lang="en-US" dirty="0"/>
              <a:t>            </a:t>
            </a:r>
            <a:r>
              <a:rPr lang="en-US" b="0" dirty="0"/>
              <a:t>m</a:t>
            </a:r>
            <a:r>
              <a:rPr lang="zh-CN" altLang="en-US" b="0" dirty="0"/>
              <a:t>为哈希表长度</a:t>
            </a:r>
            <a:r>
              <a:rPr lang="zh-CN" altLang="en-US" dirty="0"/>
              <a:t>。</a:t>
            </a:r>
            <a:endParaRPr lang="en-US" altLang="zh-CN" b="0" dirty="0"/>
          </a:p>
          <a:p>
            <a:pPr marL="0" lvl="1" indent="0" algn="just">
              <a:buNone/>
            </a:pPr>
            <a:r>
              <a:rPr lang="en-US" b="0" dirty="0"/>
              <a:t>	d</a:t>
            </a:r>
            <a:r>
              <a:rPr lang="en-US" b="0" baseline="-25000" dirty="0"/>
              <a:t>i</a:t>
            </a:r>
            <a:r>
              <a:rPr lang="zh-CN" altLang="en-US" b="0" dirty="0"/>
              <a:t>为增量，</a:t>
            </a:r>
            <a:r>
              <a:rPr lang="en-US" b="0" dirty="0" err="1">
                <a:solidFill>
                  <a:srgbClr val="FF0000"/>
                </a:solidFill>
              </a:rPr>
              <a:t>d</a:t>
            </a:r>
            <a:r>
              <a:rPr lang="en-US" b="0" baseline="-25000" dirty="0" err="1">
                <a:solidFill>
                  <a:srgbClr val="FF0000"/>
                </a:solidFill>
              </a:rPr>
              <a:t>i</a:t>
            </a:r>
            <a:r>
              <a:rPr lang="en-US" b="0" dirty="0">
                <a:solidFill>
                  <a:srgbClr val="FF0000"/>
                </a:solidFill>
              </a:rPr>
              <a:t>=i</a:t>
            </a:r>
            <a:r>
              <a:rPr lang="en-US" b="0" baseline="30000" dirty="0">
                <a:solidFill>
                  <a:srgbClr val="FF0000"/>
                </a:solidFill>
              </a:rPr>
              <a:t>2</a:t>
            </a:r>
            <a:r>
              <a:rPr lang="zh-CN" altLang="en-US" b="0" dirty="0"/>
              <a:t>。增量序列为</a:t>
            </a:r>
            <a:r>
              <a:rPr lang="en-US" b="0" dirty="0"/>
              <a:t>1</a:t>
            </a:r>
            <a:r>
              <a:rPr lang="en-US" b="0" baseline="30000" dirty="0"/>
              <a:t>2</a:t>
            </a:r>
            <a:r>
              <a:rPr lang="zh-CN" altLang="en-US" b="0" dirty="0"/>
              <a:t>，</a:t>
            </a:r>
            <a:r>
              <a:rPr lang="en-US" b="0" dirty="0"/>
              <a:t>2</a:t>
            </a:r>
            <a:r>
              <a:rPr lang="en-US" b="0" baseline="30000" dirty="0"/>
              <a:t>2</a:t>
            </a:r>
            <a:r>
              <a:rPr lang="zh-CN" altLang="en-US" b="0" dirty="0"/>
              <a:t>，</a:t>
            </a:r>
            <a:r>
              <a:rPr lang="en-US" b="0" dirty="0"/>
              <a:t>…</a:t>
            </a:r>
            <a:r>
              <a:rPr lang="zh-CN" altLang="en-US" b="0" dirty="0"/>
              <a:t>，</a:t>
            </a:r>
            <a:r>
              <a:rPr lang="en-US" b="0" dirty="0"/>
              <a:t>q</a:t>
            </a:r>
            <a:r>
              <a:rPr lang="en-US" b="0" baseline="30000" dirty="0"/>
              <a:t>2</a:t>
            </a:r>
            <a:r>
              <a:rPr lang="zh-CN" altLang="en-US" b="0" dirty="0"/>
              <a:t>。</a:t>
            </a:r>
          </a:p>
          <a:p>
            <a:pPr marL="896938" indent="-896938" algn="just"/>
            <a:r>
              <a:rPr lang="zh-CN" altLang="en-US" b="0" dirty="0"/>
              <a:t>            或者，</a:t>
            </a:r>
            <a:r>
              <a:rPr lang="en-US" altLang="zh-CN" b="0" dirty="0" err="1"/>
              <a:t>d</a:t>
            </a:r>
            <a:r>
              <a:rPr lang="en-US" altLang="zh-CN" b="0" baseline="-25000" dirty="0" err="1"/>
              <a:t>i</a:t>
            </a:r>
            <a:r>
              <a:rPr lang="zh-CN" altLang="en-US" b="0" dirty="0"/>
              <a:t>为增量，</a:t>
            </a:r>
            <a:r>
              <a:rPr lang="en-US" altLang="zh-CN" b="0" dirty="0" err="1">
                <a:solidFill>
                  <a:srgbClr val="FF0000"/>
                </a:solidFill>
              </a:rPr>
              <a:t>d</a:t>
            </a:r>
            <a:r>
              <a:rPr lang="en-US" altLang="zh-CN" b="0" baseline="-25000" dirty="0" err="1">
                <a:solidFill>
                  <a:srgbClr val="FF0000"/>
                </a:solidFill>
              </a:rPr>
              <a:t>i</a:t>
            </a:r>
            <a:r>
              <a:rPr lang="en-US" altLang="zh-CN" b="0" dirty="0">
                <a:solidFill>
                  <a:srgbClr val="FF0000"/>
                </a:solidFill>
              </a:rPr>
              <a:t>= ± i</a:t>
            </a:r>
            <a:r>
              <a:rPr lang="en-US" altLang="zh-CN" b="0" baseline="30000" dirty="0">
                <a:solidFill>
                  <a:srgbClr val="FF0000"/>
                </a:solidFill>
              </a:rPr>
              <a:t>2</a:t>
            </a:r>
            <a:r>
              <a:rPr lang="zh-CN" altLang="en-US" b="0" dirty="0"/>
              <a:t>。增量序列为</a:t>
            </a:r>
            <a:r>
              <a:rPr lang="en-US" altLang="zh-CN" b="0" dirty="0"/>
              <a:t>1</a:t>
            </a:r>
            <a:r>
              <a:rPr lang="en-US" altLang="zh-CN" b="0" baseline="30000" dirty="0"/>
              <a:t>2</a:t>
            </a:r>
            <a:r>
              <a:rPr lang="en-US" altLang="zh-CN" b="0" dirty="0"/>
              <a:t>, -1</a:t>
            </a:r>
            <a:r>
              <a:rPr lang="en-US" altLang="zh-CN" b="0" baseline="30000" dirty="0"/>
              <a:t>2</a:t>
            </a:r>
            <a:r>
              <a:rPr lang="en-US" altLang="zh-CN" b="0" dirty="0"/>
              <a:t>,2</a:t>
            </a:r>
            <a:r>
              <a:rPr lang="en-US" altLang="zh-CN" b="0" baseline="30000" dirty="0"/>
              <a:t>2</a:t>
            </a:r>
            <a:r>
              <a:rPr lang="en-US" altLang="zh-CN" b="0" dirty="0"/>
              <a:t>,-2</a:t>
            </a:r>
            <a:r>
              <a:rPr lang="en-US" altLang="zh-CN" b="0" baseline="30000" dirty="0"/>
              <a:t>2</a:t>
            </a:r>
            <a:r>
              <a:rPr lang="en-US" altLang="zh-CN" b="0" dirty="0"/>
              <a:t>,…,q</a:t>
            </a:r>
            <a:r>
              <a:rPr lang="en-US" altLang="zh-CN" b="0" baseline="30000" dirty="0"/>
              <a:t>2</a:t>
            </a:r>
            <a:r>
              <a:rPr lang="en-US" altLang="zh-CN" b="0" dirty="0"/>
              <a:t>,-q</a:t>
            </a:r>
            <a:r>
              <a:rPr lang="en-US" altLang="zh-CN" b="0" baseline="30000" dirty="0"/>
              <a:t>2 </a:t>
            </a:r>
            <a:r>
              <a:rPr lang="zh-CN" altLang="en-US" b="0" dirty="0"/>
              <a:t>。</a:t>
            </a:r>
          </a:p>
        </p:txBody>
      </p:sp>
    </p:spTree>
    <p:extLst>
      <p:ext uri="{BB962C8B-B14F-4D97-AF65-F5344CB8AC3E}">
        <p14:creationId xmlns:p14="http://schemas.microsoft.com/office/powerpoint/2010/main" val="4129093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08720"/>
            <a:ext cx="7560840" cy="1296144"/>
          </a:xfrm>
        </p:spPr>
        <p:txBody>
          <a:bodyPr>
            <a:normAutofit/>
          </a:bodyPr>
          <a:lstStyle/>
          <a:p>
            <a:pPr marL="0" indent="0" algn="just"/>
            <a:r>
              <a:rPr lang="zh-CN" altLang="zh-CN" sz="2000" dirty="0"/>
              <a:t>【例</a:t>
            </a:r>
            <a:r>
              <a:rPr lang="en-US" altLang="zh-CN" sz="2000" dirty="0"/>
              <a:t>8.4</a:t>
            </a:r>
            <a:r>
              <a:rPr lang="zh-CN" altLang="zh-CN" sz="2000" dirty="0"/>
              <a:t>】</a:t>
            </a:r>
            <a:r>
              <a:rPr lang="zh-CN" altLang="zh-CN" sz="2000" b="0" dirty="0"/>
              <a:t>对一组记录元素的关键字集合</a:t>
            </a:r>
            <a:r>
              <a:rPr lang="en-US" altLang="zh-CN" sz="2000" b="0" dirty="0"/>
              <a:t>{28</a:t>
            </a:r>
            <a:r>
              <a:rPr lang="zh-CN" altLang="zh-CN" sz="2000" b="0" dirty="0"/>
              <a:t>，</a:t>
            </a:r>
            <a:r>
              <a:rPr lang="en-US" altLang="zh-CN" sz="2000" b="0" dirty="0"/>
              <a:t>8</a:t>
            </a:r>
            <a:r>
              <a:rPr lang="zh-CN" altLang="zh-CN" sz="2000" b="0" dirty="0"/>
              <a:t>，</a:t>
            </a:r>
            <a:r>
              <a:rPr lang="en-US" altLang="zh-CN" sz="2000" b="0" dirty="0"/>
              <a:t>21</a:t>
            </a:r>
            <a:r>
              <a:rPr lang="zh-CN" altLang="zh-CN" sz="2000" b="0" dirty="0"/>
              <a:t>，</a:t>
            </a:r>
            <a:r>
              <a:rPr lang="en-US" altLang="zh-CN" sz="2000" b="0" dirty="0"/>
              <a:t>22</a:t>
            </a:r>
            <a:r>
              <a:rPr lang="zh-CN" altLang="zh-CN" sz="2000" b="0" dirty="0"/>
              <a:t>，</a:t>
            </a:r>
            <a:r>
              <a:rPr lang="en-US" altLang="zh-CN" sz="2000" b="0" dirty="0"/>
              <a:t>6</a:t>
            </a:r>
            <a:r>
              <a:rPr lang="zh-CN" altLang="zh-CN" sz="2000" b="0" dirty="0"/>
              <a:t>，</a:t>
            </a:r>
            <a:r>
              <a:rPr lang="en-US" altLang="zh-CN" sz="2000" b="0" dirty="0"/>
              <a:t>27}</a:t>
            </a:r>
            <a:r>
              <a:rPr lang="zh-CN" altLang="zh-CN" sz="2000" b="0" dirty="0"/>
              <a:t>，哈希函数为</a:t>
            </a:r>
            <a:r>
              <a:rPr lang="en-US" altLang="zh-CN" sz="2000" b="0" dirty="0"/>
              <a:t>Hash(key)=key%7</a:t>
            </a:r>
            <a:r>
              <a:rPr lang="zh-CN" altLang="zh-CN" sz="2000" b="0" dirty="0"/>
              <a:t>。利用二次探测法处理冲突，</a:t>
            </a:r>
            <a:r>
              <a:rPr lang="en-US" altLang="zh-CN" sz="2000" b="0" dirty="0"/>
              <a:t>d</a:t>
            </a:r>
            <a:r>
              <a:rPr lang="en-US" altLang="zh-CN" sz="2000" b="0" baseline="-25000" dirty="0"/>
              <a:t>i</a:t>
            </a:r>
            <a:r>
              <a:rPr lang="en-US" altLang="zh-CN" sz="2000" b="0" dirty="0"/>
              <a:t>=i</a:t>
            </a:r>
            <a:r>
              <a:rPr lang="en-US" altLang="zh-CN" sz="2000" b="0" baseline="30000" dirty="0"/>
              <a:t>2</a:t>
            </a:r>
            <a:r>
              <a:rPr lang="zh-CN" altLang="zh-CN" sz="2000" b="0" dirty="0"/>
              <a:t>，将关键字依次映射到哈希表中。</a:t>
            </a:r>
            <a:endParaRPr lang="zh-CN" altLang="en-US" sz="2000" b="0"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348880"/>
            <a:ext cx="4085423"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9892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2492896"/>
            <a:ext cx="7344816" cy="3579849"/>
          </a:xfrm>
        </p:spPr>
        <p:txBody>
          <a:bodyPr/>
          <a:lstStyle/>
          <a:p>
            <a:r>
              <a:rPr lang="zh-CN" altLang="zh-CN" b="0" dirty="0"/>
              <a:t>采用二次探测法处理冲突时的平均搜索长度为：</a:t>
            </a:r>
          </a:p>
          <a:p>
            <a:endParaRPr lang="en-US" altLang="zh-CN" b="0" dirty="0"/>
          </a:p>
          <a:p>
            <a:endParaRPr lang="en-US" altLang="zh-CN" b="0" dirty="0"/>
          </a:p>
          <a:p>
            <a:endParaRPr lang="en-US" altLang="zh-CN" b="0" dirty="0"/>
          </a:p>
          <a:p>
            <a:pPr marL="0" indent="0" algn="just"/>
            <a:r>
              <a:rPr lang="zh-CN" altLang="en-US" dirty="0">
                <a:solidFill>
                  <a:srgbClr val="FF0000"/>
                </a:solidFill>
              </a:rPr>
              <a:t>注意：</a:t>
            </a:r>
            <a:r>
              <a:rPr lang="zh-CN" altLang="zh-CN" b="0" dirty="0">
                <a:solidFill>
                  <a:srgbClr val="FF0000"/>
                </a:solidFill>
              </a:rPr>
              <a:t>二次探查法虽然部分解决了“堆积”的问题，但是二次探测的缺点</a:t>
            </a:r>
            <a:r>
              <a:rPr lang="zh-CN" altLang="en-US" b="0" dirty="0">
                <a:solidFill>
                  <a:srgbClr val="FF0000"/>
                </a:solidFill>
              </a:rPr>
              <a:t>是</a:t>
            </a:r>
            <a:r>
              <a:rPr lang="zh-CN" altLang="en-US" dirty="0">
                <a:solidFill>
                  <a:srgbClr val="FF0000"/>
                </a:solidFill>
              </a:rPr>
              <a:t>不能保证</a:t>
            </a:r>
            <a:r>
              <a:rPr lang="zh-CN" altLang="zh-CN" b="0" dirty="0">
                <a:solidFill>
                  <a:srgbClr val="FF0000"/>
                </a:solidFill>
              </a:rPr>
              <a:t>探测到整个哈希表的所有位置。</a:t>
            </a: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928913"/>
            <a:ext cx="5942434" cy="1399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212976"/>
            <a:ext cx="6045100" cy="900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49357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8D592-A792-42DF-A3BA-AF3571661195}"/>
              </a:ext>
            </a:extLst>
          </p:cNvPr>
          <p:cNvSpPr>
            <a:spLocks noGrp="1"/>
          </p:cNvSpPr>
          <p:nvPr>
            <p:ph type="title"/>
          </p:nvPr>
        </p:nvSpPr>
        <p:spPr>
          <a:xfrm>
            <a:off x="611560" y="1124744"/>
            <a:ext cx="8136904" cy="4405503"/>
          </a:xfrm>
        </p:spPr>
        <p:txBody>
          <a:bodyPr/>
          <a:lstStyle/>
          <a:p>
            <a:pPr>
              <a:lnSpc>
                <a:spcPct val="150000"/>
              </a:lnSpc>
              <a:spcBef>
                <a:spcPts val="600"/>
              </a:spcBef>
              <a:spcAft>
                <a:spcPts val="600"/>
              </a:spcAft>
            </a:pPr>
            <a:r>
              <a:rPr kumimoji="1" lang="en-US" altLang="zh-CN" sz="2400" dirty="0">
                <a:latin typeface="Consolas" panose="020B0609020204030204" pitchFamily="49" charset="0"/>
                <a:ea typeface="楷体" panose="02010609060101010101" pitchFamily="49" charset="-122"/>
              </a:rPr>
              <a:t>【</a:t>
            </a:r>
            <a:r>
              <a:rPr kumimoji="1" lang="zh-CN" altLang="en-US" sz="2400" dirty="0">
                <a:latin typeface="Consolas" panose="020B0609020204030204" pitchFamily="49" charset="0"/>
                <a:ea typeface="楷体" panose="02010609060101010101" pitchFamily="49" charset="-122"/>
              </a:rPr>
              <a:t>练习</a:t>
            </a:r>
            <a:r>
              <a:rPr kumimoji="1" lang="en-US" altLang="zh-CN" sz="2400" dirty="0">
                <a:latin typeface="Consolas" panose="020B0609020204030204" pitchFamily="49" charset="0"/>
                <a:ea typeface="楷体" panose="02010609060101010101" pitchFamily="49" charset="-122"/>
              </a:rPr>
              <a:t>】</a:t>
            </a:r>
            <a:r>
              <a:rPr kumimoji="1" lang="zh-CN" altLang="en-US" sz="2400" dirty="0">
                <a:latin typeface="Consolas" panose="020B0609020204030204" pitchFamily="49" charset="0"/>
                <a:ea typeface="楷体" panose="02010609060101010101" pitchFamily="49" charset="-122"/>
              </a:rPr>
              <a:t>假设哈希表长度</a:t>
            </a:r>
            <a:r>
              <a:rPr kumimoji="1" lang="en-US" altLang="zh-CN" sz="2400" dirty="0">
                <a:latin typeface="Consolas" panose="020B0609020204030204" pitchFamily="49" charset="0"/>
                <a:ea typeface="楷体" panose="02010609060101010101" pitchFamily="49" charset="-122"/>
              </a:rPr>
              <a:t>m=13</a:t>
            </a:r>
            <a:r>
              <a:rPr kumimoji="1" lang="zh-CN" altLang="en-US" sz="2400" dirty="0">
                <a:latin typeface="Consolas" panose="020B0609020204030204" pitchFamily="49" charset="0"/>
                <a:ea typeface="楷体" panose="02010609060101010101" pitchFamily="49" charset="-122"/>
              </a:rPr>
              <a:t>，采用除留余数法哈希函数为</a:t>
            </a:r>
            <a:r>
              <a:rPr kumimoji="1" lang="en-US" altLang="zh-CN" sz="2400" dirty="0">
                <a:latin typeface="Consolas" panose="020B0609020204030204" pitchFamily="49" charset="0"/>
                <a:ea typeface="楷体" panose="02010609060101010101" pitchFamily="49" charset="-122"/>
              </a:rPr>
              <a:t>H(k) = k mod 13,</a:t>
            </a:r>
            <a:r>
              <a:rPr kumimoji="1" lang="zh-CN" altLang="en-US" sz="2400" dirty="0">
                <a:latin typeface="Consolas" panose="020B0609020204030204" pitchFamily="49" charset="0"/>
                <a:ea typeface="楷体" panose="02010609060101010101" pitchFamily="49" charset="-122"/>
              </a:rPr>
              <a:t>建立如下关键字集合的哈希表：</a:t>
            </a:r>
            <a:r>
              <a:rPr kumimoji="1" lang="en-US" altLang="zh-CN" sz="2400" dirty="0">
                <a:latin typeface="Consolas" panose="020B0609020204030204" pitchFamily="49" charset="0"/>
                <a:ea typeface="楷体" panose="02010609060101010101" pitchFamily="49" charset="-122"/>
              </a:rPr>
              <a:t>(16</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74</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60</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43</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54</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90</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46</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31</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29</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88</a:t>
            </a:r>
            <a:r>
              <a:rPr kumimoji="1" lang="zh-CN" altLang="en-US" sz="2400" dirty="0">
                <a:latin typeface="Consolas" panose="020B0609020204030204" pitchFamily="49" charset="0"/>
                <a:ea typeface="楷体" panose="02010609060101010101" pitchFamily="49" charset="-122"/>
              </a:rPr>
              <a:t>，</a:t>
            </a:r>
            <a:r>
              <a:rPr kumimoji="1" lang="en-US" altLang="zh-CN" sz="2400" dirty="0">
                <a:latin typeface="Consolas" panose="020B0609020204030204" pitchFamily="49" charset="0"/>
                <a:ea typeface="楷体" panose="02010609060101010101" pitchFamily="49" charset="-122"/>
              </a:rPr>
              <a:t>77)</a:t>
            </a:r>
            <a:r>
              <a:rPr kumimoji="1" lang="zh-CN" altLang="en-US" sz="2400" dirty="0">
                <a:latin typeface="Consolas" panose="020B0609020204030204" pitchFamily="49" charset="0"/>
                <a:ea typeface="楷体" panose="02010609060101010101" pitchFamily="49" charset="-122"/>
              </a:rPr>
              <a:t>。 </a:t>
            </a:r>
            <a:br>
              <a:rPr kumimoji="1" lang="en-US" altLang="zh-CN" sz="2400" dirty="0">
                <a:latin typeface="Consolas" panose="020B0609020204030204" pitchFamily="49" charset="0"/>
                <a:ea typeface="楷体" panose="02010609060101010101" pitchFamily="49" charset="-122"/>
              </a:rPr>
            </a:br>
            <a:r>
              <a:rPr kumimoji="1" lang="zh-CN" altLang="en-US" sz="2400" dirty="0">
                <a:latin typeface="Consolas" panose="020B0609020204030204" pitchFamily="49" charset="0"/>
                <a:ea typeface="楷体" panose="02010609060101010101" pitchFamily="49" charset="-122"/>
              </a:rPr>
              <a:t>并采用线性探测法解决冲突。</a:t>
            </a:r>
            <a:br>
              <a:rPr kumimoji="1" lang="en-US" altLang="zh-CN" sz="2400" dirty="0">
                <a:latin typeface="Consolas" panose="020B0609020204030204" pitchFamily="49" charset="0"/>
                <a:ea typeface="楷体" panose="02010609060101010101" pitchFamily="49" charset="-122"/>
                <a:cs typeface="Consolas" panose="020B0609020204030204" pitchFamily="49" charset="0"/>
              </a:rPr>
            </a:br>
            <a:r>
              <a:rPr kumimoji="1" lang="en-US" altLang="zh-CN" sz="2400" dirty="0">
                <a:latin typeface="Consolas" panose="020B0609020204030204" pitchFamily="49" charset="0"/>
                <a:ea typeface="楷体" panose="02010609060101010101" pitchFamily="49" charset="-122"/>
              </a:rPr>
              <a:t>1</a:t>
            </a:r>
            <a:r>
              <a:rPr kumimoji="1" lang="zh-CN" altLang="en-US" sz="2400" dirty="0">
                <a:latin typeface="Consolas" panose="020B0609020204030204" pitchFamily="49" charset="0"/>
                <a:ea typeface="楷体" panose="02010609060101010101" pitchFamily="49" charset="-122"/>
              </a:rPr>
              <a:t>）</a:t>
            </a:r>
            <a:r>
              <a:rPr kumimoji="1" lang="zh-CN" altLang="zh-CN" sz="2400" dirty="0">
                <a:latin typeface="Consolas" panose="020B0609020204030204" pitchFamily="49" charset="0"/>
                <a:ea typeface="楷体" panose="02010609060101010101" pitchFamily="49" charset="-122"/>
              </a:rPr>
              <a:t>请画出建立的</a:t>
            </a:r>
            <a:r>
              <a:rPr kumimoji="1" lang="en-US" altLang="zh-CN" sz="2400" dirty="0">
                <a:latin typeface="Consolas" panose="020B0609020204030204" pitchFamily="49" charset="0"/>
                <a:ea typeface="楷体" panose="02010609060101010101" pitchFamily="49" charset="-122"/>
              </a:rPr>
              <a:t>HASH</a:t>
            </a:r>
            <a:r>
              <a:rPr kumimoji="1" lang="zh-CN" altLang="zh-CN" sz="2400" dirty="0">
                <a:latin typeface="Consolas" panose="020B0609020204030204" pitchFamily="49" charset="0"/>
                <a:ea typeface="楷体" panose="02010609060101010101" pitchFamily="49" charset="-122"/>
              </a:rPr>
              <a:t>表；</a:t>
            </a:r>
            <a:br>
              <a:rPr kumimoji="1" lang="zh-CN" altLang="zh-CN" sz="2400" dirty="0">
                <a:latin typeface="Consolas" panose="020B0609020204030204" pitchFamily="49" charset="0"/>
                <a:ea typeface="楷体" panose="02010609060101010101" pitchFamily="49" charset="-122"/>
              </a:rPr>
            </a:br>
            <a:r>
              <a:rPr kumimoji="1" lang="en-US" altLang="zh-CN" sz="2400" dirty="0">
                <a:latin typeface="Consolas" panose="020B0609020204030204" pitchFamily="49" charset="0"/>
                <a:ea typeface="楷体" panose="02010609060101010101" pitchFamily="49" charset="-122"/>
              </a:rPr>
              <a:t>2</a:t>
            </a:r>
            <a:r>
              <a:rPr kumimoji="1" lang="zh-CN" altLang="zh-CN" sz="2400" dirty="0">
                <a:latin typeface="Consolas" panose="020B0609020204030204" pitchFamily="49" charset="0"/>
                <a:ea typeface="楷体" panose="02010609060101010101" pitchFamily="49" charset="-122"/>
              </a:rPr>
              <a:t>）求出查找各关键字的比较次数；</a:t>
            </a:r>
            <a:br>
              <a:rPr kumimoji="1" lang="zh-CN" altLang="zh-CN" sz="2400" dirty="0">
                <a:latin typeface="Consolas" panose="020B0609020204030204" pitchFamily="49" charset="0"/>
                <a:ea typeface="楷体" panose="02010609060101010101" pitchFamily="49" charset="-122"/>
              </a:rPr>
            </a:br>
            <a:r>
              <a:rPr kumimoji="1" lang="en-US" altLang="zh-CN" sz="2400" dirty="0">
                <a:latin typeface="Consolas" panose="020B0609020204030204" pitchFamily="49" charset="0"/>
                <a:ea typeface="楷体" panose="02010609060101010101" pitchFamily="49" charset="-122"/>
              </a:rPr>
              <a:t>3</a:t>
            </a:r>
            <a:r>
              <a:rPr kumimoji="1" lang="zh-CN" altLang="zh-CN" sz="2400" dirty="0">
                <a:latin typeface="Consolas" panose="020B0609020204030204" pitchFamily="49" charset="0"/>
                <a:ea typeface="楷体" panose="02010609060101010101" pitchFamily="49" charset="-122"/>
              </a:rPr>
              <a:t>）计算在等概率情况下，查找成功的平均查找长度。</a:t>
            </a:r>
            <a:endParaRPr lang="zh-CN" altLang="en-US" sz="2400" dirty="0"/>
          </a:p>
        </p:txBody>
      </p:sp>
    </p:spTree>
    <p:extLst>
      <p:ext uri="{BB962C8B-B14F-4D97-AF65-F5344CB8AC3E}">
        <p14:creationId xmlns:p14="http://schemas.microsoft.com/office/powerpoint/2010/main" val="2747376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30">
            <a:extLst>
              <a:ext uri="{FF2B5EF4-FFF2-40B4-BE49-F238E27FC236}">
                <a16:creationId xmlns:a16="http://schemas.microsoft.com/office/drawing/2014/main" id="{194558C3-45C8-4358-876C-DCA9B082D779}"/>
              </a:ext>
            </a:extLst>
          </p:cNvPr>
          <p:cNvGraphicFramePr>
            <a:graphicFrameLocks noGrp="1"/>
          </p:cNvGraphicFramePr>
          <p:nvPr>
            <p:extLst>
              <p:ext uri="{D42A27DB-BD31-4B8C-83A1-F6EECF244321}">
                <p14:modId xmlns:p14="http://schemas.microsoft.com/office/powerpoint/2010/main" val="3315890870"/>
              </p:ext>
            </p:extLst>
          </p:nvPr>
        </p:nvGraphicFramePr>
        <p:xfrm>
          <a:off x="228600" y="1871662"/>
          <a:ext cx="8686800" cy="1557338"/>
        </p:xfrm>
        <a:graphic>
          <a:graphicData uri="http://schemas.openxmlformats.org/drawingml/2006/table">
            <a:tbl>
              <a:tblPr/>
              <a:tblGrid>
                <a:gridCol w="1219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533400">
                  <a:extLst>
                    <a:ext uri="{9D8B030D-6E8A-4147-A177-3AD203B41FA5}">
                      <a16:colId xmlns:a16="http://schemas.microsoft.com/office/drawing/2014/main" val="20008"/>
                    </a:ext>
                  </a:extLst>
                </a:gridCol>
                <a:gridCol w="533400">
                  <a:extLst>
                    <a:ext uri="{9D8B030D-6E8A-4147-A177-3AD203B41FA5}">
                      <a16:colId xmlns:a16="http://schemas.microsoft.com/office/drawing/2014/main" val="20009"/>
                    </a:ext>
                  </a:extLst>
                </a:gridCol>
                <a:gridCol w="533400">
                  <a:extLst>
                    <a:ext uri="{9D8B030D-6E8A-4147-A177-3AD203B41FA5}">
                      <a16:colId xmlns:a16="http://schemas.microsoft.com/office/drawing/2014/main" val="20010"/>
                    </a:ext>
                  </a:extLst>
                </a:gridCol>
                <a:gridCol w="609600">
                  <a:extLst>
                    <a:ext uri="{9D8B030D-6E8A-4147-A177-3AD203B41FA5}">
                      <a16:colId xmlns:a16="http://schemas.microsoft.com/office/drawing/2014/main" val="20011"/>
                    </a:ext>
                  </a:extLst>
                </a:gridCol>
                <a:gridCol w="533400">
                  <a:extLst>
                    <a:ext uri="{9D8B030D-6E8A-4147-A177-3AD203B41FA5}">
                      <a16:colId xmlns:a16="http://schemas.microsoft.com/office/drawing/2014/main" val="20012"/>
                    </a:ext>
                  </a:extLst>
                </a:gridCol>
                <a:gridCol w="609600">
                  <a:extLst>
                    <a:ext uri="{9D8B030D-6E8A-4147-A177-3AD203B41FA5}">
                      <a16:colId xmlns:a16="http://schemas.microsoft.com/office/drawing/2014/main" val="20013"/>
                    </a:ext>
                  </a:extLst>
                </a:gridCol>
              </a:tblGrid>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下标</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6</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7</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8</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9</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10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11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B0F0"/>
                          </a:solidFill>
                          <a:effectLst/>
                          <a:latin typeface="Consolas" panose="020B0609020204030204" pitchFamily="49" charset="0"/>
                          <a:ea typeface="楷体" panose="02010609060101010101" pitchFamily="49" charset="-122"/>
                          <a:cs typeface="Consolas" panose="020B0609020204030204" pitchFamily="49" charset="0"/>
                        </a:rPr>
                        <a:t>12</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元素</a:t>
                      </a:r>
                      <a:endParaRPr kumimoji="0" lang="en-US" altLang="zh-CN" sz="1800" b="1" i="0" u="none" strike="noStrike" cap="none" normalizeH="0" baseline="0" dirty="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77</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54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16</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43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31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29</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46</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60</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74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88</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90</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40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比较次数</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rgbClr val="3333FF"/>
                          </a:solidFill>
                          <a:effectLst/>
                          <a:latin typeface="Consolas" panose="020B0609020204030204" pitchFamily="49" charset="0"/>
                          <a:ea typeface="楷体" panose="02010609060101010101" pitchFamily="49" charset="-122"/>
                          <a:cs typeface="Consolas" panose="020B0609020204030204" pitchFamily="49" charset="0"/>
                        </a:rPr>
                        <a:t>1</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 name="Text Box 224">
            <a:extLst>
              <a:ext uri="{FF2B5EF4-FFF2-40B4-BE49-F238E27FC236}">
                <a16:creationId xmlns:a16="http://schemas.microsoft.com/office/drawing/2014/main" id="{DAEF9C73-A50B-46D6-85B6-40E4D0E9F92B}"/>
              </a:ext>
            </a:extLst>
          </p:cNvPr>
          <p:cNvSpPr txBox="1">
            <a:spLocks noChangeArrowheads="1"/>
          </p:cNvSpPr>
          <p:nvPr/>
        </p:nvSpPr>
        <p:spPr bwMode="auto">
          <a:xfrm>
            <a:off x="3057484" y="1214422"/>
            <a:ext cx="2714644" cy="400110"/>
          </a:xfrm>
          <a:prstGeom prst="rect">
            <a:avLst/>
          </a:prstGeom>
          <a:noFill/>
          <a:ln w="9525">
            <a:noFill/>
            <a:miter lim="800000"/>
          </a:ln>
          <a:effectLst/>
        </p:spPr>
        <p:txBody>
          <a:bodyPr wrap="square">
            <a:spAutoFit/>
          </a:bodyPr>
          <a:lstStyle/>
          <a:p>
            <a:pPr algn="l" fontAlgn="t">
              <a:spcBef>
                <a:spcPct val="50000"/>
              </a:spcBef>
            </a:pPr>
            <a:r>
              <a:rPr kumimoji="1" lang="zh-CN" altLang="en-US" sz="2000" dirty="0">
                <a:latin typeface="Consolas" panose="020B0609020204030204" pitchFamily="49" charset="0"/>
                <a:ea typeface="仿宋" panose="02010609060101010101" pitchFamily="49" charset="-122"/>
                <a:cs typeface="Consolas" panose="020B0609020204030204" pitchFamily="49" charset="0"/>
              </a:rPr>
              <a:t>哈希表</a:t>
            </a:r>
            <a:r>
              <a:rPr kumimoji="1" lang="en-US" altLang="zh-CN" sz="2000" dirty="0">
                <a:latin typeface="Consolas" panose="020B0609020204030204" pitchFamily="49" charset="0"/>
                <a:ea typeface="仿宋" panose="02010609060101010101" pitchFamily="49" charset="-122"/>
                <a:cs typeface="Consolas" panose="020B0609020204030204" pitchFamily="49" charset="0"/>
              </a:rPr>
              <a:t>ha[0..12]</a:t>
            </a:r>
          </a:p>
        </p:txBody>
      </p:sp>
      <p:grpSp>
        <p:nvGrpSpPr>
          <p:cNvPr id="6" name="组合 12">
            <a:extLst>
              <a:ext uri="{FF2B5EF4-FFF2-40B4-BE49-F238E27FC236}">
                <a16:creationId xmlns:a16="http://schemas.microsoft.com/office/drawing/2014/main" id="{FCD99552-3121-4DAD-B4F3-24A78AAC4AB2}"/>
              </a:ext>
            </a:extLst>
          </p:cNvPr>
          <p:cNvGrpSpPr/>
          <p:nvPr/>
        </p:nvGrpSpPr>
        <p:grpSpPr>
          <a:xfrm>
            <a:off x="1807319" y="3876017"/>
            <a:ext cx="5214974" cy="1464904"/>
            <a:chOff x="1785918" y="4229217"/>
            <a:chExt cx="5214974" cy="1464904"/>
          </a:xfrm>
        </p:grpSpPr>
        <p:sp>
          <p:nvSpPr>
            <p:cNvPr id="7" name="TextBox 4">
              <a:extLst>
                <a:ext uri="{FF2B5EF4-FFF2-40B4-BE49-F238E27FC236}">
                  <a16:creationId xmlns:a16="http://schemas.microsoft.com/office/drawing/2014/main" id="{6611DA35-787A-455A-A2CE-827DBA71C826}"/>
                </a:ext>
              </a:extLst>
            </p:cNvPr>
            <p:cNvSpPr txBox="1"/>
            <p:nvPr/>
          </p:nvSpPr>
          <p:spPr>
            <a:xfrm>
              <a:off x="1785918" y="5108852"/>
              <a:ext cx="1857388" cy="369332"/>
            </a:xfrm>
            <a:prstGeom prst="rect">
              <a:avLst/>
            </a:prstGeom>
            <a:noFill/>
          </p:spPr>
          <p:txBody>
            <a:bodyPr wrap="square" rtlCol="0">
              <a:spAutoFit/>
            </a:bodyPr>
            <a:lstStyle/>
            <a:p>
              <a:r>
                <a:rPr lang="en-US" altLang="zh-CN" dirty="0">
                  <a:latin typeface="Consolas" panose="020B0609020204030204" pitchFamily="49" charset="0"/>
                  <a:ea typeface="楷体" panose="02010609060101010101" pitchFamily="49" charset="-122"/>
                  <a:cs typeface="Consolas" panose="020B0609020204030204" pitchFamily="49" charset="0"/>
                </a:rPr>
                <a:t>ASL=</a:t>
              </a:r>
              <a:endParaRPr lang="zh-CN" altLang="en-US" dirty="0">
                <a:latin typeface="Consolas" panose="020B0609020204030204" pitchFamily="49" charset="0"/>
                <a:ea typeface="楷体" panose="02010609060101010101" pitchFamily="49" charset="-122"/>
                <a:cs typeface="Consolas" panose="020B0609020204030204" pitchFamily="49" charset="0"/>
              </a:endParaRPr>
            </a:p>
          </p:txBody>
        </p:sp>
        <p:sp>
          <p:nvSpPr>
            <p:cNvPr id="8" name="TextBox 5">
              <a:extLst>
                <a:ext uri="{FF2B5EF4-FFF2-40B4-BE49-F238E27FC236}">
                  <a16:creationId xmlns:a16="http://schemas.microsoft.com/office/drawing/2014/main" id="{E72C2B71-DC04-436A-84CE-7B21F2B764E3}"/>
                </a:ext>
              </a:extLst>
            </p:cNvPr>
            <p:cNvSpPr txBox="1"/>
            <p:nvPr/>
          </p:nvSpPr>
          <p:spPr>
            <a:xfrm>
              <a:off x="2571736" y="4814840"/>
              <a:ext cx="3786214" cy="461665"/>
            </a:xfrm>
            <a:prstGeom prst="rect">
              <a:avLst/>
            </a:prstGeom>
            <a:noFill/>
          </p:spPr>
          <p:txBody>
            <a:bodyPr wrap="square" rtlCol="0">
              <a:spAutoFit/>
            </a:bodyPr>
            <a:lstStyle/>
            <a:p>
              <a:r>
                <a:rPr lang="en-US" altLang="zh-CN" dirty="0">
                  <a:latin typeface="Consolas" panose="020B0609020204030204" pitchFamily="49" charset="0"/>
                  <a:cs typeface="Consolas" panose="020B0609020204030204" pitchFamily="49" charset="0"/>
                </a:rPr>
                <a:t>2+1+1+1+1+4+1+1+1+1+1</a:t>
              </a:r>
              <a:endParaRPr lang="zh-CN" altLang="en-US" dirty="0">
                <a:latin typeface="Consolas" panose="020B0609020204030204" pitchFamily="49" charset="0"/>
                <a:cs typeface="Consolas" panose="020B0609020204030204" pitchFamily="49" charset="0"/>
              </a:endParaRPr>
            </a:p>
          </p:txBody>
        </p:sp>
        <p:cxnSp>
          <p:nvCxnSpPr>
            <p:cNvPr id="9" name="直接连接符 8">
              <a:extLst>
                <a:ext uri="{FF2B5EF4-FFF2-40B4-BE49-F238E27FC236}">
                  <a16:creationId xmlns:a16="http://schemas.microsoft.com/office/drawing/2014/main" id="{368AA2AD-5BDA-4D9A-B3AD-6AF6B8B7BD98}"/>
                </a:ext>
              </a:extLst>
            </p:cNvPr>
            <p:cNvCxnSpPr>
              <a:cxnSpLocks/>
            </p:cNvCxnSpPr>
            <p:nvPr/>
          </p:nvCxnSpPr>
          <p:spPr>
            <a:xfrm>
              <a:off x="2500298" y="5261857"/>
              <a:ext cx="3022694" cy="0"/>
            </a:xfrm>
            <a:prstGeom prst="line">
              <a:avLst/>
            </a:prstGeom>
            <a:ln w="28575">
              <a:solidFill>
                <a:srgbClr val="3333FF"/>
              </a:solidFill>
            </a:ln>
          </p:spPr>
          <p:style>
            <a:lnRef idx="1">
              <a:schemeClr val="accent1"/>
            </a:lnRef>
            <a:fillRef idx="0">
              <a:schemeClr val="accent1"/>
            </a:fillRef>
            <a:effectRef idx="0">
              <a:schemeClr val="accent1"/>
            </a:effectRef>
            <a:fontRef idx="minor">
              <a:schemeClr val="tx1"/>
            </a:fontRef>
          </p:style>
        </p:cxnSp>
        <p:sp>
          <p:nvSpPr>
            <p:cNvPr id="10" name="TextBox 8">
              <a:extLst>
                <a:ext uri="{FF2B5EF4-FFF2-40B4-BE49-F238E27FC236}">
                  <a16:creationId xmlns:a16="http://schemas.microsoft.com/office/drawing/2014/main" id="{E9F717DB-A9FD-4C46-94E6-0B454D5731C3}"/>
                </a:ext>
              </a:extLst>
            </p:cNvPr>
            <p:cNvSpPr txBox="1"/>
            <p:nvPr/>
          </p:nvSpPr>
          <p:spPr>
            <a:xfrm>
              <a:off x="3578776" y="5324789"/>
              <a:ext cx="1421852" cy="369332"/>
            </a:xfrm>
            <a:prstGeom prst="rect">
              <a:avLst/>
            </a:prstGeom>
            <a:noFill/>
          </p:spPr>
          <p:txBody>
            <a:bodyPr wrap="square" rtlCol="0">
              <a:spAutoFit/>
            </a:bodyPr>
            <a:lstStyle/>
            <a:p>
              <a:r>
                <a:rPr lang="en-US" altLang="zh-CN" dirty="0">
                  <a:latin typeface="Consolas" panose="020B0609020204030204" pitchFamily="49" charset="0"/>
                  <a:cs typeface="Consolas" panose="020B0609020204030204" pitchFamily="49" charset="0"/>
                </a:rPr>
                <a:t>11</a:t>
              </a:r>
              <a:endParaRPr lang="zh-CN" altLang="en-US" dirty="0">
                <a:latin typeface="Consolas" panose="020B0609020204030204" pitchFamily="49" charset="0"/>
                <a:cs typeface="Consolas" panose="020B0609020204030204" pitchFamily="49" charset="0"/>
              </a:endParaRPr>
            </a:p>
          </p:txBody>
        </p:sp>
        <p:sp>
          <p:nvSpPr>
            <p:cNvPr id="11" name="TextBox 9">
              <a:extLst>
                <a:ext uri="{FF2B5EF4-FFF2-40B4-BE49-F238E27FC236}">
                  <a16:creationId xmlns:a16="http://schemas.microsoft.com/office/drawing/2014/main" id="{930CA6CE-7FCA-4D8F-B6AF-6DBE34DB4E46}"/>
                </a:ext>
              </a:extLst>
            </p:cNvPr>
            <p:cNvSpPr txBox="1"/>
            <p:nvPr/>
          </p:nvSpPr>
          <p:spPr>
            <a:xfrm>
              <a:off x="5715008" y="5093490"/>
              <a:ext cx="1285884" cy="461665"/>
            </a:xfrm>
            <a:prstGeom prst="rect">
              <a:avLst/>
            </a:prstGeom>
            <a:noFill/>
          </p:spPr>
          <p:txBody>
            <a:bodyPr wrap="square" rtlCol="0">
              <a:spAutoFit/>
            </a:bodyPr>
            <a:lstStyle/>
            <a:p>
              <a:r>
                <a:rPr lang="en-US" altLang="zh-CN" dirty="0">
                  <a:latin typeface="Consolas" panose="020B0609020204030204" pitchFamily="49" charset="0"/>
                  <a:cs typeface="Consolas" panose="020B0609020204030204" pitchFamily="49" charset="0"/>
                </a:rPr>
                <a:t>=1.364</a:t>
              </a:r>
              <a:endParaRPr lang="zh-CN" altLang="en-US" dirty="0">
                <a:latin typeface="Consolas" panose="020B0609020204030204" pitchFamily="49" charset="0"/>
                <a:cs typeface="Consolas" panose="020B0609020204030204" pitchFamily="49" charset="0"/>
              </a:endParaRPr>
            </a:p>
          </p:txBody>
        </p:sp>
        <p:sp>
          <p:nvSpPr>
            <p:cNvPr id="12" name="下箭头 15">
              <a:extLst>
                <a:ext uri="{FF2B5EF4-FFF2-40B4-BE49-F238E27FC236}">
                  <a16:creationId xmlns:a16="http://schemas.microsoft.com/office/drawing/2014/main" id="{0D4CBA42-A4FC-45EA-BC6A-4FA5C9FAFE7C}"/>
                </a:ext>
              </a:extLst>
            </p:cNvPr>
            <p:cNvSpPr/>
            <p:nvPr/>
          </p:nvSpPr>
          <p:spPr>
            <a:xfrm>
              <a:off x="3991980" y="4229217"/>
              <a:ext cx="214314" cy="35719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800">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1237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848872" cy="5328592"/>
          </a:xfrm>
        </p:spPr>
        <p:txBody>
          <a:bodyPr>
            <a:normAutofit/>
          </a:bodyPr>
          <a:lstStyle/>
          <a:p>
            <a:pPr algn="just"/>
            <a:r>
              <a:rPr lang="zh-CN" altLang="zh-CN" dirty="0">
                <a:solidFill>
                  <a:srgbClr val="FF0000"/>
                </a:solidFill>
              </a:rPr>
              <a:t>（</a:t>
            </a:r>
            <a:r>
              <a:rPr lang="en-US" altLang="zh-CN" dirty="0">
                <a:solidFill>
                  <a:srgbClr val="FF0000"/>
                </a:solidFill>
              </a:rPr>
              <a:t>3</a:t>
            </a:r>
            <a:r>
              <a:rPr lang="zh-CN" altLang="zh-CN" dirty="0">
                <a:solidFill>
                  <a:srgbClr val="FF0000"/>
                </a:solidFill>
              </a:rPr>
              <a:t>）随机探测法</a:t>
            </a:r>
            <a:r>
              <a:rPr lang="zh-CN" altLang="en-US" dirty="0"/>
              <a:t>（也叫伪随机探测法）</a:t>
            </a:r>
            <a:endParaRPr lang="zh-CN" altLang="zh-CN" dirty="0"/>
          </a:p>
          <a:p>
            <a:pPr algn="just">
              <a:buFont typeface="Wingdings" panose="05000000000000000000" pitchFamily="2" charset="2"/>
              <a:buChar char="ü"/>
            </a:pPr>
            <a:r>
              <a:rPr lang="zh-CN" altLang="zh-CN" b="0" dirty="0"/>
              <a:t>解决线性探测法造成的堆积问题的原则是让哈希表中的每一空位接收下一记录的概率尽可能相等。</a:t>
            </a:r>
            <a:endParaRPr lang="en-US" altLang="zh-CN" b="0" dirty="0"/>
          </a:p>
          <a:p>
            <a:pPr algn="just">
              <a:buFont typeface="Wingdings" panose="05000000000000000000" pitchFamily="2" charset="2"/>
              <a:buChar char="ü"/>
            </a:pPr>
            <a:r>
              <a:rPr lang="zh-CN" altLang="zh-CN" b="0" dirty="0"/>
              <a:t>解决方法之一是采用</a:t>
            </a:r>
            <a:r>
              <a:rPr lang="zh-CN" altLang="en-US" b="0" dirty="0">
                <a:solidFill>
                  <a:srgbClr val="FF0000"/>
                </a:solidFill>
              </a:rPr>
              <a:t>伪</a:t>
            </a:r>
            <a:r>
              <a:rPr lang="zh-CN" altLang="zh-CN" b="0" dirty="0">
                <a:solidFill>
                  <a:srgbClr val="FF0000"/>
                </a:solidFill>
              </a:rPr>
              <a:t>随机探测法来解决冲突</a:t>
            </a:r>
            <a:r>
              <a:rPr lang="zh-CN" altLang="zh-CN" b="0" dirty="0"/>
              <a:t>。此方法产生的再探测地址是从哈希表中随机选取的。</a:t>
            </a:r>
            <a:endParaRPr lang="en-US" altLang="zh-CN" b="0" dirty="0"/>
          </a:p>
          <a:p>
            <a:pPr algn="just">
              <a:buFont typeface="Wingdings" panose="05000000000000000000" pitchFamily="2" charset="2"/>
              <a:buChar char="ü"/>
            </a:pPr>
            <a:r>
              <a:rPr lang="zh-CN" altLang="en-US" b="0" dirty="0"/>
              <a:t>随机</a:t>
            </a:r>
            <a:r>
              <a:rPr lang="zh-CN" altLang="zh-CN" b="0" dirty="0"/>
              <a:t>探查方法的定义如下：</a:t>
            </a:r>
            <a:endParaRPr lang="en-US" altLang="zh-CN" b="0" dirty="0"/>
          </a:p>
          <a:p>
            <a:pPr marL="0" indent="0"/>
            <a:r>
              <a:rPr lang="en-US" altLang="zh-CN" b="0" dirty="0"/>
              <a:t>	h</a:t>
            </a:r>
            <a:r>
              <a:rPr lang="en-US" altLang="zh-CN" b="0" baseline="-25000" dirty="0"/>
              <a:t>0</a:t>
            </a:r>
            <a:r>
              <a:rPr lang="en-US" altLang="zh-CN" b="0" dirty="0"/>
              <a:t> = Hash(key)</a:t>
            </a:r>
          </a:p>
          <a:p>
            <a:r>
              <a:rPr lang="en-US" altLang="zh-CN" b="0" dirty="0"/>
              <a:t>		h</a:t>
            </a:r>
            <a:r>
              <a:rPr lang="en-US" altLang="zh-CN" b="0" baseline="-25000" dirty="0"/>
              <a:t>i </a:t>
            </a:r>
            <a:r>
              <a:rPr lang="en-US" altLang="zh-CN" b="0" dirty="0"/>
              <a:t>= ( h</a:t>
            </a:r>
            <a:r>
              <a:rPr lang="en-US" altLang="zh-CN" b="0" baseline="-25000" dirty="0"/>
              <a:t>0</a:t>
            </a:r>
            <a:r>
              <a:rPr lang="en-US" altLang="zh-CN" b="0" dirty="0"/>
              <a:t> + d</a:t>
            </a:r>
            <a:r>
              <a:rPr lang="en-US" altLang="zh-CN" b="0" baseline="-25000" dirty="0"/>
              <a:t>i </a:t>
            </a:r>
            <a:r>
              <a:rPr lang="en-US" altLang="zh-CN" b="0" dirty="0"/>
              <a:t>) % m</a:t>
            </a:r>
            <a:r>
              <a:rPr lang="zh-CN" altLang="zh-CN" b="0" dirty="0"/>
              <a:t>，</a:t>
            </a:r>
            <a:endParaRPr lang="en-US" altLang="zh-CN" b="0" dirty="0"/>
          </a:p>
          <a:p>
            <a:r>
              <a:rPr lang="en-US" altLang="zh-CN" b="0" dirty="0"/>
              <a:t>		</a:t>
            </a:r>
            <a:r>
              <a:rPr lang="zh-CN" altLang="zh-CN" b="0" dirty="0"/>
              <a:t>其中</a:t>
            </a:r>
            <a:r>
              <a:rPr lang="zh-CN" altLang="en-US" b="0" dirty="0"/>
              <a:t>：</a:t>
            </a:r>
            <a:r>
              <a:rPr lang="en-US" altLang="zh-CN" b="0" dirty="0" err="1"/>
              <a:t>i</a:t>
            </a:r>
            <a:r>
              <a:rPr lang="en-US" altLang="zh-CN" b="0" dirty="0"/>
              <a:t>=1</a:t>
            </a:r>
            <a:r>
              <a:rPr lang="zh-CN" altLang="zh-CN" b="0" dirty="0"/>
              <a:t>，</a:t>
            </a:r>
            <a:r>
              <a:rPr lang="en-US" altLang="zh-CN" b="0" dirty="0"/>
              <a:t>2</a:t>
            </a:r>
            <a:r>
              <a:rPr lang="zh-CN" altLang="zh-CN" b="0" dirty="0"/>
              <a:t>，</a:t>
            </a:r>
            <a:r>
              <a:rPr lang="en-US" altLang="zh-CN" b="0" dirty="0"/>
              <a:t>…</a:t>
            </a:r>
            <a:r>
              <a:rPr lang="zh-CN" altLang="zh-CN" b="0" dirty="0"/>
              <a:t>，</a:t>
            </a:r>
            <a:r>
              <a:rPr lang="en-US" altLang="zh-CN" b="0" dirty="0"/>
              <a:t>k</a:t>
            </a:r>
            <a:r>
              <a:rPr lang="zh-CN" altLang="en-US" b="0" dirty="0"/>
              <a:t>；</a:t>
            </a:r>
            <a:endParaRPr lang="en-US" altLang="zh-CN" b="0" dirty="0"/>
          </a:p>
          <a:p>
            <a:r>
              <a:rPr lang="en-US" altLang="zh-CN" b="0" dirty="0"/>
              <a:t>			</a:t>
            </a:r>
            <a:r>
              <a:rPr lang="en-US" altLang="zh-CN" b="0" dirty="0" err="1"/>
              <a:t>d</a:t>
            </a:r>
            <a:r>
              <a:rPr lang="en-US" altLang="zh-CN" b="0" baseline="-25000" dirty="0" err="1"/>
              <a:t>i</a:t>
            </a:r>
            <a:r>
              <a:rPr lang="zh-CN" altLang="zh-CN" b="0" dirty="0"/>
              <a:t>为一组伪随机数序列</a:t>
            </a:r>
            <a:r>
              <a:rPr lang="en-US" altLang="zh-CN" b="0" dirty="0"/>
              <a:t>(</a:t>
            </a:r>
            <a:r>
              <a:rPr lang="zh-CN" altLang="en-US" b="0" dirty="0"/>
              <a:t>伪随机序列函数</a:t>
            </a:r>
            <a:r>
              <a:rPr lang="en-US" altLang="zh-CN" b="0" dirty="0"/>
              <a:t>)</a:t>
            </a:r>
            <a:r>
              <a:rPr lang="zh-CN" altLang="en-US" b="0" dirty="0"/>
              <a:t>。</a:t>
            </a:r>
            <a:endParaRPr lang="zh-CN" altLang="zh-CN" b="0" dirty="0"/>
          </a:p>
        </p:txBody>
      </p:sp>
    </p:spTree>
    <p:extLst>
      <p:ext uri="{BB962C8B-B14F-4D97-AF65-F5344CB8AC3E}">
        <p14:creationId xmlns:p14="http://schemas.microsoft.com/office/powerpoint/2010/main" val="811647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1844824"/>
            <a:ext cx="8496944" cy="4081117"/>
          </a:xfrm>
          <a:prstGeom prst="rect">
            <a:avLst/>
          </a:prstGeom>
        </p:spPr>
        <p:txBody>
          <a:bodyPr wrap="square">
            <a:spAutoFit/>
          </a:bodyPr>
          <a:lstStyle/>
          <a:p>
            <a:pPr marL="342900" indent="-342900" algn="just">
              <a:lnSpc>
                <a:spcPct val="120000"/>
              </a:lnSpc>
              <a:buFont typeface="Wingdings" panose="05000000000000000000" pitchFamily="2" charset="2"/>
              <a:buChar char="u"/>
            </a:pP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哈希表是一个动态结构</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的查找表。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既可以通过哈希函数和冲突解决方案来实现记录元素的插入，可以进行记录元素的删除。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20000"/>
              </a:lnSpc>
              <a:buFont typeface="Wingdings" panose="05000000000000000000" pitchFamily="2" charset="2"/>
              <a:buChar char="u"/>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如果删除元素是具有冲突的元素，则这个元素被删除后就会破坏查找</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轨迹</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解决方法：伪删除！</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20000"/>
              </a:lnSpc>
              <a:buFont typeface="Wingdings" panose="05000000000000000000" pitchFamily="2" charset="2"/>
              <a:buChar char="u"/>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伪删除是</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在删除</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一个</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元素时要</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在该位置设一个</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墓碑标志</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20000"/>
              </a:lnSpc>
              <a:buFont typeface="Wingdings" panose="05000000000000000000" pitchFamily="2" charset="2"/>
              <a:buChar char="u"/>
            </a:pP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在查找时</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跳过</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墓碑标志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”位置，即</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利用这个标志来查找与其冲突的元素存放位置，从而不会产生信息中断的情况</a:t>
            </a:r>
            <a:r>
              <a:rPr lang="zh-CN" altLang="zh-CN" sz="2400" dirty="0"/>
              <a:t>。</a:t>
            </a:r>
            <a:endParaRPr lang="en-US" altLang="zh-CN" sz="2400" dirty="0"/>
          </a:p>
          <a:p>
            <a:pPr marL="342900" indent="-342900" algn="just">
              <a:lnSpc>
                <a:spcPct val="120000"/>
              </a:lnSpc>
              <a:buFont typeface="Wingdings" panose="05000000000000000000" pitchFamily="2" charset="2"/>
              <a:buChar char="u"/>
            </a:pP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在插入时可利用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墓碑标志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”位置来存放待插入的元素。</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1"/>
          <p:cNvSpPr txBox="1">
            <a:spLocks/>
          </p:cNvSpPr>
          <p:nvPr/>
        </p:nvSpPr>
        <p:spPr>
          <a:xfrm>
            <a:off x="979984" y="1048107"/>
            <a:ext cx="7520940"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黑体" panose="02010609060101010101" pitchFamily="49" charset="-122"/>
                <a:ea typeface="黑体" panose="02010609060101010101" pitchFamily="49" charset="-122"/>
                <a:cs typeface="+mj-cs"/>
              </a:defRPr>
            </a:lvl1pPr>
          </a:lstStyle>
          <a:p>
            <a:r>
              <a:rPr lang="en-US" altLang="zh-CN" sz="2400" dirty="0"/>
              <a:t>3</a:t>
            </a:r>
            <a:r>
              <a:rPr lang="zh-CN" altLang="zh-CN" sz="2400" dirty="0"/>
              <a:t>．</a:t>
            </a:r>
            <a:r>
              <a:rPr lang="zh-CN" altLang="zh-CN" sz="2400" b="1" dirty="0">
                <a:solidFill>
                  <a:srgbClr val="FF0000"/>
                </a:solidFill>
              </a:rPr>
              <a:t>哈希</a:t>
            </a:r>
            <a:r>
              <a:rPr lang="zh-CN" altLang="en-US" sz="2400" b="1" dirty="0">
                <a:solidFill>
                  <a:srgbClr val="FF0000"/>
                </a:solidFill>
              </a:rPr>
              <a:t>表元素删除</a:t>
            </a:r>
          </a:p>
        </p:txBody>
      </p:sp>
    </p:spTree>
    <p:extLst>
      <p:ext uri="{BB962C8B-B14F-4D97-AF65-F5344CB8AC3E}">
        <p14:creationId xmlns:p14="http://schemas.microsoft.com/office/powerpoint/2010/main" val="23803051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548680"/>
            <a:ext cx="7520940" cy="548640"/>
          </a:xfrm>
        </p:spPr>
        <p:txBody>
          <a:bodyPr/>
          <a:lstStyle/>
          <a:p>
            <a:r>
              <a:rPr lang="en-US" altLang="zh-CN" b="1" dirty="0"/>
              <a:t>8.3.3 </a:t>
            </a:r>
            <a:r>
              <a:rPr lang="zh-CN" altLang="zh-CN" b="1" dirty="0"/>
              <a:t>哈希表的实现</a:t>
            </a:r>
            <a:endParaRPr lang="zh-CN" altLang="en-US" dirty="0"/>
          </a:p>
        </p:txBody>
      </p:sp>
      <p:sp>
        <p:nvSpPr>
          <p:cNvPr id="3" name="内容占位符 2"/>
          <p:cNvSpPr>
            <a:spLocks noGrp="1"/>
          </p:cNvSpPr>
          <p:nvPr>
            <p:ph idx="1"/>
          </p:nvPr>
        </p:nvSpPr>
        <p:spPr>
          <a:xfrm>
            <a:off x="1259632" y="1052736"/>
            <a:ext cx="7488832" cy="5328592"/>
          </a:xfrm>
        </p:spPr>
        <p:txBody>
          <a:bodyPr>
            <a:noAutofit/>
          </a:bodyPr>
          <a:lstStyle/>
          <a:p>
            <a:pPr>
              <a:spcBef>
                <a:spcPts val="0"/>
              </a:spcBef>
            </a:pPr>
            <a:r>
              <a:rPr lang="zh-CN" altLang="zh-CN" sz="1600" dirty="0"/>
              <a:t>算法</a:t>
            </a:r>
            <a:r>
              <a:rPr lang="en-US" altLang="zh-CN" sz="1600" dirty="0"/>
              <a:t>8.6</a:t>
            </a:r>
            <a:r>
              <a:rPr lang="zh-CN" altLang="zh-CN" sz="1600" dirty="0"/>
              <a:t>： </a:t>
            </a:r>
            <a:r>
              <a:rPr lang="zh-CN" altLang="zh-CN" sz="1600" dirty="0">
                <a:solidFill>
                  <a:srgbClr val="FF0000"/>
                </a:solidFill>
              </a:rPr>
              <a:t>哈希表的类的声明以及部分函数实现</a:t>
            </a:r>
          </a:p>
          <a:p>
            <a:pPr>
              <a:spcBef>
                <a:spcPts val="0"/>
              </a:spcBef>
            </a:pPr>
            <a:r>
              <a:rPr lang="en-US" altLang="zh-CN" sz="1600" b="0" dirty="0" err="1"/>
              <a:t>struct</a:t>
            </a:r>
            <a:r>
              <a:rPr lang="en-US" altLang="zh-CN" sz="1600" b="0" dirty="0"/>
              <a:t> Element {                //</a:t>
            </a:r>
            <a:r>
              <a:rPr lang="zh-CN" altLang="zh-CN" sz="1600" b="0" dirty="0"/>
              <a:t>记录的定义</a:t>
            </a:r>
          </a:p>
          <a:p>
            <a:pPr>
              <a:spcBef>
                <a:spcPts val="0"/>
              </a:spcBef>
            </a:pPr>
            <a:r>
              <a:rPr lang="en-US" altLang="zh-CN" sz="1600" b="0" dirty="0"/>
              <a:t>	</a:t>
            </a:r>
            <a:r>
              <a:rPr lang="en-US" altLang="zh-CN" sz="1600" b="0" dirty="0" err="1"/>
              <a:t>KeyType</a:t>
            </a:r>
            <a:r>
              <a:rPr lang="en-US" altLang="zh-CN" sz="1600" b="0" dirty="0"/>
              <a:t> key;             //</a:t>
            </a:r>
            <a:r>
              <a:rPr lang="zh-CN" altLang="zh-CN" sz="1600" b="0" dirty="0"/>
              <a:t>关键字</a:t>
            </a:r>
          </a:p>
          <a:p>
            <a:pPr>
              <a:spcBef>
                <a:spcPts val="0"/>
              </a:spcBef>
            </a:pPr>
            <a:r>
              <a:rPr lang="en-US" altLang="zh-CN" sz="1600" b="0" dirty="0"/>
              <a:t>	field </a:t>
            </a:r>
            <a:r>
              <a:rPr lang="en-US" altLang="zh-CN" sz="1600" b="0" dirty="0" err="1"/>
              <a:t>otherdata</a:t>
            </a:r>
            <a:r>
              <a:rPr lang="en-US" altLang="zh-CN" sz="1600" b="0" dirty="0"/>
              <a:t>;           //</a:t>
            </a:r>
            <a:r>
              <a:rPr lang="zh-CN" altLang="zh-CN" sz="1600" b="0" dirty="0"/>
              <a:t>其他域</a:t>
            </a:r>
          </a:p>
          <a:p>
            <a:pPr>
              <a:spcBef>
                <a:spcPts val="0"/>
              </a:spcBef>
            </a:pPr>
            <a:r>
              <a:rPr lang="en-US" altLang="zh-CN" sz="1600" b="0" dirty="0"/>
              <a:t>};</a:t>
            </a:r>
            <a:endParaRPr lang="zh-CN" altLang="zh-CN" sz="1600" b="0" dirty="0"/>
          </a:p>
          <a:p>
            <a:pPr>
              <a:spcBef>
                <a:spcPts val="0"/>
              </a:spcBef>
            </a:pPr>
            <a:r>
              <a:rPr lang="en-US" altLang="zh-CN" sz="1600" b="0" dirty="0"/>
              <a:t>class </a:t>
            </a:r>
            <a:r>
              <a:rPr lang="en-US" altLang="zh-CN" sz="1600" b="0" dirty="0" err="1"/>
              <a:t>HashList</a:t>
            </a:r>
            <a:r>
              <a:rPr lang="en-US" altLang="zh-CN" sz="1600" b="0" dirty="0"/>
              <a:t>{                 //</a:t>
            </a:r>
            <a:r>
              <a:rPr lang="zh-CN" altLang="zh-CN" sz="1600" b="0" dirty="0"/>
              <a:t>用线性探查法处理冲突时哈希表类型的定义</a:t>
            </a:r>
          </a:p>
          <a:p>
            <a:pPr>
              <a:spcBef>
                <a:spcPts val="0"/>
              </a:spcBef>
            </a:pPr>
            <a:r>
              <a:rPr lang="en-US" altLang="zh-CN" sz="1600" b="0" dirty="0"/>
              <a:t>private:</a:t>
            </a:r>
            <a:endParaRPr lang="zh-CN" altLang="zh-CN" sz="1600" b="0" dirty="0"/>
          </a:p>
          <a:p>
            <a:pPr>
              <a:spcBef>
                <a:spcPts val="0"/>
              </a:spcBef>
            </a:pPr>
            <a:r>
              <a:rPr lang="en-US" altLang="zh-CN" sz="1600" b="0" dirty="0"/>
              <a:t>      Element *HT;                            //</a:t>
            </a:r>
            <a:r>
              <a:rPr lang="zh-CN" altLang="zh-CN" sz="1600" b="0" dirty="0"/>
              <a:t>哈希表存储数组</a:t>
            </a:r>
          </a:p>
          <a:p>
            <a:pPr>
              <a:spcBef>
                <a:spcPts val="0"/>
              </a:spcBef>
            </a:pPr>
            <a:r>
              <a:rPr lang="en-US" altLang="zh-CN" sz="1600" b="0" dirty="0"/>
              <a:t>      </a:t>
            </a:r>
            <a:r>
              <a:rPr lang="en-US" altLang="zh-CN" sz="1600" b="0" dirty="0" err="1"/>
              <a:t>int</a:t>
            </a:r>
            <a:r>
              <a:rPr lang="en-US" altLang="zh-CN" sz="1600" b="0" dirty="0"/>
              <a:t>  </a:t>
            </a:r>
            <a:r>
              <a:rPr lang="en-US" altLang="zh-CN" sz="1600" b="0" dirty="0" err="1"/>
              <a:t>CurrentSize</a:t>
            </a:r>
            <a:r>
              <a:rPr lang="en-US" altLang="zh-CN" sz="1600" b="0" dirty="0"/>
              <a:t>, </a:t>
            </a:r>
            <a:r>
              <a:rPr lang="en-US" altLang="zh-CN" sz="1600" b="0" dirty="0" err="1"/>
              <a:t>MaxSize</a:t>
            </a:r>
            <a:r>
              <a:rPr lang="en-US" altLang="zh-CN" sz="1600" b="0" dirty="0"/>
              <a:t>;        //</a:t>
            </a:r>
            <a:r>
              <a:rPr lang="zh-CN" altLang="zh-CN" sz="1600" b="0" dirty="0"/>
              <a:t>当前哈希地址数及最大地址数</a:t>
            </a:r>
          </a:p>
          <a:p>
            <a:pPr>
              <a:spcBef>
                <a:spcPts val="0"/>
              </a:spcBef>
            </a:pPr>
            <a:r>
              <a:rPr lang="en-US" altLang="zh-CN" sz="1600" b="0" dirty="0"/>
              <a:t>public:</a:t>
            </a:r>
            <a:endParaRPr lang="zh-CN" altLang="zh-CN" sz="1600" b="0" dirty="0"/>
          </a:p>
          <a:p>
            <a:pPr>
              <a:spcBef>
                <a:spcPts val="0"/>
              </a:spcBef>
            </a:pPr>
            <a:r>
              <a:rPr lang="en-US" altLang="zh-CN" sz="1600" b="0" dirty="0"/>
              <a:t>      </a:t>
            </a:r>
            <a:r>
              <a:rPr lang="en-US" altLang="zh-CN" sz="1600" b="0" dirty="0" err="1"/>
              <a:t>HashList</a:t>
            </a:r>
            <a:r>
              <a:rPr lang="en-US" altLang="zh-CN" sz="1600" b="0" dirty="0"/>
              <a:t>(</a:t>
            </a:r>
            <a:r>
              <a:rPr lang="en-US" altLang="zh-CN" sz="1600" b="0" dirty="0" err="1"/>
              <a:t>int</a:t>
            </a:r>
            <a:r>
              <a:rPr lang="en-US" altLang="zh-CN" sz="1600" b="0" dirty="0"/>
              <a:t> </a:t>
            </a:r>
            <a:r>
              <a:rPr lang="en-US" altLang="zh-CN" sz="1600" b="0" dirty="0" err="1"/>
              <a:t>MaxSz</a:t>
            </a:r>
            <a:r>
              <a:rPr lang="en-US" altLang="zh-CN" sz="1600" b="0" dirty="0"/>
              <a:t>=</a:t>
            </a:r>
            <a:r>
              <a:rPr lang="en-US" altLang="zh-CN" sz="1600" b="0" dirty="0" err="1"/>
              <a:t>DefaultSize</a:t>
            </a:r>
            <a:r>
              <a:rPr lang="en-US" altLang="zh-CN" sz="1600" b="0" dirty="0"/>
              <a:t>); //</a:t>
            </a:r>
            <a:r>
              <a:rPr lang="zh-CN" altLang="zh-CN" sz="1600" b="0" dirty="0"/>
              <a:t>构造函数</a:t>
            </a:r>
          </a:p>
          <a:p>
            <a:pPr>
              <a:spcBef>
                <a:spcPts val="0"/>
              </a:spcBef>
            </a:pPr>
            <a:r>
              <a:rPr lang="en-US" altLang="zh-CN" sz="1600" b="0" dirty="0"/>
              <a:t>      ~</a:t>
            </a:r>
            <a:r>
              <a:rPr lang="en-US" altLang="zh-CN" sz="1600" b="0" dirty="0" err="1"/>
              <a:t>HashList</a:t>
            </a:r>
            <a:r>
              <a:rPr lang="en-US" altLang="zh-CN" sz="1600" b="0" dirty="0"/>
              <a:t>(){ delete [] HT; }	         //</a:t>
            </a:r>
            <a:r>
              <a:rPr lang="zh-CN" altLang="en-US" sz="1600" b="0" dirty="0"/>
              <a:t>析构</a:t>
            </a:r>
            <a:r>
              <a:rPr lang="zh-CN" altLang="zh-CN" sz="1600" b="0" dirty="0"/>
              <a:t>函数</a:t>
            </a:r>
          </a:p>
          <a:p>
            <a:pPr>
              <a:spcBef>
                <a:spcPts val="0"/>
              </a:spcBef>
            </a:pPr>
            <a:r>
              <a:rPr lang="en-US" altLang="zh-CN" sz="1600" b="0" dirty="0"/>
              <a:t>      void </a:t>
            </a:r>
            <a:r>
              <a:rPr lang="en-US" altLang="zh-CN" sz="1600" b="0" dirty="0" err="1"/>
              <a:t>ClearHashList</a:t>
            </a:r>
            <a:r>
              <a:rPr lang="en-US" altLang="zh-CN" sz="1600" b="0" dirty="0"/>
              <a:t>();                      //</a:t>
            </a:r>
            <a:r>
              <a:rPr lang="zh-CN" altLang="zh-CN" sz="1600" b="0" dirty="0"/>
              <a:t>清空哈希表的函数</a:t>
            </a:r>
          </a:p>
          <a:p>
            <a:pPr>
              <a:spcBef>
                <a:spcPts val="0"/>
              </a:spcBef>
            </a:pPr>
            <a:r>
              <a:rPr lang="en-US" altLang="zh-CN" sz="1600" b="0" dirty="0"/>
              <a:t>      bool Insert(Element item);     //</a:t>
            </a:r>
            <a:r>
              <a:rPr lang="zh-CN" altLang="zh-CN" sz="1600" b="0" dirty="0"/>
              <a:t>哈希表</a:t>
            </a:r>
            <a:r>
              <a:rPr lang="en-US" altLang="zh-CN" sz="1600" b="0" dirty="0"/>
              <a:t>HT</a:t>
            </a:r>
            <a:r>
              <a:rPr lang="zh-CN" altLang="zh-CN" sz="1600" b="0" dirty="0"/>
              <a:t>中插入一个元素</a:t>
            </a:r>
            <a:r>
              <a:rPr lang="en-US" altLang="zh-CN" sz="1600" b="0" dirty="0"/>
              <a:t>item</a:t>
            </a:r>
            <a:endParaRPr lang="zh-CN" altLang="zh-CN" sz="1600" b="0" dirty="0"/>
          </a:p>
          <a:p>
            <a:pPr>
              <a:spcBef>
                <a:spcPts val="0"/>
              </a:spcBef>
            </a:pPr>
            <a:r>
              <a:rPr lang="en-US" altLang="zh-CN" sz="1600" b="0" dirty="0"/>
              <a:t>      int Search(</a:t>
            </a:r>
            <a:r>
              <a:rPr lang="en-US" altLang="zh-CN" sz="1600" b="0" dirty="0" err="1"/>
              <a:t>KeyType</a:t>
            </a:r>
            <a:r>
              <a:rPr lang="en-US" altLang="zh-CN" sz="1600" b="0" dirty="0"/>
              <a:t> x);          //</a:t>
            </a:r>
            <a:r>
              <a:rPr lang="zh-CN" altLang="zh-CN" sz="1600" b="0" dirty="0"/>
              <a:t>从哈希表</a:t>
            </a:r>
            <a:r>
              <a:rPr lang="en-US" altLang="zh-CN" sz="1600" b="0" dirty="0"/>
              <a:t>HT</a:t>
            </a:r>
            <a:r>
              <a:rPr lang="zh-CN" altLang="zh-CN" sz="1600" b="0" dirty="0"/>
              <a:t>中查找元素，返回该元素的下标位置</a:t>
            </a:r>
          </a:p>
          <a:p>
            <a:pPr>
              <a:spcBef>
                <a:spcPts val="0"/>
              </a:spcBef>
            </a:pPr>
            <a:r>
              <a:rPr lang="en-US" altLang="zh-CN" sz="1600" b="0" dirty="0"/>
              <a:t>      bool Delete(</a:t>
            </a:r>
            <a:r>
              <a:rPr lang="en-US" altLang="zh-CN" sz="1600" b="0" dirty="0" err="1"/>
              <a:t>KeyType</a:t>
            </a:r>
            <a:r>
              <a:rPr lang="en-US" altLang="zh-CN" sz="1600" b="0" dirty="0"/>
              <a:t> x);       //</a:t>
            </a:r>
            <a:r>
              <a:rPr lang="zh-CN" altLang="zh-CN" sz="1600" b="0" dirty="0"/>
              <a:t>从哈希表</a:t>
            </a:r>
            <a:r>
              <a:rPr lang="en-US" altLang="zh-CN" sz="1600" b="0" dirty="0"/>
              <a:t>HT</a:t>
            </a:r>
            <a:r>
              <a:rPr lang="zh-CN" altLang="zh-CN" sz="1600" b="0" dirty="0"/>
              <a:t>中删除元素</a:t>
            </a:r>
          </a:p>
          <a:p>
            <a:pPr>
              <a:spcBef>
                <a:spcPts val="0"/>
              </a:spcBef>
            </a:pPr>
            <a:r>
              <a:rPr lang="en-US" altLang="zh-CN" sz="1600" b="0" dirty="0"/>
              <a:t>      void Create(</a:t>
            </a:r>
            <a:r>
              <a:rPr lang="en-US" altLang="zh-CN" sz="1600" b="0" dirty="0" err="1"/>
              <a:t>int</a:t>
            </a:r>
            <a:r>
              <a:rPr lang="en-US" altLang="zh-CN" sz="1600" b="0" dirty="0"/>
              <a:t> </a:t>
            </a:r>
            <a:r>
              <a:rPr lang="en-US" altLang="zh-CN" sz="1600" b="0" dirty="0" err="1"/>
              <a:t>num</a:t>
            </a:r>
            <a:r>
              <a:rPr lang="en-US" altLang="zh-CN" sz="1600" b="0" dirty="0"/>
              <a:t>);            //</a:t>
            </a:r>
            <a:r>
              <a:rPr lang="zh-CN" altLang="zh-CN" sz="1600" b="0" dirty="0"/>
              <a:t>建立哈希表</a:t>
            </a:r>
            <a:r>
              <a:rPr lang="en-US" altLang="zh-CN" sz="1600" b="0" dirty="0"/>
              <a:t>HT</a:t>
            </a:r>
            <a:endParaRPr lang="zh-CN" altLang="zh-CN" sz="1600" b="0" dirty="0"/>
          </a:p>
          <a:p>
            <a:pPr>
              <a:spcBef>
                <a:spcPts val="0"/>
              </a:spcBef>
            </a:pPr>
            <a:r>
              <a:rPr lang="en-US" altLang="zh-CN" sz="1600" b="0" dirty="0"/>
              <a:t>}</a:t>
            </a:r>
            <a:r>
              <a:rPr lang="zh-CN" altLang="zh-CN" sz="1600" b="0" dirty="0"/>
              <a:t>；</a:t>
            </a:r>
          </a:p>
          <a:p>
            <a:pPr>
              <a:spcBef>
                <a:spcPts val="0"/>
              </a:spcBef>
            </a:pPr>
            <a:endParaRPr lang="zh-CN" altLang="en-US" sz="1600" dirty="0"/>
          </a:p>
        </p:txBody>
      </p:sp>
    </p:spTree>
    <p:extLst>
      <p:ext uri="{BB962C8B-B14F-4D97-AF65-F5344CB8AC3E}">
        <p14:creationId xmlns:p14="http://schemas.microsoft.com/office/powerpoint/2010/main" val="15096166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87624" y="836712"/>
            <a:ext cx="7520940" cy="5256584"/>
          </a:xfrm>
        </p:spPr>
        <p:txBody>
          <a:bodyPr>
            <a:normAutofit fontScale="92500" lnSpcReduction="10000"/>
          </a:bodyPr>
          <a:lstStyle/>
          <a:p>
            <a:pPr>
              <a:spcBef>
                <a:spcPts val="0"/>
              </a:spcBef>
            </a:pPr>
            <a:r>
              <a:rPr lang="en-US" altLang="zh-CN" b="0" dirty="0" err="1"/>
              <a:t>HashList</a:t>
            </a:r>
            <a:r>
              <a:rPr lang="en-US" altLang="zh-CN" b="0" dirty="0"/>
              <a:t> :: </a:t>
            </a:r>
            <a:r>
              <a:rPr lang="en-US" altLang="zh-CN" b="0" dirty="0" err="1"/>
              <a:t>HashList</a:t>
            </a:r>
            <a:r>
              <a:rPr lang="en-US" altLang="zh-CN" b="0" dirty="0"/>
              <a:t>(</a:t>
            </a:r>
            <a:r>
              <a:rPr lang="en-US" altLang="zh-CN" b="0" dirty="0" err="1"/>
              <a:t>int</a:t>
            </a:r>
            <a:r>
              <a:rPr lang="en-US" altLang="zh-CN" b="0" dirty="0"/>
              <a:t> </a:t>
            </a:r>
            <a:r>
              <a:rPr lang="en-US" altLang="zh-CN" b="0" dirty="0" err="1"/>
              <a:t>MaxSz</a:t>
            </a:r>
            <a:r>
              <a:rPr lang="en-US" altLang="zh-CN" b="0" dirty="0"/>
              <a:t>){    </a:t>
            </a:r>
            <a:r>
              <a:rPr lang="en-US" altLang="zh-CN" b="0" dirty="0">
                <a:solidFill>
                  <a:srgbClr val="FF0000"/>
                </a:solidFill>
              </a:rPr>
              <a:t>//</a:t>
            </a:r>
            <a:r>
              <a:rPr lang="zh-CN" altLang="zh-CN" b="0" dirty="0">
                <a:solidFill>
                  <a:srgbClr val="FF0000"/>
                </a:solidFill>
              </a:rPr>
              <a:t>构造函数</a:t>
            </a:r>
          </a:p>
          <a:p>
            <a:pPr>
              <a:spcBef>
                <a:spcPts val="0"/>
              </a:spcBef>
            </a:pPr>
            <a:r>
              <a:rPr lang="en-US" altLang="zh-CN" b="0" dirty="0"/>
              <a:t>      HT=new Element[</a:t>
            </a:r>
            <a:r>
              <a:rPr lang="en-US" altLang="zh-CN" b="0" dirty="0" err="1"/>
              <a:t>MaxSz</a:t>
            </a:r>
            <a:r>
              <a:rPr lang="en-US" altLang="zh-CN" b="0" dirty="0"/>
              <a:t>];</a:t>
            </a:r>
            <a:endParaRPr lang="zh-CN" altLang="zh-CN" b="0" dirty="0"/>
          </a:p>
          <a:p>
            <a:pPr>
              <a:spcBef>
                <a:spcPts val="0"/>
              </a:spcBef>
            </a:pPr>
            <a:r>
              <a:rPr lang="en-US" altLang="zh-CN" b="0" dirty="0"/>
              <a:t>      </a:t>
            </a:r>
            <a:r>
              <a:rPr lang="en-US" altLang="zh-CN" b="0" dirty="0" err="1"/>
              <a:t>MaxSize</a:t>
            </a:r>
            <a:r>
              <a:rPr lang="en-US" altLang="zh-CN" b="0" dirty="0"/>
              <a:t>=</a:t>
            </a:r>
            <a:r>
              <a:rPr lang="en-US" altLang="zh-CN" b="0" dirty="0" err="1"/>
              <a:t>MaxSz</a:t>
            </a:r>
            <a:r>
              <a:rPr lang="en-US" altLang="zh-CN" b="0" dirty="0"/>
              <a:t>;</a:t>
            </a:r>
            <a:endParaRPr lang="zh-CN" altLang="zh-CN" b="0" dirty="0"/>
          </a:p>
          <a:p>
            <a:pPr>
              <a:spcBef>
                <a:spcPts val="0"/>
              </a:spcBef>
            </a:pPr>
            <a:r>
              <a:rPr lang="en-US" altLang="zh-CN" b="0" dirty="0"/>
              <a:t>      </a:t>
            </a:r>
            <a:r>
              <a:rPr lang="en-US" altLang="zh-CN" b="0" dirty="0" err="1"/>
              <a:t>CurrentSize</a:t>
            </a:r>
            <a:r>
              <a:rPr lang="en-US" altLang="zh-CN" b="0" dirty="0"/>
              <a:t>=0;</a:t>
            </a:r>
          </a:p>
          <a:p>
            <a:pPr>
              <a:spcBef>
                <a:spcPts val="0"/>
              </a:spcBef>
            </a:pPr>
            <a:r>
              <a:rPr lang="en-US" altLang="zh-CN" b="0" dirty="0"/>
              <a:t>	//</a:t>
            </a:r>
            <a:r>
              <a:rPr lang="zh-CN" altLang="zh-CN" b="0" dirty="0"/>
              <a:t>将哈希表</a:t>
            </a:r>
            <a:r>
              <a:rPr lang="en-US" altLang="zh-CN" b="0" dirty="0"/>
              <a:t>HT</a:t>
            </a:r>
            <a:r>
              <a:rPr lang="zh-CN" altLang="zh-CN" b="0" dirty="0"/>
              <a:t>中每一单元的关键字</a:t>
            </a:r>
            <a:r>
              <a:rPr lang="en-US" altLang="zh-CN" b="0" dirty="0"/>
              <a:t>Key</a:t>
            </a:r>
            <a:r>
              <a:rPr lang="zh-CN" altLang="zh-CN" b="0" dirty="0"/>
              <a:t>域都设为空标志</a:t>
            </a:r>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=0; </a:t>
            </a:r>
            <a:r>
              <a:rPr lang="en-US" altLang="zh-CN" b="0" dirty="0" err="1"/>
              <a:t>i</a:t>
            </a:r>
            <a:r>
              <a:rPr lang="en-US" altLang="zh-CN" b="0" dirty="0"/>
              <a:t>&lt;</a:t>
            </a:r>
            <a:r>
              <a:rPr lang="en-US" altLang="zh-CN" b="0" dirty="0" err="1"/>
              <a:t>MaxSize</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HT[</a:t>
            </a:r>
            <a:r>
              <a:rPr lang="en-US" altLang="zh-CN" b="0" dirty="0" err="1"/>
              <a:t>i</a:t>
            </a:r>
            <a:r>
              <a:rPr lang="en-US" altLang="zh-CN" b="0" dirty="0"/>
              <a:t>].key=</a:t>
            </a:r>
            <a:r>
              <a:rPr lang="en-US" altLang="zh-CN" b="0" dirty="0" err="1"/>
              <a:t>NullTag</a:t>
            </a:r>
            <a:r>
              <a:rPr lang="en-US" altLang="zh-CN" b="0" dirty="0"/>
              <a:t>;</a:t>
            </a:r>
          </a:p>
          <a:p>
            <a:pPr>
              <a:spcBef>
                <a:spcPts val="0"/>
              </a:spcBef>
            </a:pPr>
            <a:r>
              <a:rPr lang="en-US" altLang="zh-CN" b="0" dirty="0"/>
              <a:t>}</a:t>
            </a:r>
            <a:endParaRPr lang="zh-CN" altLang="zh-CN" b="0" dirty="0"/>
          </a:p>
          <a:p>
            <a:pPr>
              <a:spcBef>
                <a:spcPts val="0"/>
              </a:spcBef>
            </a:pPr>
            <a:r>
              <a:rPr lang="en-US" altLang="zh-CN" b="0" dirty="0"/>
              <a:t>  </a:t>
            </a:r>
            <a:endParaRPr lang="zh-CN" altLang="zh-CN" b="0" dirty="0"/>
          </a:p>
          <a:p>
            <a:pPr>
              <a:spcBef>
                <a:spcPts val="0"/>
              </a:spcBef>
            </a:pPr>
            <a:r>
              <a:rPr lang="en-US" altLang="zh-CN" b="0" dirty="0"/>
              <a:t>void </a:t>
            </a:r>
            <a:r>
              <a:rPr lang="en-US" altLang="zh-CN" b="0" dirty="0" err="1"/>
              <a:t>HashList</a:t>
            </a:r>
            <a:r>
              <a:rPr lang="en-US" altLang="zh-CN" b="0" dirty="0"/>
              <a:t>::</a:t>
            </a:r>
            <a:r>
              <a:rPr lang="en-US" altLang="zh-CN" b="0" dirty="0" err="1"/>
              <a:t>ClearHashList</a:t>
            </a:r>
            <a:r>
              <a:rPr lang="en-US" altLang="zh-CN" b="0" dirty="0"/>
              <a:t>(){    </a:t>
            </a:r>
            <a:r>
              <a:rPr lang="en-US" altLang="zh-CN" b="0" dirty="0">
                <a:solidFill>
                  <a:srgbClr val="FF0000"/>
                </a:solidFill>
              </a:rPr>
              <a:t>//</a:t>
            </a:r>
            <a:r>
              <a:rPr lang="zh-CN" altLang="zh-CN" b="0" dirty="0">
                <a:solidFill>
                  <a:srgbClr val="FF0000"/>
                </a:solidFill>
              </a:rPr>
              <a:t>清空哈希表的函数</a:t>
            </a:r>
          </a:p>
          <a:p>
            <a:pPr>
              <a:spcBef>
                <a:spcPts val="0"/>
              </a:spcBef>
            </a:pPr>
            <a:r>
              <a:rPr lang="en-US" altLang="zh-CN" b="0" dirty="0"/>
              <a:t>  	//</a:t>
            </a:r>
            <a:r>
              <a:rPr lang="zh-CN" altLang="zh-CN" b="0" dirty="0"/>
              <a:t>将哈希表</a:t>
            </a:r>
            <a:r>
              <a:rPr lang="en-US" altLang="zh-CN" b="0" dirty="0"/>
              <a:t>HT</a:t>
            </a:r>
            <a:r>
              <a:rPr lang="zh-CN" altLang="zh-CN" b="0" dirty="0"/>
              <a:t>中每一单元的关键字</a:t>
            </a:r>
            <a:r>
              <a:rPr lang="en-US" altLang="zh-CN" b="0" dirty="0"/>
              <a:t>key</a:t>
            </a:r>
            <a:r>
              <a:rPr lang="zh-CN" altLang="zh-CN" b="0" dirty="0"/>
              <a:t>域都设置为空标志</a:t>
            </a:r>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=0; </a:t>
            </a:r>
            <a:r>
              <a:rPr lang="en-US" altLang="zh-CN" b="0" dirty="0" err="1"/>
              <a:t>i</a:t>
            </a:r>
            <a:r>
              <a:rPr lang="en-US" altLang="zh-CN" b="0" dirty="0"/>
              <a:t>&lt;</a:t>
            </a:r>
            <a:r>
              <a:rPr lang="en-US" altLang="zh-CN" b="0" dirty="0" err="1"/>
              <a:t>MaxSize</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HT[</a:t>
            </a:r>
            <a:r>
              <a:rPr lang="en-US" altLang="zh-CN" b="0" dirty="0" err="1"/>
              <a:t>i</a:t>
            </a:r>
            <a:r>
              <a:rPr lang="en-US" altLang="zh-CN" b="0" dirty="0"/>
              <a:t>].key=</a:t>
            </a:r>
            <a:r>
              <a:rPr lang="en-US" altLang="zh-CN" b="0" dirty="0" err="1"/>
              <a:t>NullTag</a:t>
            </a:r>
            <a:r>
              <a:rPr lang="en-US" altLang="zh-CN" b="0" dirty="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39658237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196752"/>
            <a:ext cx="8496944" cy="5040560"/>
          </a:xfrm>
        </p:spPr>
        <p:txBody>
          <a:bodyPr>
            <a:normAutofit fontScale="92500"/>
          </a:bodyPr>
          <a:lstStyle/>
          <a:p>
            <a:pPr>
              <a:spcBef>
                <a:spcPts val="0"/>
              </a:spcBef>
            </a:pPr>
            <a:r>
              <a:rPr lang="en-US" altLang="zh-CN" b="0" dirty="0"/>
              <a:t>bool </a:t>
            </a:r>
            <a:r>
              <a:rPr lang="en-US" altLang="zh-CN" b="0" dirty="0" err="1"/>
              <a:t>HashList</a:t>
            </a:r>
            <a:r>
              <a:rPr lang="en-US" altLang="zh-CN" b="0" dirty="0"/>
              <a:t>::Insert(Element item){//</a:t>
            </a:r>
            <a:r>
              <a:rPr lang="zh-CN" altLang="zh-CN" b="0" dirty="0">
                <a:solidFill>
                  <a:srgbClr val="FF0000"/>
                </a:solidFill>
              </a:rPr>
              <a:t>向哈希表</a:t>
            </a:r>
            <a:r>
              <a:rPr lang="en-US" altLang="zh-CN" b="0" dirty="0">
                <a:solidFill>
                  <a:srgbClr val="FF0000"/>
                </a:solidFill>
              </a:rPr>
              <a:t>HT</a:t>
            </a:r>
            <a:r>
              <a:rPr lang="zh-CN" altLang="zh-CN" b="0" dirty="0">
                <a:solidFill>
                  <a:srgbClr val="FF0000"/>
                </a:solidFill>
              </a:rPr>
              <a:t>中插入元素</a:t>
            </a:r>
            <a:r>
              <a:rPr lang="en-US" altLang="zh-CN" b="0" dirty="0">
                <a:solidFill>
                  <a:srgbClr val="FF0000"/>
                </a:solidFill>
              </a:rPr>
              <a:t>item</a:t>
            </a:r>
            <a:endParaRPr lang="zh-CN" altLang="zh-CN" b="0" dirty="0">
              <a:solidFill>
                <a:srgbClr val="FF0000"/>
              </a:solidFill>
            </a:endParaRPr>
          </a:p>
          <a:p>
            <a:pPr>
              <a:spcBef>
                <a:spcPts val="0"/>
              </a:spcBef>
            </a:pPr>
            <a:r>
              <a:rPr lang="en-US" altLang="zh-CN" b="0" dirty="0"/>
              <a:t>      </a:t>
            </a:r>
            <a:r>
              <a:rPr lang="en-US" altLang="zh-CN" b="0" dirty="0" err="1"/>
              <a:t>int</a:t>
            </a:r>
            <a:r>
              <a:rPr lang="en-US" altLang="zh-CN" b="0" dirty="0"/>
              <a:t> d=H(</a:t>
            </a:r>
            <a:r>
              <a:rPr lang="en-US" altLang="zh-CN" b="0" dirty="0" err="1"/>
              <a:t>item.key</a:t>
            </a:r>
            <a:r>
              <a:rPr lang="en-US" altLang="zh-CN" b="0" dirty="0"/>
              <a:t>);      //</a:t>
            </a:r>
            <a:r>
              <a:rPr lang="zh-CN" altLang="zh-CN" b="0" dirty="0"/>
              <a:t>用哈希函数计算哈希地址</a:t>
            </a:r>
          </a:p>
          <a:p>
            <a:pPr>
              <a:spcBef>
                <a:spcPts val="0"/>
              </a:spcBef>
            </a:pPr>
            <a:r>
              <a:rPr lang="en-US" altLang="zh-CN" b="0" dirty="0"/>
              <a:t>      </a:t>
            </a:r>
            <a:r>
              <a:rPr lang="en-US" altLang="zh-CN" b="0" dirty="0" err="1"/>
              <a:t>int</a:t>
            </a:r>
            <a:r>
              <a:rPr lang="en-US" altLang="zh-CN" b="0" dirty="0"/>
              <a:t> temp=d;                 //</a:t>
            </a:r>
            <a:r>
              <a:rPr lang="zh-CN" altLang="zh-CN" b="0" dirty="0"/>
              <a:t>用</a:t>
            </a:r>
            <a:r>
              <a:rPr lang="en-US" altLang="zh-CN" b="0" dirty="0"/>
              <a:t>temp</a:t>
            </a:r>
            <a:r>
              <a:rPr lang="zh-CN" altLang="zh-CN" b="0" dirty="0"/>
              <a:t>变量暂存哈希地址</a:t>
            </a:r>
            <a:r>
              <a:rPr lang="en-US" altLang="zh-CN" b="0" dirty="0"/>
              <a:t>d</a:t>
            </a:r>
            <a:endParaRPr lang="zh-CN" altLang="zh-CN" b="0" dirty="0"/>
          </a:p>
          <a:p>
            <a:pPr>
              <a:spcBef>
                <a:spcPts val="0"/>
              </a:spcBef>
            </a:pPr>
            <a:r>
              <a:rPr lang="en-US" altLang="zh-CN" b="0" dirty="0"/>
              <a:t>	 while(HT[d].key != </a:t>
            </a:r>
            <a:r>
              <a:rPr lang="en-US" altLang="zh-CN" b="0" dirty="0" err="1"/>
              <a:t>NullTag</a:t>
            </a:r>
            <a:r>
              <a:rPr lang="en-US" altLang="zh-CN" b="0" dirty="0"/>
              <a:t> &amp;&amp; HT[d].key != </a:t>
            </a:r>
            <a:r>
              <a:rPr lang="en-US" altLang="zh-CN" b="0" dirty="0" err="1"/>
              <a:t>DeleteTag</a:t>
            </a:r>
            <a:r>
              <a:rPr lang="en-US" altLang="zh-CN" b="0" dirty="0"/>
              <a:t>){</a:t>
            </a:r>
          </a:p>
          <a:p>
            <a:pPr>
              <a:spcBef>
                <a:spcPts val="0"/>
              </a:spcBef>
            </a:pPr>
            <a:r>
              <a:rPr lang="en-US" altLang="zh-CN" b="0" dirty="0"/>
              <a:t>           	//</a:t>
            </a:r>
            <a:r>
              <a:rPr lang="zh-CN" altLang="zh-CN" b="0" dirty="0"/>
              <a:t>继续向后查找空元素位置或者被删除元素的位置</a:t>
            </a:r>
          </a:p>
          <a:p>
            <a:pPr>
              <a:spcBef>
                <a:spcPts val="0"/>
              </a:spcBef>
            </a:pPr>
            <a:r>
              <a:rPr lang="en-US" altLang="zh-CN" b="0" dirty="0"/>
              <a:t>         	d = (d+1) % </a:t>
            </a:r>
            <a:r>
              <a:rPr lang="en-US" altLang="zh-CN" b="0" dirty="0" err="1"/>
              <a:t>MaxSize</a:t>
            </a:r>
            <a:r>
              <a:rPr lang="en-US" altLang="zh-CN" b="0" dirty="0"/>
              <a:t>;         //</a:t>
            </a:r>
            <a:r>
              <a:rPr lang="zh-CN" altLang="zh-CN" b="0" dirty="0"/>
              <a:t>假定采用线性探查法处理冲突</a:t>
            </a:r>
          </a:p>
          <a:p>
            <a:pPr>
              <a:spcBef>
                <a:spcPts val="0"/>
              </a:spcBef>
            </a:pPr>
            <a:r>
              <a:rPr lang="en-US" altLang="zh-CN" b="0" dirty="0"/>
              <a:t>         	if (d == temp) return false;  //</a:t>
            </a:r>
            <a:r>
              <a:rPr lang="zh-CN" altLang="zh-CN" b="0" dirty="0"/>
              <a:t>查找完所有位置后表示无法插入</a:t>
            </a:r>
          </a:p>
          <a:p>
            <a:pPr>
              <a:spcBef>
                <a:spcPts val="0"/>
              </a:spcBef>
            </a:pPr>
            <a:r>
              <a:rPr lang="en-US" altLang="zh-CN" b="0" dirty="0"/>
              <a:t>      }</a:t>
            </a:r>
            <a:endParaRPr lang="zh-CN" altLang="zh-CN" b="0" dirty="0"/>
          </a:p>
          <a:p>
            <a:pPr>
              <a:spcBef>
                <a:spcPts val="0"/>
              </a:spcBef>
            </a:pPr>
            <a:r>
              <a:rPr lang="en-US" altLang="zh-CN" b="0" dirty="0"/>
              <a:t>      HT[d] = item;     //</a:t>
            </a:r>
            <a:r>
              <a:rPr lang="zh-CN" altLang="zh-CN" b="0" dirty="0"/>
              <a:t>将新元素插入到下标为</a:t>
            </a:r>
            <a:r>
              <a:rPr lang="en-US" altLang="zh-CN" b="0" dirty="0"/>
              <a:t>d</a:t>
            </a:r>
            <a:r>
              <a:rPr lang="zh-CN" altLang="zh-CN" b="0" dirty="0"/>
              <a:t>的位置</a:t>
            </a:r>
          </a:p>
          <a:p>
            <a:pPr>
              <a:spcBef>
                <a:spcPts val="0"/>
              </a:spcBef>
            </a:pPr>
            <a:r>
              <a:rPr lang="en-US" altLang="zh-CN" b="0" dirty="0"/>
              <a:t>      return true;         //</a:t>
            </a:r>
            <a:r>
              <a:rPr lang="zh-CN" altLang="zh-CN" b="0" dirty="0"/>
              <a:t>插入成功，返回真</a:t>
            </a:r>
          </a:p>
          <a:p>
            <a:pPr>
              <a:spcBef>
                <a:spcPts val="0"/>
              </a:spcBef>
            </a:pPr>
            <a:r>
              <a:rPr lang="en-US" altLang="zh-CN" b="0" dirty="0"/>
              <a:t>}</a:t>
            </a:r>
            <a:endParaRPr lang="zh-CN" altLang="zh-CN" b="0" dirty="0"/>
          </a:p>
        </p:txBody>
      </p:sp>
    </p:spTree>
    <p:extLst>
      <p:ext uri="{BB962C8B-B14F-4D97-AF65-F5344CB8AC3E}">
        <p14:creationId xmlns:p14="http://schemas.microsoft.com/office/powerpoint/2010/main" val="32986213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208912" cy="5328592"/>
          </a:xfrm>
        </p:spPr>
        <p:txBody>
          <a:bodyPr>
            <a:normAutofit lnSpcReduction="10000"/>
          </a:bodyPr>
          <a:lstStyle/>
          <a:p>
            <a:pPr>
              <a:spcBef>
                <a:spcPts val="0"/>
              </a:spcBef>
            </a:pPr>
            <a:r>
              <a:rPr lang="zh-CN" altLang="zh-CN" dirty="0"/>
              <a:t>算法</a:t>
            </a:r>
            <a:r>
              <a:rPr lang="en-US" altLang="zh-CN" dirty="0"/>
              <a:t>8.7</a:t>
            </a:r>
            <a:r>
              <a:rPr lang="zh-CN" altLang="zh-CN" dirty="0"/>
              <a:t>：</a:t>
            </a:r>
            <a:r>
              <a:rPr lang="zh-CN" altLang="zh-CN" dirty="0">
                <a:solidFill>
                  <a:srgbClr val="FF0000"/>
                </a:solidFill>
              </a:rPr>
              <a:t>从哈希表</a:t>
            </a:r>
            <a:r>
              <a:rPr lang="en-US" altLang="zh-CN" dirty="0">
                <a:solidFill>
                  <a:srgbClr val="FF0000"/>
                </a:solidFill>
              </a:rPr>
              <a:t>HT</a:t>
            </a:r>
            <a:r>
              <a:rPr lang="zh-CN" altLang="zh-CN" dirty="0">
                <a:solidFill>
                  <a:srgbClr val="FF0000"/>
                </a:solidFill>
              </a:rPr>
              <a:t>中查找元素</a:t>
            </a:r>
            <a:r>
              <a:rPr lang="zh-CN" altLang="zh-CN" dirty="0"/>
              <a:t>，返回该元素的下标位置</a:t>
            </a:r>
          </a:p>
          <a:p>
            <a:pPr>
              <a:spcBef>
                <a:spcPts val="0"/>
              </a:spcBef>
            </a:pPr>
            <a:r>
              <a:rPr lang="en-US" altLang="zh-CN" b="0" dirty="0" err="1"/>
              <a:t>int</a:t>
            </a:r>
            <a:r>
              <a:rPr lang="en-US" altLang="zh-CN" b="0" dirty="0"/>
              <a:t> </a:t>
            </a:r>
            <a:r>
              <a:rPr lang="en-US" altLang="zh-CN" b="0" dirty="0" err="1"/>
              <a:t>HashList</a:t>
            </a:r>
            <a:r>
              <a:rPr lang="en-US" altLang="zh-CN" b="0" dirty="0"/>
              <a:t> :: Search(</a:t>
            </a:r>
            <a:r>
              <a:rPr lang="en-US" altLang="zh-CN" b="0" dirty="0" err="1"/>
              <a:t>KeyType</a:t>
            </a:r>
            <a:r>
              <a:rPr lang="en-US" altLang="zh-CN" b="0" dirty="0"/>
              <a:t> x) {</a:t>
            </a:r>
            <a:endParaRPr lang="zh-CN" altLang="zh-CN" b="0" dirty="0"/>
          </a:p>
          <a:p>
            <a:pPr>
              <a:spcBef>
                <a:spcPts val="0"/>
              </a:spcBef>
            </a:pPr>
            <a:r>
              <a:rPr lang="en-US" altLang="zh-CN" b="0" dirty="0"/>
              <a:t>      </a:t>
            </a:r>
            <a:r>
              <a:rPr lang="en-US" altLang="zh-CN" b="0" dirty="0" err="1"/>
              <a:t>int</a:t>
            </a:r>
            <a:r>
              <a:rPr lang="en-US" altLang="zh-CN" b="0" dirty="0"/>
              <a:t> d=H(x);       //</a:t>
            </a:r>
            <a:r>
              <a:rPr lang="zh-CN" altLang="zh-CN" b="0" dirty="0"/>
              <a:t>计算哈希地址</a:t>
            </a:r>
          </a:p>
          <a:p>
            <a:pPr>
              <a:spcBef>
                <a:spcPts val="0"/>
              </a:spcBef>
            </a:pPr>
            <a:r>
              <a:rPr lang="en-US" altLang="zh-CN" b="0" dirty="0"/>
              <a:t>      </a:t>
            </a:r>
            <a:r>
              <a:rPr lang="en-US" altLang="zh-CN" b="0" dirty="0" err="1"/>
              <a:t>int</a:t>
            </a:r>
            <a:r>
              <a:rPr lang="en-US" altLang="zh-CN" b="0" dirty="0"/>
              <a:t> temp=d;      //</a:t>
            </a:r>
            <a:r>
              <a:rPr lang="zh-CN" altLang="zh-CN" b="0" dirty="0"/>
              <a:t>保存初始哈希地址到</a:t>
            </a:r>
            <a:r>
              <a:rPr lang="en-US" altLang="zh-CN" b="0" dirty="0"/>
              <a:t>temp</a:t>
            </a:r>
            <a:endParaRPr lang="zh-CN" altLang="zh-CN" b="0" dirty="0"/>
          </a:p>
          <a:p>
            <a:pPr>
              <a:spcBef>
                <a:spcPts val="0"/>
              </a:spcBef>
            </a:pPr>
            <a:r>
              <a:rPr lang="en-US" altLang="zh-CN" b="0" dirty="0"/>
              <a:t>	 while(HT[d].key != </a:t>
            </a:r>
            <a:r>
              <a:rPr lang="en-US" altLang="zh-CN" b="0" dirty="0" err="1"/>
              <a:t>NullTag</a:t>
            </a:r>
            <a:r>
              <a:rPr lang="en-US" altLang="zh-CN" b="0" dirty="0"/>
              <a:t>) { </a:t>
            </a:r>
          </a:p>
          <a:p>
            <a:pPr>
              <a:spcBef>
                <a:spcPts val="0"/>
              </a:spcBef>
            </a:pPr>
            <a:r>
              <a:rPr lang="en-US" altLang="zh-CN" b="0" dirty="0"/>
              <a:t>		//</a:t>
            </a:r>
            <a:r>
              <a:rPr lang="zh-CN" altLang="zh-CN" b="0" dirty="0"/>
              <a:t>当哈希地址中的关键字域不为空则循环</a:t>
            </a:r>
          </a:p>
          <a:p>
            <a:pPr>
              <a:spcBef>
                <a:spcPts val="0"/>
              </a:spcBef>
            </a:pPr>
            <a:r>
              <a:rPr lang="en-US" altLang="zh-CN" b="0" dirty="0"/>
              <a:t>         	if(HT[d].key == x) return d</a:t>
            </a:r>
            <a:r>
              <a:rPr lang="en-US" altLang="zh-CN" b="0"/>
              <a:t>;  //</a:t>
            </a:r>
            <a:r>
              <a:rPr lang="zh-CN" altLang="zh-CN" b="0" dirty="0"/>
              <a:t>查找成功返回下标</a:t>
            </a:r>
            <a:r>
              <a:rPr lang="en-US" altLang="zh-CN" b="0" dirty="0"/>
              <a:t>d</a:t>
            </a:r>
            <a:endParaRPr lang="zh-CN" altLang="zh-CN" b="0" dirty="0"/>
          </a:p>
          <a:p>
            <a:pPr>
              <a:spcBef>
                <a:spcPts val="0"/>
              </a:spcBef>
            </a:pPr>
            <a:r>
              <a:rPr lang="en-US" altLang="zh-CN" b="0" dirty="0"/>
              <a:t>		else d = (d+1) % </a:t>
            </a:r>
            <a:r>
              <a:rPr lang="en-US" altLang="zh-CN" b="0" dirty="0" err="1"/>
              <a:t>MaxSize</a:t>
            </a:r>
            <a:r>
              <a:rPr lang="en-US" altLang="zh-CN" b="0" dirty="0"/>
              <a:t>;</a:t>
            </a:r>
            <a:endParaRPr lang="zh-CN" altLang="zh-CN" b="0" dirty="0"/>
          </a:p>
          <a:p>
            <a:pPr>
              <a:spcBef>
                <a:spcPts val="0"/>
              </a:spcBef>
            </a:pPr>
            <a:r>
              <a:rPr lang="en-US" altLang="zh-CN" b="0" dirty="0"/>
              <a:t>         	if(d==temp) return -1;           //</a:t>
            </a:r>
            <a:r>
              <a:rPr lang="zh-CN" altLang="zh-CN" b="0" dirty="0"/>
              <a:t>查找失败返回</a:t>
            </a:r>
            <a:r>
              <a:rPr lang="zh-CN" altLang="en-US" b="0" dirty="0"/>
              <a:t>“</a:t>
            </a:r>
            <a:r>
              <a:rPr lang="en-US" altLang="zh-CN" b="0" dirty="0"/>
              <a:t>-1</a:t>
            </a:r>
            <a:r>
              <a:rPr lang="zh-CN" altLang="en-US" b="0" dirty="0"/>
              <a:t>”</a:t>
            </a:r>
            <a:endParaRPr lang="zh-CN" altLang="zh-CN" b="0" dirty="0"/>
          </a:p>
          <a:p>
            <a:pPr>
              <a:spcBef>
                <a:spcPts val="0"/>
              </a:spcBef>
            </a:pPr>
            <a:r>
              <a:rPr lang="en-US" altLang="zh-CN" b="0" dirty="0"/>
              <a:t>      }</a:t>
            </a:r>
            <a:endParaRPr lang="zh-CN" altLang="zh-CN" b="0" dirty="0"/>
          </a:p>
          <a:p>
            <a:pPr>
              <a:spcBef>
                <a:spcPts val="0"/>
              </a:spcBef>
            </a:pPr>
            <a:r>
              <a:rPr lang="en-US" altLang="zh-CN" b="0" dirty="0"/>
              <a:t>      return -1</a:t>
            </a:r>
            <a:r>
              <a:rPr lang="zh-CN" altLang="zh-CN" b="0" dirty="0"/>
              <a:t>；</a:t>
            </a:r>
            <a:r>
              <a:rPr lang="en-US" altLang="zh-CN" b="0" dirty="0"/>
              <a:t>   //</a:t>
            </a:r>
            <a:r>
              <a:rPr lang="zh-CN" altLang="en-US" b="0" dirty="0"/>
              <a:t>遇到关键字为空，</a:t>
            </a:r>
            <a:r>
              <a:rPr lang="zh-CN" altLang="zh-CN" b="0" dirty="0"/>
              <a:t>查找失败返回</a:t>
            </a:r>
            <a:r>
              <a:rPr lang="zh-CN" altLang="en-US" b="0" dirty="0"/>
              <a:t>“</a:t>
            </a:r>
            <a:r>
              <a:rPr lang="en-US" altLang="zh-CN" b="0" dirty="0"/>
              <a:t>-1</a:t>
            </a:r>
            <a:r>
              <a:rPr lang="zh-CN" altLang="en-US" b="0" dirty="0"/>
              <a:t>”</a:t>
            </a:r>
            <a:endParaRPr lang="en-US"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6330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064896" cy="5472608"/>
          </a:xfrm>
        </p:spPr>
        <p:txBody>
          <a:bodyPr>
            <a:normAutofit fontScale="85000" lnSpcReduction="10000"/>
          </a:bodyPr>
          <a:lstStyle/>
          <a:p>
            <a:pPr>
              <a:lnSpc>
                <a:spcPct val="140000"/>
              </a:lnSpc>
              <a:spcBef>
                <a:spcPts val="0"/>
              </a:spcBef>
            </a:pPr>
            <a:r>
              <a:rPr lang="zh-CN" altLang="zh-CN" dirty="0"/>
              <a:t>算法</a:t>
            </a:r>
            <a:r>
              <a:rPr lang="en-US" altLang="zh-CN" dirty="0"/>
              <a:t>8.8</a:t>
            </a:r>
            <a:r>
              <a:rPr lang="zh-CN" altLang="zh-CN" dirty="0"/>
              <a:t>：</a:t>
            </a:r>
            <a:r>
              <a:rPr lang="zh-CN" altLang="zh-CN" dirty="0">
                <a:solidFill>
                  <a:srgbClr val="FF0000"/>
                </a:solidFill>
              </a:rPr>
              <a:t>从哈希表</a:t>
            </a:r>
            <a:r>
              <a:rPr lang="en-US" altLang="zh-CN" dirty="0">
                <a:solidFill>
                  <a:srgbClr val="FF0000"/>
                </a:solidFill>
              </a:rPr>
              <a:t>HT</a:t>
            </a:r>
            <a:r>
              <a:rPr lang="zh-CN" altLang="zh-CN" dirty="0">
                <a:solidFill>
                  <a:srgbClr val="FF0000"/>
                </a:solidFill>
              </a:rPr>
              <a:t>中删除元素</a:t>
            </a:r>
          </a:p>
          <a:p>
            <a:pPr>
              <a:lnSpc>
                <a:spcPct val="140000"/>
              </a:lnSpc>
              <a:spcBef>
                <a:spcPts val="0"/>
              </a:spcBef>
            </a:pPr>
            <a:r>
              <a:rPr lang="en-US" altLang="zh-CN" b="0" dirty="0" err="1"/>
              <a:t>bool</a:t>
            </a:r>
            <a:r>
              <a:rPr lang="en-US" altLang="zh-CN" b="0" dirty="0"/>
              <a:t> </a:t>
            </a:r>
            <a:r>
              <a:rPr lang="en-US" altLang="zh-CN" b="0" dirty="0" err="1"/>
              <a:t>HashList</a:t>
            </a:r>
            <a:r>
              <a:rPr lang="en-US" altLang="zh-CN" b="0" dirty="0"/>
              <a:t> :: Delete(</a:t>
            </a:r>
            <a:r>
              <a:rPr lang="en-US" altLang="zh-CN" b="0" dirty="0" err="1"/>
              <a:t>KeyType</a:t>
            </a:r>
            <a:r>
              <a:rPr lang="en-US" altLang="zh-CN" b="0" dirty="0"/>
              <a:t> x) {</a:t>
            </a:r>
            <a:endParaRPr lang="zh-CN" altLang="zh-CN" b="0" dirty="0"/>
          </a:p>
          <a:p>
            <a:pPr>
              <a:lnSpc>
                <a:spcPct val="140000"/>
              </a:lnSpc>
              <a:spcBef>
                <a:spcPts val="0"/>
              </a:spcBef>
            </a:pPr>
            <a:r>
              <a:rPr lang="en-US" altLang="zh-CN" b="0" dirty="0"/>
              <a:t>     </a:t>
            </a:r>
            <a:r>
              <a:rPr lang="en-US" altLang="zh-CN" b="0" dirty="0" err="1"/>
              <a:t>int</a:t>
            </a:r>
            <a:r>
              <a:rPr lang="en-US" altLang="zh-CN" b="0" dirty="0"/>
              <a:t> d = H(x);     //</a:t>
            </a:r>
            <a:r>
              <a:rPr lang="zh-CN" altLang="zh-CN" b="0" dirty="0"/>
              <a:t>计算哈希地址</a:t>
            </a:r>
          </a:p>
          <a:p>
            <a:pPr>
              <a:lnSpc>
                <a:spcPct val="140000"/>
              </a:lnSpc>
              <a:spcBef>
                <a:spcPts val="0"/>
              </a:spcBef>
            </a:pPr>
            <a:r>
              <a:rPr lang="en-US" altLang="zh-CN" b="0" dirty="0"/>
              <a:t>     </a:t>
            </a:r>
            <a:r>
              <a:rPr lang="en-US" altLang="zh-CN" b="0" dirty="0" err="1"/>
              <a:t>int</a:t>
            </a:r>
            <a:r>
              <a:rPr lang="en-US" altLang="zh-CN" b="0" dirty="0"/>
              <a:t> temp = d;    //</a:t>
            </a:r>
            <a:r>
              <a:rPr lang="zh-CN" altLang="zh-CN" b="0" dirty="0"/>
              <a:t>保存哈希地址的初始值</a:t>
            </a:r>
          </a:p>
          <a:p>
            <a:pPr>
              <a:lnSpc>
                <a:spcPct val="140000"/>
              </a:lnSpc>
              <a:spcBef>
                <a:spcPts val="0"/>
              </a:spcBef>
            </a:pPr>
            <a:r>
              <a:rPr lang="en-US" altLang="zh-CN" b="0" dirty="0"/>
              <a:t>	while(HT[d].key != </a:t>
            </a:r>
            <a:r>
              <a:rPr lang="en-US" altLang="zh-CN" b="0" dirty="0" err="1"/>
              <a:t>NullTag</a:t>
            </a:r>
            <a:r>
              <a:rPr lang="en-US" altLang="zh-CN" b="0" dirty="0"/>
              <a:t>) {	            //</a:t>
            </a:r>
            <a:r>
              <a:rPr lang="zh-CN" altLang="zh-CN" b="0" dirty="0"/>
              <a:t>不为空记录则循环</a:t>
            </a:r>
          </a:p>
          <a:p>
            <a:pPr>
              <a:lnSpc>
                <a:spcPct val="140000"/>
              </a:lnSpc>
              <a:spcBef>
                <a:spcPts val="0"/>
              </a:spcBef>
            </a:pPr>
            <a:r>
              <a:rPr lang="en-US" altLang="zh-CN" b="0" dirty="0"/>
              <a:t>		if(HT[d].key == x) {</a:t>
            </a:r>
            <a:endParaRPr lang="zh-CN" altLang="zh-CN" b="0" dirty="0"/>
          </a:p>
          <a:p>
            <a:pPr>
              <a:lnSpc>
                <a:spcPct val="140000"/>
              </a:lnSpc>
              <a:spcBef>
                <a:spcPts val="0"/>
              </a:spcBef>
            </a:pPr>
            <a:r>
              <a:rPr lang="en-US" altLang="zh-CN" b="0" dirty="0"/>
              <a:t>			HT[d].key = </a:t>
            </a:r>
            <a:r>
              <a:rPr lang="en-US" altLang="zh-CN" b="0" dirty="0" err="1"/>
              <a:t>DeleteTag</a:t>
            </a:r>
            <a:r>
              <a:rPr lang="en-US" altLang="zh-CN" b="0" dirty="0"/>
              <a:t>;   //</a:t>
            </a:r>
            <a:r>
              <a:rPr lang="zh-CN" altLang="zh-CN" b="0" dirty="0"/>
              <a:t>设置删除标记</a:t>
            </a:r>
          </a:p>
          <a:p>
            <a:pPr>
              <a:lnSpc>
                <a:spcPct val="140000"/>
              </a:lnSpc>
              <a:spcBef>
                <a:spcPts val="0"/>
              </a:spcBef>
            </a:pPr>
            <a:r>
              <a:rPr lang="en-US" altLang="zh-CN" b="0" dirty="0"/>
              <a:t>		  	return true;</a:t>
            </a:r>
            <a:endParaRPr lang="zh-CN" altLang="zh-CN" b="0" dirty="0"/>
          </a:p>
          <a:p>
            <a:pPr>
              <a:lnSpc>
                <a:spcPct val="140000"/>
              </a:lnSpc>
              <a:spcBef>
                <a:spcPts val="0"/>
              </a:spcBef>
            </a:pPr>
            <a:r>
              <a:rPr lang="en-US" altLang="zh-CN" b="0" dirty="0"/>
              <a:t>        	} else d = (d+1)%</a:t>
            </a:r>
            <a:r>
              <a:rPr lang="en-US" altLang="zh-CN" b="0" dirty="0" err="1"/>
              <a:t>MaxSize</a:t>
            </a:r>
            <a:r>
              <a:rPr lang="en-US" altLang="zh-CN" b="0" dirty="0"/>
              <a:t>;  //</a:t>
            </a:r>
            <a:r>
              <a:rPr lang="zh-CN" altLang="zh-CN" b="0" dirty="0"/>
              <a:t>继续向后查找被删除的元素</a:t>
            </a:r>
          </a:p>
          <a:p>
            <a:pPr>
              <a:lnSpc>
                <a:spcPct val="140000"/>
              </a:lnSpc>
              <a:spcBef>
                <a:spcPts val="0"/>
              </a:spcBef>
            </a:pPr>
            <a:r>
              <a:rPr lang="en-US" altLang="zh-CN" b="0" dirty="0"/>
              <a:t>        	if(d==temp) return false;      //</a:t>
            </a:r>
            <a:r>
              <a:rPr lang="zh-CN" altLang="zh-CN" b="0" dirty="0"/>
              <a:t>循环</a:t>
            </a:r>
            <a:r>
              <a:rPr lang="zh-CN" altLang="en-US" b="0" dirty="0"/>
              <a:t>一圈</a:t>
            </a:r>
            <a:r>
              <a:rPr lang="zh-CN" altLang="zh-CN" b="0" dirty="0"/>
              <a:t>后返回假，删除失败</a:t>
            </a:r>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return false;    //</a:t>
            </a:r>
            <a:r>
              <a:rPr lang="zh-CN" altLang="en-US" b="0" dirty="0"/>
              <a:t>遇到空关键字，</a:t>
            </a:r>
            <a:r>
              <a:rPr lang="zh-CN" altLang="zh-CN" b="0" dirty="0"/>
              <a:t>没有找到被删除元素，删除失败</a:t>
            </a:r>
          </a:p>
          <a:p>
            <a:pPr>
              <a:lnSpc>
                <a:spcPct val="140000"/>
              </a:lnSpc>
              <a:spcBef>
                <a:spcPts val="0"/>
              </a:spcBef>
            </a:pPr>
            <a:r>
              <a:rPr lang="en-US" altLang="zh-CN" b="0" dirty="0"/>
              <a:t>}</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2963637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8.3.4 </a:t>
            </a:r>
            <a:r>
              <a:rPr lang="zh-CN" altLang="zh-CN" b="1" dirty="0"/>
              <a:t>哈希表的</a:t>
            </a:r>
            <a:r>
              <a:rPr lang="zh-CN" altLang="en-US" b="1" dirty="0"/>
              <a:t>性能</a:t>
            </a:r>
            <a:r>
              <a:rPr lang="zh-CN" altLang="zh-CN" b="1" dirty="0"/>
              <a:t>分析</a:t>
            </a:r>
            <a:endParaRPr lang="zh-CN" altLang="en-US" dirty="0"/>
          </a:p>
        </p:txBody>
      </p:sp>
      <p:sp>
        <p:nvSpPr>
          <p:cNvPr id="4" name="内容占位符 3"/>
          <p:cNvSpPr>
            <a:spLocks noGrp="1"/>
          </p:cNvSpPr>
          <p:nvPr>
            <p:ph idx="1"/>
          </p:nvPr>
        </p:nvSpPr>
        <p:spPr>
          <a:xfrm>
            <a:off x="827584" y="1628800"/>
            <a:ext cx="7520940" cy="4514844"/>
          </a:xfrm>
        </p:spPr>
        <p:txBody>
          <a:bodyPr>
            <a:normAutofit/>
          </a:bodyPr>
          <a:lstStyle/>
          <a:p>
            <a:pPr algn="just">
              <a:buFont typeface="Arial" pitchFamily="34" charset="0"/>
              <a:buChar char="•"/>
            </a:pPr>
            <a:r>
              <a:rPr lang="zh-CN" altLang="en-US" b="0" dirty="0"/>
              <a:t>在查找过程中，</a:t>
            </a:r>
            <a:r>
              <a:rPr lang="zh-CN" altLang="en-US" b="0" dirty="0">
                <a:solidFill>
                  <a:srgbClr val="FF0000"/>
                </a:solidFill>
              </a:rPr>
              <a:t>关键字的比较次数取决于产生冲突的多少</a:t>
            </a:r>
            <a:r>
              <a:rPr lang="zh-CN" altLang="en-US" b="0" dirty="0"/>
              <a:t>。产生的冲突少，查找效率就高；否则，查找效率就低。所以，影响产生冲突多</a:t>
            </a:r>
            <a:r>
              <a:rPr lang="en-US" altLang="zh-CN" b="0" dirty="0"/>
              <a:t>/</a:t>
            </a:r>
            <a:r>
              <a:rPr lang="zh-CN" altLang="en-US" b="0" dirty="0"/>
              <a:t>少的因素也就是影响查找效率的因素。</a:t>
            </a:r>
            <a:endParaRPr lang="en-US" altLang="zh-CN" b="0" dirty="0"/>
          </a:p>
          <a:p>
            <a:pPr algn="just">
              <a:buFont typeface="Arial" pitchFamily="34" charset="0"/>
              <a:buChar char="•"/>
            </a:pPr>
            <a:r>
              <a:rPr lang="zh-CN" altLang="en-US" dirty="0"/>
              <a:t>影响产生冲突多少有以下</a:t>
            </a:r>
            <a:r>
              <a:rPr lang="en-US" dirty="0"/>
              <a:t>3</a:t>
            </a:r>
            <a:r>
              <a:rPr lang="zh-CN" altLang="en-US" dirty="0"/>
              <a:t>个因素：</a:t>
            </a:r>
            <a:endParaRPr lang="en-US" altLang="zh-CN" dirty="0"/>
          </a:p>
          <a:p>
            <a:pPr lvl="3" algn="just">
              <a:buFont typeface="Wingdings" pitchFamily="2" charset="2"/>
              <a:buChar char="ü"/>
            </a:pPr>
            <a:r>
              <a:rPr lang="zh-CN" altLang="en-US" dirty="0">
                <a:solidFill>
                  <a:srgbClr val="FF0000"/>
                </a:solidFill>
              </a:rPr>
              <a:t>哈希函数是否均匀</a:t>
            </a:r>
            <a:r>
              <a:rPr lang="zh-CN" altLang="en-US" dirty="0"/>
              <a:t>；</a:t>
            </a:r>
            <a:endParaRPr lang="en-US" altLang="zh-CN" dirty="0"/>
          </a:p>
          <a:p>
            <a:pPr lvl="3" algn="just">
              <a:buFont typeface="Wingdings" pitchFamily="2" charset="2"/>
              <a:buChar char="ü"/>
            </a:pPr>
            <a:r>
              <a:rPr lang="zh-CN" altLang="en-US" dirty="0">
                <a:solidFill>
                  <a:srgbClr val="FF0000"/>
                </a:solidFill>
              </a:rPr>
              <a:t>解决冲突的方法是否合适</a:t>
            </a:r>
            <a:r>
              <a:rPr lang="zh-CN" altLang="en-US" dirty="0"/>
              <a:t>；</a:t>
            </a:r>
            <a:endParaRPr lang="en-US" altLang="zh-CN" dirty="0"/>
          </a:p>
          <a:p>
            <a:pPr lvl="3" algn="just">
              <a:buFont typeface="Wingdings" pitchFamily="2" charset="2"/>
              <a:buChar char="ü"/>
            </a:pPr>
            <a:r>
              <a:rPr lang="zh-CN" altLang="en-US" dirty="0">
                <a:solidFill>
                  <a:srgbClr val="FF0000"/>
                </a:solidFill>
              </a:rPr>
              <a:t>哈希表的装填因子</a:t>
            </a:r>
            <a:r>
              <a:rPr lang="zh-CN" altLang="en-US" dirty="0"/>
              <a:t>。</a:t>
            </a:r>
            <a:r>
              <a:rPr lang="zh-CN" altLang="en-US" b="1" dirty="0">
                <a:solidFill>
                  <a:srgbClr val="FF0000"/>
                </a:solidFill>
              </a:rPr>
              <a:t>装填因子</a:t>
            </a:r>
            <a:r>
              <a:rPr lang="en-US" b="1" dirty="0">
                <a:solidFill>
                  <a:srgbClr val="FF0000"/>
                </a:solidFill>
              </a:rPr>
              <a:t>α=n/m</a:t>
            </a:r>
            <a:r>
              <a:rPr lang="zh-CN" altLang="en-US" dirty="0"/>
              <a:t>，其中</a:t>
            </a:r>
            <a:r>
              <a:rPr lang="en-US" dirty="0"/>
              <a:t>n</a:t>
            </a:r>
            <a:r>
              <a:rPr lang="zh-CN" altLang="en-US" dirty="0"/>
              <a:t>为关键字个数，</a:t>
            </a:r>
            <a:r>
              <a:rPr lang="en-US" dirty="0"/>
              <a:t>m</a:t>
            </a:r>
            <a:r>
              <a:rPr lang="zh-CN" altLang="en-US" dirty="0"/>
              <a:t>为哈希表的表长。</a:t>
            </a:r>
          </a:p>
          <a:p>
            <a:pPr>
              <a:buFont typeface="Arial" pitchFamily="34" charset="0"/>
              <a:buChar char="•"/>
            </a:pPr>
            <a:endParaRPr lang="zh-CN" altLang="en-US" dirty="0"/>
          </a:p>
        </p:txBody>
      </p:sp>
    </p:spTree>
    <p:extLst>
      <p:ext uri="{BB962C8B-B14F-4D97-AF65-F5344CB8AC3E}">
        <p14:creationId xmlns:p14="http://schemas.microsoft.com/office/powerpoint/2010/main" val="3938394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08721"/>
            <a:ext cx="8073533" cy="1584176"/>
          </a:xfrm>
        </p:spPr>
        <p:txBody>
          <a:bodyPr/>
          <a:lstStyle/>
          <a:p>
            <a:pPr marL="0" indent="0" algn="just"/>
            <a:r>
              <a:rPr lang="zh-CN" altLang="zh-CN" b="0" dirty="0"/>
              <a:t>实际上，哈希表的平均查找长度是装填因子</a:t>
            </a:r>
            <a:r>
              <a:rPr lang="en-US" altLang="zh-CN" b="0" dirty="0"/>
              <a:t>α</a:t>
            </a:r>
            <a:r>
              <a:rPr lang="zh-CN" altLang="zh-CN" b="0" dirty="0"/>
              <a:t>的函数，只是不同处理冲突的方法有不同的函数。用不同的方法处理冲突时哈希表的平均搜索长度如表</a:t>
            </a:r>
            <a:r>
              <a:rPr lang="en-US" altLang="zh-CN" b="0" dirty="0"/>
              <a:t>8-4</a:t>
            </a:r>
            <a:r>
              <a:rPr lang="zh-CN" altLang="zh-CN" b="0" dirty="0"/>
              <a:t>所示。</a:t>
            </a:r>
          </a:p>
          <a:p>
            <a:endParaRPr lang="zh-CN" altLang="en-US" b="0" dirty="0"/>
          </a:p>
        </p:txBody>
      </p:sp>
      <p:sp>
        <p:nvSpPr>
          <p:cNvPr id="4" name="矩形 3"/>
          <p:cNvSpPr/>
          <p:nvPr/>
        </p:nvSpPr>
        <p:spPr>
          <a:xfrm>
            <a:off x="827584" y="4894128"/>
            <a:ext cx="7848872" cy="1631216"/>
          </a:xfrm>
          <a:prstGeom prst="rect">
            <a:avLst/>
          </a:prstGeom>
        </p:spPr>
        <p:txBody>
          <a:bodyPr wrap="square">
            <a:spAutoFit/>
          </a:bodyPr>
          <a:lstStyle/>
          <a:p>
            <a:r>
              <a:rPr lang="zh-CN" altLang="zh-CN" sz="2000" dirty="0">
                <a:latin typeface="楷体" panose="02010609060101010101" pitchFamily="49" charset="-122"/>
                <a:ea typeface="楷体" panose="02010609060101010101" pitchFamily="49" charset="-122"/>
              </a:rPr>
              <a:t>一般情况下，</a:t>
            </a:r>
            <a:r>
              <a:rPr lang="zh-CN" altLang="zh-CN" sz="2000" b="1" dirty="0">
                <a:solidFill>
                  <a:srgbClr val="FF0000"/>
                </a:solidFill>
                <a:latin typeface="楷体" panose="02010609060101010101" pitchFamily="49" charset="-122"/>
                <a:ea typeface="楷体" panose="02010609060101010101" pitchFamily="49" charset="-122"/>
              </a:rPr>
              <a:t>哈希表的装填因子</a:t>
            </a:r>
            <a:r>
              <a:rPr lang="en-US" altLang="zh-CN" sz="2000" b="1" dirty="0">
                <a:solidFill>
                  <a:srgbClr val="FF0000"/>
                </a:solidFill>
                <a:latin typeface="楷体" panose="02010609060101010101" pitchFamily="49" charset="-122"/>
                <a:ea typeface="楷体" panose="02010609060101010101" pitchFamily="49" charset="-122"/>
              </a:rPr>
              <a:t>α</a:t>
            </a:r>
            <a:r>
              <a:rPr lang="zh-CN" altLang="zh-CN" sz="2000" b="1" dirty="0">
                <a:solidFill>
                  <a:srgbClr val="FF0000"/>
                </a:solidFill>
                <a:latin typeface="楷体" panose="02010609060101010101" pitchFamily="49" charset="-122"/>
                <a:ea typeface="楷体" panose="02010609060101010101" pitchFamily="49" charset="-122"/>
              </a:rPr>
              <a:t>表明了哈希表中的装满程度。</a:t>
            </a:r>
            <a:r>
              <a:rPr lang="en-US" altLang="zh-CN" sz="2000" dirty="0">
                <a:latin typeface="楷体" panose="02010609060101010101" pitchFamily="49" charset="-122"/>
                <a:ea typeface="楷体" panose="02010609060101010101" pitchFamily="49" charset="-122"/>
              </a:rPr>
              <a:t>α</a:t>
            </a:r>
            <a:r>
              <a:rPr lang="zh-CN" altLang="zh-CN" sz="2000" dirty="0">
                <a:latin typeface="楷体" panose="02010609060101010101" pitchFamily="49" charset="-122"/>
                <a:ea typeface="楷体" panose="02010609060101010101" pitchFamily="49" charset="-122"/>
              </a:rPr>
              <a:t>越大，说明哈希表越满，在插入新元素时发生冲突的可能性就越大。</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zh-CN" sz="2000" dirty="0">
                <a:latin typeface="楷体" panose="02010609060101010101" pitchFamily="49" charset="-122"/>
                <a:ea typeface="楷体" panose="02010609060101010101" pitchFamily="49" charset="-122"/>
              </a:rPr>
              <a:t>希望哈希表有一定的空余量，</a:t>
            </a:r>
            <a:r>
              <a:rPr lang="zh-CN" altLang="zh-CN" sz="2000" b="1" dirty="0">
                <a:solidFill>
                  <a:srgbClr val="FF0000"/>
                </a:solidFill>
                <a:latin typeface="楷体" panose="02010609060101010101" pitchFamily="49" charset="-122"/>
                <a:ea typeface="楷体" panose="02010609060101010101" pitchFamily="49" charset="-122"/>
              </a:rPr>
              <a:t>一般装填因子小于</a:t>
            </a:r>
            <a:r>
              <a:rPr lang="en-US" altLang="zh-CN" sz="2000" b="1" dirty="0">
                <a:solidFill>
                  <a:srgbClr val="FF0000"/>
                </a:solidFill>
                <a:latin typeface="楷体" panose="02010609060101010101" pitchFamily="49" charset="-122"/>
                <a:ea typeface="楷体" panose="02010609060101010101" pitchFamily="49" charset="-122"/>
              </a:rPr>
              <a:t>0.8</a:t>
            </a:r>
            <a:r>
              <a:rPr lang="zh-CN" altLang="zh-CN" sz="2000" dirty="0">
                <a:latin typeface="楷体" panose="02010609060101010101" pitchFamily="49" charset="-122"/>
                <a:ea typeface="楷体" panose="02010609060101010101" pitchFamily="49" charset="-122"/>
              </a:rPr>
              <a:t>。</a:t>
            </a:r>
          </a:p>
          <a:p>
            <a:endParaRPr lang="zh-CN" altLang="en-US" sz="2000" dirty="0">
              <a:latin typeface="楷体" panose="02010609060101010101" pitchFamily="49" charset="-122"/>
              <a:ea typeface="楷体" panose="02010609060101010101" pitchFamily="49" charset="-122"/>
            </a:endParaRPr>
          </a:p>
        </p:txBody>
      </p:sp>
      <p:pic>
        <p:nvPicPr>
          <p:cNvPr id="5" name="图片 4">
            <a:extLst>
              <a:ext uri="{FF2B5EF4-FFF2-40B4-BE49-F238E27FC236}">
                <a16:creationId xmlns:a16="http://schemas.microsoft.com/office/drawing/2014/main" id="{9AECA549-2956-4104-B1DE-DA5F1FE7B0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1640" y="2336063"/>
            <a:ext cx="6282883" cy="2555039"/>
          </a:xfrm>
          <a:prstGeom prst="rect">
            <a:avLst/>
          </a:prstGeom>
        </p:spPr>
      </p:pic>
    </p:spTree>
    <p:extLst>
      <p:ext uri="{BB962C8B-B14F-4D97-AF65-F5344CB8AC3E}">
        <p14:creationId xmlns:p14="http://schemas.microsoft.com/office/powerpoint/2010/main" val="41336059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8.4 </a:t>
            </a:r>
            <a:r>
              <a:rPr lang="zh-CN" altLang="zh-CN" b="1" dirty="0"/>
              <a:t>线性索引</a:t>
            </a:r>
            <a:endParaRPr lang="zh-CN" altLang="en-US" dirty="0"/>
          </a:p>
        </p:txBody>
      </p:sp>
      <p:sp>
        <p:nvSpPr>
          <p:cNvPr id="3" name="内容占位符 2"/>
          <p:cNvSpPr>
            <a:spLocks noGrp="1"/>
          </p:cNvSpPr>
          <p:nvPr>
            <p:ph idx="1"/>
          </p:nvPr>
        </p:nvSpPr>
        <p:spPr>
          <a:xfrm>
            <a:off x="827584" y="1628800"/>
            <a:ext cx="7520940" cy="4464496"/>
          </a:xfrm>
        </p:spPr>
        <p:txBody>
          <a:bodyPr>
            <a:normAutofit/>
          </a:bodyPr>
          <a:lstStyle/>
          <a:p>
            <a:pPr algn="just">
              <a:buFont typeface="Arial" panose="020B0604020202020204" pitchFamily="34" charset="0"/>
              <a:buChar char="•"/>
            </a:pPr>
            <a:r>
              <a:rPr lang="zh-CN" altLang="zh-CN" dirty="0">
                <a:solidFill>
                  <a:srgbClr val="FF0000"/>
                </a:solidFill>
              </a:rPr>
              <a:t>索引结构</a:t>
            </a:r>
            <a:r>
              <a:rPr lang="zh-CN" altLang="zh-CN" b="0" dirty="0"/>
              <a:t>通常由</a:t>
            </a:r>
            <a:r>
              <a:rPr lang="zh-CN" altLang="zh-CN" b="0" dirty="0">
                <a:solidFill>
                  <a:srgbClr val="FF0000"/>
                </a:solidFill>
              </a:rPr>
              <a:t>数据表和索引表</a:t>
            </a:r>
            <a:r>
              <a:rPr lang="zh-CN" altLang="zh-CN" dirty="0"/>
              <a:t>两部分组成</a:t>
            </a:r>
            <a:endParaRPr lang="en-US" altLang="zh-CN" b="0" dirty="0"/>
          </a:p>
          <a:p>
            <a:pPr algn="just">
              <a:buFont typeface="Arial" panose="020B0604020202020204" pitchFamily="34" charset="0"/>
              <a:buChar char="•"/>
            </a:pPr>
            <a:r>
              <a:rPr lang="zh-CN" altLang="zh-CN" dirty="0"/>
              <a:t>数据表用于存储数据元素信息</a:t>
            </a:r>
            <a:endParaRPr lang="en-US" altLang="zh-CN" b="0" dirty="0"/>
          </a:p>
          <a:p>
            <a:pPr algn="just">
              <a:buFont typeface="Arial" panose="020B0604020202020204" pitchFamily="34" charset="0"/>
              <a:buChar char="•"/>
            </a:pPr>
            <a:r>
              <a:rPr lang="zh-CN" altLang="zh-CN" dirty="0"/>
              <a:t>索引表用来记录关键字与记录存储地址之间的对照表</a:t>
            </a:r>
            <a:r>
              <a:rPr lang="zh-CN" altLang="en-US" dirty="0"/>
              <a:t>。</a:t>
            </a:r>
            <a:r>
              <a:rPr lang="zh-CN" altLang="zh-CN" b="0" dirty="0"/>
              <a:t>索引表中的每个元素称为</a:t>
            </a:r>
            <a:r>
              <a:rPr lang="zh-CN" altLang="zh-CN" dirty="0">
                <a:solidFill>
                  <a:srgbClr val="FF0000"/>
                </a:solidFill>
              </a:rPr>
              <a:t>索引项</a:t>
            </a:r>
            <a:r>
              <a:rPr lang="zh-CN" altLang="zh-CN" b="0" dirty="0"/>
              <a:t>，索引项的一般形式为</a:t>
            </a:r>
            <a:r>
              <a:rPr lang="en-US" altLang="zh-CN" b="0" dirty="0">
                <a:solidFill>
                  <a:srgbClr val="FF0000"/>
                </a:solidFill>
              </a:rPr>
              <a:t>&lt;</a:t>
            </a:r>
            <a:r>
              <a:rPr lang="zh-CN" altLang="zh-CN" b="0" dirty="0">
                <a:solidFill>
                  <a:srgbClr val="FF0000"/>
                </a:solidFill>
              </a:rPr>
              <a:t>关键字，指针</a:t>
            </a:r>
            <a:r>
              <a:rPr lang="en-US" altLang="zh-CN" b="0" dirty="0">
                <a:solidFill>
                  <a:srgbClr val="FF0000"/>
                </a:solidFill>
              </a:rPr>
              <a:t>&gt;</a:t>
            </a:r>
            <a:r>
              <a:rPr lang="zh-CN" altLang="zh-CN" b="0" dirty="0"/>
              <a:t>，其中指针指向数据表中的包含该关键字的完整记录。</a:t>
            </a:r>
            <a:endParaRPr lang="en-US" altLang="zh-CN" b="0" dirty="0"/>
          </a:p>
          <a:p>
            <a:pPr algn="just">
              <a:buFont typeface="Arial" panose="020B0604020202020204" pitchFamily="34" charset="0"/>
              <a:buChar char="•"/>
            </a:pPr>
            <a:r>
              <a:rPr lang="zh-CN" altLang="zh-CN" b="0" dirty="0"/>
              <a:t>记录的存储可以是无序的，但索引项是有序的。</a:t>
            </a:r>
            <a:endParaRPr lang="en-US" altLang="zh-CN" b="0" dirty="0"/>
          </a:p>
          <a:p>
            <a:pPr algn="just">
              <a:buFont typeface="Arial" panose="020B0604020202020204" pitchFamily="34" charset="0"/>
              <a:buChar char="•"/>
            </a:pPr>
            <a:r>
              <a:rPr lang="zh-CN" altLang="zh-CN" b="0" dirty="0"/>
              <a:t>以索引结构组织的查找表称为</a:t>
            </a:r>
            <a:r>
              <a:rPr lang="zh-CN" altLang="zh-CN" dirty="0">
                <a:solidFill>
                  <a:srgbClr val="FF0000"/>
                </a:solidFill>
              </a:rPr>
              <a:t>索引查找表</a:t>
            </a:r>
            <a:r>
              <a:rPr lang="zh-CN" altLang="zh-CN" b="0" dirty="0"/>
              <a:t>。</a:t>
            </a:r>
          </a:p>
          <a:p>
            <a:endParaRPr lang="zh-CN" altLang="en-US" b="0" dirty="0"/>
          </a:p>
        </p:txBody>
      </p:sp>
    </p:spTree>
    <p:extLst>
      <p:ext uri="{BB962C8B-B14F-4D97-AF65-F5344CB8AC3E}">
        <p14:creationId xmlns:p14="http://schemas.microsoft.com/office/powerpoint/2010/main" val="9279966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124744"/>
            <a:ext cx="7560840" cy="3579849"/>
          </a:xfrm>
        </p:spPr>
        <p:txBody>
          <a:bodyPr/>
          <a:lstStyle/>
          <a:p>
            <a:pPr lvl="0" algn="just"/>
            <a:r>
              <a:rPr lang="en-US" altLang="zh-CN" dirty="0"/>
              <a:t>1.</a:t>
            </a:r>
            <a:r>
              <a:rPr lang="zh-CN" altLang="zh-CN" dirty="0"/>
              <a:t>线性索引（</a:t>
            </a:r>
            <a:r>
              <a:rPr lang="en-US" altLang="zh-CN" dirty="0"/>
              <a:t>linear index</a:t>
            </a:r>
            <a:r>
              <a:rPr lang="zh-CN" altLang="zh-CN" dirty="0"/>
              <a:t>）</a:t>
            </a:r>
          </a:p>
          <a:p>
            <a:pPr algn="just"/>
            <a:r>
              <a:rPr lang="en-US" altLang="zh-CN" b="0" dirty="0"/>
              <a:t>	</a:t>
            </a:r>
            <a:r>
              <a:rPr lang="zh-CN" altLang="zh-CN" dirty="0">
                <a:solidFill>
                  <a:srgbClr val="FF0000"/>
                </a:solidFill>
              </a:rPr>
              <a:t>线性索引</a:t>
            </a:r>
            <a:r>
              <a:rPr lang="zh-CN" altLang="zh-CN" b="0" dirty="0"/>
              <a:t>的索引文件被组织成一组简单的</a:t>
            </a:r>
            <a:r>
              <a:rPr lang="en-US" altLang="zh-CN" b="0" dirty="0"/>
              <a:t>&lt;</a:t>
            </a:r>
            <a:r>
              <a:rPr lang="zh-CN" altLang="zh-CN" b="0" dirty="0"/>
              <a:t>关键字，指针</a:t>
            </a:r>
            <a:r>
              <a:rPr lang="en-US" altLang="zh-CN" b="0" dirty="0"/>
              <a:t>&gt;</a:t>
            </a:r>
            <a:r>
              <a:rPr lang="zh-CN" altLang="zh-CN" b="0" dirty="0"/>
              <a:t>对的序列。在索引文件中，按照关键字的顺序进行排序，指针指向存储在磁盘上的文件记录的</a:t>
            </a:r>
            <a:r>
              <a:rPr lang="zh-CN" altLang="en-US" b="0" dirty="0"/>
              <a:t>起始</a:t>
            </a:r>
            <a:r>
              <a:rPr lang="zh-CN" altLang="zh-CN" b="0" dirty="0"/>
              <a:t>位置或者主索引中关键字的起始位置。</a:t>
            </a:r>
            <a:r>
              <a:rPr lang="zh-CN" altLang="zh-CN" dirty="0">
                <a:solidFill>
                  <a:srgbClr val="FF0000"/>
                </a:solidFill>
              </a:rPr>
              <a:t>可用顺序查找或折半查找实现记录的定位</a:t>
            </a:r>
            <a:r>
              <a:rPr lang="zh-CN" altLang="zh-CN" b="0" dirty="0"/>
              <a:t>。</a:t>
            </a:r>
          </a:p>
          <a:p>
            <a:endParaRPr lang="zh-CN" altLang="en-US" dirty="0"/>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4149080"/>
            <a:ext cx="5153575" cy="1918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4953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920880" cy="4896544"/>
          </a:xfrm>
        </p:spPr>
        <p:txBody>
          <a:bodyPr>
            <a:normAutofit/>
          </a:bodyPr>
          <a:lstStyle/>
          <a:p>
            <a:pPr algn="just"/>
            <a:r>
              <a:rPr lang="zh-CN" altLang="zh-CN" dirty="0">
                <a:solidFill>
                  <a:srgbClr val="FF0000"/>
                </a:solidFill>
              </a:rPr>
              <a:t>线性索引的优点</a:t>
            </a:r>
            <a:r>
              <a:rPr lang="en-US" altLang="zh-CN" dirty="0">
                <a:solidFill>
                  <a:srgbClr val="FF0000"/>
                </a:solidFill>
              </a:rPr>
              <a:t>:</a:t>
            </a:r>
          </a:p>
          <a:p>
            <a:pPr algn="just"/>
            <a:r>
              <a:rPr lang="en-US" altLang="zh-CN" b="0" dirty="0"/>
              <a:t>	</a:t>
            </a:r>
            <a:r>
              <a:rPr lang="zh-CN" altLang="zh-CN" b="0" dirty="0"/>
              <a:t>索引文件中记录是定长的，而且是按关键字有序，所以</a:t>
            </a:r>
            <a:r>
              <a:rPr lang="zh-CN" altLang="zh-CN" b="0" dirty="0">
                <a:solidFill>
                  <a:srgbClr val="FF0000"/>
                </a:solidFill>
              </a:rPr>
              <a:t>可以利用折半查找法来进行快速查找</a:t>
            </a:r>
            <a:r>
              <a:rPr lang="zh-CN" altLang="zh-CN" b="0" dirty="0"/>
              <a:t>，从而提高检索效率。</a:t>
            </a:r>
            <a:r>
              <a:rPr lang="zh-CN" altLang="en-US" b="0" dirty="0"/>
              <a:t>此外，也可减少磁盘文件的读写次数。</a:t>
            </a:r>
            <a:endParaRPr lang="en-US" altLang="zh-CN" b="0" dirty="0"/>
          </a:p>
          <a:p>
            <a:pPr algn="just"/>
            <a:r>
              <a:rPr lang="zh-CN" altLang="zh-CN" dirty="0">
                <a:solidFill>
                  <a:srgbClr val="FF0000"/>
                </a:solidFill>
              </a:rPr>
              <a:t>线性索引的缺点</a:t>
            </a:r>
            <a:r>
              <a:rPr lang="en-US" altLang="zh-CN" dirty="0"/>
              <a:t>:</a:t>
            </a:r>
          </a:p>
          <a:p>
            <a:pPr algn="just"/>
            <a:r>
              <a:rPr lang="en-US" altLang="zh-CN" b="0" dirty="0"/>
              <a:t>	</a:t>
            </a:r>
            <a:r>
              <a:rPr lang="zh-CN" altLang="zh-CN" b="0" dirty="0"/>
              <a:t>假如存在大量的数据记录，那么</a:t>
            </a:r>
            <a:r>
              <a:rPr lang="zh-CN" altLang="zh-CN" b="0" dirty="0">
                <a:solidFill>
                  <a:srgbClr val="FF0000"/>
                </a:solidFill>
              </a:rPr>
              <a:t>可能由于索引文件太大而不能存储到内存当中</a:t>
            </a:r>
            <a:r>
              <a:rPr lang="zh-CN" altLang="zh-CN" b="0" dirty="0"/>
              <a:t>。这样在检索过程中，需要多次访问磁盘，降低检索效率。</a:t>
            </a:r>
            <a:endParaRPr lang="en-US" altLang="zh-CN" b="0" dirty="0"/>
          </a:p>
          <a:p>
            <a:pPr algn="just"/>
            <a:r>
              <a:rPr lang="en-US" altLang="zh-CN" dirty="0"/>
              <a:t>	</a:t>
            </a:r>
            <a:r>
              <a:rPr lang="zh-CN" altLang="en-US" dirty="0"/>
              <a:t>注：</a:t>
            </a:r>
            <a:r>
              <a:rPr lang="zh-CN" altLang="zh-CN" dirty="0"/>
              <a:t>可以通过建立</a:t>
            </a:r>
            <a:r>
              <a:rPr lang="zh-CN" altLang="zh-CN" dirty="0">
                <a:solidFill>
                  <a:srgbClr val="FF0000"/>
                </a:solidFill>
              </a:rPr>
              <a:t>二级索引</a:t>
            </a:r>
            <a:r>
              <a:rPr lang="zh-CN" altLang="zh-CN" dirty="0"/>
              <a:t>来</a:t>
            </a:r>
            <a:r>
              <a:rPr lang="zh-CN" altLang="en-US" dirty="0"/>
              <a:t>改善</a:t>
            </a:r>
            <a:r>
              <a:rPr lang="zh-CN" altLang="zh-CN" dirty="0"/>
              <a:t>该问题</a:t>
            </a:r>
            <a:r>
              <a:rPr lang="zh-CN" altLang="en-US" dirty="0"/>
              <a:t>（如下文）</a:t>
            </a:r>
            <a:r>
              <a:rPr lang="zh-CN" altLang="zh-CN" dirty="0"/>
              <a:t>。</a:t>
            </a:r>
          </a:p>
          <a:p>
            <a:endParaRPr lang="zh-CN" altLang="en-US" dirty="0"/>
          </a:p>
        </p:txBody>
      </p:sp>
    </p:spTree>
    <p:extLst>
      <p:ext uri="{BB962C8B-B14F-4D97-AF65-F5344CB8AC3E}">
        <p14:creationId xmlns:p14="http://schemas.microsoft.com/office/powerpoint/2010/main" val="13623489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1052737"/>
            <a:ext cx="7560840" cy="2448272"/>
          </a:xfrm>
        </p:spPr>
        <p:txBody>
          <a:bodyPr/>
          <a:lstStyle/>
          <a:p>
            <a:pPr algn="just"/>
            <a:r>
              <a:rPr lang="en-US" altLang="zh-CN" dirty="0"/>
              <a:t>	</a:t>
            </a:r>
            <a:r>
              <a:rPr lang="zh-CN" altLang="zh-CN" b="0" dirty="0"/>
              <a:t>二级线性索引文件中同样是</a:t>
            </a:r>
            <a:r>
              <a:rPr lang="en-US" altLang="zh-CN" dirty="0"/>
              <a:t>&lt;</a:t>
            </a:r>
            <a:r>
              <a:rPr lang="zh-CN" altLang="zh-CN" dirty="0"/>
              <a:t>关键字，指针</a:t>
            </a:r>
            <a:r>
              <a:rPr lang="en-US" altLang="zh-CN" dirty="0"/>
              <a:t>&gt;</a:t>
            </a:r>
            <a:r>
              <a:rPr lang="zh-CN" altLang="zh-CN" b="0" dirty="0"/>
              <a:t>序列，二级索引表中的</a:t>
            </a:r>
            <a:r>
              <a:rPr lang="zh-CN" altLang="zh-CN" b="0" dirty="0">
                <a:solidFill>
                  <a:srgbClr val="FF0000"/>
                </a:solidFill>
              </a:rPr>
              <a:t>每条记录都对应于一个一级索引表的磁盘块</a:t>
            </a:r>
            <a:r>
              <a:rPr lang="zh-CN" altLang="zh-CN" b="0" dirty="0"/>
              <a:t>，二级索引表中的关键字值与对应的一级索引表的磁盘块中第一条记录的关键字值相同，而且指针指向相应一级索引表的磁盘块的起始位置。</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5736" y="3501008"/>
            <a:ext cx="5112848" cy="2553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5426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normAutofit lnSpcReduction="10000"/>
          </a:bodyPr>
          <a:lstStyle/>
          <a:p>
            <a:pPr lvl="0" algn="just"/>
            <a:r>
              <a:rPr lang="en-US" altLang="zh-CN" dirty="0"/>
              <a:t>2. </a:t>
            </a:r>
            <a:r>
              <a:rPr lang="zh-CN" altLang="zh-CN" dirty="0"/>
              <a:t>分块索引</a:t>
            </a:r>
          </a:p>
          <a:p>
            <a:pPr algn="just"/>
            <a:r>
              <a:rPr lang="en-US" altLang="zh-CN" b="0" dirty="0"/>
              <a:t>	</a:t>
            </a:r>
            <a:r>
              <a:rPr lang="zh-CN" altLang="zh-CN" dirty="0">
                <a:solidFill>
                  <a:srgbClr val="FF0000"/>
                </a:solidFill>
              </a:rPr>
              <a:t>分块索引</a:t>
            </a:r>
            <a:r>
              <a:rPr lang="zh-CN" altLang="en-US" b="0" dirty="0"/>
              <a:t>是指</a:t>
            </a:r>
            <a:r>
              <a:rPr lang="zh-CN" altLang="zh-CN" dirty="0">
                <a:solidFill>
                  <a:srgbClr val="FF0000"/>
                </a:solidFill>
              </a:rPr>
              <a:t>块间有序</a:t>
            </a:r>
            <a:r>
              <a:rPr lang="zh-CN" altLang="zh-CN" b="0" dirty="0"/>
              <a:t>，即数据块之间按每个数据块中的最大（最小）关键字有序。</a:t>
            </a:r>
            <a:r>
              <a:rPr lang="zh-CN" altLang="zh-CN" dirty="0"/>
              <a:t>索引表中存储块中的最大值或最小值</a:t>
            </a:r>
            <a:r>
              <a:rPr lang="zh-CN" altLang="zh-CN" b="0" dirty="0"/>
              <a:t>。要求后一块的关键字大于（或小于）前一块的关键字。</a:t>
            </a:r>
            <a:endParaRPr lang="en-US" altLang="zh-CN" b="0" dirty="0"/>
          </a:p>
          <a:p>
            <a:pPr algn="just"/>
            <a:r>
              <a:rPr lang="en-US" altLang="zh-CN" b="0" dirty="0"/>
              <a:t>	</a:t>
            </a:r>
            <a:r>
              <a:rPr lang="zh-CN" altLang="en-US" dirty="0">
                <a:solidFill>
                  <a:srgbClr val="FF0000"/>
                </a:solidFill>
              </a:rPr>
              <a:t>分</a:t>
            </a:r>
            <a:r>
              <a:rPr lang="zh-CN" altLang="zh-CN" dirty="0">
                <a:solidFill>
                  <a:srgbClr val="FF0000"/>
                </a:solidFill>
              </a:rPr>
              <a:t>块索引是顺序存储的</a:t>
            </a:r>
            <a:r>
              <a:rPr lang="zh-CN" altLang="zh-CN" b="0" dirty="0"/>
              <a:t>，索引表为</a:t>
            </a:r>
            <a:r>
              <a:rPr lang="en-US" altLang="zh-CN" b="0" dirty="0"/>
              <a:t>n/s</a:t>
            </a:r>
            <a:r>
              <a:rPr lang="zh-CN" altLang="zh-CN" b="0" dirty="0"/>
              <a:t>，块内搜索</a:t>
            </a:r>
            <a:r>
              <a:rPr lang="en-US" altLang="zh-CN" b="0" dirty="0"/>
              <a:t>s</a:t>
            </a:r>
            <a:r>
              <a:rPr lang="zh-CN" altLang="zh-CN" b="0" dirty="0"/>
              <a:t>。</a:t>
            </a:r>
            <a:r>
              <a:rPr lang="en-US" altLang="zh-CN" b="0" dirty="0"/>
              <a:t>n</a:t>
            </a:r>
            <a:r>
              <a:rPr lang="zh-CN" altLang="zh-CN" b="0" dirty="0"/>
              <a:t>为总的记录数，</a:t>
            </a:r>
            <a:r>
              <a:rPr lang="en-US" altLang="zh-CN" b="0" dirty="0"/>
              <a:t>s </a:t>
            </a:r>
            <a:r>
              <a:rPr lang="zh-CN" altLang="zh-CN" b="0" dirty="0"/>
              <a:t>为块内元素数，则</a:t>
            </a:r>
            <a:r>
              <a:rPr lang="zh-CN" altLang="zh-CN" dirty="0">
                <a:solidFill>
                  <a:srgbClr val="FF0000"/>
                </a:solidFill>
              </a:rPr>
              <a:t>复杂度为</a:t>
            </a:r>
            <a:r>
              <a:rPr lang="en-US" altLang="zh-CN" dirty="0">
                <a:solidFill>
                  <a:srgbClr val="FF0000"/>
                </a:solidFill>
              </a:rPr>
              <a:t>O(n/</a:t>
            </a:r>
            <a:r>
              <a:rPr lang="en-US" altLang="zh-CN" dirty="0" err="1">
                <a:solidFill>
                  <a:srgbClr val="FF0000"/>
                </a:solidFill>
              </a:rPr>
              <a:t>s+s</a:t>
            </a:r>
            <a:r>
              <a:rPr lang="en-US" altLang="zh-CN" dirty="0">
                <a:solidFill>
                  <a:srgbClr val="FF0000"/>
                </a:solidFill>
              </a:rPr>
              <a:t>)</a:t>
            </a:r>
            <a:r>
              <a:rPr lang="zh-CN" altLang="zh-CN" b="0" dirty="0"/>
              <a:t>。</a:t>
            </a:r>
          </a:p>
          <a:p>
            <a:endParaRPr lang="zh-CN" altLang="en-US" b="0"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4509120"/>
            <a:ext cx="5432276" cy="1727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076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8.5 </a:t>
            </a:r>
            <a:r>
              <a:rPr lang="zh-CN" altLang="zh-CN" b="1" dirty="0"/>
              <a:t>树形索引</a:t>
            </a:r>
            <a:endParaRPr lang="zh-CN" altLang="en-US" dirty="0"/>
          </a:p>
        </p:txBody>
      </p:sp>
      <p:sp>
        <p:nvSpPr>
          <p:cNvPr id="3" name="内容占位符 2"/>
          <p:cNvSpPr>
            <a:spLocks noGrp="1"/>
          </p:cNvSpPr>
          <p:nvPr>
            <p:ph idx="1"/>
          </p:nvPr>
        </p:nvSpPr>
        <p:spPr/>
        <p:txBody>
          <a:bodyPr/>
          <a:lstStyle/>
          <a:p>
            <a:pPr algn="just">
              <a:buFont typeface="Wingdings" panose="05000000000000000000" pitchFamily="2" charset="2"/>
              <a:buChar char="Ø"/>
            </a:pPr>
            <a:r>
              <a:rPr lang="en-US" altLang="zh-CN" dirty="0">
                <a:solidFill>
                  <a:srgbClr val="FF0000"/>
                </a:solidFill>
              </a:rPr>
              <a:t>B</a:t>
            </a:r>
            <a:r>
              <a:rPr lang="zh-CN" altLang="zh-CN" dirty="0">
                <a:solidFill>
                  <a:srgbClr val="FF0000"/>
                </a:solidFill>
              </a:rPr>
              <a:t>树</a:t>
            </a:r>
            <a:r>
              <a:rPr lang="zh-CN" altLang="en-US" b="0" dirty="0"/>
              <a:t>又称为</a:t>
            </a:r>
            <a:r>
              <a:rPr lang="zh-CN" altLang="en-US" dirty="0"/>
              <a:t>多路平衡查找树</a:t>
            </a:r>
            <a:r>
              <a:rPr lang="zh-CN" altLang="en-US" b="0" dirty="0"/>
              <a:t>，</a:t>
            </a:r>
            <a:r>
              <a:rPr lang="zh-CN" altLang="zh-CN" b="0" dirty="0"/>
              <a:t>是目前使用</a:t>
            </a:r>
            <a:r>
              <a:rPr lang="zh-CN" altLang="zh-CN" dirty="0"/>
              <a:t>最为广泛的索引方法</a:t>
            </a:r>
            <a:r>
              <a:rPr lang="zh-CN" altLang="zh-CN" b="0" dirty="0"/>
              <a:t>，树结构更新之后仍能自动保持平衡，且适于按块存储。</a:t>
            </a:r>
            <a:endParaRPr lang="en-US" altLang="zh-CN" b="0" dirty="0"/>
          </a:p>
          <a:p>
            <a:pPr algn="just">
              <a:buFont typeface="Wingdings" panose="05000000000000000000" pitchFamily="2" charset="2"/>
              <a:buChar char="Ø"/>
            </a:pPr>
            <a:r>
              <a:rPr lang="zh-CN" altLang="en-US" b="0" dirty="0"/>
              <a:t>为了更好地理解</a:t>
            </a:r>
            <a:r>
              <a:rPr lang="en-US" altLang="zh-CN" b="0" dirty="0"/>
              <a:t>B</a:t>
            </a:r>
            <a:r>
              <a:rPr lang="zh-CN" altLang="en-US" b="0" dirty="0"/>
              <a:t>树构造过程，此处先介绍一种叫</a:t>
            </a:r>
            <a:r>
              <a:rPr lang="en-US" altLang="zh-CN" dirty="0">
                <a:solidFill>
                  <a:srgbClr val="FF0000"/>
                </a:solidFill>
              </a:rPr>
              <a:t>2-3</a:t>
            </a:r>
            <a:r>
              <a:rPr lang="zh-CN" altLang="en-US" dirty="0">
                <a:solidFill>
                  <a:srgbClr val="FF0000"/>
                </a:solidFill>
              </a:rPr>
              <a:t>树</a:t>
            </a:r>
            <a:r>
              <a:rPr lang="zh-CN" altLang="en-US" b="0" dirty="0"/>
              <a:t>的结构。实际上，</a:t>
            </a:r>
            <a:r>
              <a:rPr lang="en-US" altLang="zh-CN" dirty="0"/>
              <a:t>2-3</a:t>
            </a:r>
            <a:r>
              <a:rPr lang="zh-CN" altLang="en-US" dirty="0"/>
              <a:t>树是</a:t>
            </a:r>
            <a:r>
              <a:rPr lang="en-US" altLang="zh-CN" dirty="0"/>
              <a:t>B</a:t>
            </a:r>
            <a:r>
              <a:rPr lang="zh-CN" altLang="en-US" dirty="0"/>
              <a:t>树的特殊情况，</a:t>
            </a:r>
            <a:r>
              <a:rPr lang="zh-CN" altLang="en-US" dirty="0">
                <a:solidFill>
                  <a:srgbClr val="FF0000"/>
                </a:solidFill>
              </a:rPr>
              <a:t>也就是</a:t>
            </a:r>
            <a:r>
              <a:rPr lang="en-US" altLang="zh-CN" dirty="0">
                <a:solidFill>
                  <a:srgbClr val="FF0000"/>
                </a:solidFill>
              </a:rPr>
              <a:t>3</a:t>
            </a:r>
            <a:r>
              <a:rPr lang="zh-CN" altLang="en-US" dirty="0">
                <a:solidFill>
                  <a:srgbClr val="FF0000"/>
                </a:solidFill>
              </a:rPr>
              <a:t>阶</a:t>
            </a:r>
            <a:r>
              <a:rPr lang="en-US" altLang="zh-CN" dirty="0">
                <a:solidFill>
                  <a:srgbClr val="FF0000"/>
                </a:solidFill>
              </a:rPr>
              <a:t>B</a:t>
            </a:r>
            <a:r>
              <a:rPr lang="zh-CN" altLang="en-US" dirty="0">
                <a:solidFill>
                  <a:srgbClr val="FF0000"/>
                </a:solidFill>
              </a:rPr>
              <a:t>树</a:t>
            </a:r>
            <a:r>
              <a:rPr lang="zh-CN" altLang="en-US" b="0" dirty="0"/>
              <a:t>。</a:t>
            </a:r>
            <a:endParaRPr lang="zh-CN" altLang="zh-CN" b="0" dirty="0"/>
          </a:p>
        </p:txBody>
      </p:sp>
    </p:spTree>
    <p:extLst>
      <p:ext uri="{BB962C8B-B14F-4D97-AF65-F5344CB8AC3E}">
        <p14:creationId xmlns:p14="http://schemas.microsoft.com/office/powerpoint/2010/main" val="8816371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8.5.1 2-3</a:t>
            </a:r>
            <a:r>
              <a:rPr lang="zh-CN" altLang="zh-CN" b="1" dirty="0"/>
              <a:t>树</a:t>
            </a:r>
            <a:endParaRPr lang="zh-CN" altLang="en-US" dirty="0"/>
          </a:p>
        </p:txBody>
      </p:sp>
      <p:sp>
        <p:nvSpPr>
          <p:cNvPr id="3" name="内容占位符 2"/>
          <p:cNvSpPr>
            <a:spLocks noGrp="1"/>
          </p:cNvSpPr>
          <p:nvPr>
            <p:ph idx="1"/>
          </p:nvPr>
        </p:nvSpPr>
        <p:spPr>
          <a:xfrm>
            <a:off x="683568" y="1628800"/>
            <a:ext cx="8064896" cy="3579849"/>
          </a:xfrm>
        </p:spPr>
        <p:txBody>
          <a:bodyPr/>
          <a:lstStyle/>
          <a:p>
            <a:pPr algn="just"/>
            <a:r>
              <a:rPr lang="en-US" altLang="zh-CN" dirty="0">
                <a:solidFill>
                  <a:srgbClr val="FF0000"/>
                </a:solidFill>
              </a:rPr>
              <a:t>2-3</a:t>
            </a:r>
            <a:r>
              <a:rPr lang="zh-CN" altLang="zh-CN" dirty="0">
                <a:solidFill>
                  <a:srgbClr val="FF0000"/>
                </a:solidFill>
              </a:rPr>
              <a:t>树的定义</a:t>
            </a:r>
            <a:r>
              <a:rPr lang="zh-CN" altLang="zh-CN" dirty="0"/>
              <a:t>：</a:t>
            </a:r>
          </a:p>
          <a:p>
            <a:pPr algn="just"/>
            <a:r>
              <a:rPr lang="en-US" altLang="zh-CN" b="0" dirty="0"/>
              <a:t>1) </a:t>
            </a:r>
            <a:r>
              <a:rPr lang="zh-CN" altLang="zh-CN" b="0" dirty="0"/>
              <a:t>每个结点上的</a:t>
            </a:r>
            <a:r>
              <a:rPr lang="zh-CN" altLang="zh-CN" dirty="0">
                <a:solidFill>
                  <a:srgbClr val="FF0000"/>
                </a:solidFill>
              </a:rPr>
              <a:t>子树个数可以是</a:t>
            </a:r>
            <a:r>
              <a:rPr lang="en-US" altLang="zh-CN" dirty="0">
                <a:solidFill>
                  <a:srgbClr val="FF0000"/>
                </a:solidFill>
              </a:rPr>
              <a:t>2-3</a:t>
            </a:r>
            <a:r>
              <a:rPr lang="zh-CN" altLang="zh-CN" dirty="0">
                <a:solidFill>
                  <a:srgbClr val="FF0000"/>
                </a:solidFill>
              </a:rPr>
              <a:t>个</a:t>
            </a:r>
            <a:r>
              <a:rPr lang="zh-CN" altLang="zh-CN" b="0" dirty="0"/>
              <a:t>。每个结点包含一个或两个关键字的值；</a:t>
            </a:r>
          </a:p>
          <a:p>
            <a:pPr algn="just"/>
            <a:r>
              <a:rPr lang="en-US" altLang="zh-CN" b="0" dirty="0"/>
              <a:t>2) </a:t>
            </a:r>
            <a:r>
              <a:rPr lang="zh-CN" altLang="zh-CN" b="0" dirty="0"/>
              <a:t>每个内结点或有一个关键字两个子树，或有两个关键字三个子树；</a:t>
            </a:r>
          </a:p>
          <a:p>
            <a:pPr algn="just"/>
            <a:r>
              <a:rPr lang="en-US" altLang="zh-CN" b="0" dirty="0"/>
              <a:t>3) </a:t>
            </a:r>
            <a:r>
              <a:rPr lang="zh-CN" altLang="zh-CN" b="0" dirty="0"/>
              <a:t>所有的</a:t>
            </a:r>
            <a:r>
              <a:rPr lang="zh-CN" altLang="zh-CN" dirty="0">
                <a:solidFill>
                  <a:srgbClr val="FF0000"/>
                </a:solidFill>
              </a:rPr>
              <a:t>叶子结点在</a:t>
            </a:r>
            <a:r>
              <a:rPr lang="en-US" altLang="zh-CN" dirty="0">
                <a:solidFill>
                  <a:srgbClr val="FF0000"/>
                </a:solidFill>
              </a:rPr>
              <a:t>2-3</a:t>
            </a:r>
            <a:r>
              <a:rPr lang="zh-CN" altLang="zh-CN" dirty="0">
                <a:solidFill>
                  <a:srgbClr val="FF0000"/>
                </a:solidFill>
              </a:rPr>
              <a:t>树的同一层出现</a:t>
            </a:r>
            <a:r>
              <a:rPr lang="zh-CN" altLang="zh-CN" b="0" dirty="0"/>
              <a:t>。即高度是一样的</a:t>
            </a:r>
            <a:r>
              <a:rPr lang="zh-CN" altLang="en-US" b="0" dirty="0"/>
              <a:t>。</a:t>
            </a:r>
            <a:endParaRPr lang="zh-CN" altLang="zh-CN" b="0" dirty="0"/>
          </a:p>
          <a:p>
            <a:endParaRPr lang="zh-CN" altLang="en-US" dirty="0"/>
          </a:p>
        </p:txBody>
      </p:sp>
    </p:spTree>
    <p:extLst>
      <p:ext uri="{BB962C8B-B14F-4D97-AF65-F5344CB8AC3E}">
        <p14:creationId xmlns:p14="http://schemas.microsoft.com/office/powerpoint/2010/main" val="34966287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280920" cy="1008112"/>
          </a:xfrm>
        </p:spPr>
        <p:txBody>
          <a:bodyPr/>
          <a:lstStyle/>
          <a:p>
            <a:r>
              <a:rPr lang="en-US" altLang="zh-CN" b="0" dirty="0"/>
              <a:t>	</a:t>
            </a:r>
            <a:r>
              <a:rPr lang="en-US" altLang="zh-CN" dirty="0">
                <a:solidFill>
                  <a:srgbClr val="FF0000"/>
                </a:solidFill>
              </a:rPr>
              <a:t>2-3</a:t>
            </a:r>
            <a:r>
              <a:rPr lang="zh-CN" altLang="zh-CN" dirty="0">
                <a:solidFill>
                  <a:srgbClr val="FF0000"/>
                </a:solidFill>
              </a:rPr>
              <a:t>树更新代价更小</a:t>
            </a:r>
            <a:r>
              <a:rPr lang="zh-CN" altLang="en-US" dirty="0">
                <a:solidFill>
                  <a:srgbClr val="FF0000"/>
                </a:solidFill>
              </a:rPr>
              <a:t>。</a:t>
            </a:r>
            <a:r>
              <a:rPr lang="zh-CN" altLang="zh-CN" b="0" dirty="0"/>
              <a:t>具有</a:t>
            </a:r>
            <a:r>
              <a:rPr lang="en-US" altLang="zh-CN" b="0" dirty="0"/>
              <a:t>N</a:t>
            </a:r>
            <a:r>
              <a:rPr lang="zh-CN" altLang="zh-CN" b="0" dirty="0"/>
              <a:t>个关键字的</a:t>
            </a:r>
            <a:r>
              <a:rPr lang="en-US" altLang="zh-CN" b="0" dirty="0"/>
              <a:t>2-3</a:t>
            </a:r>
            <a:r>
              <a:rPr lang="zh-CN" altLang="zh-CN" b="0" dirty="0"/>
              <a:t>树的高度比相应的二叉查找树</a:t>
            </a:r>
            <a:r>
              <a:rPr lang="zh-CN" altLang="en-US" b="0" dirty="0"/>
              <a:t>的高度要</a:t>
            </a:r>
            <a:r>
              <a:rPr lang="zh-CN" altLang="zh-CN" b="0" dirty="0"/>
              <a:t>低</a:t>
            </a:r>
            <a:r>
              <a:rPr lang="zh-CN" altLang="en-US" b="0" dirty="0"/>
              <a:t>很多</a:t>
            </a:r>
            <a:r>
              <a:rPr lang="zh-CN" altLang="zh-CN" b="0" dirty="0"/>
              <a:t>。</a:t>
            </a:r>
            <a:endParaRPr lang="zh-CN" altLang="en-US" b="0"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1916832"/>
            <a:ext cx="5634278"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743811" y="4077072"/>
            <a:ext cx="7992888" cy="1938992"/>
          </a:xfrm>
          <a:prstGeom prst="rect">
            <a:avLst/>
          </a:prstGeom>
        </p:spPr>
        <p:txBody>
          <a:bodyPr wrap="square">
            <a:spAutoFit/>
          </a:bodyPr>
          <a:lstStyle/>
          <a:p>
            <a:pPr algn="just"/>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2-3</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树中</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左边孩子中的结点值小于父结点中第一个关键字的值；</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中间孩子中的结点值大于父结点中第一个关键字的值，</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且</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小于第二个关键字的值；</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右边孩子中的结点值大于父结点中第二个关键字的值。</a:t>
            </a:r>
          </a:p>
        </p:txBody>
      </p:sp>
    </p:spTree>
    <p:extLst>
      <p:ext uri="{BB962C8B-B14F-4D97-AF65-F5344CB8AC3E}">
        <p14:creationId xmlns:p14="http://schemas.microsoft.com/office/powerpoint/2010/main" val="2231018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20880" cy="3168351"/>
          </a:xfrm>
        </p:spPr>
        <p:txBody>
          <a:bodyPr>
            <a:normAutofit fontScale="85000" lnSpcReduction="10000"/>
          </a:bodyPr>
          <a:lstStyle/>
          <a:p>
            <a:pPr algn="just"/>
            <a:r>
              <a:rPr lang="en-US" altLang="zh-CN" dirty="0">
                <a:solidFill>
                  <a:srgbClr val="FF0000"/>
                </a:solidFill>
              </a:rPr>
              <a:t>2-3</a:t>
            </a:r>
            <a:r>
              <a:rPr lang="zh-CN" altLang="zh-CN" dirty="0">
                <a:solidFill>
                  <a:srgbClr val="FF0000"/>
                </a:solidFill>
              </a:rPr>
              <a:t>树的</a:t>
            </a:r>
            <a:r>
              <a:rPr lang="zh-CN" altLang="en-US" dirty="0">
                <a:solidFill>
                  <a:srgbClr val="FF0000"/>
                </a:solidFill>
              </a:rPr>
              <a:t>查找过程：</a:t>
            </a:r>
            <a:endParaRPr lang="zh-CN" altLang="zh-CN" dirty="0"/>
          </a:p>
          <a:p>
            <a:pPr algn="just"/>
            <a:r>
              <a:rPr lang="en-US" altLang="zh-CN" dirty="0">
                <a:solidFill>
                  <a:srgbClr val="FF0000"/>
                </a:solidFill>
              </a:rPr>
              <a:t>	</a:t>
            </a:r>
            <a:r>
              <a:rPr lang="zh-CN" altLang="en-US" dirty="0">
                <a:solidFill>
                  <a:srgbClr val="FF0000"/>
                </a:solidFill>
              </a:rPr>
              <a:t>从根结点开始，按照</a:t>
            </a:r>
            <a:r>
              <a:rPr lang="en-US" altLang="zh-CN" dirty="0">
                <a:solidFill>
                  <a:srgbClr val="FF0000"/>
                </a:solidFill>
              </a:rPr>
              <a:t>2-3</a:t>
            </a:r>
            <a:r>
              <a:rPr lang="zh-CN" altLang="en-US" dirty="0">
                <a:solidFill>
                  <a:srgbClr val="FF0000"/>
                </a:solidFill>
              </a:rPr>
              <a:t>树定义中关键字关系，逐级向下确定待查找关键字。类似于二叉查找树，</a:t>
            </a:r>
            <a:r>
              <a:rPr lang="zh-CN" altLang="en-US" dirty="0"/>
              <a:t>要么中途比较相等找到成功，要么直到叶子层失败。</a:t>
            </a:r>
            <a:endParaRPr lang="en-US" altLang="zh-CN" dirty="0"/>
          </a:p>
          <a:p>
            <a:pPr algn="just"/>
            <a:r>
              <a:rPr lang="en-US" altLang="zh-CN" b="0" dirty="0"/>
              <a:t>		</a:t>
            </a:r>
            <a:r>
              <a:rPr lang="zh-CN" altLang="zh-CN" b="0" dirty="0"/>
              <a:t>在图</a:t>
            </a:r>
            <a:r>
              <a:rPr lang="en-US" altLang="zh-CN" b="0" dirty="0"/>
              <a:t>8-10</a:t>
            </a:r>
            <a:r>
              <a:rPr lang="zh-CN" altLang="zh-CN" b="0" dirty="0"/>
              <a:t>中</a:t>
            </a:r>
            <a:r>
              <a:rPr lang="zh-CN" altLang="en-US" b="0" dirty="0"/>
              <a:t>查找</a:t>
            </a:r>
            <a:r>
              <a:rPr lang="en-US" altLang="zh-CN" b="0" dirty="0"/>
              <a:t>15</a:t>
            </a:r>
            <a:r>
              <a:rPr lang="zh-CN" altLang="zh-CN" b="0" dirty="0"/>
              <a:t>时，</a:t>
            </a:r>
            <a:r>
              <a:rPr lang="zh-CN" altLang="en-US" b="0" dirty="0"/>
              <a:t>先比较</a:t>
            </a:r>
            <a:r>
              <a:rPr lang="en-US" altLang="zh-CN" b="0" dirty="0"/>
              <a:t>18</a:t>
            </a:r>
            <a:r>
              <a:rPr lang="zh-CN" altLang="en-US" b="0" dirty="0"/>
              <a:t>不等且小于，则走左子树；再跟</a:t>
            </a:r>
            <a:r>
              <a:rPr lang="en-US" altLang="zh-CN" b="0" dirty="0"/>
              <a:t>12</a:t>
            </a:r>
            <a:r>
              <a:rPr lang="zh-CN" altLang="en-US" b="0" dirty="0"/>
              <a:t>比较不等且大于，则走中子树；跟</a:t>
            </a:r>
            <a:r>
              <a:rPr lang="en-US" altLang="zh-CN" b="0" dirty="0"/>
              <a:t>15</a:t>
            </a:r>
            <a:r>
              <a:rPr lang="zh-CN" altLang="en-US" b="0" dirty="0"/>
              <a:t>比较相等查找成功。</a:t>
            </a:r>
            <a:endParaRPr lang="en-US" altLang="zh-CN" b="0" dirty="0"/>
          </a:p>
          <a:p>
            <a:pPr algn="just"/>
            <a:r>
              <a:rPr lang="en-US" altLang="zh-CN" b="0" dirty="0"/>
              <a:t>		</a:t>
            </a:r>
            <a:r>
              <a:rPr lang="zh-CN" altLang="en-US" b="0" dirty="0"/>
              <a:t>又比如查找</a:t>
            </a:r>
            <a:r>
              <a:rPr lang="en-US" altLang="zh-CN" b="0" dirty="0"/>
              <a:t>45</a:t>
            </a:r>
            <a:r>
              <a:rPr lang="zh-CN" altLang="en-US" b="0" dirty="0"/>
              <a:t>，在根结点分别与</a:t>
            </a:r>
            <a:r>
              <a:rPr lang="en-US" altLang="zh-CN" b="0" dirty="0"/>
              <a:t>18</a:t>
            </a:r>
            <a:r>
              <a:rPr lang="zh-CN" altLang="en-US" b="0" dirty="0"/>
              <a:t>和</a:t>
            </a:r>
            <a:r>
              <a:rPr lang="en-US" altLang="zh-CN" b="0" dirty="0"/>
              <a:t>33</a:t>
            </a:r>
            <a:r>
              <a:rPr lang="zh-CN" altLang="en-US" b="0" dirty="0"/>
              <a:t>不等且大于，则走右子树；再跟</a:t>
            </a:r>
            <a:r>
              <a:rPr lang="en-US" altLang="zh-CN" b="0" dirty="0"/>
              <a:t>48</a:t>
            </a:r>
            <a:r>
              <a:rPr lang="zh-CN" altLang="en-US" b="0" dirty="0"/>
              <a:t>比较不等且小于，则走左子树；再跟</a:t>
            </a:r>
            <a:r>
              <a:rPr lang="en-US" altLang="zh-CN" b="0" dirty="0"/>
              <a:t>45</a:t>
            </a:r>
            <a:r>
              <a:rPr lang="zh-CN" altLang="en-US" b="0" dirty="0"/>
              <a:t>比较相等成功</a:t>
            </a:r>
            <a:r>
              <a:rPr lang="zh-CN" altLang="zh-CN" b="0" dirty="0"/>
              <a:t>。</a:t>
            </a:r>
          </a:p>
          <a:p>
            <a:endParaRPr lang="zh-CN" altLang="en-US"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4005064"/>
            <a:ext cx="5634278"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53811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1"/>
            <a:ext cx="7560840" cy="2016224"/>
          </a:xfrm>
        </p:spPr>
        <p:txBody>
          <a:bodyPr/>
          <a:lstStyle/>
          <a:p>
            <a:pPr algn="just"/>
            <a:r>
              <a:rPr lang="en-US" altLang="zh-CN" dirty="0">
                <a:solidFill>
                  <a:srgbClr val="FF0000"/>
                </a:solidFill>
              </a:rPr>
              <a:t>2-3</a:t>
            </a:r>
            <a:r>
              <a:rPr lang="zh-CN" altLang="zh-CN" dirty="0">
                <a:solidFill>
                  <a:srgbClr val="FF0000"/>
                </a:solidFill>
              </a:rPr>
              <a:t>树的插入的三种情况</a:t>
            </a:r>
            <a:r>
              <a:rPr lang="zh-CN" altLang="zh-CN" dirty="0"/>
              <a:t>：</a:t>
            </a:r>
          </a:p>
          <a:p>
            <a:pPr algn="just"/>
            <a:r>
              <a:rPr lang="zh-CN" altLang="zh-CN" b="0" dirty="0"/>
              <a:t>（</a:t>
            </a:r>
            <a:r>
              <a:rPr lang="en-US" altLang="zh-CN" b="0" dirty="0"/>
              <a:t>1</a:t>
            </a:r>
            <a:r>
              <a:rPr lang="zh-CN" altLang="zh-CN" b="0" dirty="0"/>
              <a:t>）</a:t>
            </a:r>
            <a:r>
              <a:rPr lang="zh-CN" altLang="zh-CN" dirty="0">
                <a:solidFill>
                  <a:srgbClr val="FF0000"/>
                </a:solidFill>
              </a:rPr>
              <a:t>叶子结点中有空位置</a:t>
            </a:r>
            <a:r>
              <a:rPr lang="zh-CN" altLang="zh-CN" dirty="0"/>
              <a:t>，直接插入待插结点。</a:t>
            </a:r>
            <a:r>
              <a:rPr lang="zh-CN" altLang="zh-CN" b="0" dirty="0"/>
              <a:t>在图</a:t>
            </a:r>
            <a:r>
              <a:rPr lang="en-US" altLang="zh-CN" b="0" dirty="0"/>
              <a:t>8-10</a:t>
            </a:r>
            <a:r>
              <a:rPr lang="zh-CN" altLang="zh-CN" b="0" dirty="0"/>
              <a:t>中插入</a:t>
            </a:r>
            <a:r>
              <a:rPr lang="en-US" altLang="zh-CN" b="0" dirty="0"/>
              <a:t>14</a:t>
            </a:r>
            <a:r>
              <a:rPr lang="zh-CN" altLang="zh-CN" b="0" dirty="0"/>
              <a:t>时，由于</a:t>
            </a:r>
            <a:r>
              <a:rPr lang="en-US" altLang="zh-CN" b="0" dirty="0"/>
              <a:t>14</a:t>
            </a:r>
            <a:r>
              <a:rPr lang="zh-CN" altLang="zh-CN" b="0" dirty="0"/>
              <a:t>的插入位置处有一个空位置，所以直接插入</a:t>
            </a:r>
            <a:r>
              <a:rPr lang="en-US" altLang="zh-CN" b="0" dirty="0"/>
              <a:t>14</a:t>
            </a:r>
            <a:r>
              <a:rPr lang="zh-CN" altLang="zh-CN" b="0" dirty="0"/>
              <a:t>。如图</a:t>
            </a:r>
            <a:r>
              <a:rPr lang="en-US" altLang="zh-CN" b="0" dirty="0"/>
              <a:t>8-11</a:t>
            </a:r>
            <a:r>
              <a:rPr lang="zh-CN" altLang="zh-CN" b="0" dirty="0"/>
              <a:t>（</a:t>
            </a:r>
            <a:r>
              <a:rPr lang="en-US" altLang="zh-CN" b="0" dirty="0"/>
              <a:t>a</a:t>
            </a:r>
            <a:r>
              <a:rPr lang="zh-CN" altLang="zh-CN" b="0" dirty="0"/>
              <a:t>）所示。</a:t>
            </a:r>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3429000"/>
            <a:ext cx="6048672" cy="207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0695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9"/>
            <a:ext cx="7488832" cy="1944216"/>
          </a:xfrm>
        </p:spPr>
        <p:txBody>
          <a:bodyPr/>
          <a:lstStyle/>
          <a:p>
            <a:pPr algn="just"/>
            <a:r>
              <a:rPr lang="zh-CN" altLang="zh-CN" b="0" dirty="0"/>
              <a:t>（</a:t>
            </a:r>
            <a:r>
              <a:rPr lang="en-US" altLang="zh-CN" b="0" dirty="0"/>
              <a:t>2</a:t>
            </a:r>
            <a:r>
              <a:rPr lang="zh-CN" altLang="zh-CN" b="0" dirty="0"/>
              <a:t>）</a:t>
            </a:r>
            <a:r>
              <a:rPr lang="zh-CN" altLang="zh-CN" dirty="0">
                <a:solidFill>
                  <a:srgbClr val="FF0000"/>
                </a:solidFill>
              </a:rPr>
              <a:t>叶子结点中已满</a:t>
            </a:r>
            <a:r>
              <a:rPr lang="zh-CN" altLang="zh-CN" b="0" dirty="0"/>
              <a:t>，此时需要将叶子结点中的中间元素提升到父结点中，并且叶子结点分裂为两个结点。如果此时父结点中有空位置，则直接插入待插元素，否则继续分裂。在图</a:t>
            </a:r>
            <a:r>
              <a:rPr lang="en-US" altLang="zh-CN" b="0" dirty="0"/>
              <a:t>8-11(a)</a:t>
            </a:r>
            <a:r>
              <a:rPr lang="zh-CN" altLang="zh-CN" b="0" dirty="0"/>
              <a:t>中插入</a:t>
            </a:r>
            <a:r>
              <a:rPr lang="en-US" altLang="zh-CN" b="0" dirty="0"/>
              <a:t>55</a:t>
            </a:r>
            <a:r>
              <a:rPr lang="zh-CN" altLang="en-US" b="0" dirty="0"/>
              <a:t>。</a:t>
            </a:r>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3823" y="3789040"/>
            <a:ext cx="6624736" cy="2203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96" y="2852936"/>
            <a:ext cx="3757837" cy="1291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46779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3"/>
            <a:ext cx="7920880" cy="1872208"/>
          </a:xfrm>
        </p:spPr>
        <p:txBody>
          <a:bodyPr>
            <a:normAutofit/>
          </a:bodyPr>
          <a:lstStyle/>
          <a:p>
            <a:pPr algn="just"/>
            <a:r>
              <a:rPr lang="zh-CN" altLang="zh-CN" b="0" dirty="0"/>
              <a:t>（</a:t>
            </a:r>
            <a:r>
              <a:rPr lang="en-US" altLang="zh-CN" b="0" dirty="0"/>
              <a:t>3</a:t>
            </a:r>
            <a:r>
              <a:rPr lang="zh-CN" altLang="zh-CN" b="0" dirty="0"/>
              <a:t>）</a:t>
            </a:r>
            <a:r>
              <a:rPr lang="zh-CN" altLang="en-US" dirty="0">
                <a:solidFill>
                  <a:srgbClr val="FF0000"/>
                </a:solidFill>
              </a:rPr>
              <a:t>根结点分列导致树高度增加</a:t>
            </a:r>
            <a:r>
              <a:rPr lang="zh-CN" altLang="en-US" b="0" dirty="0"/>
              <a:t>。</a:t>
            </a:r>
            <a:r>
              <a:rPr lang="zh-CN" altLang="zh-CN" b="0" dirty="0"/>
              <a:t>假如在叶子结点插入一个元素后，使得上面的结点不</a:t>
            </a:r>
            <a:r>
              <a:rPr lang="zh-CN" altLang="en-US" b="0" dirty="0"/>
              <a:t>断地</a:t>
            </a:r>
            <a:r>
              <a:rPr lang="zh-CN" altLang="zh-CN" b="0" dirty="0"/>
              <a:t>分裂，最后使得根结点也</a:t>
            </a:r>
            <a:r>
              <a:rPr lang="zh-CN" altLang="en-US" b="0" dirty="0"/>
              <a:t>被</a:t>
            </a:r>
            <a:r>
              <a:rPr lang="zh-CN" altLang="zh-CN" b="0" dirty="0"/>
              <a:t>分裂，此时</a:t>
            </a:r>
            <a:r>
              <a:rPr lang="en-US" altLang="zh-CN" b="0" dirty="0"/>
              <a:t>2-3</a:t>
            </a:r>
            <a:r>
              <a:rPr lang="zh-CN" altLang="zh-CN" b="0" dirty="0"/>
              <a:t>树的高度加</a:t>
            </a:r>
            <a:r>
              <a:rPr lang="en-US" altLang="zh-CN" b="0" dirty="0"/>
              <a:t>1</a:t>
            </a:r>
            <a:r>
              <a:rPr lang="zh-CN" altLang="zh-CN" b="0" dirty="0"/>
              <a:t>。在图</a:t>
            </a:r>
            <a:r>
              <a:rPr lang="en-US" altLang="zh-CN" b="0" dirty="0"/>
              <a:t>8-10</a:t>
            </a:r>
            <a:r>
              <a:rPr lang="zh-CN" altLang="zh-CN" b="0" dirty="0"/>
              <a:t>中插入</a:t>
            </a:r>
            <a:r>
              <a:rPr lang="en-US" altLang="zh-CN" b="0" dirty="0"/>
              <a:t>21</a:t>
            </a:r>
            <a:r>
              <a:rPr lang="zh-CN" altLang="en-US" b="0" dirty="0"/>
              <a:t>和</a:t>
            </a:r>
            <a:r>
              <a:rPr lang="en-US" altLang="zh-CN" b="0" dirty="0"/>
              <a:t>19</a:t>
            </a:r>
            <a:r>
              <a:rPr lang="zh-CN" altLang="en-US" b="0" dirty="0"/>
              <a:t>后，形成图</a:t>
            </a:r>
            <a:r>
              <a:rPr lang="en-US" altLang="zh-CN" b="0" dirty="0"/>
              <a:t>8-11(c)</a:t>
            </a:r>
            <a:r>
              <a:rPr lang="zh-CN" altLang="en-US" b="0" dirty="0"/>
              <a:t>。</a:t>
            </a: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8461" y="3203638"/>
            <a:ext cx="6700043" cy="2961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7A95E99B-1C8E-423F-99D5-9DE33FA550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32" y="2708921"/>
            <a:ext cx="4114020" cy="136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13212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8.5.2 </a:t>
            </a:r>
            <a:r>
              <a:rPr lang="en-US" altLang="zh-CN" b="1" dirty="0">
                <a:solidFill>
                  <a:srgbClr val="FF0000"/>
                </a:solidFill>
              </a:rPr>
              <a:t>B</a:t>
            </a:r>
            <a:r>
              <a:rPr lang="zh-CN" altLang="zh-CN" b="1" dirty="0">
                <a:solidFill>
                  <a:srgbClr val="FF0000"/>
                </a:solidFill>
              </a:rPr>
              <a:t>树</a:t>
            </a:r>
            <a:endParaRPr lang="zh-CN" altLang="zh-CN" dirty="0">
              <a:solidFill>
                <a:srgbClr val="FF0000"/>
              </a:solidFill>
            </a:endParaRPr>
          </a:p>
        </p:txBody>
      </p:sp>
      <p:sp>
        <p:nvSpPr>
          <p:cNvPr id="3" name="内容占位符 2"/>
          <p:cNvSpPr>
            <a:spLocks noGrp="1"/>
          </p:cNvSpPr>
          <p:nvPr>
            <p:ph idx="1"/>
          </p:nvPr>
        </p:nvSpPr>
        <p:spPr>
          <a:xfrm>
            <a:off x="467544" y="1628800"/>
            <a:ext cx="8280920" cy="4608512"/>
          </a:xfrm>
        </p:spPr>
        <p:txBody>
          <a:bodyPr>
            <a:normAutofit lnSpcReduction="10000"/>
          </a:bodyPr>
          <a:lstStyle/>
          <a:p>
            <a:pPr algn="just"/>
            <a:r>
              <a:rPr lang="en-US" altLang="zh-CN" b="0" dirty="0"/>
              <a:t>	</a:t>
            </a:r>
            <a:r>
              <a:rPr lang="en-US" altLang="zh-CN" dirty="0"/>
              <a:t>2-3</a:t>
            </a:r>
            <a:r>
              <a:rPr lang="zh-CN" altLang="zh-CN" dirty="0"/>
              <a:t>树是</a:t>
            </a:r>
            <a:r>
              <a:rPr lang="en-US" altLang="zh-CN" dirty="0"/>
              <a:t>B</a:t>
            </a:r>
            <a:r>
              <a:rPr lang="zh-CN" altLang="zh-CN" dirty="0"/>
              <a:t>树的一种特殊情况。</a:t>
            </a:r>
          </a:p>
          <a:p>
            <a:pPr algn="just"/>
            <a:r>
              <a:rPr lang="en-US" altLang="zh-CN" b="0" dirty="0"/>
              <a:t> 	</a:t>
            </a:r>
            <a:r>
              <a:rPr lang="en-US" altLang="zh-CN" dirty="0">
                <a:solidFill>
                  <a:srgbClr val="FF0000"/>
                </a:solidFill>
              </a:rPr>
              <a:t>B</a:t>
            </a:r>
            <a:r>
              <a:rPr lang="zh-CN" altLang="zh-CN" dirty="0">
                <a:solidFill>
                  <a:srgbClr val="FF0000"/>
                </a:solidFill>
              </a:rPr>
              <a:t>树是一种平衡的多路搜索树</a:t>
            </a:r>
            <a:r>
              <a:rPr lang="zh-CN" altLang="zh-CN" b="0" dirty="0"/>
              <a:t>，它在文件系统中非常有用。</a:t>
            </a:r>
            <a:endParaRPr lang="en-US" altLang="zh-CN" b="0" dirty="0"/>
          </a:p>
          <a:p>
            <a:pPr algn="just"/>
            <a:r>
              <a:rPr lang="en-US" altLang="zh-CN" b="0" dirty="0">
                <a:solidFill>
                  <a:srgbClr val="FF0000"/>
                </a:solidFill>
              </a:rPr>
              <a:t>	B</a:t>
            </a:r>
            <a:r>
              <a:rPr lang="zh-CN" altLang="en-US" b="0" dirty="0">
                <a:solidFill>
                  <a:srgbClr val="FF0000"/>
                </a:solidFill>
              </a:rPr>
              <a:t>树的定义如下：</a:t>
            </a:r>
            <a:endParaRPr lang="zh-CN" altLang="zh-CN" b="0" dirty="0">
              <a:solidFill>
                <a:srgbClr val="FF0000"/>
              </a:solidFill>
            </a:endParaRPr>
          </a:p>
          <a:p>
            <a:pPr algn="just"/>
            <a:r>
              <a:rPr lang="en-US" altLang="zh-CN" b="0" dirty="0"/>
              <a:t>	</a:t>
            </a:r>
            <a:r>
              <a:rPr lang="zh-CN" altLang="zh-CN" b="0" dirty="0"/>
              <a:t>一棵</a:t>
            </a:r>
            <a:r>
              <a:rPr lang="en-US" altLang="zh-CN" b="0" dirty="0"/>
              <a:t>m</a:t>
            </a:r>
            <a:r>
              <a:rPr lang="zh-CN" altLang="zh-CN" b="0" dirty="0"/>
              <a:t>阶</a:t>
            </a:r>
            <a:r>
              <a:rPr lang="en-US" altLang="zh-CN" b="0" dirty="0"/>
              <a:t>B</a:t>
            </a:r>
            <a:r>
              <a:rPr lang="zh-CN" altLang="zh-CN" b="0" dirty="0"/>
              <a:t>树，或者是空树，或者是满足下列性质的树：</a:t>
            </a:r>
          </a:p>
          <a:p>
            <a:pPr algn="just"/>
            <a:r>
              <a:rPr lang="zh-CN" altLang="zh-CN" b="0" dirty="0"/>
              <a:t>（</a:t>
            </a:r>
            <a:r>
              <a:rPr lang="en-US" altLang="zh-CN" b="0" dirty="0"/>
              <a:t>1</a:t>
            </a:r>
            <a:r>
              <a:rPr lang="zh-CN" altLang="zh-CN" b="0" dirty="0"/>
              <a:t>）树中每个结点</a:t>
            </a:r>
            <a:r>
              <a:rPr lang="zh-CN" altLang="zh-CN" b="0" dirty="0">
                <a:solidFill>
                  <a:srgbClr val="FF0000"/>
                </a:solidFill>
              </a:rPr>
              <a:t>至多有</a:t>
            </a:r>
            <a:r>
              <a:rPr lang="en-US" altLang="zh-CN" b="0" dirty="0">
                <a:solidFill>
                  <a:srgbClr val="FF0000"/>
                </a:solidFill>
              </a:rPr>
              <a:t>m</a:t>
            </a:r>
            <a:r>
              <a:rPr lang="zh-CN" altLang="zh-CN" b="0" dirty="0">
                <a:solidFill>
                  <a:srgbClr val="FF0000"/>
                </a:solidFill>
              </a:rPr>
              <a:t>棵子树</a:t>
            </a:r>
            <a:r>
              <a:rPr lang="zh-CN" altLang="zh-CN" b="0" dirty="0"/>
              <a:t>，即每个结点中</a:t>
            </a:r>
            <a:r>
              <a:rPr lang="zh-CN" altLang="zh-CN" b="0" dirty="0">
                <a:solidFill>
                  <a:srgbClr val="FF0000"/>
                </a:solidFill>
              </a:rPr>
              <a:t>至多含有</a:t>
            </a:r>
            <a:r>
              <a:rPr lang="en-US" altLang="zh-CN" b="0" dirty="0">
                <a:solidFill>
                  <a:srgbClr val="FF0000"/>
                </a:solidFill>
              </a:rPr>
              <a:t>m-1</a:t>
            </a:r>
            <a:r>
              <a:rPr lang="zh-CN" altLang="zh-CN" b="0" dirty="0">
                <a:solidFill>
                  <a:srgbClr val="FF0000"/>
                </a:solidFill>
              </a:rPr>
              <a:t>个关键字</a:t>
            </a:r>
            <a:r>
              <a:rPr lang="zh-CN" altLang="zh-CN" b="0" dirty="0"/>
              <a:t>；</a:t>
            </a:r>
          </a:p>
          <a:p>
            <a:pPr algn="just"/>
            <a:r>
              <a:rPr lang="zh-CN" altLang="zh-CN" b="0" dirty="0"/>
              <a:t>（</a:t>
            </a:r>
            <a:r>
              <a:rPr lang="en-US" altLang="zh-CN" b="0" dirty="0"/>
              <a:t>2</a:t>
            </a:r>
            <a:r>
              <a:rPr lang="zh-CN" altLang="zh-CN" b="0" dirty="0"/>
              <a:t>）如果根结点不是叶子结点，则</a:t>
            </a:r>
            <a:r>
              <a:rPr lang="zh-CN" altLang="en-US" b="0" dirty="0">
                <a:solidFill>
                  <a:srgbClr val="FF0000"/>
                </a:solidFill>
              </a:rPr>
              <a:t>根结点</a:t>
            </a:r>
            <a:r>
              <a:rPr lang="zh-CN" altLang="zh-CN" b="0" dirty="0">
                <a:solidFill>
                  <a:srgbClr val="FF0000"/>
                </a:solidFill>
              </a:rPr>
              <a:t>至少含有两棵子树</a:t>
            </a:r>
            <a:r>
              <a:rPr lang="zh-CN" altLang="zh-CN" b="0" dirty="0"/>
              <a:t>；</a:t>
            </a:r>
          </a:p>
          <a:p>
            <a:pPr algn="just"/>
            <a:r>
              <a:rPr lang="zh-CN" altLang="zh-CN" b="0" dirty="0"/>
              <a:t>（</a:t>
            </a:r>
            <a:r>
              <a:rPr lang="en-US" altLang="zh-CN" b="0" dirty="0"/>
              <a:t>3</a:t>
            </a:r>
            <a:r>
              <a:rPr lang="zh-CN" altLang="zh-CN" b="0" dirty="0"/>
              <a:t>）除根结点和叶子结点之外的所有非终端结点，</a:t>
            </a:r>
            <a:r>
              <a:rPr lang="zh-CN" altLang="zh-CN" b="0" dirty="0">
                <a:solidFill>
                  <a:srgbClr val="FF0000"/>
                </a:solidFill>
              </a:rPr>
              <a:t>每个结点</a:t>
            </a:r>
            <a:r>
              <a:rPr lang="zh-CN" altLang="en-US" b="0" dirty="0">
                <a:solidFill>
                  <a:srgbClr val="FF0000"/>
                </a:solidFill>
              </a:rPr>
              <a:t>至少</a:t>
            </a:r>
            <a:r>
              <a:rPr lang="zh-CN" altLang="zh-CN" b="0" dirty="0">
                <a:solidFill>
                  <a:srgbClr val="FF0000"/>
                </a:solidFill>
              </a:rPr>
              <a:t>有</a:t>
            </a:r>
            <a:r>
              <a:rPr lang="en-US" altLang="zh-CN" b="0" dirty="0">
                <a:solidFill>
                  <a:srgbClr val="FF0000"/>
                </a:solidFill>
              </a:rPr>
              <a:t>⌈m/2⌉</a:t>
            </a:r>
            <a:r>
              <a:rPr lang="zh-CN" altLang="zh-CN" b="0" dirty="0">
                <a:solidFill>
                  <a:srgbClr val="FF0000"/>
                </a:solidFill>
              </a:rPr>
              <a:t>棵子树</a:t>
            </a:r>
            <a:r>
              <a:rPr lang="zh-CN" altLang="en-US" b="0" dirty="0">
                <a:solidFill>
                  <a:srgbClr val="FF0000"/>
                </a:solidFill>
              </a:rPr>
              <a:t>，有</a:t>
            </a:r>
            <a:r>
              <a:rPr lang="en-US" altLang="zh-CN" b="0" dirty="0">
                <a:solidFill>
                  <a:srgbClr val="FF0000"/>
                </a:solidFill>
              </a:rPr>
              <a:t>⌈m/2⌉ -1</a:t>
            </a:r>
            <a:r>
              <a:rPr lang="zh-CN" altLang="en-US" b="0" dirty="0">
                <a:solidFill>
                  <a:srgbClr val="FF0000"/>
                </a:solidFill>
              </a:rPr>
              <a:t>个关键字</a:t>
            </a:r>
            <a:r>
              <a:rPr lang="zh-CN" altLang="zh-CN" b="0" dirty="0"/>
              <a:t>；</a:t>
            </a:r>
          </a:p>
          <a:p>
            <a:endParaRPr lang="zh-CN" altLang="en-US" dirty="0"/>
          </a:p>
        </p:txBody>
      </p:sp>
    </p:spTree>
    <p:extLst>
      <p:ext uri="{BB962C8B-B14F-4D97-AF65-F5344CB8AC3E}">
        <p14:creationId xmlns:p14="http://schemas.microsoft.com/office/powerpoint/2010/main" val="10701438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704856" cy="5256584"/>
          </a:xfrm>
        </p:spPr>
        <p:txBody>
          <a:bodyPr>
            <a:normAutofit/>
          </a:bodyPr>
          <a:lstStyle/>
          <a:p>
            <a:pPr algn="just"/>
            <a:r>
              <a:rPr lang="zh-CN" altLang="zh-CN" b="0" dirty="0"/>
              <a:t>（</a:t>
            </a:r>
            <a:r>
              <a:rPr lang="en-US" altLang="zh-CN" b="0" dirty="0"/>
              <a:t>4</a:t>
            </a:r>
            <a:r>
              <a:rPr lang="zh-CN" altLang="zh-CN" b="0" dirty="0"/>
              <a:t>）</a:t>
            </a:r>
            <a:r>
              <a:rPr lang="zh-CN" altLang="zh-CN" b="0" dirty="0">
                <a:solidFill>
                  <a:srgbClr val="FF0000"/>
                </a:solidFill>
              </a:rPr>
              <a:t>所有的非终结点中包含下列信息数据：</a:t>
            </a:r>
          </a:p>
          <a:p>
            <a:pPr algn="just"/>
            <a:r>
              <a:rPr lang="en-US" altLang="zh-CN" b="0" dirty="0"/>
              <a:t>	</a:t>
            </a:r>
            <a:r>
              <a:rPr lang="zh-CN" altLang="zh-CN" b="0" dirty="0">
                <a:solidFill>
                  <a:srgbClr val="FF0000"/>
                </a:solidFill>
              </a:rPr>
              <a:t>（</a:t>
            </a:r>
            <a:r>
              <a:rPr lang="en-US" altLang="zh-CN" b="0" dirty="0">
                <a:solidFill>
                  <a:srgbClr val="FF0000"/>
                </a:solidFill>
              </a:rPr>
              <a:t>n,P</a:t>
            </a:r>
            <a:r>
              <a:rPr lang="en-US" altLang="zh-CN" b="0" baseline="-25000" dirty="0">
                <a:solidFill>
                  <a:srgbClr val="FF0000"/>
                </a:solidFill>
              </a:rPr>
              <a:t>0</a:t>
            </a:r>
            <a:r>
              <a:rPr lang="en-US" altLang="zh-CN" b="0" dirty="0">
                <a:solidFill>
                  <a:srgbClr val="FF0000"/>
                </a:solidFill>
              </a:rPr>
              <a:t>,K</a:t>
            </a:r>
            <a:r>
              <a:rPr lang="en-US" altLang="zh-CN" b="0" baseline="-25000" dirty="0">
                <a:solidFill>
                  <a:srgbClr val="FF0000"/>
                </a:solidFill>
              </a:rPr>
              <a:t>1</a:t>
            </a:r>
            <a:r>
              <a:rPr lang="en-US" altLang="zh-CN" b="0" dirty="0">
                <a:solidFill>
                  <a:srgbClr val="FF0000"/>
                </a:solidFill>
              </a:rPr>
              <a:t>,P</a:t>
            </a:r>
            <a:r>
              <a:rPr lang="en-US" altLang="zh-CN" b="0" baseline="-25000" dirty="0">
                <a:solidFill>
                  <a:srgbClr val="FF0000"/>
                </a:solidFill>
              </a:rPr>
              <a:t>1</a:t>
            </a:r>
            <a:r>
              <a:rPr lang="en-US" altLang="zh-CN" b="0" dirty="0">
                <a:solidFill>
                  <a:srgbClr val="FF0000"/>
                </a:solidFill>
              </a:rPr>
              <a:t>,K</a:t>
            </a:r>
            <a:r>
              <a:rPr lang="en-US" altLang="zh-CN" b="0" baseline="-25000" dirty="0">
                <a:solidFill>
                  <a:srgbClr val="FF0000"/>
                </a:solidFill>
              </a:rPr>
              <a:t>2</a:t>
            </a:r>
            <a:r>
              <a:rPr lang="en-US" altLang="zh-CN" b="0" dirty="0">
                <a:solidFill>
                  <a:srgbClr val="FF0000"/>
                </a:solidFill>
              </a:rPr>
              <a:t>,P</a:t>
            </a:r>
            <a:r>
              <a:rPr lang="en-US" altLang="zh-CN" b="0" baseline="-25000" dirty="0">
                <a:solidFill>
                  <a:srgbClr val="FF0000"/>
                </a:solidFill>
              </a:rPr>
              <a:t>2</a:t>
            </a:r>
            <a:r>
              <a:rPr lang="en-US" altLang="zh-CN" b="0" dirty="0">
                <a:solidFill>
                  <a:srgbClr val="FF0000"/>
                </a:solidFill>
              </a:rPr>
              <a:t>,...,</a:t>
            </a:r>
            <a:r>
              <a:rPr lang="en-US" altLang="zh-CN" b="0" dirty="0" err="1">
                <a:solidFill>
                  <a:srgbClr val="FF0000"/>
                </a:solidFill>
              </a:rPr>
              <a:t>K</a:t>
            </a:r>
            <a:r>
              <a:rPr lang="en-US" altLang="zh-CN" b="0" baseline="-25000" dirty="0" err="1">
                <a:solidFill>
                  <a:srgbClr val="FF0000"/>
                </a:solidFill>
              </a:rPr>
              <a:t>n</a:t>
            </a:r>
            <a:r>
              <a:rPr lang="en-US" altLang="zh-CN" b="0" dirty="0" err="1">
                <a:solidFill>
                  <a:srgbClr val="FF0000"/>
                </a:solidFill>
              </a:rPr>
              <a:t>,P</a:t>
            </a:r>
            <a:r>
              <a:rPr lang="en-US" altLang="zh-CN" b="0" baseline="-25000" dirty="0" err="1">
                <a:solidFill>
                  <a:srgbClr val="FF0000"/>
                </a:solidFill>
              </a:rPr>
              <a:t>n</a:t>
            </a:r>
            <a:r>
              <a:rPr lang="en-US" altLang="zh-CN" b="0" dirty="0">
                <a:solidFill>
                  <a:srgbClr val="FF0000"/>
                </a:solidFill>
              </a:rPr>
              <a:t>)</a:t>
            </a:r>
            <a:endParaRPr lang="zh-CN" altLang="zh-CN" b="0" dirty="0">
              <a:solidFill>
                <a:srgbClr val="FF0000"/>
              </a:solidFill>
            </a:endParaRPr>
          </a:p>
          <a:p>
            <a:pPr algn="just"/>
            <a:r>
              <a:rPr lang="en-US" altLang="zh-CN" b="0" dirty="0"/>
              <a:t>	</a:t>
            </a:r>
            <a:r>
              <a:rPr lang="zh-CN" altLang="zh-CN" b="0" dirty="0"/>
              <a:t>其中：</a:t>
            </a:r>
            <a:r>
              <a:rPr lang="en-US" altLang="zh-CN" b="0" dirty="0"/>
              <a:t>K</a:t>
            </a:r>
            <a:r>
              <a:rPr lang="en-US" altLang="zh-CN" b="0" baseline="-25000" dirty="0"/>
              <a:t>i</a:t>
            </a:r>
            <a:r>
              <a:rPr lang="en-US" altLang="zh-CN" b="0" dirty="0"/>
              <a:t>(</a:t>
            </a:r>
            <a:r>
              <a:rPr lang="en-US" altLang="zh-CN" b="0" dirty="0" err="1"/>
              <a:t>i</a:t>
            </a:r>
            <a:r>
              <a:rPr lang="en-US" altLang="zh-CN" b="0" dirty="0"/>
              <a:t>=1,...,n)</a:t>
            </a:r>
            <a:r>
              <a:rPr lang="zh-CN" altLang="zh-CN" b="0" dirty="0"/>
              <a:t>为关键字，并且</a:t>
            </a:r>
            <a:r>
              <a:rPr lang="en-US" altLang="zh-CN" b="0" dirty="0"/>
              <a:t>K</a:t>
            </a:r>
            <a:r>
              <a:rPr lang="en-US" altLang="zh-CN" b="0" baseline="-25000" dirty="0"/>
              <a:t>i</a:t>
            </a:r>
            <a:r>
              <a:rPr lang="en-US" altLang="zh-CN" b="0" dirty="0"/>
              <a:t>&lt;K</a:t>
            </a:r>
            <a:r>
              <a:rPr lang="en-US" altLang="zh-CN" b="0" baseline="-25000" dirty="0"/>
              <a:t>i+1</a:t>
            </a:r>
            <a:r>
              <a:rPr lang="en-US" altLang="zh-CN" b="0" dirty="0"/>
              <a:t>(</a:t>
            </a:r>
            <a:r>
              <a:rPr lang="en-US" altLang="zh-CN" b="0" dirty="0" err="1"/>
              <a:t>i</a:t>
            </a:r>
            <a:r>
              <a:rPr lang="en-US" altLang="zh-CN" b="0" dirty="0"/>
              <a:t>=1,...,n-1)</a:t>
            </a:r>
            <a:r>
              <a:rPr lang="zh-CN" altLang="zh-CN" b="0" dirty="0"/>
              <a:t>；</a:t>
            </a:r>
            <a:r>
              <a:rPr lang="en-US" altLang="zh-CN" b="0" dirty="0"/>
              <a:t>P</a:t>
            </a:r>
            <a:r>
              <a:rPr lang="en-US" altLang="zh-CN" b="0" baseline="-25000" dirty="0"/>
              <a:t>i</a:t>
            </a:r>
            <a:r>
              <a:rPr lang="en-US" altLang="zh-CN" b="0" dirty="0"/>
              <a:t>(</a:t>
            </a:r>
            <a:r>
              <a:rPr lang="en-US" altLang="zh-CN" b="0" dirty="0" err="1"/>
              <a:t>i</a:t>
            </a:r>
            <a:r>
              <a:rPr lang="en-US" altLang="zh-CN" b="0" dirty="0"/>
              <a:t>=0,...,n)</a:t>
            </a:r>
            <a:r>
              <a:rPr lang="zh-CN" altLang="zh-CN" b="0" dirty="0"/>
              <a:t>为指向子树根结点的指针，且指针</a:t>
            </a:r>
            <a:r>
              <a:rPr lang="en-US" altLang="zh-CN" b="0" dirty="0"/>
              <a:t>P</a:t>
            </a:r>
            <a:r>
              <a:rPr lang="en-US" altLang="zh-CN" b="0" baseline="-25000" dirty="0"/>
              <a:t>i-1</a:t>
            </a:r>
            <a:r>
              <a:rPr lang="zh-CN" altLang="zh-CN" b="0" dirty="0"/>
              <a:t>所指子树中所有结点的关键字均小于</a:t>
            </a:r>
            <a:r>
              <a:rPr lang="en-US" altLang="zh-CN" b="0" dirty="0"/>
              <a:t>K</a:t>
            </a:r>
            <a:r>
              <a:rPr lang="en-US" altLang="zh-CN" b="0" baseline="-25000" dirty="0"/>
              <a:t>i</a:t>
            </a:r>
            <a:r>
              <a:rPr lang="en-US" altLang="zh-CN" b="0" dirty="0"/>
              <a:t>(</a:t>
            </a:r>
            <a:r>
              <a:rPr lang="en-US" altLang="zh-CN" b="0" dirty="0" err="1"/>
              <a:t>i</a:t>
            </a:r>
            <a:r>
              <a:rPr lang="en-US" altLang="zh-CN" b="0" dirty="0"/>
              <a:t>=1,...n)</a:t>
            </a:r>
            <a:r>
              <a:rPr lang="zh-CN" altLang="zh-CN" b="0" dirty="0"/>
              <a:t>，</a:t>
            </a:r>
            <a:r>
              <a:rPr lang="en-US" altLang="zh-CN" b="0" dirty="0" err="1"/>
              <a:t>P</a:t>
            </a:r>
            <a:r>
              <a:rPr lang="en-US" altLang="zh-CN" b="0" baseline="-25000" dirty="0" err="1"/>
              <a:t>n</a:t>
            </a:r>
            <a:r>
              <a:rPr lang="zh-CN" altLang="zh-CN" b="0" dirty="0"/>
              <a:t>所指子树中所有结点的关键字均大于</a:t>
            </a:r>
            <a:r>
              <a:rPr lang="en-US" altLang="zh-CN" b="0" dirty="0" err="1"/>
              <a:t>K</a:t>
            </a:r>
            <a:r>
              <a:rPr lang="en-US" altLang="zh-CN" b="0" baseline="-25000" dirty="0" err="1"/>
              <a:t>n</a:t>
            </a:r>
            <a:r>
              <a:rPr lang="zh-CN" altLang="zh-CN" b="0" dirty="0"/>
              <a:t>，</a:t>
            </a:r>
            <a:r>
              <a:rPr lang="en-US" altLang="zh-CN" b="0" dirty="0">
                <a:solidFill>
                  <a:srgbClr val="FF0000"/>
                </a:solidFill>
              </a:rPr>
              <a:t>n(⌈m/2⌉-1≤n≤m-1)</a:t>
            </a:r>
            <a:r>
              <a:rPr lang="zh-CN" altLang="zh-CN" b="0" dirty="0">
                <a:solidFill>
                  <a:srgbClr val="FF0000"/>
                </a:solidFill>
              </a:rPr>
              <a:t>为关键字的个数（或</a:t>
            </a:r>
            <a:r>
              <a:rPr lang="en-US" altLang="zh-CN" b="0" dirty="0">
                <a:solidFill>
                  <a:srgbClr val="FF0000"/>
                </a:solidFill>
              </a:rPr>
              <a:t>n+1</a:t>
            </a:r>
            <a:r>
              <a:rPr lang="zh-CN" altLang="zh-CN" b="0" dirty="0">
                <a:solidFill>
                  <a:srgbClr val="FF0000"/>
                </a:solidFill>
              </a:rPr>
              <a:t>为子树的个数）</a:t>
            </a:r>
            <a:r>
              <a:rPr lang="zh-CN" altLang="zh-CN" b="0" dirty="0"/>
              <a:t>；</a:t>
            </a:r>
          </a:p>
          <a:p>
            <a:pPr algn="just"/>
            <a:r>
              <a:rPr lang="zh-CN" altLang="zh-CN" b="0" dirty="0"/>
              <a:t>（</a:t>
            </a:r>
            <a:r>
              <a:rPr lang="en-US" altLang="zh-CN" b="0" dirty="0"/>
              <a:t>5</a:t>
            </a:r>
            <a:r>
              <a:rPr lang="zh-CN" altLang="zh-CN" b="0" dirty="0"/>
              <a:t>）</a:t>
            </a:r>
            <a:r>
              <a:rPr lang="zh-CN" altLang="zh-CN" b="0" dirty="0">
                <a:solidFill>
                  <a:srgbClr val="FF0000"/>
                </a:solidFill>
              </a:rPr>
              <a:t>所有的叶子结点都出现在同一层次上，并且不带信息</a:t>
            </a:r>
            <a:r>
              <a:rPr lang="zh-CN" altLang="zh-CN" b="0" dirty="0"/>
              <a:t>（可以看作是外部结点或查找失败的结点，实际上这些结点不存在，指向这些结点的指针为空）。</a:t>
            </a:r>
          </a:p>
          <a:p>
            <a:endParaRPr lang="zh-CN" altLang="en-US" dirty="0"/>
          </a:p>
        </p:txBody>
      </p:sp>
    </p:spTree>
    <p:extLst>
      <p:ext uri="{BB962C8B-B14F-4D97-AF65-F5344CB8AC3E}">
        <p14:creationId xmlns:p14="http://schemas.microsoft.com/office/powerpoint/2010/main" val="10527148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836712"/>
            <a:ext cx="8568952" cy="2592288"/>
          </a:xfrm>
        </p:spPr>
        <p:txBody>
          <a:bodyPr>
            <a:normAutofit/>
          </a:bodyPr>
          <a:lstStyle/>
          <a:p>
            <a:pPr algn="just"/>
            <a:r>
              <a:rPr lang="en-US" altLang="zh-CN" sz="2000" b="0" dirty="0"/>
              <a:t>	</a:t>
            </a:r>
            <a:r>
              <a:rPr lang="zh-CN" altLang="zh-CN" sz="2000" b="0" dirty="0">
                <a:solidFill>
                  <a:srgbClr val="FF0000"/>
                </a:solidFill>
              </a:rPr>
              <a:t>在</a:t>
            </a:r>
            <a:r>
              <a:rPr lang="en-US" altLang="zh-CN" sz="2000" b="0" dirty="0">
                <a:solidFill>
                  <a:srgbClr val="FF0000"/>
                </a:solidFill>
              </a:rPr>
              <a:t>B</a:t>
            </a:r>
            <a:r>
              <a:rPr lang="zh-CN" altLang="zh-CN" sz="2000" b="0" dirty="0">
                <a:solidFill>
                  <a:srgbClr val="FF0000"/>
                </a:solidFill>
              </a:rPr>
              <a:t>树中，每个结点内的关键字从小到大有序排列</a:t>
            </a:r>
            <a:r>
              <a:rPr lang="zh-CN" altLang="zh-CN" sz="2000" b="0" dirty="0"/>
              <a:t>。</a:t>
            </a:r>
            <a:endParaRPr lang="en-US" altLang="zh-CN" sz="2000" b="0" dirty="0"/>
          </a:p>
          <a:p>
            <a:pPr algn="just"/>
            <a:r>
              <a:rPr lang="en-US" altLang="zh-CN" sz="2000" b="0" dirty="0"/>
              <a:t>	</a:t>
            </a:r>
            <a:r>
              <a:rPr lang="zh-CN" altLang="en-US" sz="2000" b="0" dirty="0"/>
              <a:t>如下</a:t>
            </a:r>
            <a:r>
              <a:rPr lang="zh-CN" altLang="zh-CN" sz="2000" b="0" dirty="0"/>
              <a:t>图是一棵</a:t>
            </a:r>
            <a:r>
              <a:rPr lang="en-US" altLang="zh-CN" sz="2000" b="0" dirty="0"/>
              <a:t>4</a:t>
            </a:r>
            <a:r>
              <a:rPr lang="zh-CN" altLang="zh-CN" sz="2000" b="0" dirty="0"/>
              <a:t>阶的</a:t>
            </a:r>
            <a:r>
              <a:rPr lang="en-US" altLang="zh-CN" sz="2000" b="0" dirty="0"/>
              <a:t>B</a:t>
            </a:r>
            <a:r>
              <a:rPr lang="zh-CN" altLang="zh-CN" sz="2000" b="0" dirty="0"/>
              <a:t>树，所有终端结点都在同一层上。该</a:t>
            </a:r>
            <a:r>
              <a:rPr lang="en-US" altLang="zh-CN" sz="2000" b="0" dirty="0"/>
              <a:t>B</a:t>
            </a:r>
            <a:r>
              <a:rPr lang="zh-CN" altLang="zh-CN" sz="2000" b="0" dirty="0"/>
              <a:t>树的每个结点（除根和终端结点之外）的孩子结点的个数在</a:t>
            </a:r>
            <a:r>
              <a:rPr lang="en-US" altLang="zh-CN" sz="2000" b="0" dirty="0"/>
              <a:t>⌈4/2⌉</a:t>
            </a:r>
            <a:r>
              <a:rPr lang="zh-CN" altLang="zh-CN" sz="2000" b="0" dirty="0"/>
              <a:t>和</a:t>
            </a:r>
            <a:r>
              <a:rPr lang="en-US" altLang="zh-CN" sz="2000" b="0" dirty="0"/>
              <a:t>4</a:t>
            </a:r>
            <a:r>
              <a:rPr lang="zh-CN" altLang="zh-CN" sz="2000" b="0" dirty="0"/>
              <a:t>之间，因此每个非终端结点可以包含</a:t>
            </a:r>
            <a:r>
              <a:rPr lang="en-US" altLang="zh-CN" sz="2000" b="0" dirty="0"/>
              <a:t>1</a:t>
            </a:r>
            <a:r>
              <a:rPr lang="zh-CN" altLang="zh-CN" sz="2000" b="0" dirty="0"/>
              <a:t>或</a:t>
            </a:r>
            <a:r>
              <a:rPr lang="en-US" altLang="zh-CN" sz="2000" b="0" dirty="0"/>
              <a:t>2</a:t>
            </a:r>
            <a:r>
              <a:rPr lang="zh-CN" altLang="zh-CN" sz="2000" b="0" dirty="0"/>
              <a:t>或</a:t>
            </a:r>
            <a:r>
              <a:rPr lang="en-US" altLang="zh-CN" sz="2000" b="0" dirty="0"/>
              <a:t>3</a:t>
            </a:r>
            <a:r>
              <a:rPr lang="zh-CN" altLang="zh-CN" sz="2000" b="0" dirty="0"/>
              <a:t>个关键字；根结点包含一个关键字</a:t>
            </a:r>
            <a:r>
              <a:rPr lang="zh-CN" altLang="en-US" sz="2000" b="0" dirty="0"/>
              <a:t>、</a:t>
            </a:r>
            <a:r>
              <a:rPr lang="zh-CN" altLang="zh-CN" sz="2000" b="0" dirty="0"/>
              <a:t>有两个孩子结点；在每个结点内的关键字都是按由小到大的顺序排列的。</a:t>
            </a:r>
          </a:p>
          <a:p>
            <a:endParaRPr lang="zh-CN" altLang="en-US" dirty="0"/>
          </a:p>
        </p:txBody>
      </p:sp>
      <p:pic>
        <p:nvPicPr>
          <p:cNvPr id="4" name="图片 3">
            <a:extLst>
              <a:ext uri="{FF2B5EF4-FFF2-40B4-BE49-F238E27FC236}">
                <a16:creationId xmlns:a16="http://schemas.microsoft.com/office/drawing/2014/main" id="{8C9DCF98-CF72-43C2-826E-217AFE1AD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3068960"/>
            <a:ext cx="6767099" cy="2362749"/>
          </a:xfrm>
          <a:prstGeom prst="rect">
            <a:avLst/>
          </a:prstGeom>
        </p:spPr>
      </p:pic>
    </p:spTree>
    <p:extLst>
      <p:ext uri="{BB962C8B-B14F-4D97-AF65-F5344CB8AC3E}">
        <p14:creationId xmlns:p14="http://schemas.microsoft.com/office/powerpoint/2010/main" val="24637939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704856" cy="5400600"/>
          </a:xfrm>
        </p:spPr>
        <p:txBody>
          <a:bodyPr>
            <a:normAutofit lnSpcReduction="10000"/>
          </a:bodyPr>
          <a:lstStyle/>
          <a:p>
            <a:pPr>
              <a:lnSpc>
                <a:spcPct val="140000"/>
              </a:lnSpc>
              <a:spcBef>
                <a:spcPts val="0"/>
              </a:spcBef>
            </a:pPr>
            <a:r>
              <a:rPr lang="zh-CN" altLang="zh-CN" dirty="0"/>
              <a:t>算法</a:t>
            </a:r>
            <a:r>
              <a:rPr lang="en-US" altLang="zh-CN" dirty="0"/>
              <a:t>8.9</a:t>
            </a:r>
            <a:r>
              <a:rPr lang="zh-CN" altLang="zh-CN" dirty="0"/>
              <a:t>：</a:t>
            </a:r>
            <a:r>
              <a:rPr lang="en-US" altLang="zh-CN" dirty="0"/>
              <a:t>B</a:t>
            </a:r>
            <a:r>
              <a:rPr lang="en-US" altLang="zh-CN" baseline="-25000" dirty="0"/>
              <a:t>-</a:t>
            </a:r>
            <a:r>
              <a:rPr lang="zh-CN" altLang="zh-CN" dirty="0"/>
              <a:t>树的</a:t>
            </a:r>
            <a:r>
              <a:rPr lang="zh-CN" altLang="zh-CN" dirty="0">
                <a:solidFill>
                  <a:srgbClr val="FF0000"/>
                </a:solidFill>
              </a:rPr>
              <a:t>抽象数据</a:t>
            </a:r>
            <a:r>
              <a:rPr lang="zh-CN" altLang="zh-CN" dirty="0"/>
              <a:t>类型</a:t>
            </a:r>
          </a:p>
          <a:p>
            <a:pPr>
              <a:lnSpc>
                <a:spcPct val="140000"/>
              </a:lnSpc>
              <a:spcBef>
                <a:spcPts val="0"/>
              </a:spcBef>
            </a:pPr>
            <a:r>
              <a:rPr lang="en-US" altLang="zh-CN" b="0" dirty="0"/>
              <a:t>ADT  </a:t>
            </a:r>
            <a:r>
              <a:rPr lang="en-US" altLang="zh-CN" b="0" dirty="0" err="1"/>
              <a:t>MBBTree</a:t>
            </a:r>
            <a:r>
              <a:rPr lang="en-US" altLang="zh-CN" b="0" dirty="0"/>
              <a:t>{</a:t>
            </a:r>
            <a:endParaRPr lang="zh-CN" altLang="zh-CN" b="0" dirty="0"/>
          </a:p>
          <a:p>
            <a:pPr>
              <a:lnSpc>
                <a:spcPct val="140000"/>
              </a:lnSpc>
              <a:spcBef>
                <a:spcPts val="0"/>
              </a:spcBef>
            </a:pPr>
            <a:r>
              <a:rPr lang="en-US" altLang="zh-CN" b="0" dirty="0"/>
              <a:t>	Data</a:t>
            </a:r>
            <a:r>
              <a:rPr lang="zh-CN" altLang="en-US" b="0" dirty="0"/>
              <a:t>；</a:t>
            </a:r>
            <a:r>
              <a:rPr lang="en-US" altLang="zh-CN" b="0" dirty="0"/>
              <a:t>   //Data</a:t>
            </a:r>
            <a:r>
              <a:rPr lang="zh-CN" altLang="zh-CN" b="0" dirty="0"/>
              <a:t>是具有相同特性的数据元素的集合</a:t>
            </a:r>
          </a:p>
          <a:p>
            <a:pPr>
              <a:lnSpc>
                <a:spcPct val="140000"/>
              </a:lnSpc>
              <a:spcBef>
                <a:spcPts val="0"/>
              </a:spcBef>
            </a:pPr>
            <a:r>
              <a:rPr lang="en-US" altLang="zh-CN" b="0" dirty="0"/>
              <a:t>	</a:t>
            </a:r>
            <a:r>
              <a:rPr lang="en-US" altLang="zh-CN" b="0" dirty="0" err="1"/>
              <a:t>Opreation</a:t>
            </a:r>
            <a:r>
              <a:rPr lang="en-US" altLang="zh-CN" b="0" dirty="0"/>
              <a:t>:</a:t>
            </a:r>
            <a:endParaRPr lang="zh-CN" altLang="zh-CN" b="0" dirty="0"/>
          </a:p>
          <a:p>
            <a:pPr>
              <a:lnSpc>
                <a:spcPct val="140000"/>
              </a:lnSpc>
              <a:spcBef>
                <a:spcPts val="0"/>
              </a:spcBef>
            </a:pPr>
            <a:r>
              <a:rPr lang="en-US" altLang="zh-CN" b="0" dirty="0"/>
              <a:t>     	</a:t>
            </a:r>
            <a:r>
              <a:rPr lang="en-US" altLang="zh-CN" b="0" dirty="0" err="1"/>
              <a:t>MB_Tree</a:t>
            </a:r>
            <a:r>
              <a:rPr lang="en-US" altLang="zh-CN" b="0" dirty="0"/>
              <a:t>();              		//</a:t>
            </a:r>
            <a:r>
              <a:rPr lang="zh-CN" altLang="zh-CN" b="0" dirty="0"/>
              <a:t>构造函数</a:t>
            </a:r>
          </a:p>
          <a:p>
            <a:pPr>
              <a:lnSpc>
                <a:spcPct val="140000"/>
              </a:lnSpc>
              <a:spcBef>
                <a:spcPts val="0"/>
              </a:spcBef>
            </a:pPr>
            <a:r>
              <a:rPr lang="en-US" altLang="zh-CN" b="0" dirty="0"/>
              <a:t>		int </a:t>
            </a:r>
            <a:r>
              <a:rPr lang="en-US" altLang="zh-CN" b="0" dirty="0" err="1"/>
              <a:t>SearchMBTree</a:t>
            </a:r>
            <a:r>
              <a:rPr lang="en-US" altLang="zh-CN" b="0" dirty="0"/>
              <a:t>(</a:t>
            </a:r>
            <a:r>
              <a:rPr lang="en-US" altLang="zh-CN" b="0" dirty="0" err="1"/>
              <a:t>KeyType</a:t>
            </a:r>
            <a:r>
              <a:rPr lang="en-US" altLang="zh-CN" b="0" dirty="0"/>
              <a:t> K);   	         //</a:t>
            </a:r>
            <a:r>
              <a:rPr lang="zh-CN" altLang="zh-CN" b="0" dirty="0"/>
              <a:t>查找</a:t>
            </a:r>
          </a:p>
          <a:p>
            <a:pPr>
              <a:lnSpc>
                <a:spcPct val="140000"/>
              </a:lnSpc>
              <a:spcBef>
                <a:spcPts val="0"/>
              </a:spcBef>
            </a:pPr>
            <a:r>
              <a:rPr lang="en-US" altLang="zh-CN" b="0" dirty="0"/>
              <a:t>     	</a:t>
            </a:r>
            <a:r>
              <a:rPr lang="en-US" altLang="zh-CN" b="0" dirty="0" err="1"/>
              <a:t>bool</a:t>
            </a:r>
            <a:r>
              <a:rPr lang="en-US" altLang="zh-CN" b="0" dirty="0"/>
              <a:t> </a:t>
            </a:r>
            <a:r>
              <a:rPr lang="en-US" altLang="zh-CN" b="0" dirty="0" err="1"/>
              <a:t>InsertMBTree</a:t>
            </a:r>
            <a:r>
              <a:rPr lang="en-US" altLang="zh-CN" b="0" dirty="0"/>
              <a:t>(</a:t>
            </a:r>
            <a:r>
              <a:rPr lang="en-US" altLang="zh-CN" b="0" dirty="0" err="1"/>
              <a:t>KeyType</a:t>
            </a:r>
            <a:r>
              <a:rPr lang="en-US" altLang="zh-CN" b="0" dirty="0"/>
              <a:t> K, </a:t>
            </a:r>
            <a:r>
              <a:rPr lang="en-US" altLang="zh-CN" b="0" dirty="0" err="1"/>
              <a:t>int</a:t>
            </a:r>
            <a:r>
              <a:rPr lang="en-US" altLang="zh-CN" b="0" dirty="0"/>
              <a:t> </a:t>
            </a:r>
            <a:r>
              <a:rPr lang="en-US" altLang="zh-CN" b="0" dirty="0" err="1"/>
              <a:t>addr</a:t>
            </a:r>
            <a:r>
              <a:rPr lang="en-US" altLang="zh-CN" b="0" dirty="0"/>
              <a:t>);  //</a:t>
            </a:r>
            <a:r>
              <a:rPr lang="zh-CN" altLang="zh-CN" b="0" dirty="0"/>
              <a:t>插入</a:t>
            </a:r>
          </a:p>
          <a:p>
            <a:pPr>
              <a:lnSpc>
                <a:spcPct val="140000"/>
              </a:lnSpc>
              <a:spcBef>
                <a:spcPts val="0"/>
              </a:spcBef>
            </a:pPr>
            <a:r>
              <a:rPr lang="en-US" altLang="zh-CN" b="0" dirty="0"/>
              <a:t>		bool </a:t>
            </a:r>
            <a:r>
              <a:rPr lang="en-US" altLang="zh-CN" b="0" dirty="0" err="1"/>
              <a:t>DeleteMBTree</a:t>
            </a:r>
            <a:r>
              <a:rPr lang="en-US" altLang="zh-CN" b="0" dirty="0"/>
              <a:t>(</a:t>
            </a:r>
            <a:r>
              <a:rPr lang="en-US" altLang="zh-CN" b="0" dirty="0" err="1"/>
              <a:t>KeyType</a:t>
            </a:r>
            <a:r>
              <a:rPr lang="en-US" altLang="zh-CN" b="0" dirty="0"/>
              <a:t> K);  	         //</a:t>
            </a:r>
            <a:r>
              <a:rPr lang="zh-CN" altLang="en-US" b="0" dirty="0"/>
              <a:t>删除</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DepthMBTree</a:t>
            </a:r>
            <a:r>
              <a:rPr lang="en-US" altLang="zh-CN" b="0" dirty="0"/>
              <a:t>();                //</a:t>
            </a:r>
            <a:r>
              <a:rPr lang="zh-CN" altLang="zh-CN" b="0" dirty="0"/>
              <a:t>求深度</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CountMBTree</a:t>
            </a:r>
            <a:r>
              <a:rPr lang="en-US" altLang="zh-CN" b="0" dirty="0"/>
              <a:t>();                //</a:t>
            </a:r>
            <a:r>
              <a:rPr lang="zh-CN" altLang="zh-CN" b="0" dirty="0"/>
              <a:t>统计所有结点数</a:t>
            </a:r>
          </a:p>
          <a:p>
            <a:pPr>
              <a:lnSpc>
                <a:spcPct val="140000"/>
              </a:lnSpc>
              <a:spcBef>
                <a:spcPts val="0"/>
              </a:spcBef>
            </a:pPr>
            <a:r>
              <a:rPr lang="zh-CN" altLang="zh-CN" b="0" dirty="0"/>
              <a:t>｝</a:t>
            </a:r>
            <a:r>
              <a:rPr lang="en-US" altLang="zh-CN" b="0" dirty="0"/>
              <a:t>//ADT </a:t>
            </a:r>
            <a:r>
              <a:rPr lang="en-US" altLang="zh-CN" b="0" dirty="0" err="1"/>
              <a:t>MBTree</a:t>
            </a:r>
            <a:endParaRPr lang="zh-CN" altLang="zh-CN" b="0" dirty="0"/>
          </a:p>
        </p:txBody>
      </p:sp>
    </p:spTree>
    <p:extLst>
      <p:ext uri="{BB962C8B-B14F-4D97-AF65-F5344CB8AC3E}">
        <p14:creationId xmlns:p14="http://schemas.microsoft.com/office/powerpoint/2010/main" val="30387546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640960" cy="5184576"/>
          </a:xfrm>
        </p:spPr>
        <p:txBody>
          <a:bodyPr>
            <a:normAutofit/>
          </a:bodyPr>
          <a:lstStyle/>
          <a:p>
            <a:pPr>
              <a:lnSpc>
                <a:spcPct val="140000"/>
              </a:lnSpc>
              <a:spcBef>
                <a:spcPts val="0"/>
              </a:spcBef>
            </a:pPr>
            <a:r>
              <a:rPr lang="zh-CN" altLang="zh-CN" dirty="0"/>
              <a:t>用链式存储结构来存储</a:t>
            </a:r>
            <a:r>
              <a:rPr lang="en-US" altLang="zh-CN" dirty="0"/>
              <a:t>B</a:t>
            </a:r>
            <a:r>
              <a:rPr lang="zh-CN" altLang="zh-CN" dirty="0"/>
              <a:t>树，其结点和类声明如下所示：</a:t>
            </a:r>
          </a:p>
          <a:p>
            <a:pPr>
              <a:lnSpc>
                <a:spcPct val="140000"/>
              </a:lnSpc>
              <a:spcBef>
                <a:spcPts val="0"/>
              </a:spcBef>
            </a:pPr>
            <a:r>
              <a:rPr lang="en-US" altLang="zh-CN" b="0" dirty="0" err="1"/>
              <a:t>struct</a:t>
            </a:r>
            <a:r>
              <a:rPr lang="en-US" altLang="zh-CN" b="0" dirty="0"/>
              <a:t> </a:t>
            </a:r>
            <a:r>
              <a:rPr lang="en-US" altLang="zh-CN" b="0" dirty="0" err="1"/>
              <a:t>MBNode</a:t>
            </a:r>
            <a:r>
              <a:rPr lang="en-US" altLang="zh-CN" b="0" dirty="0"/>
              <a:t>{</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keynum</a:t>
            </a:r>
            <a:r>
              <a:rPr lang="en-US" altLang="zh-CN" b="0" dirty="0"/>
              <a:t>;          	   //</a:t>
            </a:r>
            <a:r>
              <a:rPr lang="zh-CN" altLang="zh-CN" b="0" dirty="0"/>
              <a:t>关键字个数域</a:t>
            </a:r>
          </a:p>
          <a:p>
            <a:pPr>
              <a:lnSpc>
                <a:spcPct val="140000"/>
              </a:lnSpc>
              <a:spcBef>
                <a:spcPts val="0"/>
              </a:spcBef>
            </a:pPr>
            <a:r>
              <a:rPr lang="en-US" altLang="zh-CN" b="0" dirty="0"/>
              <a:t>    </a:t>
            </a:r>
            <a:r>
              <a:rPr lang="en-US" altLang="zh-CN" b="0" dirty="0" err="1"/>
              <a:t>MBNode</a:t>
            </a:r>
            <a:r>
              <a:rPr lang="en-US" altLang="zh-CN" b="0" dirty="0"/>
              <a:t> *parent;      //</a:t>
            </a:r>
            <a:r>
              <a:rPr lang="zh-CN" altLang="zh-CN" b="0" dirty="0"/>
              <a:t>指向父结点的指针域</a:t>
            </a:r>
          </a:p>
          <a:p>
            <a:pPr>
              <a:lnSpc>
                <a:spcPct val="140000"/>
              </a:lnSpc>
              <a:spcBef>
                <a:spcPts val="0"/>
              </a:spcBef>
            </a:pPr>
            <a:r>
              <a:rPr lang="en-US" altLang="zh-CN" b="0" dirty="0"/>
              <a:t>    </a:t>
            </a:r>
            <a:r>
              <a:rPr lang="en-US" altLang="zh-CN" b="0" dirty="0" err="1"/>
              <a:t>KeyType</a:t>
            </a:r>
            <a:r>
              <a:rPr lang="en-US" altLang="zh-CN" b="0" dirty="0"/>
              <a:t> key[n+1];    //</a:t>
            </a:r>
            <a:r>
              <a:rPr lang="zh-CN" altLang="zh-CN" b="0" dirty="0"/>
              <a:t>保存</a:t>
            </a:r>
            <a:r>
              <a:rPr lang="en-US" altLang="zh-CN" b="0" dirty="0"/>
              <a:t>n</a:t>
            </a:r>
            <a:r>
              <a:rPr lang="zh-CN" altLang="zh-CN" b="0" dirty="0"/>
              <a:t>个关键字的域，下标</a:t>
            </a:r>
            <a:r>
              <a:rPr lang="en-US" altLang="zh-CN" b="0" dirty="0"/>
              <a:t>0</a:t>
            </a:r>
            <a:r>
              <a:rPr lang="zh-CN" altLang="zh-CN" b="0" dirty="0"/>
              <a:t>位置未用</a:t>
            </a:r>
          </a:p>
          <a:p>
            <a:pPr>
              <a:lnSpc>
                <a:spcPct val="140000"/>
              </a:lnSpc>
              <a:spcBef>
                <a:spcPts val="0"/>
              </a:spcBef>
            </a:pPr>
            <a:r>
              <a:rPr lang="en-US" altLang="zh-CN" b="0" dirty="0"/>
              <a:t>    </a:t>
            </a:r>
            <a:r>
              <a:rPr lang="en-US" altLang="zh-CN" b="0" dirty="0" err="1"/>
              <a:t>MBNode</a:t>
            </a:r>
            <a:r>
              <a:rPr lang="en-US" altLang="zh-CN" b="0" dirty="0"/>
              <a:t> *</a:t>
            </a:r>
            <a:r>
              <a:rPr lang="en-US" altLang="zh-CN" b="0" dirty="0" err="1"/>
              <a:t>ptr</a:t>
            </a:r>
            <a:r>
              <a:rPr lang="en-US" altLang="zh-CN" b="0" dirty="0"/>
              <a:t>[n+1];   //</a:t>
            </a:r>
            <a:r>
              <a:rPr lang="zh-CN" altLang="zh-CN" b="0" dirty="0"/>
              <a:t>保存</a:t>
            </a:r>
            <a:r>
              <a:rPr lang="en-US" altLang="zh-CN" b="0" dirty="0"/>
              <a:t>n+1</a:t>
            </a:r>
            <a:r>
              <a:rPr lang="zh-CN" altLang="zh-CN" b="0" dirty="0"/>
              <a:t>个指向子树的指针域</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recptr</a:t>
            </a:r>
            <a:r>
              <a:rPr lang="en-US" altLang="zh-CN" b="0" dirty="0"/>
              <a:t>[n+1];           //</a:t>
            </a:r>
            <a:r>
              <a:rPr lang="zh-CN" altLang="zh-CN" b="0" dirty="0"/>
              <a:t>保存每个关键字对应记录的存储位置</a:t>
            </a:r>
          </a:p>
          <a:p>
            <a:pPr>
              <a:lnSpc>
                <a:spcPct val="140000"/>
              </a:lnSpc>
              <a:spcBef>
                <a:spcPts val="0"/>
              </a:spcBef>
            </a:pPr>
            <a:r>
              <a:rPr lang="en-US" altLang="zh-CN" b="0" dirty="0"/>
              <a:t>};</a:t>
            </a:r>
            <a:endParaRPr lang="zh-CN" altLang="zh-CN" b="0" dirty="0"/>
          </a:p>
        </p:txBody>
      </p:sp>
    </p:spTree>
    <p:extLst>
      <p:ext uri="{BB962C8B-B14F-4D97-AF65-F5344CB8AC3E}">
        <p14:creationId xmlns:p14="http://schemas.microsoft.com/office/powerpoint/2010/main" val="31409139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8136904" cy="5400600"/>
          </a:xfrm>
        </p:spPr>
        <p:txBody>
          <a:bodyPr>
            <a:normAutofit fontScale="77500" lnSpcReduction="20000"/>
          </a:bodyPr>
          <a:lstStyle/>
          <a:p>
            <a:pPr>
              <a:lnSpc>
                <a:spcPct val="140000"/>
              </a:lnSpc>
              <a:spcBef>
                <a:spcPts val="0"/>
              </a:spcBef>
            </a:pPr>
            <a:r>
              <a:rPr lang="en-US" altLang="zh-CN" b="0" dirty="0"/>
              <a:t>class </a:t>
            </a:r>
            <a:r>
              <a:rPr lang="en-US" altLang="zh-CN" b="0" dirty="0" err="1"/>
              <a:t>MBTree</a:t>
            </a:r>
            <a:r>
              <a:rPr lang="en-US" altLang="zh-CN" b="0" dirty="0"/>
              <a:t>{</a:t>
            </a:r>
            <a:endParaRPr lang="zh-CN" altLang="zh-CN" b="0" dirty="0"/>
          </a:p>
          <a:p>
            <a:pPr>
              <a:lnSpc>
                <a:spcPct val="140000"/>
              </a:lnSpc>
              <a:spcBef>
                <a:spcPts val="0"/>
              </a:spcBef>
            </a:pPr>
            <a:r>
              <a:rPr lang="en-US" altLang="zh-CN" b="0" dirty="0"/>
              <a:t>private:</a:t>
            </a:r>
            <a:endParaRPr lang="zh-CN" altLang="zh-CN" b="0" dirty="0"/>
          </a:p>
          <a:p>
            <a:pPr>
              <a:lnSpc>
                <a:spcPct val="140000"/>
              </a:lnSpc>
              <a:spcBef>
                <a:spcPts val="0"/>
              </a:spcBef>
            </a:pPr>
            <a:r>
              <a:rPr lang="en-US" altLang="zh-CN" b="0" dirty="0"/>
              <a:t>   </a:t>
            </a:r>
            <a:r>
              <a:rPr lang="en-US" altLang="zh-CN" b="0" dirty="0" err="1"/>
              <a:t>MBNode</a:t>
            </a:r>
            <a:r>
              <a:rPr lang="en-US" altLang="zh-CN" b="0" dirty="0"/>
              <a:t> *MT;</a:t>
            </a:r>
            <a:endParaRPr lang="zh-CN" altLang="zh-CN" b="0" dirty="0"/>
          </a:p>
          <a:p>
            <a:pPr>
              <a:lnSpc>
                <a:spcPct val="140000"/>
              </a:lnSpc>
              <a:spcBef>
                <a:spcPts val="0"/>
              </a:spcBef>
            </a:pPr>
            <a:r>
              <a:rPr lang="en-US" altLang="zh-CN" b="0" dirty="0"/>
              <a:t>public:</a:t>
            </a:r>
            <a:endParaRPr lang="zh-CN" altLang="zh-CN" b="0" dirty="0"/>
          </a:p>
          <a:p>
            <a:pPr>
              <a:lnSpc>
                <a:spcPct val="140000"/>
              </a:lnSpc>
              <a:spcBef>
                <a:spcPts val="0"/>
              </a:spcBef>
            </a:pPr>
            <a:r>
              <a:rPr lang="en-US" altLang="zh-CN" b="0" dirty="0"/>
              <a:t>   </a:t>
            </a:r>
            <a:r>
              <a:rPr lang="en-US" altLang="zh-CN" b="0" dirty="0" err="1"/>
              <a:t>MBTree</a:t>
            </a:r>
            <a:r>
              <a:rPr lang="en-US" altLang="zh-CN" b="0" dirty="0"/>
              <a:t>() { MT=NULL; }</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SearchMBTree</a:t>
            </a:r>
            <a:r>
              <a:rPr lang="en-US" altLang="zh-CN" b="0" dirty="0"/>
              <a:t>(</a:t>
            </a:r>
            <a:r>
              <a:rPr lang="en-US" altLang="zh-CN" b="0" dirty="0" err="1"/>
              <a:t>KeyType</a:t>
            </a:r>
            <a:r>
              <a:rPr lang="en-US" altLang="zh-CN" b="0" dirty="0"/>
              <a:t> K);  //</a:t>
            </a:r>
            <a:r>
              <a:rPr lang="zh-CN" altLang="zh-CN" b="0" dirty="0"/>
              <a:t>查找关键字为</a:t>
            </a:r>
            <a:r>
              <a:rPr lang="en-US" altLang="zh-CN" b="0" dirty="0"/>
              <a:t>K</a:t>
            </a:r>
            <a:r>
              <a:rPr lang="zh-CN" altLang="zh-CN" b="0" dirty="0"/>
              <a:t>的对应记录的存储位置</a:t>
            </a:r>
          </a:p>
          <a:p>
            <a:pPr>
              <a:lnSpc>
                <a:spcPct val="140000"/>
              </a:lnSpc>
              <a:spcBef>
                <a:spcPts val="0"/>
              </a:spcBef>
            </a:pPr>
            <a:r>
              <a:rPr lang="en-US" altLang="zh-CN" b="0" dirty="0"/>
              <a:t>   bool </a:t>
            </a:r>
            <a:r>
              <a:rPr lang="en-US" altLang="zh-CN" b="0" dirty="0" err="1"/>
              <a:t>InsertMBTree</a:t>
            </a:r>
            <a:r>
              <a:rPr lang="en-US" altLang="zh-CN" b="0" dirty="0"/>
              <a:t>(</a:t>
            </a:r>
            <a:r>
              <a:rPr lang="en-US" altLang="zh-CN" b="0" dirty="0" err="1"/>
              <a:t>KeyType</a:t>
            </a:r>
            <a:r>
              <a:rPr lang="en-US" altLang="zh-CN" b="0" dirty="0"/>
              <a:t> </a:t>
            </a:r>
            <a:r>
              <a:rPr lang="en-US" altLang="zh-CN" b="0" dirty="0" err="1"/>
              <a:t>K,int</a:t>
            </a:r>
            <a:r>
              <a:rPr lang="en-US" altLang="zh-CN" b="0" dirty="0"/>
              <a:t> </a:t>
            </a:r>
            <a:r>
              <a:rPr lang="en-US" altLang="zh-CN" b="0" dirty="0" err="1"/>
              <a:t>num</a:t>
            </a:r>
            <a:r>
              <a:rPr lang="en-US" altLang="zh-CN" b="0" dirty="0"/>
              <a:t>);  //</a:t>
            </a:r>
            <a:r>
              <a:rPr lang="zh-CN" altLang="zh-CN" b="0" dirty="0"/>
              <a:t>插入索引项（</a:t>
            </a:r>
            <a:r>
              <a:rPr lang="en-US" altLang="zh-CN" b="0" dirty="0" err="1"/>
              <a:t>K,num,NULL</a:t>
            </a:r>
            <a:r>
              <a:rPr lang="en-US" altLang="zh-CN" b="0" dirty="0"/>
              <a:t>)</a:t>
            </a:r>
            <a:endParaRPr lang="zh-CN" altLang="zh-CN" b="0" dirty="0"/>
          </a:p>
          <a:p>
            <a:pPr>
              <a:lnSpc>
                <a:spcPct val="140000"/>
              </a:lnSpc>
              <a:spcBef>
                <a:spcPts val="0"/>
              </a:spcBef>
            </a:pPr>
            <a:r>
              <a:rPr lang="en-US" altLang="zh-CN" b="0" dirty="0"/>
              <a:t>   bool </a:t>
            </a:r>
            <a:r>
              <a:rPr lang="en-US" altLang="zh-CN" b="0" dirty="0" err="1"/>
              <a:t>DeleteMBTree</a:t>
            </a:r>
            <a:r>
              <a:rPr lang="en-US" altLang="zh-CN" b="0" dirty="0"/>
              <a:t>(</a:t>
            </a:r>
            <a:r>
              <a:rPr lang="en-US" altLang="zh-CN" b="0" dirty="0" err="1"/>
              <a:t>KeyType</a:t>
            </a:r>
            <a:r>
              <a:rPr lang="en-US" altLang="zh-CN" b="0" dirty="0"/>
              <a:t> K);              //</a:t>
            </a:r>
            <a:r>
              <a:rPr lang="zh-CN" altLang="en-US" b="0" dirty="0"/>
              <a:t>删除关键字为</a:t>
            </a:r>
            <a:r>
              <a:rPr lang="en-US" altLang="zh-CN" b="0" dirty="0"/>
              <a:t>K</a:t>
            </a:r>
            <a:r>
              <a:rPr lang="zh-CN" altLang="en-US" b="0" dirty="0"/>
              <a:t>的记录</a:t>
            </a:r>
            <a:endParaRPr lang="zh-CN" altLang="zh-CN" b="0" dirty="0"/>
          </a:p>
          <a:p>
            <a:pPr>
              <a:lnSpc>
                <a:spcPct val="140000"/>
              </a:lnSpc>
              <a:spcBef>
                <a:spcPts val="0"/>
              </a:spcBef>
            </a:pPr>
            <a:r>
              <a:rPr lang="en-US" altLang="zh-CN" b="0" dirty="0"/>
              <a:t>   int </a:t>
            </a:r>
            <a:r>
              <a:rPr lang="en-US" altLang="zh-CN" b="0" dirty="0" err="1"/>
              <a:t>DepthMBTree</a:t>
            </a:r>
            <a:r>
              <a:rPr lang="en-US" altLang="zh-CN" b="0" dirty="0"/>
              <a:t>(</a:t>
            </a:r>
            <a:r>
              <a:rPr lang="en-US" altLang="zh-CN" b="0" dirty="0" err="1"/>
              <a:t>MBNode</a:t>
            </a:r>
            <a:r>
              <a:rPr lang="en-US" altLang="zh-CN" b="0" dirty="0"/>
              <a:t> *T);                //</a:t>
            </a:r>
            <a:r>
              <a:rPr lang="zh-CN" altLang="zh-CN" b="0" dirty="0"/>
              <a:t>求深度</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DepthMBTree</a:t>
            </a:r>
            <a:r>
              <a:rPr lang="en-US" altLang="zh-CN" b="0" dirty="0"/>
              <a:t>();</a:t>
            </a:r>
            <a:endParaRPr lang="zh-CN" altLang="zh-CN" b="0" dirty="0"/>
          </a:p>
          <a:p>
            <a:pPr>
              <a:lnSpc>
                <a:spcPct val="140000"/>
              </a:lnSpc>
              <a:spcBef>
                <a:spcPts val="0"/>
              </a:spcBef>
            </a:pPr>
            <a:r>
              <a:rPr lang="en-US" altLang="zh-CN" b="0" dirty="0"/>
              <a:t>   int </a:t>
            </a:r>
            <a:r>
              <a:rPr lang="en-US" altLang="zh-CN" b="0" dirty="0" err="1"/>
              <a:t>CountMBTree</a:t>
            </a:r>
            <a:r>
              <a:rPr lang="en-US" altLang="zh-CN" b="0" dirty="0"/>
              <a:t>(</a:t>
            </a:r>
            <a:r>
              <a:rPr lang="en-US" altLang="zh-CN" b="0" dirty="0" err="1"/>
              <a:t>MBNode</a:t>
            </a:r>
            <a:r>
              <a:rPr lang="en-US" altLang="zh-CN" b="0" dirty="0"/>
              <a:t> *T</a:t>
            </a:r>
            <a:r>
              <a:rPr lang="en-US" altLang="zh-CN" b="0"/>
              <a:t>);                //</a:t>
            </a:r>
            <a:r>
              <a:rPr lang="zh-CN" altLang="zh-CN" b="0" dirty="0"/>
              <a:t>统计所有结点数</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CountMBTree</a:t>
            </a:r>
            <a:r>
              <a:rPr lang="en-US" altLang="zh-CN" b="0" dirty="0"/>
              <a:t>();</a:t>
            </a:r>
            <a:endParaRPr lang="zh-CN" altLang="zh-CN" b="0" dirty="0"/>
          </a:p>
          <a:p>
            <a:pPr>
              <a:lnSpc>
                <a:spcPct val="140000"/>
              </a:lnSpc>
              <a:spcBef>
                <a:spcPts val="0"/>
              </a:spcBef>
            </a:pPr>
            <a:r>
              <a:rPr lang="en-US" altLang="zh-CN" b="0" dirty="0"/>
              <a:t>   void </a:t>
            </a:r>
            <a:r>
              <a:rPr lang="en-US" altLang="zh-CN" b="0" dirty="0" err="1"/>
              <a:t>PrintMBTree</a:t>
            </a:r>
            <a:r>
              <a:rPr lang="en-US" altLang="zh-CN" b="0" dirty="0"/>
              <a:t>(</a:t>
            </a:r>
            <a:r>
              <a:rPr lang="en-US" altLang="zh-CN" b="0" dirty="0" err="1"/>
              <a:t>MBNode</a:t>
            </a:r>
            <a:r>
              <a:rPr lang="en-US" altLang="zh-CN" b="0" dirty="0"/>
              <a:t> *T);</a:t>
            </a:r>
            <a:endParaRPr lang="zh-CN" altLang="zh-CN" b="0" dirty="0"/>
          </a:p>
          <a:p>
            <a:pPr>
              <a:lnSpc>
                <a:spcPct val="140000"/>
              </a:lnSpc>
              <a:spcBef>
                <a:spcPts val="0"/>
              </a:spcBef>
            </a:pPr>
            <a:r>
              <a:rPr lang="en-US" altLang="zh-CN" b="0" dirty="0"/>
              <a:t>   void </a:t>
            </a:r>
            <a:r>
              <a:rPr lang="en-US" altLang="zh-CN" b="0" dirty="0" err="1"/>
              <a:t>PrintMBTree</a:t>
            </a:r>
            <a:r>
              <a:rPr lang="en-US" altLang="zh-CN" b="0" dirty="0"/>
              <a:t>();</a:t>
            </a:r>
            <a:endParaRPr lang="zh-CN" altLang="zh-CN" b="0" dirty="0"/>
          </a:p>
          <a:p>
            <a:pPr>
              <a:lnSpc>
                <a:spcPct val="140000"/>
              </a:lnSpc>
              <a:spcBef>
                <a:spcPts val="0"/>
              </a:spcBef>
            </a:pPr>
            <a:r>
              <a:rPr lang="en-US" altLang="zh-CN" b="0" dirty="0"/>
              <a:t>};</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17472600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71546"/>
            <a:ext cx="7520940" cy="4857784"/>
          </a:xfrm>
        </p:spPr>
        <p:txBody>
          <a:bodyPr>
            <a:normAutofit/>
          </a:bodyPr>
          <a:lstStyle/>
          <a:p>
            <a:pPr algn="just"/>
            <a:r>
              <a:rPr lang="en-US" dirty="0"/>
              <a:t>1</a:t>
            </a:r>
            <a:r>
              <a:rPr lang="zh-CN" altLang="en-US" dirty="0"/>
              <a:t>．</a:t>
            </a:r>
            <a:r>
              <a:rPr lang="en-US" dirty="0"/>
              <a:t>B</a:t>
            </a:r>
            <a:r>
              <a:rPr lang="zh-CN" altLang="en-US" dirty="0"/>
              <a:t>树的查找分析</a:t>
            </a:r>
          </a:p>
          <a:p>
            <a:pPr algn="just">
              <a:buFont typeface="Arial" pitchFamily="34" charset="0"/>
              <a:buChar char="•"/>
            </a:pPr>
            <a:r>
              <a:rPr lang="en-US" dirty="0">
                <a:solidFill>
                  <a:srgbClr val="FF0000"/>
                </a:solidFill>
              </a:rPr>
              <a:t>B</a:t>
            </a:r>
            <a:r>
              <a:rPr lang="zh-CN" altLang="en-US" dirty="0">
                <a:solidFill>
                  <a:srgbClr val="FF0000"/>
                </a:solidFill>
              </a:rPr>
              <a:t>树的查找过程</a:t>
            </a:r>
            <a:r>
              <a:rPr lang="zh-CN" altLang="en-US" b="0" dirty="0"/>
              <a:t>是一个</a:t>
            </a:r>
            <a:r>
              <a:rPr lang="zh-CN" altLang="en-US" b="0" dirty="0">
                <a:solidFill>
                  <a:srgbClr val="FF0000"/>
                </a:solidFill>
              </a:rPr>
              <a:t>在结点内查找和顺着某一条路径向下一层查找交替进行的过程</a:t>
            </a:r>
            <a:r>
              <a:rPr lang="zh-CN" altLang="en-US" dirty="0"/>
              <a:t>。</a:t>
            </a:r>
            <a:endParaRPr lang="en-US" altLang="zh-CN" dirty="0"/>
          </a:p>
          <a:p>
            <a:pPr algn="just">
              <a:buFont typeface="Arial" pitchFamily="34" charset="0"/>
              <a:buChar char="•"/>
            </a:pPr>
            <a:r>
              <a:rPr lang="en-US" b="0" dirty="0"/>
              <a:t>B</a:t>
            </a:r>
            <a:r>
              <a:rPr lang="zh-CN" altLang="en-US" b="0" dirty="0"/>
              <a:t>树的</a:t>
            </a:r>
            <a:r>
              <a:rPr lang="zh-CN" altLang="en-US" b="0" dirty="0">
                <a:solidFill>
                  <a:srgbClr val="FF0000"/>
                </a:solidFill>
              </a:rPr>
              <a:t>查找时间复杂度与</a:t>
            </a:r>
            <a:r>
              <a:rPr lang="en-US" b="0" dirty="0">
                <a:solidFill>
                  <a:srgbClr val="FF0000"/>
                </a:solidFill>
              </a:rPr>
              <a:t>B</a:t>
            </a:r>
            <a:r>
              <a:rPr lang="zh-CN" altLang="en-US" b="0" dirty="0">
                <a:solidFill>
                  <a:srgbClr val="FF0000"/>
                </a:solidFill>
              </a:rPr>
              <a:t>树的阶数</a:t>
            </a:r>
            <a:r>
              <a:rPr lang="en-US" b="0" dirty="0">
                <a:solidFill>
                  <a:srgbClr val="FF0000"/>
                </a:solidFill>
              </a:rPr>
              <a:t>m</a:t>
            </a:r>
            <a:r>
              <a:rPr lang="zh-CN" altLang="en-US" b="0" dirty="0">
                <a:solidFill>
                  <a:srgbClr val="FF0000"/>
                </a:solidFill>
              </a:rPr>
              <a:t>和</a:t>
            </a:r>
            <a:r>
              <a:rPr lang="en-US" b="0" dirty="0">
                <a:solidFill>
                  <a:srgbClr val="FF0000"/>
                </a:solidFill>
              </a:rPr>
              <a:t>B</a:t>
            </a:r>
            <a:r>
              <a:rPr lang="zh-CN" altLang="en-US" b="0" dirty="0">
                <a:solidFill>
                  <a:srgbClr val="FF0000"/>
                </a:solidFill>
              </a:rPr>
              <a:t>树的高度</a:t>
            </a:r>
            <a:r>
              <a:rPr lang="en-US" b="0" dirty="0">
                <a:solidFill>
                  <a:srgbClr val="FF0000"/>
                </a:solidFill>
              </a:rPr>
              <a:t>h</a:t>
            </a:r>
            <a:r>
              <a:rPr lang="zh-CN" altLang="en-US" b="0" dirty="0">
                <a:solidFill>
                  <a:srgbClr val="FF0000"/>
                </a:solidFill>
              </a:rPr>
              <a:t>有关。</a:t>
            </a:r>
            <a:r>
              <a:rPr lang="zh-CN" altLang="en-US" b="0" dirty="0"/>
              <a:t>在</a:t>
            </a:r>
            <a:r>
              <a:rPr lang="en-US" b="0" dirty="0"/>
              <a:t>B</a:t>
            </a:r>
            <a:r>
              <a:rPr lang="zh-CN" altLang="en-US" b="0" dirty="0"/>
              <a:t>树上进行查找时，查找成功所需的时间取决于关键字所在的层次，查找不成功所需的时间取决于树的高度。</a:t>
            </a:r>
            <a:endParaRPr lang="en-US" altLang="zh-CN" b="0" dirty="0"/>
          </a:p>
          <a:p>
            <a:pPr algn="just">
              <a:buFont typeface="Arial" pitchFamily="34" charset="0"/>
              <a:buChar char="•"/>
            </a:pPr>
            <a:r>
              <a:rPr lang="zh-CN" altLang="en-US" b="0" dirty="0"/>
              <a:t>在含有</a:t>
            </a:r>
            <a:r>
              <a:rPr lang="en-US" altLang="en-US" b="0" dirty="0"/>
              <a:t>N</a:t>
            </a:r>
            <a:r>
              <a:rPr lang="zh-CN" altLang="en-US" b="0" dirty="0"/>
              <a:t>个关键字的</a:t>
            </a:r>
            <a:r>
              <a:rPr lang="en-US" altLang="en-US" b="0" dirty="0"/>
              <a:t>B</a:t>
            </a:r>
            <a:r>
              <a:rPr lang="zh-CN" altLang="en-US" b="0" dirty="0"/>
              <a:t>树上进行查找时，从根结点到关键字所在结点的路径上涉及的结点数不超过</a:t>
            </a:r>
            <a:r>
              <a:rPr lang="en-US" altLang="en-US" dirty="0" err="1">
                <a:solidFill>
                  <a:srgbClr val="FF0000"/>
                </a:solidFill>
              </a:rPr>
              <a:t>log</a:t>
            </a:r>
            <a:r>
              <a:rPr lang="en-US" altLang="en-US" baseline="-25000" dirty="0" err="1">
                <a:solidFill>
                  <a:srgbClr val="FF0000"/>
                </a:solidFill>
              </a:rPr>
              <a:t>⌈m</a:t>
            </a:r>
            <a:r>
              <a:rPr lang="en-US" altLang="en-US" baseline="-25000" dirty="0">
                <a:solidFill>
                  <a:srgbClr val="FF0000"/>
                </a:solidFill>
              </a:rPr>
              <a:t>/2⌉</a:t>
            </a:r>
            <a:r>
              <a:rPr lang="en-US" altLang="en-US" dirty="0">
                <a:solidFill>
                  <a:srgbClr val="FF0000"/>
                </a:solidFill>
              </a:rPr>
              <a:t>((</a:t>
            </a:r>
            <a:r>
              <a:rPr lang="en-US" altLang="zh-CN" dirty="0">
                <a:solidFill>
                  <a:srgbClr val="FF0000"/>
                </a:solidFill>
              </a:rPr>
              <a:t>N+1)/2</a:t>
            </a:r>
            <a:r>
              <a:rPr lang="en-US" altLang="en-US" dirty="0">
                <a:solidFill>
                  <a:srgbClr val="FF0000"/>
                </a:solidFill>
              </a:rPr>
              <a:t>)+1</a:t>
            </a:r>
            <a:r>
              <a:rPr lang="zh-CN" altLang="en-US" b="0" dirty="0"/>
              <a:t>。</a:t>
            </a:r>
          </a:p>
        </p:txBody>
      </p:sp>
    </p:spTree>
    <p:extLst>
      <p:ext uri="{BB962C8B-B14F-4D97-AF65-F5344CB8AC3E}">
        <p14:creationId xmlns:p14="http://schemas.microsoft.com/office/powerpoint/2010/main" val="31343697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064896" cy="5472608"/>
          </a:xfrm>
        </p:spPr>
        <p:txBody>
          <a:bodyPr>
            <a:normAutofit fontScale="85000" lnSpcReduction="20000"/>
          </a:bodyPr>
          <a:lstStyle/>
          <a:p>
            <a:pPr>
              <a:lnSpc>
                <a:spcPct val="140000"/>
              </a:lnSpc>
              <a:spcBef>
                <a:spcPts val="0"/>
              </a:spcBef>
            </a:pPr>
            <a:r>
              <a:rPr lang="zh-CN" altLang="zh-CN" dirty="0"/>
              <a:t>算法</a:t>
            </a:r>
            <a:r>
              <a:rPr lang="en-US" altLang="zh-CN" dirty="0"/>
              <a:t>8.10</a:t>
            </a:r>
            <a:r>
              <a:rPr lang="zh-CN" altLang="zh-CN" dirty="0"/>
              <a:t>：</a:t>
            </a:r>
            <a:r>
              <a:rPr lang="en-US" altLang="zh-CN" dirty="0">
                <a:solidFill>
                  <a:srgbClr val="FF0000"/>
                </a:solidFill>
              </a:rPr>
              <a:t>B</a:t>
            </a:r>
            <a:r>
              <a:rPr lang="zh-CN" altLang="zh-CN" dirty="0">
                <a:solidFill>
                  <a:srgbClr val="FF0000"/>
                </a:solidFill>
              </a:rPr>
              <a:t>树的查找算法</a:t>
            </a:r>
          </a:p>
          <a:p>
            <a:pPr>
              <a:lnSpc>
                <a:spcPct val="140000"/>
              </a:lnSpc>
              <a:spcBef>
                <a:spcPts val="0"/>
              </a:spcBef>
            </a:pPr>
            <a:r>
              <a:rPr lang="en-US" altLang="zh-CN" b="0" dirty="0" err="1"/>
              <a:t>int</a:t>
            </a:r>
            <a:r>
              <a:rPr lang="en-US" altLang="zh-CN" b="0" dirty="0"/>
              <a:t> </a:t>
            </a:r>
            <a:r>
              <a:rPr lang="en-US" altLang="zh-CN" b="0" dirty="0" err="1"/>
              <a:t>MBTree</a:t>
            </a:r>
            <a:r>
              <a:rPr lang="en-US" altLang="zh-CN" b="0" dirty="0"/>
              <a:t>::</a:t>
            </a:r>
            <a:r>
              <a:rPr lang="en-US" altLang="zh-CN" b="0" dirty="0" err="1"/>
              <a:t>SearchMBTree</a:t>
            </a:r>
            <a:r>
              <a:rPr lang="en-US" altLang="zh-CN" b="0" dirty="0"/>
              <a:t>(</a:t>
            </a:r>
            <a:r>
              <a:rPr lang="en-US" altLang="zh-CN" b="0" dirty="0" err="1"/>
              <a:t>KeyType</a:t>
            </a:r>
            <a:r>
              <a:rPr lang="en-US" altLang="zh-CN" b="0" dirty="0"/>
              <a:t> K){</a:t>
            </a:r>
            <a:endParaRPr lang="zh-CN" altLang="zh-CN" b="0" dirty="0"/>
          </a:p>
          <a:p>
            <a:pPr>
              <a:lnSpc>
                <a:spcPct val="140000"/>
              </a:lnSpc>
              <a:spcBef>
                <a:spcPts val="0"/>
              </a:spcBef>
            </a:pPr>
            <a:r>
              <a:rPr lang="en-US" altLang="zh-CN" b="0" dirty="0"/>
              <a:t>     //</a:t>
            </a:r>
            <a:r>
              <a:rPr lang="zh-CN" altLang="zh-CN" b="0" dirty="0"/>
              <a:t>从树根指针为</a:t>
            </a:r>
            <a:r>
              <a:rPr lang="en-US" altLang="zh-CN" b="0" dirty="0"/>
              <a:t>MT</a:t>
            </a:r>
            <a:r>
              <a:rPr lang="zh-CN" altLang="zh-CN" b="0" dirty="0"/>
              <a:t>的</a:t>
            </a:r>
            <a:r>
              <a:rPr lang="en-US" altLang="zh-CN" b="0" dirty="0"/>
              <a:t>B</a:t>
            </a:r>
            <a:r>
              <a:rPr lang="zh-CN" altLang="zh-CN" b="0" dirty="0"/>
              <a:t>树上查找关键字为</a:t>
            </a:r>
            <a:r>
              <a:rPr lang="en-US" altLang="zh-CN" b="0" dirty="0"/>
              <a:t>K</a:t>
            </a:r>
            <a:r>
              <a:rPr lang="zh-CN" altLang="zh-CN" b="0" dirty="0"/>
              <a:t>的对应记录的存储位置</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pPr>
              <a:lnSpc>
                <a:spcPct val="140000"/>
              </a:lnSpc>
              <a:spcBef>
                <a:spcPts val="0"/>
              </a:spcBef>
            </a:pPr>
            <a:r>
              <a:rPr lang="en-US" altLang="zh-CN" b="0" dirty="0"/>
              <a:t>     </a:t>
            </a:r>
            <a:r>
              <a:rPr lang="en-US" altLang="zh-CN" b="0" dirty="0" err="1"/>
              <a:t>MBNode</a:t>
            </a:r>
            <a:r>
              <a:rPr lang="en-US" altLang="zh-CN" b="0" dirty="0"/>
              <a:t> *p=MT;</a:t>
            </a:r>
            <a:endParaRPr lang="zh-CN" altLang="zh-CN" b="0" dirty="0"/>
          </a:p>
          <a:p>
            <a:pPr>
              <a:lnSpc>
                <a:spcPct val="140000"/>
              </a:lnSpc>
              <a:spcBef>
                <a:spcPts val="0"/>
              </a:spcBef>
            </a:pPr>
            <a:r>
              <a:rPr lang="en-US" altLang="zh-CN" b="0" dirty="0"/>
              <a:t>	while(p != NULL){   //</a:t>
            </a:r>
            <a:r>
              <a:rPr lang="zh-CN" altLang="zh-CN" b="0" dirty="0"/>
              <a:t>从树根结点起依次向下一层查找</a:t>
            </a:r>
          </a:p>
          <a:p>
            <a:pPr>
              <a:lnSpc>
                <a:spcPct val="140000"/>
              </a:lnSpc>
              <a:spcBef>
                <a:spcPts val="0"/>
              </a:spcBef>
            </a:pPr>
            <a:r>
              <a:rPr lang="en-US" altLang="zh-CN" b="0" dirty="0"/>
              <a:t>        	</a:t>
            </a:r>
            <a:r>
              <a:rPr lang="en-US" altLang="zh-CN" b="0" dirty="0" err="1"/>
              <a:t>i</a:t>
            </a:r>
            <a:r>
              <a:rPr lang="en-US" altLang="zh-CN" b="0" dirty="0"/>
              <a:t>=1;                   //</a:t>
            </a:r>
            <a:r>
              <a:rPr lang="zh-CN" altLang="zh-CN" b="0" dirty="0"/>
              <a:t>用</a:t>
            </a:r>
            <a:r>
              <a:rPr lang="en-US" altLang="zh-CN" b="0" dirty="0" err="1"/>
              <a:t>i</a:t>
            </a:r>
            <a:r>
              <a:rPr lang="zh-CN" altLang="zh-CN" b="0" dirty="0"/>
              <a:t>表示待比较的关键字序号，初值为</a:t>
            </a:r>
            <a:r>
              <a:rPr lang="en-US" altLang="zh-CN" b="0" dirty="0"/>
              <a:t>1</a:t>
            </a:r>
            <a:endParaRPr lang="zh-CN" altLang="zh-CN" b="0" dirty="0"/>
          </a:p>
          <a:p>
            <a:pPr>
              <a:lnSpc>
                <a:spcPct val="140000"/>
              </a:lnSpc>
              <a:spcBef>
                <a:spcPts val="0"/>
              </a:spcBef>
            </a:pPr>
            <a:r>
              <a:rPr lang="en-US" altLang="zh-CN" b="0" dirty="0"/>
              <a:t>        	while(K &gt; p-&gt;key[</a:t>
            </a:r>
            <a:r>
              <a:rPr lang="en-US" altLang="zh-CN" b="0" dirty="0" err="1"/>
              <a:t>i</a:t>
            </a:r>
            <a:r>
              <a:rPr lang="en-US" altLang="zh-CN" b="0" dirty="0"/>
              <a:t>]) </a:t>
            </a:r>
            <a:r>
              <a:rPr lang="en-US" altLang="zh-CN" b="0" dirty="0" err="1"/>
              <a:t>i</a:t>
            </a:r>
            <a:r>
              <a:rPr lang="en-US" altLang="zh-CN" b="0" dirty="0"/>
              <a:t>++;   //</a:t>
            </a:r>
            <a:r>
              <a:rPr lang="zh-CN" altLang="zh-CN" b="0" dirty="0"/>
              <a:t>用</a:t>
            </a:r>
            <a:r>
              <a:rPr lang="en-US" altLang="zh-CN" b="0" dirty="0"/>
              <a:t>K</a:t>
            </a:r>
            <a:r>
              <a:rPr lang="zh-CN" altLang="zh-CN" b="0" dirty="0"/>
              <a:t>顺序同结点内关键字进行比较</a:t>
            </a:r>
          </a:p>
          <a:p>
            <a:pPr>
              <a:lnSpc>
                <a:spcPct val="140000"/>
              </a:lnSpc>
              <a:spcBef>
                <a:spcPts val="0"/>
              </a:spcBef>
            </a:pPr>
            <a:r>
              <a:rPr lang="en-US" altLang="zh-CN" b="0" dirty="0"/>
              <a:t>		if (K == p-&gt;key[</a:t>
            </a:r>
            <a:r>
              <a:rPr lang="en-US" altLang="zh-CN" b="0" dirty="0" err="1"/>
              <a:t>i</a:t>
            </a:r>
            <a:r>
              <a:rPr lang="en-US" altLang="zh-CN" b="0" dirty="0"/>
              <a:t>])</a:t>
            </a:r>
            <a:endParaRPr lang="zh-CN" altLang="zh-CN" b="0" dirty="0"/>
          </a:p>
          <a:p>
            <a:pPr>
              <a:lnSpc>
                <a:spcPct val="140000"/>
              </a:lnSpc>
              <a:spcBef>
                <a:spcPts val="0"/>
              </a:spcBef>
            </a:pPr>
            <a:r>
              <a:rPr lang="en-US" altLang="zh-CN" b="0" dirty="0"/>
              <a:t>             		return p-&gt;</a:t>
            </a:r>
            <a:r>
              <a:rPr lang="en-US" altLang="zh-CN" b="0" dirty="0" err="1"/>
              <a:t>recptr</a:t>
            </a:r>
            <a:r>
              <a:rPr lang="en-US" altLang="zh-CN" b="0" dirty="0"/>
              <a:t>[</a:t>
            </a:r>
            <a:r>
              <a:rPr lang="en-US" altLang="zh-CN" b="0" dirty="0" err="1"/>
              <a:t>i</a:t>
            </a:r>
            <a:r>
              <a:rPr lang="en-US" altLang="zh-CN" b="0" dirty="0"/>
              <a:t>]; //</a:t>
            </a:r>
            <a:r>
              <a:rPr lang="zh-CN" altLang="zh-CN" b="0" dirty="0"/>
              <a:t>查找成功返回记录的存储位置</a:t>
            </a:r>
          </a:p>
          <a:p>
            <a:pPr>
              <a:lnSpc>
                <a:spcPct val="140000"/>
              </a:lnSpc>
              <a:spcBef>
                <a:spcPts val="0"/>
              </a:spcBef>
            </a:pPr>
            <a:r>
              <a:rPr lang="en-US" altLang="zh-CN" b="0" dirty="0"/>
              <a:t>        	else p=p-&gt;</a:t>
            </a:r>
            <a:r>
              <a:rPr lang="en-US" altLang="zh-CN" b="0" dirty="0" err="1"/>
              <a:t>ptr</a:t>
            </a:r>
            <a:r>
              <a:rPr lang="en-US" altLang="zh-CN" b="0" dirty="0"/>
              <a:t>[i-1];                //</a:t>
            </a:r>
            <a:r>
              <a:rPr lang="zh-CN" altLang="zh-CN" b="0" dirty="0"/>
              <a:t>继续向子树查找</a:t>
            </a:r>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return -1;                                        //</a:t>
            </a:r>
            <a:r>
              <a:rPr lang="zh-CN" altLang="zh-CN" b="0" dirty="0"/>
              <a:t>查找失败返回</a:t>
            </a:r>
            <a:r>
              <a:rPr lang="en-US" altLang="zh-CN" b="0" dirty="0"/>
              <a:t>-1</a:t>
            </a:r>
            <a:endParaRPr lang="zh-CN" altLang="zh-CN" b="0" dirty="0"/>
          </a:p>
          <a:p>
            <a:pPr>
              <a:lnSpc>
                <a:spcPct val="140000"/>
              </a:lnSpc>
              <a:spcBef>
                <a:spcPts val="0"/>
              </a:spcBef>
            </a:pPr>
            <a:r>
              <a:rPr lang="en-US" altLang="zh-CN" b="0" dirty="0"/>
              <a:t>  }</a:t>
            </a:r>
            <a:endParaRPr lang="zh-CN" altLang="zh-CN" b="0" dirty="0"/>
          </a:p>
        </p:txBody>
      </p:sp>
    </p:spTree>
    <p:extLst>
      <p:ext uri="{BB962C8B-B14F-4D97-AF65-F5344CB8AC3E}">
        <p14:creationId xmlns:p14="http://schemas.microsoft.com/office/powerpoint/2010/main" val="17583124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24744"/>
            <a:ext cx="7776864" cy="3579849"/>
          </a:xfrm>
        </p:spPr>
        <p:txBody>
          <a:bodyPr>
            <a:normAutofit/>
          </a:bodyPr>
          <a:lstStyle/>
          <a:p>
            <a:pPr algn="just"/>
            <a:r>
              <a:rPr lang="en-US" altLang="zh-CN" dirty="0"/>
              <a:t>2</a:t>
            </a:r>
            <a:r>
              <a:rPr lang="zh-CN" altLang="zh-CN" dirty="0"/>
              <a:t>．</a:t>
            </a:r>
            <a:r>
              <a:rPr lang="en-US" altLang="zh-CN" dirty="0"/>
              <a:t> B</a:t>
            </a:r>
            <a:r>
              <a:rPr lang="zh-CN" altLang="zh-CN" dirty="0"/>
              <a:t>树的插入</a:t>
            </a:r>
          </a:p>
          <a:p>
            <a:pPr algn="just"/>
            <a:r>
              <a:rPr lang="en-US" altLang="zh-CN" b="0" dirty="0"/>
              <a:t>		</a:t>
            </a:r>
            <a:r>
              <a:rPr lang="en-US" altLang="zh-CN" b="0" dirty="0">
                <a:solidFill>
                  <a:srgbClr val="FF0000"/>
                </a:solidFill>
              </a:rPr>
              <a:t>B</a:t>
            </a:r>
            <a:r>
              <a:rPr lang="zh-CN" altLang="zh-CN" b="0" dirty="0">
                <a:solidFill>
                  <a:srgbClr val="FF0000"/>
                </a:solidFill>
              </a:rPr>
              <a:t>树的生成也是从空树开始，逐个插入关键字而得。</a:t>
            </a:r>
            <a:r>
              <a:rPr lang="zh-CN" altLang="zh-CN" b="0" dirty="0"/>
              <a:t>但是由于</a:t>
            </a:r>
            <a:r>
              <a:rPr lang="en-US" altLang="zh-CN" dirty="0">
                <a:solidFill>
                  <a:srgbClr val="FF0000"/>
                </a:solidFill>
              </a:rPr>
              <a:t>m</a:t>
            </a:r>
            <a:r>
              <a:rPr lang="zh-CN" altLang="en-US" dirty="0">
                <a:solidFill>
                  <a:srgbClr val="FF0000"/>
                </a:solidFill>
              </a:rPr>
              <a:t>阶</a:t>
            </a:r>
            <a:r>
              <a:rPr lang="en-US" altLang="zh-CN" dirty="0">
                <a:solidFill>
                  <a:srgbClr val="FF0000"/>
                </a:solidFill>
              </a:rPr>
              <a:t>B</a:t>
            </a:r>
            <a:r>
              <a:rPr lang="zh-CN" altLang="zh-CN" dirty="0">
                <a:solidFill>
                  <a:srgbClr val="FF0000"/>
                </a:solidFill>
              </a:rPr>
              <a:t>树结点中的关键字个数必须</a:t>
            </a:r>
            <a:r>
              <a:rPr lang="en-US" altLang="zh-CN" dirty="0">
                <a:solidFill>
                  <a:srgbClr val="FF0000"/>
                </a:solidFill>
              </a:rPr>
              <a:t>≥⌈m/2⌉-1</a:t>
            </a:r>
            <a:r>
              <a:rPr lang="zh-CN" altLang="zh-CN" b="0" dirty="0"/>
              <a:t>，因此，每次插入一个关键字不是在树中添加一个叶子结点，而是首先在</a:t>
            </a:r>
            <a:r>
              <a:rPr lang="zh-CN" altLang="zh-CN" dirty="0">
                <a:solidFill>
                  <a:srgbClr val="FF0000"/>
                </a:solidFill>
              </a:rPr>
              <a:t>最低层的某个非终结点中添加一个关键字</a:t>
            </a:r>
            <a:r>
              <a:rPr lang="zh-CN" altLang="zh-CN" b="0" dirty="0"/>
              <a:t>，如果该结点的</a:t>
            </a:r>
            <a:r>
              <a:rPr lang="zh-CN" altLang="zh-CN" dirty="0">
                <a:solidFill>
                  <a:srgbClr val="FF0000"/>
                </a:solidFill>
              </a:rPr>
              <a:t>关键字个数不超过</a:t>
            </a:r>
            <a:r>
              <a:rPr lang="en-US" altLang="zh-CN" dirty="0">
                <a:solidFill>
                  <a:srgbClr val="FF0000"/>
                </a:solidFill>
              </a:rPr>
              <a:t>m-1</a:t>
            </a:r>
            <a:r>
              <a:rPr lang="zh-CN" altLang="zh-CN" b="0" dirty="0"/>
              <a:t>，则插入成功，否则需要</a:t>
            </a:r>
            <a:r>
              <a:rPr lang="zh-CN" altLang="zh-CN" b="0" dirty="0">
                <a:solidFill>
                  <a:srgbClr val="FF0000"/>
                </a:solidFill>
              </a:rPr>
              <a:t>产生结点的“</a:t>
            </a:r>
            <a:r>
              <a:rPr lang="zh-CN" altLang="zh-CN" dirty="0">
                <a:solidFill>
                  <a:srgbClr val="FF0000"/>
                </a:solidFill>
              </a:rPr>
              <a:t>分裂</a:t>
            </a:r>
            <a:r>
              <a:rPr lang="zh-CN" altLang="zh-CN" b="0" dirty="0">
                <a:solidFill>
                  <a:srgbClr val="FF0000"/>
                </a:solidFill>
              </a:rPr>
              <a:t>”</a:t>
            </a:r>
            <a:r>
              <a:rPr lang="zh-CN" altLang="en-US" b="0" dirty="0"/>
              <a:t>。</a:t>
            </a:r>
          </a:p>
        </p:txBody>
      </p:sp>
    </p:spTree>
    <p:extLst>
      <p:ext uri="{BB962C8B-B14F-4D97-AF65-F5344CB8AC3E}">
        <p14:creationId xmlns:p14="http://schemas.microsoft.com/office/powerpoint/2010/main" val="24333297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632848" cy="4392488"/>
          </a:xfrm>
        </p:spPr>
        <p:txBody>
          <a:bodyPr>
            <a:normAutofit/>
          </a:bodyPr>
          <a:lstStyle/>
          <a:p>
            <a:pPr algn="just"/>
            <a:r>
              <a:rPr lang="zh-CN" altLang="zh-CN" dirty="0">
                <a:solidFill>
                  <a:srgbClr val="FF0000"/>
                </a:solidFill>
              </a:rPr>
              <a:t>向</a:t>
            </a:r>
            <a:r>
              <a:rPr lang="en-US" altLang="zh-CN" dirty="0">
                <a:solidFill>
                  <a:srgbClr val="FF0000"/>
                </a:solidFill>
              </a:rPr>
              <a:t>B</a:t>
            </a:r>
            <a:r>
              <a:rPr lang="zh-CN" altLang="zh-CN" dirty="0">
                <a:solidFill>
                  <a:srgbClr val="FF0000"/>
                </a:solidFill>
              </a:rPr>
              <a:t>树中插入关键字的过程分两步完成</a:t>
            </a:r>
            <a:r>
              <a:rPr lang="zh-CN" altLang="zh-CN" dirty="0"/>
              <a:t>：</a:t>
            </a:r>
          </a:p>
          <a:p>
            <a:pPr algn="just"/>
            <a:r>
              <a:rPr lang="zh-CN" altLang="zh-CN" b="0" dirty="0"/>
              <a:t>（</a:t>
            </a:r>
            <a:r>
              <a:rPr lang="en-US" altLang="zh-CN" b="0" dirty="0"/>
              <a:t>1</a:t>
            </a:r>
            <a:r>
              <a:rPr lang="zh-CN" altLang="zh-CN" b="0" dirty="0"/>
              <a:t>）</a:t>
            </a:r>
            <a:r>
              <a:rPr lang="zh-CN" altLang="zh-CN" b="0" dirty="0">
                <a:solidFill>
                  <a:srgbClr val="FF0000"/>
                </a:solidFill>
              </a:rPr>
              <a:t>利用前述的</a:t>
            </a:r>
            <a:r>
              <a:rPr lang="en-US" altLang="zh-CN" b="0" dirty="0">
                <a:solidFill>
                  <a:srgbClr val="FF0000"/>
                </a:solidFill>
              </a:rPr>
              <a:t>B</a:t>
            </a:r>
            <a:r>
              <a:rPr lang="zh-CN" altLang="zh-CN" b="0" dirty="0">
                <a:solidFill>
                  <a:srgbClr val="FF0000"/>
                </a:solidFill>
              </a:rPr>
              <a:t>树的查找算法查找关键字的插入位置</a:t>
            </a:r>
            <a:r>
              <a:rPr lang="zh-CN" altLang="zh-CN" b="0" dirty="0"/>
              <a:t>。若找到，则说明该关键字已经存在，直接返回。否则查找操作必失败于某个最底层的非终结点上。</a:t>
            </a:r>
          </a:p>
          <a:p>
            <a:pPr algn="just"/>
            <a:r>
              <a:rPr lang="zh-CN" altLang="zh-CN" b="0" dirty="0"/>
              <a:t>（</a:t>
            </a:r>
            <a:r>
              <a:rPr lang="en-US" altLang="zh-CN" b="0" dirty="0"/>
              <a:t>2</a:t>
            </a:r>
            <a:r>
              <a:rPr lang="zh-CN" altLang="zh-CN" b="0" dirty="0"/>
              <a:t>）</a:t>
            </a:r>
            <a:r>
              <a:rPr lang="zh-CN" altLang="zh-CN" b="0" dirty="0">
                <a:solidFill>
                  <a:srgbClr val="FF0000"/>
                </a:solidFill>
              </a:rPr>
              <a:t>判断该结点是否还有空位置</a:t>
            </a:r>
            <a:r>
              <a:rPr lang="zh-CN" altLang="zh-CN" b="0" dirty="0"/>
              <a:t>。即判断该结点的关键字总数是否</a:t>
            </a:r>
            <a:r>
              <a:rPr lang="zh-CN" altLang="zh-CN" b="0" dirty="0">
                <a:solidFill>
                  <a:srgbClr val="FF0000"/>
                </a:solidFill>
              </a:rPr>
              <a:t>满足</a:t>
            </a:r>
            <a:r>
              <a:rPr lang="en-US" altLang="zh-CN" b="0" dirty="0">
                <a:solidFill>
                  <a:srgbClr val="FF0000"/>
                </a:solidFill>
              </a:rPr>
              <a:t>n≤m-1</a:t>
            </a:r>
            <a:r>
              <a:rPr lang="zh-CN" altLang="zh-CN" b="0" dirty="0"/>
              <a:t>。如果满足，则说明该结点还有空位置，直接把关键字</a:t>
            </a:r>
            <a:r>
              <a:rPr lang="en-US" altLang="zh-CN" b="0" dirty="0"/>
              <a:t>k</a:t>
            </a:r>
            <a:r>
              <a:rPr lang="zh-CN" altLang="zh-CN" b="0" dirty="0"/>
              <a:t>插入到该结点的合适位置上。若不满足，说明该结点已没有空位置，需要将结点分裂成两个。</a:t>
            </a:r>
            <a:endParaRPr lang="zh-CN" altLang="en-US" b="0" dirty="0"/>
          </a:p>
        </p:txBody>
      </p:sp>
    </p:spTree>
    <p:extLst>
      <p:ext uri="{BB962C8B-B14F-4D97-AF65-F5344CB8AC3E}">
        <p14:creationId xmlns:p14="http://schemas.microsoft.com/office/powerpoint/2010/main" val="34231865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00100" y="1000108"/>
            <a:ext cx="7520940" cy="5286412"/>
          </a:xfrm>
        </p:spPr>
        <p:txBody>
          <a:bodyPr>
            <a:normAutofit fontScale="92500"/>
          </a:bodyPr>
          <a:lstStyle/>
          <a:p>
            <a:pPr algn="just"/>
            <a:r>
              <a:rPr lang="zh-CN" altLang="en-US" dirty="0">
                <a:solidFill>
                  <a:srgbClr val="FF0000"/>
                </a:solidFill>
              </a:rPr>
              <a:t>分裂的方法：</a:t>
            </a:r>
            <a:endParaRPr lang="en-US" altLang="zh-CN" dirty="0">
              <a:solidFill>
                <a:srgbClr val="FF0000"/>
              </a:solidFill>
            </a:endParaRPr>
          </a:p>
          <a:p>
            <a:pPr algn="just">
              <a:buFont typeface="Arial" pitchFamily="34" charset="0"/>
              <a:buChar char="•"/>
            </a:pPr>
            <a:r>
              <a:rPr lang="zh-CN" altLang="en-US" b="0" dirty="0">
                <a:solidFill>
                  <a:srgbClr val="FF0000"/>
                </a:solidFill>
              </a:rPr>
              <a:t>生成一个新结点</a:t>
            </a:r>
            <a:r>
              <a:rPr lang="zh-CN" altLang="en-US" b="0" dirty="0"/>
              <a:t>。</a:t>
            </a:r>
            <a:endParaRPr lang="en-US" altLang="zh-CN" b="0" dirty="0"/>
          </a:p>
          <a:p>
            <a:pPr algn="just">
              <a:buFont typeface="Arial" pitchFamily="34" charset="0"/>
              <a:buChar char="•"/>
            </a:pPr>
            <a:r>
              <a:rPr lang="zh-CN" altLang="en-US" b="0" dirty="0"/>
              <a:t>把原结点上的关键字和插入的关键字</a:t>
            </a:r>
            <a:r>
              <a:rPr lang="en-US" b="0" dirty="0"/>
              <a:t>k</a:t>
            </a:r>
            <a:r>
              <a:rPr lang="zh-CN" altLang="en-US" b="0" dirty="0"/>
              <a:t>排序后，</a:t>
            </a:r>
            <a:r>
              <a:rPr lang="zh-CN" altLang="en-US" b="0" dirty="0">
                <a:solidFill>
                  <a:srgbClr val="FF0000"/>
                </a:solidFill>
              </a:rPr>
              <a:t>从中间位置把关键字序列（不包含中间位置的关键字）分成两部分</a:t>
            </a:r>
            <a:r>
              <a:rPr lang="zh-CN" altLang="en-US" b="0" dirty="0"/>
              <a:t>。</a:t>
            </a:r>
            <a:endParaRPr lang="en-US" altLang="zh-CN" b="0" dirty="0"/>
          </a:p>
          <a:p>
            <a:pPr algn="just">
              <a:buFont typeface="Arial" pitchFamily="34" charset="0"/>
              <a:buChar char="•"/>
            </a:pPr>
            <a:r>
              <a:rPr lang="zh-CN" altLang="en-US" b="0" dirty="0">
                <a:solidFill>
                  <a:srgbClr val="FF0000"/>
                </a:solidFill>
              </a:rPr>
              <a:t>左部分所含关键字放在旧结点中，右部分所含关键字放在新结点中，中间位置的关键字连同新结点的存储位置插入到双亲结点中。</a:t>
            </a:r>
            <a:endParaRPr lang="en-US" altLang="zh-CN" b="0" dirty="0">
              <a:solidFill>
                <a:srgbClr val="FF0000"/>
              </a:solidFill>
            </a:endParaRPr>
          </a:p>
          <a:p>
            <a:pPr marL="0" indent="0" algn="just"/>
            <a:r>
              <a:rPr lang="zh-CN" altLang="en-US" b="0" dirty="0"/>
              <a:t>也就是说设结点</a:t>
            </a:r>
            <a:r>
              <a:rPr lang="en-US" b="0" dirty="0"/>
              <a:t>p</a:t>
            </a:r>
            <a:r>
              <a:rPr lang="zh-CN" altLang="en-US" b="0" dirty="0"/>
              <a:t>中已经有</a:t>
            </a:r>
            <a:r>
              <a:rPr lang="en-US" b="0" dirty="0"/>
              <a:t>m-1</a:t>
            </a:r>
            <a:r>
              <a:rPr lang="zh-CN" altLang="en-US" b="0" dirty="0"/>
              <a:t>个关键字，当再插入一个关键字后结点中的状态为：</a:t>
            </a:r>
          </a:p>
          <a:p>
            <a:pPr algn="just">
              <a:buFont typeface="Arial" pitchFamily="34" charset="0"/>
              <a:buChar char="•"/>
            </a:pPr>
            <a:endParaRPr lang="en-US" altLang="zh-CN" b="0" dirty="0"/>
          </a:p>
          <a:p>
            <a:pPr algn="just"/>
            <a:r>
              <a:rPr lang="zh-CN" altLang="en-US" b="0" dirty="0"/>
              <a:t>               其中</a:t>
            </a:r>
            <a:r>
              <a:rPr lang="en-US" b="0" dirty="0" err="1"/>
              <a:t>K</a:t>
            </a:r>
            <a:r>
              <a:rPr lang="en-US" b="0" baseline="-25000" dirty="0" err="1"/>
              <a:t>i</a:t>
            </a:r>
            <a:r>
              <a:rPr lang="en-US" b="0" dirty="0"/>
              <a:t>&lt;K</a:t>
            </a:r>
            <a:r>
              <a:rPr lang="en-US" b="0" baseline="-25000" dirty="0"/>
              <a:t>i+1</a:t>
            </a:r>
            <a:r>
              <a:rPr lang="en-US" b="0" dirty="0"/>
              <a:t>,1≤i&lt;m</a:t>
            </a:r>
            <a:r>
              <a:rPr lang="zh-CN" altLang="en-US" b="0" dirty="0"/>
              <a:t>。</a:t>
            </a:r>
          </a:p>
        </p:txBody>
      </p:sp>
      <p:pic>
        <p:nvPicPr>
          <p:cNvPr id="1027" name="Picture 3"/>
          <p:cNvPicPr>
            <a:picLocks noChangeAspect="1" noChangeArrowheads="1"/>
          </p:cNvPicPr>
          <p:nvPr/>
        </p:nvPicPr>
        <p:blipFill>
          <a:blip r:embed="rId2" cstate="print"/>
          <a:srcRect/>
          <a:stretch>
            <a:fillRect/>
          </a:stretch>
        </p:blipFill>
        <p:spPr bwMode="auto">
          <a:xfrm>
            <a:off x="2643174" y="5072074"/>
            <a:ext cx="3981450" cy="485775"/>
          </a:xfrm>
          <a:prstGeom prst="rect">
            <a:avLst/>
          </a:prstGeom>
          <a:noFill/>
          <a:ln w="9525">
            <a:noFill/>
            <a:miter lim="800000"/>
            <a:headEnd/>
            <a:tailEnd/>
          </a:ln>
          <a:effectLst/>
        </p:spPr>
      </p:pic>
    </p:spTree>
    <p:extLst>
      <p:ext uri="{BB962C8B-B14F-4D97-AF65-F5344CB8AC3E}">
        <p14:creationId xmlns:p14="http://schemas.microsoft.com/office/powerpoint/2010/main" val="11538812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0768"/>
            <a:ext cx="8208912" cy="4608512"/>
          </a:xfrm>
        </p:spPr>
        <p:txBody>
          <a:bodyPr>
            <a:normAutofit/>
          </a:bodyPr>
          <a:lstStyle/>
          <a:p>
            <a:pPr algn="just">
              <a:buFont typeface="Arial" pitchFamily="34" charset="0"/>
              <a:buChar char="•"/>
            </a:pPr>
            <a:r>
              <a:rPr lang="zh-CN" altLang="zh-CN" b="0" dirty="0">
                <a:solidFill>
                  <a:srgbClr val="FF0000"/>
                </a:solidFill>
              </a:rPr>
              <a:t>除</a:t>
            </a:r>
            <a:r>
              <a:rPr lang="en-US" altLang="zh-CN" b="0" dirty="0" err="1">
                <a:solidFill>
                  <a:srgbClr val="FF0000"/>
                </a:solidFill>
              </a:rPr>
              <a:t>K</a:t>
            </a:r>
            <a:r>
              <a:rPr lang="en-US" altLang="zh-CN" b="0" baseline="-25000" dirty="0" err="1">
                <a:solidFill>
                  <a:srgbClr val="FF0000"/>
                </a:solidFill>
              </a:rPr>
              <a:t>⌈m</a:t>
            </a:r>
            <a:r>
              <a:rPr lang="en-US" altLang="zh-CN" b="0" baseline="-25000" dirty="0">
                <a:solidFill>
                  <a:srgbClr val="FF0000"/>
                </a:solidFill>
              </a:rPr>
              <a:t>/2⌉</a:t>
            </a:r>
            <a:r>
              <a:rPr lang="zh-CN" altLang="zh-CN" b="0" dirty="0">
                <a:solidFill>
                  <a:srgbClr val="FF0000"/>
                </a:solidFill>
              </a:rPr>
              <a:t>结点之外，把</a:t>
            </a:r>
            <a:r>
              <a:rPr lang="en-US" altLang="zh-CN" b="0" dirty="0">
                <a:solidFill>
                  <a:srgbClr val="FF0000"/>
                </a:solidFill>
              </a:rPr>
              <a:t>p</a:t>
            </a:r>
            <a:r>
              <a:rPr lang="zh-CN" altLang="zh-CN" b="0" dirty="0">
                <a:solidFill>
                  <a:srgbClr val="FF0000"/>
                </a:solidFill>
              </a:rPr>
              <a:t>结点分为左右两部分</a:t>
            </a:r>
            <a:r>
              <a:rPr lang="zh-CN" altLang="zh-CN" b="0" dirty="0"/>
              <a:t>，左边的部分包含信息为</a:t>
            </a:r>
            <a:r>
              <a:rPr lang="en-US" altLang="zh-CN" sz="2000" b="0" dirty="0"/>
              <a:t>(⌈m/2⌉-1,P</a:t>
            </a:r>
            <a:r>
              <a:rPr lang="en-US" altLang="zh-CN" sz="2000" b="0" baseline="-25000" dirty="0"/>
              <a:t>0</a:t>
            </a:r>
            <a:r>
              <a:rPr lang="en-US" altLang="zh-CN" sz="2000" b="0" dirty="0"/>
              <a:t>,K</a:t>
            </a:r>
            <a:r>
              <a:rPr lang="en-US" altLang="zh-CN" sz="2000" b="0" baseline="-25000" dirty="0"/>
              <a:t>1</a:t>
            </a:r>
            <a:r>
              <a:rPr lang="en-US" altLang="zh-CN" sz="2000" b="0" dirty="0"/>
              <a:t>,P</a:t>
            </a:r>
            <a:r>
              <a:rPr lang="en-US" altLang="zh-CN" sz="2000" b="0" baseline="-25000" dirty="0"/>
              <a:t>1</a:t>
            </a:r>
            <a:r>
              <a:rPr lang="en-US" altLang="zh-CN" sz="2000" b="0" dirty="0"/>
              <a:t>, …,</a:t>
            </a:r>
            <a:r>
              <a:rPr lang="en-US" altLang="zh-CN" sz="2000" b="0" dirty="0" err="1"/>
              <a:t>K</a:t>
            </a:r>
            <a:r>
              <a:rPr lang="en-US" altLang="zh-CN" sz="2000" b="0" baseline="-25000" dirty="0" err="1"/>
              <a:t>⌈m</a:t>
            </a:r>
            <a:r>
              <a:rPr lang="en-US" altLang="zh-CN" sz="2000" b="0" baseline="-25000" dirty="0"/>
              <a:t>/2⌉-1</a:t>
            </a:r>
            <a:r>
              <a:rPr lang="en-US" altLang="zh-CN" sz="2000" b="0" dirty="0"/>
              <a:t>,P</a:t>
            </a:r>
            <a:r>
              <a:rPr lang="en-US" altLang="zh-CN" sz="2000" b="0" baseline="-25000" dirty="0"/>
              <a:t>⌈m/2⌉-1</a:t>
            </a:r>
            <a:r>
              <a:rPr lang="en-US" altLang="zh-CN" sz="2000" b="0" dirty="0"/>
              <a:t>)</a:t>
            </a:r>
            <a:r>
              <a:rPr lang="zh-CN" altLang="zh-CN" b="0" dirty="0"/>
              <a:t>，留在原</a:t>
            </a:r>
            <a:r>
              <a:rPr lang="en-US" altLang="zh-CN" b="0" dirty="0"/>
              <a:t>p</a:t>
            </a:r>
            <a:r>
              <a:rPr lang="zh-CN" altLang="zh-CN" b="0" dirty="0"/>
              <a:t>结点中；右边的部分包含信息为</a:t>
            </a:r>
            <a:r>
              <a:rPr lang="en-US" altLang="zh-CN" sz="2000" b="0" dirty="0"/>
              <a:t>(m-⌈m/2⌉,P</a:t>
            </a:r>
            <a:r>
              <a:rPr lang="en-US" altLang="zh-CN" sz="2000" b="0" baseline="-25000" dirty="0"/>
              <a:t>⌈m/2⌉</a:t>
            </a:r>
            <a:r>
              <a:rPr lang="en-US" altLang="zh-CN" sz="2000" b="0" dirty="0"/>
              <a:t>,K</a:t>
            </a:r>
            <a:r>
              <a:rPr lang="en-US" altLang="zh-CN" sz="2000" b="0" baseline="-25000" dirty="0"/>
              <a:t>⌈m/2⌉+1</a:t>
            </a:r>
            <a:r>
              <a:rPr lang="en-US" altLang="zh-CN" sz="2000" b="0" dirty="0"/>
              <a:t>,P</a:t>
            </a:r>
            <a:r>
              <a:rPr lang="en-US" altLang="zh-CN" sz="2000" b="0" baseline="-25000" dirty="0"/>
              <a:t>⌈m/2⌉+1</a:t>
            </a:r>
            <a:r>
              <a:rPr lang="en-US" altLang="zh-CN" sz="2000" b="0" dirty="0"/>
              <a:t>,…,</a:t>
            </a:r>
            <a:r>
              <a:rPr lang="en-US" altLang="zh-CN" sz="2000" b="0" dirty="0" err="1"/>
              <a:t>K</a:t>
            </a:r>
            <a:r>
              <a:rPr lang="en-US" altLang="zh-CN" sz="2000" b="0" baseline="-25000" dirty="0" err="1"/>
              <a:t>m</a:t>
            </a:r>
            <a:r>
              <a:rPr lang="en-US" altLang="zh-CN" sz="2000" b="0" dirty="0" err="1"/>
              <a:t>,P</a:t>
            </a:r>
            <a:r>
              <a:rPr lang="en-US" altLang="zh-CN" sz="2000" b="0" baseline="-25000" dirty="0" err="1"/>
              <a:t>m</a:t>
            </a:r>
            <a:r>
              <a:rPr lang="en-US" altLang="zh-CN" sz="2000" b="0" dirty="0"/>
              <a:t>)</a:t>
            </a:r>
            <a:r>
              <a:rPr lang="zh-CN" altLang="zh-CN" sz="2000" b="0" dirty="0"/>
              <a:t>，</a:t>
            </a:r>
            <a:r>
              <a:rPr lang="zh-CN" altLang="zh-CN" b="0" dirty="0"/>
              <a:t>存储到一个新建结点中，用指针</a:t>
            </a:r>
            <a:r>
              <a:rPr lang="en-US" altLang="zh-CN" b="0" dirty="0"/>
              <a:t>q</a:t>
            </a:r>
            <a:r>
              <a:rPr lang="zh-CN" altLang="zh-CN" b="0" dirty="0"/>
              <a:t>指向它；</a:t>
            </a:r>
            <a:endParaRPr lang="en-US" altLang="zh-CN" b="0" dirty="0"/>
          </a:p>
          <a:p>
            <a:pPr algn="just">
              <a:buFont typeface="Arial" pitchFamily="34" charset="0"/>
              <a:buChar char="•"/>
            </a:pPr>
            <a:r>
              <a:rPr lang="zh-CN" altLang="zh-CN" b="0" dirty="0">
                <a:solidFill>
                  <a:srgbClr val="FF0000"/>
                </a:solidFill>
              </a:rPr>
              <a:t>位于中间的关键字</a:t>
            </a:r>
            <a:r>
              <a:rPr lang="en-US" altLang="zh-CN" b="0" dirty="0" err="1">
                <a:solidFill>
                  <a:srgbClr val="FF0000"/>
                </a:solidFill>
              </a:rPr>
              <a:t>K</a:t>
            </a:r>
            <a:r>
              <a:rPr lang="en-US" altLang="zh-CN" b="0" baseline="-25000" dirty="0" err="1">
                <a:solidFill>
                  <a:srgbClr val="FF0000"/>
                </a:solidFill>
              </a:rPr>
              <a:t>⌈m</a:t>
            </a:r>
            <a:r>
              <a:rPr lang="en-US" altLang="zh-CN" b="0" baseline="-25000" dirty="0">
                <a:solidFill>
                  <a:srgbClr val="FF0000"/>
                </a:solidFill>
              </a:rPr>
              <a:t>/2⌉</a:t>
            </a:r>
            <a:r>
              <a:rPr lang="zh-CN" altLang="zh-CN" b="0" dirty="0">
                <a:solidFill>
                  <a:srgbClr val="FF0000"/>
                </a:solidFill>
              </a:rPr>
              <a:t>与指向新结点的指针</a:t>
            </a:r>
            <a:r>
              <a:rPr lang="en-US" altLang="zh-CN" b="0" dirty="0">
                <a:solidFill>
                  <a:srgbClr val="FF0000"/>
                </a:solidFill>
              </a:rPr>
              <a:t>q</a:t>
            </a:r>
            <a:r>
              <a:rPr lang="zh-CN" altLang="zh-CN" b="0" dirty="0">
                <a:solidFill>
                  <a:srgbClr val="FF0000"/>
                </a:solidFill>
              </a:rPr>
              <a:t>生成一个新二元组（</a:t>
            </a:r>
            <a:r>
              <a:rPr lang="en-US" altLang="zh-CN" b="0" dirty="0" err="1">
                <a:solidFill>
                  <a:srgbClr val="FF0000"/>
                </a:solidFill>
              </a:rPr>
              <a:t>K</a:t>
            </a:r>
            <a:r>
              <a:rPr lang="en-US" altLang="zh-CN" b="0" baseline="-25000" dirty="0" err="1">
                <a:solidFill>
                  <a:srgbClr val="FF0000"/>
                </a:solidFill>
              </a:rPr>
              <a:t>⌈m</a:t>
            </a:r>
            <a:r>
              <a:rPr lang="en-US" altLang="zh-CN" b="0" baseline="-25000" dirty="0">
                <a:solidFill>
                  <a:srgbClr val="FF0000"/>
                </a:solidFill>
              </a:rPr>
              <a:t>/2⌉</a:t>
            </a:r>
            <a:r>
              <a:rPr lang="zh-CN" altLang="zh-CN" b="0" dirty="0">
                <a:solidFill>
                  <a:srgbClr val="FF0000"/>
                </a:solidFill>
              </a:rPr>
              <a:t>，</a:t>
            </a:r>
            <a:r>
              <a:rPr lang="en-US" altLang="zh-CN" b="0" dirty="0">
                <a:solidFill>
                  <a:srgbClr val="FF0000"/>
                </a:solidFill>
              </a:rPr>
              <a:t>q</a:t>
            </a:r>
            <a:r>
              <a:rPr lang="zh-CN" altLang="zh-CN" b="0" dirty="0">
                <a:solidFill>
                  <a:srgbClr val="FF0000"/>
                </a:solidFill>
              </a:rPr>
              <a:t>）</a:t>
            </a:r>
            <a:r>
              <a:rPr lang="zh-CN" altLang="zh-CN" b="0" dirty="0"/>
              <a:t>按顺序插入到双亲结点当中。</a:t>
            </a:r>
            <a:endParaRPr lang="en-US" altLang="zh-CN" b="0" dirty="0"/>
          </a:p>
          <a:p>
            <a:pPr algn="just">
              <a:buFont typeface="Arial" pitchFamily="34" charset="0"/>
              <a:buChar char="•"/>
            </a:pPr>
            <a:r>
              <a:rPr lang="zh-CN" altLang="zh-CN" b="0" dirty="0">
                <a:solidFill>
                  <a:srgbClr val="FF0000"/>
                </a:solidFill>
              </a:rPr>
              <a:t>如果双亲结点的关键字个数也超过</a:t>
            </a:r>
            <a:r>
              <a:rPr lang="en-US" altLang="zh-CN" b="0" dirty="0">
                <a:solidFill>
                  <a:srgbClr val="FF0000"/>
                </a:solidFill>
              </a:rPr>
              <a:t>m-1</a:t>
            </a:r>
            <a:r>
              <a:rPr lang="zh-CN" altLang="zh-CN" b="0" dirty="0">
                <a:solidFill>
                  <a:srgbClr val="FF0000"/>
                </a:solidFill>
              </a:rPr>
              <a:t>，则要再分裂，再往上插。</a:t>
            </a:r>
            <a:r>
              <a:rPr lang="zh-CN" altLang="zh-CN" b="0" dirty="0"/>
              <a:t>直至这个过程传到根结点为止。</a:t>
            </a:r>
          </a:p>
        </p:txBody>
      </p:sp>
      <p:pic>
        <p:nvPicPr>
          <p:cNvPr id="2" name="图片 1">
            <a:extLst>
              <a:ext uri="{FF2B5EF4-FFF2-40B4-BE49-F238E27FC236}">
                <a16:creationId xmlns:a16="http://schemas.microsoft.com/office/drawing/2014/main" id="{2B07464B-73AF-40AF-AE64-1BD7C8B32DA0}"/>
              </a:ext>
            </a:extLst>
          </p:cNvPr>
          <p:cNvPicPr>
            <a:picLocks noChangeAspect="1"/>
          </p:cNvPicPr>
          <p:nvPr/>
        </p:nvPicPr>
        <p:blipFill>
          <a:blip r:embed="rId2"/>
          <a:stretch>
            <a:fillRect/>
          </a:stretch>
        </p:blipFill>
        <p:spPr>
          <a:xfrm>
            <a:off x="2411760" y="764704"/>
            <a:ext cx="3981033" cy="487722"/>
          </a:xfrm>
          <a:prstGeom prst="rect">
            <a:avLst/>
          </a:prstGeom>
        </p:spPr>
      </p:pic>
    </p:spTree>
    <p:extLst>
      <p:ext uri="{BB962C8B-B14F-4D97-AF65-F5344CB8AC3E}">
        <p14:creationId xmlns:p14="http://schemas.microsoft.com/office/powerpoint/2010/main" val="29100575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AE0E2-85EC-406A-AA13-BB28D423FAA3}"/>
              </a:ext>
            </a:extLst>
          </p:cNvPr>
          <p:cNvSpPr>
            <a:spLocks noGrp="1"/>
          </p:cNvSpPr>
          <p:nvPr>
            <p:ph type="title"/>
          </p:nvPr>
        </p:nvSpPr>
        <p:spPr>
          <a:xfrm>
            <a:off x="827584" y="895706"/>
            <a:ext cx="7520940" cy="3181365"/>
          </a:xfrm>
        </p:spPr>
        <p:txBody>
          <a:bodyPr/>
          <a:lstStyle/>
          <a:p>
            <a:pPr fontAlgn="ctr">
              <a:lnSpc>
                <a:spcPct val="130000"/>
              </a:lnSpc>
              <a:spcBef>
                <a:spcPct val="50000"/>
              </a:spcBef>
            </a:pPr>
            <a:r>
              <a:rPr lang="en-US" altLang="zh-CN" b="1" dirty="0">
                <a:solidFill>
                  <a:srgbClr val="C00000"/>
                </a:solidFill>
              </a:rPr>
              <a:t>【</a:t>
            </a:r>
            <a:r>
              <a:rPr lang="zh-CN" altLang="en-US" b="1" dirty="0">
                <a:solidFill>
                  <a:srgbClr val="C00000"/>
                </a:solidFill>
              </a:rPr>
              <a:t>例</a:t>
            </a:r>
            <a:r>
              <a:rPr lang="en-US" altLang="zh-CN" b="1" dirty="0">
                <a:solidFill>
                  <a:srgbClr val="C00000"/>
                </a:solidFill>
              </a:rPr>
              <a:t>】</a:t>
            </a:r>
            <a:r>
              <a:rPr lang="zh-CN" altLang="en-US" b="1" dirty="0">
                <a:latin typeface="Consolas" panose="020B0609020204030204" pitchFamily="49" charset="0"/>
                <a:ea typeface="楷体" panose="02010609060101010101" pitchFamily="49" charset="-122"/>
                <a:cs typeface="Consolas" panose="020B0609020204030204" pitchFamily="49" charset="0"/>
              </a:rPr>
              <a:t>关键字序列为：</a:t>
            </a:r>
            <a:br>
              <a:rPr lang="zh-CN" altLang="en-US" b="1" dirty="0">
                <a:latin typeface="Consolas" panose="020B0609020204030204" pitchFamily="49" charset="0"/>
                <a:ea typeface="楷体" panose="02010609060101010101" pitchFamily="49" charset="-122"/>
                <a:cs typeface="Consolas" panose="020B0609020204030204" pitchFamily="49" charset="0"/>
              </a:rPr>
            </a:br>
            <a:r>
              <a:rPr lang="en-US" altLang="zh-CN" b="1" dirty="0">
                <a:latin typeface="Consolas" panose="020B0609020204030204" pitchFamily="49" charset="0"/>
                <a:ea typeface="楷体" panose="02010609060101010101" pitchFamily="49" charset="-122"/>
                <a:cs typeface="Consolas" panose="020B0609020204030204" pitchFamily="49" charset="0"/>
              </a:rPr>
              <a:t>(1</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6</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7</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11</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5</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17</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16</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r>
              <a:rPr lang="zh-CN" altLang="en-US" b="1" dirty="0">
                <a:latin typeface="Consolas" panose="020B0609020204030204" pitchFamily="49" charset="0"/>
                <a:ea typeface="楷体" panose="02010609060101010101" pitchFamily="49" charset="-122"/>
                <a:cs typeface="Consolas" panose="020B0609020204030204" pitchFamily="49" charset="0"/>
              </a:rPr>
              <a:t>。</a:t>
            </a:r>
            <a:br>
              <a:rPr lang="zh-CN" altLang="en-US" b="1" dirty="0">
                <a:latin typeface="Consolas" panose="020B0609020204030204" pitchFamily="49" charset="0"/>
                <a:ea typeface="楷体" panose="02010609060101010101" pitchFamily="49" charset="-122"/>
                <a:cs typeface="Consolas" panose="020B0609020204030204" pitchFamily="49" charset="0"/>
              </a:rPr>
            </a:br>
            <a:r>
              <a:rPr lang="zh-CN" altLang="en-US" b="1" dirty="0">
                <a:latin typeface="Consolas" panose="020B0609020204030204" pitchFamily="49" charset="0"/>
                <a:ea typeface="楷体" panose="02010609060101010101" pitchFamily="49" charset="-122"/>
                <a:cs typeface="Consolas" panose="020B0609020204030204" pitchFamily="49" charset="0"/>
              </a:rPr>
              <a:t>创建一棵</a:t>
            </a:r>
            <a:r>
              <a:rPr lang="en-US" altLang="zh-CN" b="1" dirty="0">
                <a:latin typeface="Consolas" panose="020B0609020204030204" pitchFamily="49" charset="0"/>
                <a:ea typeface="楷体" panose="02010609060101010101" pitchFamily="49" charset="-122"/>
                <a:cs typeface="Consolas" panose="020B0609020204030204" pitchFamily="49" charset="0"/>
              </a:rPr>
              <a:t>5</a:t>
            </a:r>
            <a:r>
              <a:rPr lang="zh-CN" altLang="en-US" b="1" dirty="0">
                <a:latin typeface="Consolas" panose="020B0609020204030204" pitchFamily="49" charset="0"/>
                <a:ea typeface="楷体" panose="02010609060101010101" pitchFamily="49" charset="-122"/>
                <a:cs typeface="Consolas" panose="020B0609020204030204" pitchFamily="49" charset="0"/>
              </a:rPr>
              <a:t>阶</a:t>
            </a:r>
            <a:r>
              <a:rPr lang="en-US" altLang="zh-CN" b="1" dirty="0">
                <a:latin typeface="Consolas" panose="020B0609020204030204" pitchFamily="49" charset="0"/>
                <a:ea typeface="楷体" panose="02010609060101010101" pitchFamily="49" charset="-122"/>
                <a:cs typeface="Consolas" panose="020B0609020204030204" pitchFamily="49" charset="0"/>
              </a:rPr>
              <a:t>B</a:t>
            </a:r>
            <a:r>
              <a:rPr lang="zh-CN" altLang="en-US" b="1" dirty="0">
                <a:latin typeface="Consolas" panose="020B0609020204030204" pitchFamily="49" charset="0"/>
                <a:ea typeface="楷体" panose="02010609060101010101" pitchFamily="49" charset="-122"/>
                <a:cs typeface="Consolas" panose="020B0609020204030204" pitchFamily="49" charset="0"/>
              </a:rPr>
              <a:t>树。</a:t>
            </a:r>
            <a:br>
              <a:rPr lang="zh-CN" altLang="en-US" b="1" dirty="0">
                <a:latin typeface="Consolas" panose="020B0609020204030204" pitchFamily="49" charset="0"/>
                <a:ea typeface="楷体" panose="02010609060101010101" pitchFamily="49" charset="-122"/>
                <a:cs typeface="Consolas" panose="020B0609020204030204" pitchFamily="49" charset="0"/>
              </a:rPr>
            </a:br>
            <a:endParaRPr lang="zh-CN" altLang="en-US" dirty="0"/>
          </a:p>
        </p:txBody>
      </p:sp>
      <p:sp>
        <p:nvSpPr>
          <p:cNvPr id="4" name="TextBox 2">
            <a:extLst>
              <a:ext uri="{FF2B5EF4-FFF2-40B4-BE49-F238E27FC236}">
                <a16:creationId xmlns:a16="http://schemas.microsoft.com/office/drawing/2014/main" id="{3160267C-A344-4C52-8FD8-81926BD695A3}"/>
              </a:ext>
            </a:extLst>
          </p:cNvPr>
          <p:cNvSpPr txBox="1"/>
          <p:nvPr/>
        </p:nvSpPr>
        <p:spPr>
          <a:xfrm>
            <a:off x="827584" y="4653136"/>
            <a:ext cx="6944876" cy="400110"/>
          </a:xfrm>
          <a:prstGeom prst="rect">
            <a:avLst/>
          </a:prstGeom>
          <a:noFill/>
        </p:spPr>
        <p:txBody>
          <a:bodyPr wrap="square" rtlCol="0">
            <a:spAutoFit/>
          </a:bodyPr>
          <a:lstStyle/>
          <a:p>
            <a:pPr algn="l"/>
            <a:r>
              <a:rPr lang="zh-CN" altLang="en-US" sz="2000" dirty="0">
                <a:latin typeface="微软雅黑" panose="020B0503020204020204" pitchFamily="34" charset="-122"/>
                <a:ea typeface="微软雅黑" panose="020B0503020204020204" pitchFamily="34" charset="-122"/>
                <a:cs typeface="Consolas" panose="020B0609020204030204" pitchFamily="49" charset="0"/>
              </a:rPr>
              <a:t>注意：每个节点</a:t>
            </a:r>
            <a:r>
              <a:rPr lang="zh-CN" altLang="en-US" sz="2000" dirty="0">
                <a:latin typeface="微软雅黑" panose="020B0503020204020204" pitchFamily="34" charset="-122"/>
                <a:ea typeface="微软雅黑" panose="020B0503020204020204" pitchFamily="34" charset="-122"/>
              </a:rPr>
              <a:t>最多的关键字个数</a:t>
            </a:r>
            <a:r>
              <a:rPr lang="en-US" altLang="zh-CN" sz="2000" dirty="0">
                <a:latin typeface="微软雅黑" panose="020B0503020204020204" pitchFamily="34" charset="-122"/>
                <a:ea typeface="微软雅黑" panose="020B0503020204020204" pitchFamily="34" charset="-122"/>
              </a:rPr>
              <a:t>Max = m-1 = 4</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66367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66">
            <a:extLst>
              <a:ext uri="{FF2B5EF4-FFF2-40B4-BE49-F238E27FC236}">
                <a16:creationId xmlns:a16="http://schemas.microsoft.com/office/drawing/2014/main" id="{0D80EC85-4543-4683-976D-FB656B70F0B5}"/>
              </a:ext>
            </a:extLst>
          </p:cNvPr>
          <p:cNvSpPr txBox="1"/>
          <p:nvPr/>
        </p:nvSpPr>
        <p:spPr>
          <a:xfrm>
            <a:off x="4141662" y="2502587"/>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2</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19" name="TextBox 67">
            <a:extLst>
              <a:ext uri="{FF2B5EF4-FFF2-40B4-BE49-F238E27FC236}">
                <a16:creationId xmlns:a16="http://schemas.microsoft.com/office/drawing/2014/main" id="{028FB046-6BE6-42AF-8D64-E8CBDFF884BB}"/>
              </a:ext>
            </a:extLst>
          </p:cNvPr>
          <p:cNvSpPr txBox="1"/>
          <p:nvPr/>
        </p:nvSpPr>
        <p:spPr>
          <a:xfrm>
            <a:off x="4713166" y="2502587"/>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6</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20" name="TextBox 68">
            <a:extLst>
              <a:ext uri="{FF2B5EF4-FFF2-40B4-BE49-F238E27FC236}">
                <a16:creationId xmlns:a16="http://schemas.microsoft.com/office/drawing/2014/main" id="{30D24D55-069F-4B1B-A06C-6AC7B6D5E0EA}"/>
              </a:ext>
            </a:extLst>
          </p:cNvPr>
          <p:cNvSpPr txBox="1"/>
          <p:nvPr/>
        </p:nvSpPr>
        <p:spPr>
          <a:xfrm>
            <a:off x="5284670" y="2502587"/>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7</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21" name="矩形 20">
            <a:extLst>
              <a:ext uri="{FF2B5EF4-FFF2-40B4-BE49-F238E27FC236}">
                <a16:creationId xmlns:a16="http://schemas.microsoft.com/office/drawing/2014/main" id="{CD6A27C6-2A18-4B59-A3AC-B2576B7DE5A2}"/>
              </a:ext>
            </a:extLst>
          </p:cNvPr>
          <p:cNvSpPr/>
          <p:nvPr/>
        </p:nvSpPr>
        <p:spPr>
          <a:xfrm>
            <a:off x="4355976" y="3717032"/>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a:t>
            </a: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endParaRPr kumimoji="1" lang="zh-CN" altLang="en-US"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2" name="TextBox 75">
            <a:extLst>
              <a:ext uri="{FF2B5EF4-FFF2-40B4-BE49-F238E27FC236}">
                <a16:creationId xmlns:a16="http://schemas.microsoft.com/office/drawing/2014/main" id="{19E6D40C-E707-4F93-97CF-C78FCAC133F9}"/>
              </a:ext>
            </a:extLst>
          </p:cNvPr>
          <p:cNvSpPr txBox="1"/>
          <p:nvPr/>
        </p:nvSpPr>
        <p:spPr>
          <a:xfrm>
            <a:off x="1284174" y="2431148"/>
            <a:ext cx="2214578" cy="400110"/>
          </a:xfrm>
          <a:prstGeom prst="rect">
            <a:avLst/>
          </a:prstGeom>
          <a:noFill/>
        </p:spPr>
        <p:txBody>
          <a:bodyPr wrap="square" rtlCol="0">
            <a:spAutoFit/>
          </a:bodyPr>
          <a:lstStyle/>
          <a:p>
            <a:pPr algn="ctr" fontAlgn="base">
              <a:spcBef>
                <a:spcPct val="0"/>
              </a:spcBef>
              <a:spcAft>
                <a:spcPct val="0"/>
              </a:spcAft>
            </a:pPr>
            <a:r>
              <a:rPr kumimoji="1"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3" name="TextBox 65">
            <a:extLst>
              <a:ext uri="{FF2B5EF4-FFF2-40B4-BE49-F238E27FC236}">
                <a16:creationId xmlns:a16="http://schemas.microsoft.com/office/drawing/2014/main" id="{83A5AAE2-4DED-44B4-B674-851B709B3BF1}"/>
              </a:ext>
            </a:extLst>
          </p:cNvPr>
          <p:cNvSpPr txBox="1"/>
          <p:nvPr/>
        </p:nvSpPr>
        <p:spPr>
          <a:xfrm>
            <a:off x="3498720" y="2502587"/>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1</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4" name="直接箭头连接符 23">
            <a:extLst>
              <a:ext uri="{FF2B5EF4-FFF2-40B4-BE49-F238E27FC236}">
                <a16:creationId xmlns:a16="http://schemas.microsoft.com/office/drawing/2014/main" id="{2BB8747D-E79C-47A9-B7CF-D6E98CD09A0C}"/>
              </a:ext>
            </a:extLst>
          </p:cNvPr>
          <p:cNvCxnSpPr/>
          <p:nvPr/>
        </p:nvCxnSpPr>
        <p:spPr>
          <a:xfrm rot="5400000" flipH="1" flipV="1">
            <a:off x="3533645" y="3038371"/>
            <a:ext cx="357984" cy="794"/>
          </a:xfrm>
          <a:prstGeom prst="straightConnector1">
            <a:avLst/>
          </a:prstGeom>
          <a:noFill/>
          <a:ln w="28575" cap="flat" cmpd="sng" algn="ctr">
            <a:solidFill>
              <a:srgbClr val="FF00FF"/>
            </a:solidFill>
            <a:prstDash val="solid"/>
            <a:tailEnd type="arrow"/>
          </a:ln>
          <a:effectLst/>
        </p:spPr>
      </p:cxnSp>
      <p:cxnSp>
        <p:nvCxnSpPr>
          <p:cNvPr id="25" name="直接箭头连接符 24">
            <a:extLst>
              <a:ext uri="{FF2B5EF4-FFF2-40B4-BE49-F238E27FC236}">
                <a16:creationId xmlns:a16="http://schemas.microsoft.com/office/drawing/2014/main" id="{800BF95D-1C9C-4B69-8FB7-EEE5F0E0EB34}"/>
              </a:ext>
            </a:extLst>
          </p:cNvPr>
          <p:cNvCxnSpPr/>
          <p:nvPr/>
        </p:nvCxnSpPr>
        <p:spPr>
          <a:xfrm rot="5400000" flipH="1" flipV="1">
            <a:off x="4176587" y="3038371"/>
            <a:ext cx="357984" cy="794"/>
          </a:xfrm>
          <a:prstGeom prst="straightConnector1">
            <a:avLst/>
          </a:prstGeom>
          <a:noFill/>
          <a:ln w="28575" cap="flat" cmpd="sng" algn="ctr">
            <a:solidFill>
              <a:srgbClr val="FF00FF"/>
            </a:solidFill>
            <a:prstDash val="solid"/>
            <a:tailEnd type="arrow"/>
          </a:ln>
          <a:effectLst/>
        </p:spPr>
      </p:cxnSp>
      <p:cxnSp>
        <p:nvCxnSpPr>
          <p:cNvPr id="26" name="直接箭头连接符 25">
            <a:extLst>
              <a:ext uri="{FF2B5EF4-FFF2-40B4-BE49-F238E27FC236}">
                <a16:creationId xmlns:a16="http://schemas.microsoft.com/office/drawing/2014/main" id="{A441D2F4-DDE9-4578-9688-E0728A132EE1}"/>
              </a:ext>
            </a:extLst>
          </p:cNvPr>
          <p:cNvCxnSpPr/>
          <p:nvPr/>
        </p:nvCxnSpPr>
        <p:spPr>
          <a:xfrm rot="5400000" flipH="1" flipV="1">
            <a:off x="4748091" y="3038371"/>
            <a:ext cx="357984" cy="794"/>
          </a:xfrm>
          <a:prstGeom prst="straightConnector1">
            <a:avLst/>
          </a:prstGeom>
          <a:noFill/>
          <a:ln w="28575" cap="flat" cmpd="sng" algn="ctr">
            <a:solidFill>
              <a:srgbClr val="FF00FF"/>
            </a:solidFill>
            <a:prstDash val="solid"/>
            <a:tailEnd type="arrow"/>
          </a:ln>
          <a:effectLst/>
        </p:spPr>
      </p:cxnSp>
      <p:cxnSp>
        <p:nvCxnSpPr>
          <p:cNvPr id="27" name="直接箭头连接符 26">
            <a:extLst>
              <a:ext uri="{FF2B5EF4-FFF2-40B4-BE49-F238E27FC236}">
                <a16:creationId xmlns:a16="http://schemas.microsoft.com/office/drawing/2014/main" id="{27DEF4EF-64C8-4DD2-9DE2-08D35AA5E6C6}"/>
              </a:ext>
            </a:extLst>
          </p:cNvPr>
          <p:cNvCxnSpPr/>
          <p:nvPr/>
        </p:nvCxnSpPr>
        <p:spPr>
          <a:xfrm rot="5400000" flipH="1" flipV="1">
            <a:off x="5319595" y="3038371"/>
            <a:ext cx="357984" cy="794"/>
          </a:xfrm>
          <a:prstGeom prst="straightConnector1">
            <a:avLst/>
          </a:prstGeom>
          <a:noFill/>
          <a:ln w="28575" cap="flat" cmpd="sng" algn="ctr">
            <a:solidFill>
              <a:srgbClr val="FF00FF"/>
            </a:solidFill>
            <a:prstDash val="solid"/>
            <a:tailEnd type="arrow"/>
          </a:ln>
          <a:effectLst/>
        </p:spPr>
      </p:cxnSp>
      <p:sp>
        <p:nvSpPr>
          <p:cNvPr id="28" name="矩形 27">
            <a:extLst>
              <a:ext uri="{FF2B5EF4-FFF2-40B4-BE49-F238E27FC236}">
                <a16:creationId xmlns:a16="http://schemas.microsoft.com/office/drawing/2014/main" id="{0AA8C44E-CF80-4FB0-8776-83708FE4FE27}"/>
              </a:ext>
            </a:extLst>
          </p:cNvPr>
          <p:cNvSpPr/>
          <p:nvPr/>
        </p:nvSpPr>
        <p:spPr>
          <a:xfrm>
            <a:off x="4355976" y="3717032"/>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a:t>
            </a:r>
            <a:r>
              <a:rPr kumimoji="1" lang="en-US" altLang="zh-CN" sz="24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2</a:t>
            </a:r>
            <a:endParaRPr kumimoji="1" lang="zh-CN" altLang="en-US" sz="24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9" name="矩形 28">
            <a:extLst>
              <a:ext uri="{FF2B5EF4-FFF2-40B4-BE49-F238E27FC236}">
                <a16:creationId xmlns:a16="http://schemas.microsoft.com/office/drawing/2014/main" id="{3C442890-1E8D-4D82-B0DE-2300E6287A28}"/>
              </a:ext>
            </a:extLst>
          </p:cNvPr>
          <p:cNvSpPr/>
          <p:nvPr/>
        </p:nvSpPr>
        <p:spPr>
          <a:xfrm>
            <a:off x="4355976" y="3717032"/>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r>
              <a:rPr kumimoji="1" lang="en-US" altLang="zh-CN" sz="24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6</a:t>
            </a:r>
            <a:endParaRPr kumimoji="1" lang="zh-CN" altLang="en-US" sz="24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0" name="矩形 29">
            <a:extLst>
              <a:ext uri="{FF2B5EF4-FFF2-40B4-BE49-F238E27FC236}">
                <a16:creationId xmlns:a16="http://schemas.microsoft.com/office/drawing/2014/main" id="{50F51378-8103-4E33-A0BB-B27802B3A4C9}"/>
              </a:ext>
            </a:extLst>
          </p:cNvPr>
          <p:cNvSpPr/>
          <p:nvPr/>
        </p:nvSpPr>
        <p:spPr>
          <a:xfrm>
            <a:off x="4355976" y="3717032"/>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1 2 6 </a:t>
            </a: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7</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1" name="TextBox 14">
            <a:extLst>
              <a:ext uri="{FF2B5EF4-FFF2-40B4-BE49-F238E27FC236}">
                <a16:creationId xmlns:a16="http://schemas.microsoft.com/office/drawing/2014/main" id="{5AC3695D-46EA-4E42-BE05-B55A4A577623}"/>
              </a:ext>
            </a:extLst>
          </p:cNvPr>
          <p:cNvSpPr txBox="1"/>
          <p:nvPr/>
        </p:nvSpPr>
        <p:spPr>
          <a:xfrm>
            <a:off x="1641332" y="1859645"/>
            <a:ext cx="1357322" cy="461665"/>
          </a:xfrm>
          <a:prstGeom prst="rect">
            <a:avLst/>
          </a:prstGeom>
          <a:noFill/>
        </p:spPr>
        <p:txBody>
          <a:bodyPr wrap="square" rtlCol="0">
            <a:spAutoFit/>
          </a:bodyPr>
          <a:lstStyle/>
          <a:p>
            <a:pPr fontAlgn="base">
              <a:spcBef>
                <a:spcPct val="0"/>
              </a:spcBef>
              <a:spcAft>
                <a:spcPct val="0"/>
              </a:spcAft>
            </a:pPr>
            <a:r>
              <a:rPr kumimoji="1" lang="en-US" altLang="zh-CN" sz="24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4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4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2" name="矩形 31">
            <a:extLst>
              <a:ext uri="{FF2B5EF4-FFF2-40B4-BE49-F238E27FC236}">
                <a16:creationId xmlns:a16="http://schemas.microsoft.com/office/drawing/2014/main" id="{1581708A-1551-4E51-BBD4-0936065CEE2F}"/>
              </a:ext>
            </a:extLst>
          </p:cNvPr>
          <p:cNvSpPr/>
          <p:nvPr/>
        </p:nvSpPr>
        <p:spPr>
          <a:xfrm>
            <a:off x="302930" y="188640"/>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11</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5</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17</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16</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endParaRPr lang="zh-CN" altLang="en-US" dirty="0"/>
          </a:p>
        </p:txBody>
      </p:sp>
    </p:spTree>
    <p:extLst>
      <p:ext uri="{BB962C8B-B14F-4D97-AF65-F5344CB8AC3E}">
        <p14:creationId xmlns:p14="http://schemas.microsoft.com/office/powerpoint/2010/main" val="310746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nodeType="clickEffect">
                                  <p:stCondLst>
                                    <p:cond delay="0"/>
                                  </p:stCondLst>
                                  <p:childTnLst>
                                    <p:animEffect transition="out" filter="wipe(down)">
                                      <p:cBhvr>
                                        <p:cTn id="16" dur="500"/>
                                        <p:tgtEl>
                                          <p:spTgt spid="24"/>
                                        </p:tgtEl>
                                      </p:cBhvr>
                                    </p:animEffect>
                                    <p:set>
                                      <p:cBhvr>
                                        <p:cTn id="17" dur="1" fill="hold">
                                          <p:stCondLst>
                                            <p:cond delay="499"/>
                                          </p:stCondLst>
                                        </p:cTn>
                                        <p:tgtEl>
                                          <p:spTgt spid="2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nodeType="clickEffect">
                                  <p:stCondLst>
                                    <p:cond delay="0"/>
                                  </p:stCondLst>
                                  <p:childTnLst>
                                    <p:animEffect transition="out" filter="wipe(down)">
                                      <p:cBhvr>
                                        <p:cTn id="31" dur="500"/>
                                        <p:tgtEl>
                                          <p:spTgt spid="25"/>
                                        </p:tgtEl>
                                      </p:cBhvr>
                                    </p:animEffect>
                                    <p:set>
                                      <p:cBhvr>
                                        <p:cTn id="32" dur="1" fill="hold">
                                          <p:stCondLst>
                                            <p:cond delay="499"/>
                                          </p:stCondLst>
                                        </p:cTn>
                                        <p:tgtEl>
                                          <p:spTgt spid="2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nodeType="clickEffect">
                                  <p:stCondLst>
                                    <p:cond delay="0"/>
                                  </p:stCondLst>
                                  <p:childTnLst>
                                    <p:animEffect transition="out" filter="wipe(down)">
                                      <p:cBhvr>
                                        <p:cTn id="46" dur="500"/>
                                        <p:tgtEl>
                                          <p:spTgt spid="26"/>
                                        </p:tgtEl>
                                      </p:cBhvr>
                                    </p:animEffect>
                                    <p:set>
                                      <p:cBhvr>
                                        <p:cTn id="47" dur="1" fill="hold">
                                          <p:stCondLst>
                                            <p:cond delay="499"/>
                                          </p:stCondLst>
                                        </p:cTn>
                                        <p:tgtEl>
                                          <p:spTgt spid="2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animBg="1"/>
      <p:bldP spid="23" grpId="0"/>
      <p:bldP spid="28" grpId="0" animBg="1"/>
      <p:bldP spid="29" grpId="0" animBg="1"/>
      <p:bldP spid="3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61C567-9DDD-402F-B8C2-9892061E6BD2}"/>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TextBox 69">
            <a:extLst>
              <a:ext uri="{FF2B5EF4-FFF2-40B4-BE49-F238E27FC236}">
                <a16:creationId xmlns:a16="http://schemas.microsoft.com/office/drawing/2014/main" id="{DC157ABE-AE99-4D2D-BE34-437DD21F8068}"/>
              </a:ext>
            </a:extLst>
          </p:cNvPr>
          <p:cNvSpPr txBox="1"/>
          <p:nvPr/>
        </p:nvSpPr>
        <p:spPr>
          <a:xfrm>
            <a:off x="2577120" y="2366551"/>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11</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TextBox 70">
            <a:extLst>
              <a:ext uri="{FF2B5EF4-FFF2-40B4-BE49-F238E27FC236}">
                <a16:creationId xmlns:a16="http://schemas.microsoft.com/office/drawing/2014/main" id="{1BC937F8-D9EF-469F-8BDC-CC479D2B33B1}"/>
              </a:ext>
            </a:extLst>
          </p:cNvPr>
          <p:cNvSpPr txBox="1"/>
          <p:nvPr/>
        </p:nvSpPr>
        <p:spPr>
          <a:xfrm>
            <a:off x="3148624" y="2366551"/>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4</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5" name="TextBox 71">
            <a:extLst>
              <a:ext uri="{FF2B5EF4-FFF2-40B4-BE49-F238E27FC236}">
                <a16:creationId xmlns:a16="http://schemas.microsoft.com/office/drawing/2014/main" id="{FFB4B957-95DA-4ECA-85CF-C545BD3DAE6F}"/>
              </a:ext>
            </a:extLst>
          </p:cNvPr>
          <p:cNvSpPr txBox="1"/>
          <p:nvPr/>
        </p:nvSpPr>
        <p:spPr>
          <a:xfrm>
            <a:off x="3720128" y="2366551"/>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8</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6" name="TextBox 72">
            <a:extLst>
              <a:ext uri="{FF2B5EF4-FFF2-40B4-BE49-F238E27FC236}">
                <a16:creationId xmlns:a16="http://schemas.microsoft.com/office/drawing/2014/main" id="{26D5CB68-089A-4716-AC6C-031533A0699F}"/>
              </a:ext>
            </a:extLst>
          </p:cNvPr>
          <p:cNvSpPr txBox="1"/>
          <p:nvPr/>
        </p:nvSpPr>
        <p:spPr>
          <a:xfrm>
            <a:off x="4434508" y="2366551"/>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13</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7" name="TextBox 75">
            <a:extLst>
              <a:ext uri="{FF2B5EF4-FFF2-40B4-BE49-F238E27FC236}">
                <a16:creationId xmlns:a16="http://schemas.microsoft.com/office/drawing/2014/main" id="{114832EA-1258-4658-95D4-29BAC957D8AD}"/>
              </a:ext>
            </a:extLst>
          </p:cNvPr>
          <p:cNvSpPr txBox="1"/>
          <p:nvPr/>
        </p:nvSpPr>
        <p:spPr>
          <a:xfrm>
            <a:off x="219698" y="2295112"/>
            <a:ext cx="2214578" cy="400110"/>
          </a:xfrm>
          <a:prstGeom prst="rect">
            <a:avLst/>
          </a:prstGeom>
          <a:noFill/>
        </p:spPr>
        <p:txBody>
          <a:bodyPr wrap="square" rtlCol="0">
            <a:spAutoFit/>
          </a:bodyPr>
          <a:lstStyle/>
          <a:p>
            <a:pPr algn="ctr" fontAlgn="base">
              <a:spcBef>
                <a:spcPct val="0"/>
              </a:spcBef>
              <a:spcAft>
                <a:spcPct val="0"/>
              </a:spcAft>
            </a:pPr>
            <a:r>
              <a:rPr kumimoji="1"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8" name="直接箭头连接符 7">
            <a:extLst>
              <a:ext uri="{FF2B5EF4-FFF2-40B4-BE49-F238E27FC236}">
                <a16:creationId xmlns:a16="http://schemas.microsoft.com/office/drawing/2014/main" id="{43447D92-BFAC-4FEA-B3B3-98CCD7EF226A}"/>
              </a:ext>
            </a:extLst>
          </p:cNvPr>
          <p:cNvCxnSpPr/>
          <p:nvPr/>
        </p:nvCxnSpPr>
        <p:spPr>
          <a:xfrm rot="5400000" flipH="1" flipV="1">
            <a:off x="2612045" y="2902335"/>
            <a:ext cx="357984" cy="794"/>
          </a:xfrm>
          <a:prstGeom prst="straightConnector1">
            <a:avLst/>
          </a:prstGeom>
          <a:noFill/>
          <a:ln w="28575" cap="flat" cmpd="sng" algn="ctr">
            <a:solidFill>
              <a:srgbClr val="FF00FF"/>
            </a:solidFill>
            <a:prstDash val="solid"/>
            <a:tailEnd type="arrow"/>
          </a:ln>
          <a:effectLst/>
        </p:spPr>
      </p:cxnSp>
      <p:cxnSp>
        <p:nvCxnSpPr>
          <p:cNvPr id="9" name="直接箭头连接符 8">
            <a:extLst>
              <a:ext uri="{FF2B5EF4-FFF2-40B4-BE49-F238E27FC236}">
                <a16:creationId xmlns:a16="http://schemas.microsoft.com/office/drawing/2014/main" id="{023C99F0-DE6E-401C-AB8C-CA2B69D3134A}"/>
              </a:ext>
            </a:extLst>
          </p:cNvPr>
          <p:cNvCxnSpPr/>
          <p:nvPr/>
        </p:nvCxnSpPr>
        <p:spPr>
          <a:xfrm rot="5400000" flipH="1" flipV="1">
            <a:off x="3183549" y="2902335"/>
            <a:ext cx="357984" cy="794"/>
          </a:xfrm>
          <a:prstGeom prst="straightConnector1">
            <a:avLst/>
          </a:prstGeom>
          <a:noFill/>
          <a:ln w="28575" cap="flat" cmpd="sng" algn="ctr">
            <a:solidFill>
              <a:srgbClr val="FF00FF"/>
            </a:solidFill>
            <a:prstDash val="solid"/>
            <a:tailEnd type="arrow"/>
          </a:ln>
          <a:effectLst/>
        </p:spPr>
      </p:cxnSp>
      <p:cxnSp>
        <p:nvCxnSpPr>
          <p:cNvPr id="10" name="直接箭头连接符 9">
            <a:extLst>
              <a:ext uri="{FF2B5EF4-FFF2-40B4-BE49-F238E27FC236}">
                <a16:creationId xmlns:a16="http://schemas.microsoft.com/office/drawing/2014/main" id="{B8A694AD-4325-4685-8B2A-B1767DA0AAD7}"/>
              </a:ext>
            </a:extLst>
          </p:cNvPr>
          <p:cNvCxnSpPr/>
          <p:nvPr/>
        </p:nvCxnSpPr>
        <p:spPr>
          <a:xfrm rot="5400000" flipH="1" flipV="1">
            <a:off x="3755053" y="2902335"/>
            <a:ext cx="357984" cy="794"/>
          </a:xfrm>
          <a:prstGeom prst="straightConnector1">
            <a:avLst/>
          </a:prstGeom>
          <a:noFill/>
          <a:ln w="28575" cap="flat" cmpd="sng" algn="ctr">
            <a:solidFill>
              <a:srgbClr val="FF00FF"/>
            </a:solidFill>
            <a:prstDash val="solid"/>
            <a:tailEnd type="arrow"/>
          </a:ln>
          <a:effectLst/>
        </p:spPr>
      </p:cxnSp>
      <p:cxnSp>
        <p:nvCxnSpPr>
          <p:cNvPr id="11" name="直接箭头连接符 10">
            <a:extLst>
              <a:ext uri="{FF2B5EF4-FFF2-40B4-BE49-F238E27FC236}">
                <a16:creationId xmlns:a16="http://schemas.microsoft.com/office/drawing/2014/main" id="{7EAFF0F0-9FEF-444C-B734-C36AE98463A2}"/>
              </a:ext>
            </a:extLst>
          </p:cNvPr>
          <p:cNvCxnSpPr/>
          <p:nvPr/>
        </p:nvCxnSpPr>
        <p:spPr>
          <a:xfrm rot="5400000" flipH="1" flipV="1">
            <a:off x="4469433" y="2902335"/>
            <a:ext cx="357984" cy="794"/>
          </a:xfrm>
          <a:prstGeom prst="straightConnector1">
            <a:avLst/>
          </a:prstGeom>
          <a:noFill/>
          <a:ln w="28575" cap="flat" cmpd="sng" algn="ctr">
            <a:solidFill>
              <a:srgbClr val="FF00FF"/>
            </a:solidFill>
            <a:prstDash val="solid"/>
            <a:tailEnd type="arrow"/>
          </a:ln>
          <a:effectLst/>
        </p:spPr>
      </p:cxnSp>
      <p:sp>
        <p:nvSpPr>
          <p:cNvPr id="12" name="矩形 11">
            <a:extLst>
              <a:ext uri="{FF2B5EF4-FFF2-40B4-BE49-F238E27FC236}">
                <a16:creationId xmlns:a16="http://schemas.microsoft.com/office/drawing/2014/main" id="{EA2ADEC3-C090-46CA-8982-F32A4D4C006C}"/>
              </a:ext>
            </a:extLst>
          </p:cNvPr>
          <p:cNvSpPr/>
          <p:nvPr/>
        </p:nvSpPr>
        <p:spPr>
          <a:xfrm>
            <a:off x="1291236" y="3938186"/>
            <a:ext cx="185738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r>
              <a:rPr kumimoji="1" lang="en-US" altLang="zh-CN" sz="2000" b="1" i="0" u="none" strike="noStrike" kern="0" cap="none" spc="0" normalizeH="0" baseline="0" noProof="0" dirty="0">
                <a:ln>
                  <a:noFill/>
                </a:ln>
                <a:solidFill>
                  <a:srgbClr val="9900FF"/>
                </a:solidFill>
                <a:effectLst/>
                <a:uLnTx/>
                <a:uFillTx/>
                <a:latin typeface="Consolas" panose="020B0609020204030204" pitchFamily="49" charset="0"/>
                <a:ea typeface="宋体" panose="02010600030101010101" pitchFamily="2" charset="-122"/>
                <a:cs typeface="Consolas" panose="020B0609020204030204" pitchFamily="49" charset="0"/>
              </a:rPr>
              <a:t>6</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7 </a:t>
            </a: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11</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3" name="右箭头 24">
            <a:extLst>
              <a:ext uri="{FF2B5EF4-FFF2-40B4-BE49-F238E27FC236}">
                <a16:creationId xmlns:a16="http://schemas.microsoft.com/office/drawing/2014/main" id="{E95C7049-9930-43CB-BE43-363FE559553A}"/>
              </a:ext>
            </a:extLst>
          </p:cNvPr>
          <p:cNvSpPr/>
          <p:nvPr/>
        </p:nvSpPr>
        <p:spPr>
          <a:xfrm>
            <a:off x="3577252" y="4009624"/>
            <a:ext cx="785818" cy="285752"/>
          </a:xfrm>
          <a:prstGeom prst="rightArrow">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4" name="矩形 13">
            <a:extLst>
              <a:ext uri="{FF2B5EF4-FFF2-40B4-BE49-F238E27FC236}">
                <a16:creationId xmlns:a16="http://schemas.microsoft.com/office/drawing/2014/main" id="{0CAF2A4A-6637-49D9-A699-94A401F25BF9}"/>
              </a:ext>
            </a:extLst>
          </p:cNvPr>
          <p:cNvSpPr/>
          <p:nvPr/>
        </p:nvSpPr>
        <p:spPr>
          <a:xfrm>
            <a:off x="4934574" y="4295376"/>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a:t>
            </a:r>
            <a:endParaRPr kumimoji="1" lang="zh-CN" altLang="en-US"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01DD4D26-22B4-453C-9DCF-6368564B1077}"/>
              </a:ext>
            </a:extLst>
          </p:cNvPr>
          <p:cNvSpPr/>
          <p:nvPr/>
        </p:nvSpPr>
        <p:spPr>
          <a:xfrm>
            <a:off x="6720524" y="4295376"/>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7  11</a:t>
            </a:r>
            <a:endParaRPr kumimoji="1" lang="zh-CN" altLang="en-US"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矩形 15">
            <a:extLst>
              <a:ext uri="{FF2B5EF4-FFF2-40B4-BE49-F238E27FC236}">
                <a16:creationId xmlns:a16="http://schemas.microsoft.com/office/drawing/2014/main" id="{DC7C84F1-6A73-4B80-892D-75478CAF1AD5}"/>
              </a:ext>
            </a:extLst>
          </p:cNvPr>
          <p:cNvSpPr/>
          <p:nvPr/>
        </p:nvSpPr>
        <p:spPr>
          <a:xfrm>
            <a:off x="5791830" y="3366682"/>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6</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7" name="直接箭头连接符 16">
            <a:extLst>
              <a:ext uri="{FF2B5EF4-FFF2-40B4-BE49-F238E27FC236}">
                <a16:creationId xmlns:a16="http://schemas.microsoft.com/office/drawing/2014/main" id="{A3E2AF24-9477-4479-A24D-BAD818D54EFE}"/>
              </a:ext>
            </a:extLst>
          </p:cNvPr>
          <p:cNvCxnSpPr/>
          <p:nvPr/>
        </p:nvCxnSpPr>
        <p:spPr>
          <a:xfrm rot="5400000">
            <a:off x="5791830" y="3795310"/>
            <a:ext cx="642942" cy="357190"/>
          </a:xfrm>
          <a:prstGeom prst="straightConnector1">
            <a:avLst/>
          </a:prstGeom>
          <a:noFill/>
          <a:ln w="28575" cap="flat" cmpd="sng" algn="ctr">
            <a:solidFill>
              <a:srgbClr val="3333FF"/>
            </a:solidFill>
            <a:prstDash val="solid"/>
            <a:tailEnd type="arrow"/>
          </a:ln>
          <a:effectLst/>
        </p:spPr>
      </p:cxnSp>
      <p:cxnSp>
        <p:nvCxnSpPr>
          <p:cNvPr id="18" name="直接箭头连接符 17">
            <a:extLst>
              <a:ext uri="{FF2B5EF4-FFF2-40B4-BE49-F238E27FC236}">
                <a16:creationId xmlns:a16="http://schemas.microsoft.com/office/drawing/2014/main" id="{2C836C62-110A-4757-BC2E-0187B4C905AD}"/>
              </a:ext>
            </a:extLst>
          </p:cNvPr>
          <p:cNvCxnSpPr/>
          <p:nvPr/>
        </p:nvCxnSpPr>
        <p:spPr>
          <a:xfrm rot="16200000" flipH="1">
            <a:off x="6649086" y="3723872"/>
            <a:ext cx="642942" cy="500066"/>
          </a:xfrm>
          <a:prstGeom prst="straightConnector1">
            <a:avLst/>
          </a:prstGeom>
          <a:noFill/>
          <a:ln w="28575" cap="flat" cmpd="sng" algn="ctr">
            <a:solidFill>
              <a:srgbClr val="3333FF"/>
            </a:solidFill>
            <a:prstDash val="solid"/>
            <a:tailEnd type="arrow"/>
          </a:ln>
          <a:effectLst/>
        </p:spPr>
      </p:cxnSp>
      <p:sp>
        <p:nvSpPr>
          <p:cNvPr id="19" name="矩形 18">
            <a:extLst>
              <a:ext uri="{FF2B5EF4-FFF2-40B4-BE49-F238E27FC236}">
                <a16:creationId xmlns:a16="http://schemas.microsoft.com/office/drawing/2014/main" id="{33C82CF5-9A21-4847-9367-BA614A9265BC}"/>
              </a:ext>
            </a:extLst>
          </p:cNvPr>
          <p:cNvSpPr/>
          <p:nvPr/>
        </p:nvSpPr>
        <p:spPr>
          <a:xfrm>
            <a:off x="4934574" y="4295376"/>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4</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0" name="矩形 19">
            <a:extLst>
              <a:ext uri="{FF2B5EF4-FFF2-40B4-BE49-F238E27FC236}">
                <a16:creationId xmlns:a16="http://schemas.microsoft.com/office/drawing/2014/main" id="{FEFB4F24-266F-4C90-8184-57BB6A714457}"/>
              </a:ext>
            </a:extLst>
          </p:cNvPr>
          <p:cNvSpPr/>
          <p:nvPr/>
        </p:nvSpPr>
        <p:spPr>
          <a:xfrm>
            <a:off x="6720524" y="4295376"/>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a:t>
            </a:r>
            <a:r>
              <a:rPr kumimoji="1" lang="en-US" altLang="zh-CN" sz="24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8</a:t>
            </a:r>
            <a:r>
              <a:rPr kumimoji="1" lang="en-US" altLang="zh-CN"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11</a:t>
            </a:r>
            <a:endParaRPr kumimoji="1" lang="zh-CN" altLang="en-US" sz="24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1" name="矩形 20">
            <a:extLst>
              <a:ext uri="{FF2B5EF4-FFF2-40B4-BE49-F238E27FC236}">
                <a16:creationId xmlns:a16="http://schemas.microsoft.com/office/drawing/2014/main" id="{0552534A-97DA-4AE8-B943-646821F67736}"/>
              </a:ext>
            </a:extLst>
          </p:cNvPr>
          <p:cNvSpPr/>
          <p:nvPr/>
        </p:nvSpPr>
        <p:spPr>
          <a:xfrm>
            <a:off x="6720524" y="4295376"/>
            <a:ext cx="196359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7  8  11  </a:t>
            </a: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13</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2" name="TextBox 36">
            <a:extLst>
              <a:ext uri="{FF2B5EF4-FFF2-40B4-BE49-F238E27FC236}">
                <a16:creationId xmlns:a16="http://schemas.microsoft.com/office/drawing/2014/main" id="{C576F6B3-FED0-4DD5-AA27-10B5335482DD}"/>
              </a:ext>
            </a:extLst>
          </p:cNvPr>
          <p:cNvSpPr txBox="1"/>
          <p:nvPr/>
        </p:nvSpPr>
        <p:spPr>
          <a:xfrm>
            <a:off x="1362674" y="4581128"/>
            <a:ext cx="1857388" cy="400110"/>
          </a:xfrm>
          <a:prstGeom prst="rect">
            <a:avLst/>
          </a:prstGeom>
          <a:noFill/>
        </p:spPr>
        <p:txBody>
          <a:bodyPr wrap="square" rtlCol="0">
            <a:spAutoFit/>
          </a:bodyPr>
          <a:lstStyle/>
          <a:p>
            <a:pPr fontAlgn="base">
              <a:spcBef>
                <a:spcPct val="0"/>
              </a:spcBef>
              <a:spcAft>
                <a:spcPct val="0"/>
              </a:spcAft>
            </a:pPr>
            <a:r>
              <a:rPr kumimoji="1" lang="zh-CN" altLang="en-US" sz="2000" b="1" dirty="0">
                <a:solidFill>
                  <a:srgbClr val="FF0000"/>
                </a:solidFill>
                <a:latin typeface="Consolas" panose="020B0609020204030204" pitchFamily="49" charset="0"/>
                <a:ea typeface="方正启体简体" pitchFamily="65" charset="-122"/>
                <a:cs typeface="Consolas" panose="020B0609020204030204" pitchFamily="49" charset="0"/>
              </a:rPr>
              <a:t>关键字个数</a:t>
            </a:r>
            <a:r>
              <a:rPr kumimoji="1" lang="en-US" altLang="zh-CN" sz="2000" b="1" dirty="0">
                <a:solidFill>
                  <a:srgbClr val="FF0000"/>
                </a:solidFill>
                <a:latin typeface="Consolas" panose="020B0609020204030204" pitchFamily="49" charset="0"/>
                <a:ea typeface="方正启体简体" pitchFamily="65" charset="-122"/>
                <a:cs typeface="Consolas" panose="020B0609020204030204" pitchFamily="49" charset="0"/>
              </a:rPr>
              <a:t>&gt;4</a:t>
            </a:r>
            <a:endParaRPr kumimoji="1" lang="zh-CN" altLang="en-US" sz="2000" b="1" dirty="0">
              <a:solidFill>
                <a:srgbClr val="FF0000"/>
              </a:solidFill>
              <a:latin typeface="Consolas" panose="020B0609020204030204" pitchFamily="49" charset="0"/>
              <a:ea typeface="方正启体简体" pitchFamily="65" charset="-122"/>
              <a:cs typeface="Consolas" panose="020B0609020204030204" pitchFamily="49" charset="0"/>
            </a:endParaRPr>
          </a:p>
        </p:txBody>
      </p:sp>
      <p:sp>
        <p:nvSpPr>
          <p:cNvPr id="23" name="TextBox 21">
            <a:extLst>
              <a:ext uri="{FF2B5EF4-FFF2-40B4-BE49-F238E27FC236}">
                <a16:creationId xmlns:a16="http://schemas.microsoft.com/office/drawing/2014/main" id="{8DAF9D36-4C7F-4450-BE5C-C38A5177EAF2}"/>
              </a:ext>
            </a:extLst>
          </p:cNvPr>
          <p:cNvSpPr txBox="1"/>
          <p:nvPr/>
        </p:nvSpPr>
        <p:spPr>
          <a:xfrm>
            <a:off x="576856" y="1723609"/>
            <a:ext cx="1357322" cy="461665"/>
          </a:xfrm>
          <a:prstGeom prst="rect">
            <a:avLst/>
          </a:prstGeom>
          <a:noFill/>
        </p:spPr>
        <p:txBody>
          <a:bodyPr wrap="square" rtlCol="0">
            <a:spAutoFit/>
          </a:bodyPr>
          <a:lstStyle/>
          <a:p>
            <a:pPr fontAlgn="base">
              <a:spcBef>
                <a:spcPct val="0"/>
              </a:spcBef>
              <a:spcAft>
                <a:spcPct val="0"/>
              </a:spcAft>
            </a:pPr>
            <a:r>
              <a:rPr kumimoji="1" lang="en-US" altLang="zh-CN" sz="24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4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4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4" name="TextBox 22">
            <a:extLst>
              <a:ext uri="{FF2B5EF4-FFF2-40B4-BE49-F238E27FC236}">
                <a16:creationId xmlns:a16="http://schemas.microsoft.com/office/drawing/2014/main" id="{3CC7B778-6D3A-4FB4-9A97-D7F96BF3DD69}"/>
              </a:ext>
            </a:extLst>
          </p:cNvPr>
          <p:cNvSpPr txBox="1"/>
          <p:nvPr/>
        </p:nvSpPr>
        <p:spPr>
          <a:xfrm>
            <a:off x="3577252" y="4223938"/>
            <a:ext cx="785818" cy="400110"/>
          </a:xfrm>
          <a:prstGeom prst="rect">
            <a:avLst/>
          </a:prstGeom>
          <a:noFill/>
        </p:spPr>
        <p:txBody>
          <a:bodyPr wrap="square" rtlCol="0">
            <a:spAutoFit/>
          </a:bodyPr>
          <a:lstStyle/>
          <a:p>
            <a:pPr fontAlgn="base">
              <a:spcBef>
                <a:spcPct val="0"/>
              </a:spcBef>
              <a:spcAft>
                <a:spcPct val="0"/>
              </a:spcAft>
            </a:pPr>
            <a:r>
              <a:rPr kumimoji="1"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5" name="矩形 24">
            <a:extLst>
              <a:ext uri="{FF2B5EF4-FFF2-40B4-BE49-F238E27FC236}">
                <a16:creationId xmlns:a16="http://schemas.microsoft.com/office/drawing/2014/main" id="{E4A46DC6-0614-49D1-9217-747EC132DEC6}"/>
              </a:ext>
            </a:extLst>
          </p:cNvPr>
          <p:cNvSpPr/>
          <p:nvPr/>
        </p:nvSpPr>
        <p:spPr>
          <a:xfrm>
            <a:off x="302930" y="188640"/>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11</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4</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8</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5</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17</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16</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endParaRPr lang="zh-CN" altLang="en-US" dirty="0"/>
          </a:p>
        </p:txBody>
      </p:sp>
    </p:spTree>
    <p:extLst>
      <p:ext uri="{BB962C8B-B14F-4D97-AF65-F5344CB8AC3E}">
        <p14:creationId xmlns:p14="http://schemas.microsoft.com/office/powerpoint/2010/main" val="136038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nodeType="clickEffect">
                                  <p:stCondLst>
                                    <p:cond delay="0"/>
                                  </p:stCondLst>
                                  <p:childTnLst>
                                    <p:animEffect transition="out" filter="wipe(down)">
                                      <p:cBhvr>
                                        <p:cTn id="35" dur="500"/>
                                        <p:tgtEl>
                                          <p:spTgt spid="8"/>
                                        </p:tgtEl>
                                      </p:cBhvr>
                                    </p:animEffect>
                                    <p:set>
                                      <p:cBhvr>
                                        <p:cTn id="36" dur="1" fill="hold">
                                          <p:stCondLst>
                                            <p:cond delay="499"/>
                                          </p:stCondLst>
                                        </p:cTn>
                                        <p:tgtEl>
                                          <p:spTgt spid="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4" fill="hold" nodeType="clickEffect">
                                  <p:stCondLst>
                                    <p:cond delay="0"/>
                                  </p:stCondLst>
                                  <p:childTnLst>
                                    <p:animEffect transition="out" filter="wipe(down)">
                                      <p:cBhvr>
                                        <p:cTn id="50" dur="500"/>
                                        <p:tgtEl>
                                          <p:spTgt spid="9"/>
                                        </p:tgtEl>
                                      </p:cBhvr>
                                    </p:animEffect>
                                    <p:set>
                                      <p:cBhvr>
                                        <p:cTn id="51" dur="1" fill="hold">
                                          <p:stCondLst>
                                            <p:cond delay="499"/>
                                          </p:stCondLst>
                                        </p:cTn>
                                        <p:tgtEl>
                                          <p:spTgt spid="9"/>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xit" presetSubtype="4" fill="hold" nodeType="clickEffect">
                                  <p:stCondLst>
                                    <p:cond delay="0"/>
                                  </p:stCondLst>
                                  <p:childTnLst>
                                    <p:animEffect transition="out" filter="wipe(down)">
                                      <p:cBhvr>
                                        <p:cTn id="65" dur="500"/>
                                        <p:tgtEl>
                                          <p:spTgt spid="10"/>
                                        </p:tgtEl>
                                      </p:cBhvr>
                                    </p:animEffect>
                                    <p:set>
                                      <p:cBhvr>
                                        <p:cTn id="66" dur="1" fill="hold">
                                          <p:stCondLst>
                                            <p:cond delay="499"/>
                                          </p:stCondLst>
                                        </p:cTn>
                                        <p:tgtEl>
                                          <p:spTgt spid="10"/>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12" grpId="0" animBg="1"/>
      <p:bldP spid="13" grpId="0" animBg="1"/>
      <p:bldP spid="14" grpId="0" animBg="1"/>
      <p:bldP spid="15" grpId="0" animBg="1"/>
      <p:bldP spid="16" grpId="0" animBg="1"/>
      <p:bldP spid="19" grpId="0" animBg="1"/>
      <p:bldP spid="20" grpId="0" animBg="1"/>
      <p:bldP spid="21" grpId="0" animBg="1"/>
      <p:bldP spid="22" grpId="0"/>
      <p:bldP spid="2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D970F70-0563-4053-9DAF-128C404B2232}"/>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TextBox 73">
            <a:extLst>
              <a:ext uri="{FF2B5EF4-FFF2-40B4-BE49-F238E27FC236}">
                <a16:creationId xmlns:a16="http://schemas.microsoft.com/office/drawing/2014/main" id="{1A785446-C102-41EA-9A07-D4FB63156BAB}"/>
              </a:ext>
            </a:extLst>
          </p:cNvPr>
          <p:cNvSpPr txBox="1"/>
          <p:nvPr/>
        </p:nvSpPr>
        <p:spPr>
          <a:xfrm>
            <a:off x="2763250" y="2436056"/>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TextBox 75">
            <a:extLst>
              <a:ext uri="{FF2B5EF4-FFF2-40B4-BE49-F238E27FC236}">
                <a16:creationId xmlns:a16="http://schemas.microsoft.com/office/drawing/2014/main" id="{0B87F5BC-D0E0-4EA3-940B-5CA38272A27E}"/>
              </a:ext>
            </a:extLst>
          </p:cNvPr>
          <p:cNvSpPr txBox="1"/>
          <p:nvPr/>
        </p:nvSpPr>
        <p:spPr>
          <a:xfrm>
            <a:off x="620142" y="2364616"/>
            <a:ext cx="2214578"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 name="直接箭头连接符 4">
            <a:extLst>
              <a:ext uri="{FF2B5EF4-FFF2-40B4-BE49-F238E27FC236}">
                <a16:creationId xmlns:a16="http://schemas.microsoft.com/office/drawing/2014/main" id="{5DF511A9-A1AE-4425-8F1E-114F173FDB79}"/>
              </a:ext>
            </a:extLst>
          </p:cNvPr>
          <p:cNvCxnSpPr/>
          <p:nvPr/>
        </p:nvCxnSpPr>
        <p:spPr>
          <a:xfrm rot="5400000" flipH="1" flipV="1">
            <a:off x="2798175" y="2971839"/>
            <a:ext cx="357984" cy="794"/>
          </a:xfrm>
          <a:prstGeom prst="straightConnector1">
            <a:avLst/>
          </a:prstGeom>
          <a:noFill/>
          <a:ln w="28575" cap="flat" cmpd="sng" algn="ctr">
            <a:solidFill>
              <a:srgbClr val="FF00FF"/>
            </a:solidFill>
            <a:prstDash val="solid"/>
            <a:tailEnd type="arrow"/>
          </a:ln>
          <a:effectLst/>
        </p:spPr>
      </p:cxnSp>
      <p:sp>
        <p:nvSpPr>
          <p:cNvPr id="6" name="右箭头 24">
            <a:extLst>
              <a:ext uri="{FF2B5EF4-FFF2-40B4-BE49-F238E27FC236}">
                <a16:creationId xmlns:a16="http://schemas.microsoft.com/office/drawing/2014/main" id="{38D7EB44-F560-4659-9252-AC0C3561A43D}"/>
              </a:ext>
            </a:extLst>
          </p:cNvPr>
          <p:cNvSpPr/>
          <p:nvPr/>
        </p:nvSpPr>
        <p:spPr>
          <a:xfrm>
            <a:off x="3620506" y="3937046"/>
            <a:ext cx="785818" cy="285752"/>
          </a:xfrm>
          <a:prstGeom prst="rightArrow">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7" name="矩形 6">
            <a:extLst>
              <a:ext uri="{FF2B5EF4-FFF2-40B4-BE49-F238E27FC236}">
                <a16:creationId xmlns:a16="http://schemas.microsoft.com/office/drawing/2014/main" id="{D794AADC-28D3-4E04-92D8-98B0EE075379}"/>
              </a:ext>
            </a:extLst>
          </p:cNvPr>
          <p:cNvSpPr/>
          <p:nvPr/>
        </p:nvSpPr>
        <p:spPr>
          <a:xfrm>
            <a:off x="5692208" y="3508418"/>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6  10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8" name="直接箭头连接符 7">
            <a:extLst>
              <a:ext uri="{FF2B5EF4-FFF2-40B4-BE49-F238E27FC236}">
                <a16:creationId xmlns:a16="http://schemas.microsoft.com/office/drawing/2014/main" id="{77D29FA9-0D2B-4BAE-8EA2-C8C0193C732D}"/>
              </a:ext>
            </a:extLst>
          </p:cNvPr>
          <p:cNvCxnSpPr/>
          <p:nvPr/>
        </p:nvCxnSpPr>
        <p:spPr>
          <a:xfrm rot="5400000">
            <a:off x="5370737" y="3829889"/>
            <a:ext cx="642942" cy="571504"/>
          </a:xfrm>
          <a:prstGeom prst="straightConnector1">
            <a:avLst/>
          </a:prstGeom>
          <a:noFill/>
          <a:ln w="28575" cap="flat" cmpd="sng" algn="ctr">
            <a:solidFill>
              <a:srgbClr val="3333FF"/>
            </a:solidFill>
            <a:prstDash val="solid"/>
            <a:tailEnd type="arrow"/>
          </a:ln>
          <a:effectLst/>
        </p:spPr>
      </p:cxnSp>
      <p:cxnSp>
        <p:nvCxnSpPr>
          <p:cNvPr id="9" name="直接箭头连接符 8">
            <a:extLst>
              <a:ext uri="{FF2B5EF4-FFF2-40B4-BE49-F238E27FC236}">
                <a16:creationId xmlns:a16="http://schemas.microsoft.com/office/drawing/2014/main" id="{0A3EFC48-25C2-4D25-BC57-714CC5922364}"/>
              </a:ext>
            </a:extLst>
          </p:cNvPr>
          <p:cNvCxnSpPr/>
          <p:nvPr/>
        </p:nvCxnSpPr>
        <p:spPr>
          <a:xfrm rot="16200000" flipH="1">
            <a:off x="6728059" y="3829889"/>
            <a:ext cx="642942" cy="571504"/>
          </a:xfrm>
          <a:prstGeom prst="straightConnector1">
            <a:avLst/>
          </a:prstGeom>
          <a:noFill/>
          <a:ln w="28575" cap="flat" cmpd="sng" algn="ctr">
            <a:solidFill>
              <a:srgbClr val="3333FF"/>
            </a:solidFill>
            <a:prstDash val="solid"/>
            <a:tailEnd type="arrow"/>
          </a:ln>
          <a:effectLst/>
        </p:spPr>
      </p:cxnSp>
      <p:sp>
        <p:nvSpPr>
          <p:cNvPr id="10" name="矩形 9">
            <a:extLst>
              <a:ext uri="{FF2B5EF4-FFF2-40B4-BE49-F238E27FC236}">
                <a16:creationId xmlns:a16="http://schemas.microsoft.com/office/drawing/2014/main" id="{7482B9D5-0D76-4289-9A3D-8EDB2793A177}"/>
              </a:ext>
            </a:extLst>
          </p:cNvPr>
          <p:cNvSpPr/>
          <p:nvPr/>
        </p:nvSpPr>
        <p:spPr>
          <a:xfrm>
            <a:off x="4334886" y="4437112"/>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1  2  4</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1" name="矩形 10">
            <a:extLst>
              <a:ext uri="{FF2B5EF4-FFF2-40B4-BE49-F238E27FC236}">
                <a16:creationId xmlns:a16="http://schemas.microsoft.com/office/drawing/2014/main" id="{811BCAA7-DA42-4C5C-9108-CFEC4E6E4378}"/>
              </a:ext>
            </a:extLst>
          </p:cNvPr>
          <p:cNvSpPr/>
          <p:nvPr/>
        </p:nvSpPr>
        <p:spPr>
          <a:xfrm>
            <a:off x="5763646" y="4437112"/>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TextBox 36">
            <a:extLst>
              <a:ext uri="{FF2B5EF4-FFF2-40B4-BE49-F238E27FC236}">
                <a16:creationId xmlns:a16="http://schemas.microsoft.com/office/drawing/2014/main" id="{29767857-40CF-4ADA-AD06-60FAE41C7AA6}"/>
              </a:ext>
            </a:extLst>
          </p:cNvPr>
          <p:cNvSpPr txBox="1"/>
          <p:nvPr/>
        </p:nvSpPr>
        <p:spPr>
          <a:xfrm>
            <a:off x="1763118" y="5080054"/>
            <a:ext cx="1714512"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rPr>
              <a:t>关键字个数</a:t>
            </a:r>
            <a:r>
              <a:rPr kumimoji="1" lang="en-US" altLang="zh-CN" b="1" dirty="0">
                <a:solidFill>
                  <a:srgbClr val="FF0000"/>
                </a:solidFill>
                <a:latin typeface="Consolas" panose="020B0609020204030204" pitchFamily="49" charset="0"/>
                <a:ea typeface="方正启体简体" pitchFamily="65" charset="-122"/>
                <a:cs typeface="Consolas" panose="020B0609020204030204" pitchFamily="49" charset="0"/>
              </a:rPr>
              <a:t>&gt;4</a:t>
            </a:r>
            <a:endPar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endParaRPr>
          </a:p>
        </p:txBody>
      </p:sp>
      <p:sp>
        <p:nvSpPr>
          <p:cNvPr id="13" name="矩形 12">
            <a:extLst>
              <a:ext uri="{FF2B5EF4-FFF2-40B4-BE49-F238E27FC236}">
                <a16:creationId xmlns:a16="http://schemas.microsoft.com/office/drawing/2014/main" id="{B4F582A3-4032-429B-A25E-8DFE7DF5A6F6}"/>
              </a:ext>
            </a:extLst>
          </p:cNvPr>
          <p:cNvSpPr/>
          <p:nvPr/>
        </p:nvSpPr>
        <p:spPr>
          <a:xfrm>
            <a:off x="977300" y="3508418"/>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6</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4" name="直接箭头连接符 13">
            <a:extLst>
              <a:ext uri="{FF2B5EF4-FFF2-40B4-BE49-F238E27FC236}">
                <a16:creationId xmlns:a16="http://schemas.microsoft.com/office/drawing/2014/main" id="{466EF2EC-4B5E-4F7F-9149-67BDDEEE73CB}"/>
              </a:ext>
            </a:extLst>
          </p:cNvPr>
          <p:cNvCxnSpPr/>
          <p:nvPr/>
        </p:nvCxnSpPr>
        <p:spPr>
          <a:xfrm rot="5400000">
            <a:off x="977300" y="3937046"/>
            <a:ext cx="642942" cy="357190"/>
          </a:xfrm>
          <a:prstGeom prst="straightConnector1">
            <a:avLst/>
          </a:prstGeom>
          <a:noFill/>
          <a:ln w="28575" cap="flat" cmpd="sng" algn="ctr">
            <a:solidFill>
              <a:srgbClr val="3333FF"/>
            </a:solidFill>
            <a:prstDash val="solid"/>
            <a:tailEnd type="arrow"/>
          </a:ln>
          <a:effectLst/>
        </p:spPr>
      </p:cxnSp>
      <p:cxnSp>
        <p:nvCxnSpPr>
          <p:cNvPr id="15" name="直接箭头连接符 14">
            <a:extLst>
              <a:ext uri="{FF2B5EF4-FFF2-40B4-BE49-F238E27FC236}">
                <a16:creationId xmlns:a16="http://schemas.microsoft.com/office/drawing/2014/main" id="{4D8A1CC8-3292-4B26-9016-DE622593D21B}"/>
              </a:ext>
            </a:extLst>
          </p:cNvPr>
          <p:cNvCxnSpPr/>
          <p:nvPr/>
        </p:nvCxnSpPr>
        <p:spPr>
          <a:xfrm rot="16200000" flipH="1">
            <a:off x="1834556" y="3865608"/>
            <a:ext cx="642942" cy="500066"/>
          </a:xfrm>
          <a:prstGeom prst="straightConnector1">
            <a:avLst/>
          </a:prstGeom>
          <a:noFill/>
          <a:ln w="28575" cap="flat" cmpd="sng" algn="ctr">
            <a:solidFill>
              <a:srgbClr val="3333FF"/>
            </a:solidFill>
            <a:prstDash val="solid"/>
            <a:tailEnd type="arrow"/>
          </a:ln>
          <a:effectLst/>
        </p:spPr>
      </p:cxnSp>
      <p:sp>
        <p:nvSpPr>
          <p:cNvPr id="16" name="矩形 15">
            <a:extLst>
              <a:ext uri="{FF2B5EF4-FFF2-40B4-BE49-F238E27FC236}">
                <a16:creationId xmlns:a16="http://schemas.microsoft.com/office/drawing/2014/main" id="{60FB8DCC-E0C4-473E-9354-E40F6E2E49B6}"/>
              </a:ext>
            </a:extLst>
          </p:cNvPr>
          <p:cNvSpPr/>
          <p:nvPr/>
        </p:nvSpPr>
        <p:spPr>
          <a:xfrm>
            <a:off x="120044" y="4437112"/>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1  2  4</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7" name="矩形 16">
            <a:extLst>
              <a:ext uri="{FF2B5EF4-FFF2-40B4-BE49-F238E27FC236}">
                <a16:creationId xmlns:a16="http://schemas.microsoft.com/office/drawing/2014/main" id="{C3E93979-E11E-4258-8B4E-080F5686AB32}"/>
              </a:ext>
            </a:extLst>
          </p:cNvPr>
          <p:cNvSpPr/>
          <p:nvPr/>
        </p:nvSpPr>
        <p:spPr>
          <a:xfrm>
            <a:off x="1691680" y="4437112"/>
            <a:ext cx="178595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a:t>
            </a:r>
            <a:r>
              <a:rPr kumimoji="1" lang="en-US" altLang="zh-CN" sz="18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10</a:t>
            </a: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11 13</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8" name="矩形 17">
            <a:extLst>
              <a:ext uri="{FF2B5EF4-FFF2-40B4-BE49-F238E27FC236}">
                <a16:creationId xmlns:a16="http://schemas.microsoft.com/office/drawing/2014/main" id="{21792769-D984-4145-91D1-0308CA309817}"/>
              </a:ext>
            </a:extLst>
          </p:cNvPr>
          <p:cNvSpPr/>
          <p:nvPr/>
        </p:nvSpPr>
        <p:spPr>
          <a:xfrm>
            <a:off x="7217806" y="4437112"/>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0845C7A7-D373-400D-BEF9-A7846FA83CF9}"/>
              </a:ext>
            </a:extLst>
          </p:cNvPr>
          <p:cNvCxnSpPr>
            <a:endCxn id="11" idx="0"/>
          </p:cNvCxnSpPr>
          <p:nvPr/>
        </p:nvCxnSpPr>
        <p:spPr>
          <a:xfrm rot="16200000" flipH="1">
            <a:off x="6060927" y="4068393"/>
            <a:ext cx="642942" cy="94496"/>
          </a:xfrm>
          <a:prstGeom prst="straightConnector1">
            <a:avLst/>
          </a:prstGeom>
          <a:noFill/>
          <a:ln w="28575" cap="flat" cmpd="sng" algn="ctr">
            <a:solidFill>
              <a:srgbClr val="3333FF"/>
            </a:solidFill>
            <a:prstDash val="solid"/>
            <a:tailEnd type="arrow"/>
          </a:ln>
          <a:effectLst/>
        </p:spPr>
      </p:cxnSp>
      <p:sp>
        <p:nvSpPr>
          <p:cNvPr id="20" name="TextBox 43">
            <a:extLst>
              <a:ext uri="{FF2B5EF4-FFF2-40B4-BE49-F238E27FC236}">
                <a16:creationId xmlns:a16="http://schemas.microsoft.com/office/drawing/2014/main" id="{BACD8A8A-F8FF-4E13-825B-878562478933}"/>
              </a:ext>
            </a:extLst>
          </p:cNvPr>
          <p:cNvSpPr txBox="1"/>
          <p:nvPr/>
        </p:nvSpPr>
        <p:spPr>
          <a:xfrm>
            <a:off x="3334754" y="2436056"/>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5</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1" name="直接箭头连接符 20">
            <a:extLst>
              <a:ext uri="{FF2B5EF4-FFF2-40B4-BE49-F238E27FC236}">
                <a16:creationId xmlns:a16="http://schemas.microsoft.com/office/drawing/2014/main" id="{20F8CBF0-945D-4E78-A169-34B4EF125585}"/>
              </a:ext>
            </a:extLst>
          </p:cNvPr>
          <p:cNvCxnSpPr/>
          <p:nvPr/>
        </p:nvCxnSpPr>
        <p:spPr>
          <a:xfrm rot="5400000" flipH="1" flipV="1">
            <a:off x="3369679" y="2971839"/>
            <a:ext cx="357984" cy="794"/>
          </a:xfrm>
          <a:prstGeom prst="straightConnector1">
            <a:avLst/>
          </a:prstGeom>
          <a:noFill/>
          <a:ln w="28575" cap="flat" cmpd="sng" algn="ctr">
            <a:solidFill>
              <a:srgbClr val="FF00FF"/>
            </a:solidFill>
            <a:prstDash val="solid"/>
            <a:tailEnd type="arrow"/>
          </a:ln>
          <a:effectLst/>
        </p:spPr>
      </p:cxnSp>
      <p:sp>
        <p:nvSpPr>
          <p:cNvPr id="22" name="TextBox 45">
            <a:extLst>
              <a:ext uri="{FF2B5EF4-FFF2-40B4-BE49-F238E27FC236}">
                <a16:creationId xmlns:a16="http://schemas.microsoft.com/office/drawing/2014/main" id="{70BFB100-DD2C-4909-A43A-AB7B09C272BE}"/>
              </a:ext>
            </a:extLst>
          </p:cNvPr>
          <p:cNvSpPr txBox="1"/>
          <p:nvPr/>
        </p:nvSpPr>
        <p:spPr>
          <a:xfrm>
            <a:off x="3834820" y="2436056"/>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17</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3" name="直接箭头连接符 22">
            <a:extLst>
              <a:ext uri="{FF2B5EF4-FFF2-40B4-BE49-F238E27FC236}">
                <a16:creationId xmlns:a16="http://schemas.microsoft.com/office/drawing/2014/main" id="{5AC57A43-A55B-424A-8BF0-CBE174672241}"/>
              </a:ext>
            </a:extLst>
          </p:cNvPr>
          <p:cNvCxnSpPr/>
          <p:nvPr/>
        </p:nvCxnSpPr>
        <p:spPr>
          <a:xfrm rot="5400000" flipH="1" flipV="1">
            <a:off x="3869745" y="2971839"/>
            <a:ext cx="357984" cy="794"/>
          </a:xfrm>
          <a:prstGeom prst="straightConnector1">
            <a:avLst/>
          </a:prstGeom>
          <a:noFill/>
          <a:ln w="28575" cap="flat" cmpd="sng" algn="ctr">
            <a:solidFill>
              <a:srgbClr val="FF00FF"/>
            </a:solidFill>
            <a:prstDash val="solid"/>
            <a:tailEnd type="arrow"/>
          </a:ln>
          <a:effectLst/>
        </p:spPr>
      </p:cxnSp>
      <p:sp>
        <p:nvSpPr>
          <p:cNvPr id="24" name="TextBox 47">
            <a:extLst>
              <a:ext uri="{FF2B5EF4-FFF2-40B4-BE49-F238E27FC236}">
                <a16:creationId xmlns:a16="http://schemas.microsoft.com/office/drawing/2014/main" id="{44751C98-D33E-49C7-B32B-4B2B5C8CCAE3}"/>
              </a:ext>
            </a:extLst>
          </p:cNvPr>
          <p:cNvSpPr txBox="1"/>
          <p:nvPr/>
        </p:nvSpPr>
        <p:spPr>
          <a:xfrm>
            <a:off x="4334886" y="2436056"/>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9</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5" name="直接箭头连接符 24">
            <a:extLst>
              <a:ext uri="{FF2B5EF4-FFF2-40B4-BE49-F238E27FC236}">
                <a16:creationId xmlns:a16="http://schemas.microsoft.com/office/drawing/2014/main" id="{778C2FC7-6746-47AC-A5A0-A3F56569FDED}"/>
              </a:ext>
            </a:extLst>
          </p:cNvPr>
          <p:cNvCxnSpPr/>
          <p:nvPr/>
        </p:nvCxnSpPr>
        <p:spPr>
          <a:xfrm rot="5400000" flipH="1" flipV="1">
            <a:off x="4369811" y="2971839"/>
            <a:ext cx="357984" cy="794"/>
          </a:xfrm>
          <a:prstGeom prst="straightConnector1">
            <a:avLst/>
          </a:prstGeom>
          <a:noFill/>
          <a:ln w="28575" cap="flat" cmpd="sng" algn="ctr">
            <a:solidFill>
              <a:srgbClr val="FF00FF"/>
            </a:solidFill>
            <a:prstDash val="solid"/>
            <a:tailEnd type="arrow"/>
          </a:ln>
          <a:effectLst/>
        </p:spPr>
      </p:cxnSp>
      <p:sp>
        <p:nvSpPr>
          <p:cNvPr id="26" name="TextBox 49">
            <a:extLst>
              <a:ext uri="{FF2B5EF4-FFF2-40B4-BE49-F238E27FC236}">
                <a16:creationId xmlns:a16="http://schemas.microsoft.com/office/drawing/2014/main" id="{5763932C-80DF-4AC2-896A-54615C35D618}"/>
              </a:ext>
            </a:extLst>
          </p:cNvPr>
          <p:cNvSpPr txBox="1"/>
          <p:nvPr/>
        </p:nvSpPr>
        <p:spPr>
          <a:xfrm>
            <a:off x="4834952" y="2436056"/>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16</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7" name="直接箭头连接符 26">
            <a:extLst>
              <a:ext uri="{FF2B5EF4-FFF2-40B4-BE49-F238E27FC236}">
                <a16:creationId xmlns:a16="http://schemas.microsoft.com/office/drawing/2014/main" id="{F3934E30-5646-4D90-ACF7-1970F774EE04}"/>
              </a:ext>
            </a:extLst>
          </p:cNvPr>
          <p:cNvCxnSpPr/>
          <p:nvPr/>
        </p:nvCxnSpPr>
        <p:spPr>
          <a:xfrm rot="5400000" flipH="1" flipV="1">
            <a:off x="4869877" y="2971839"/>
            <a:ext cx="357984" cy="794"/>
          </a:xfrm>
          <a:prstGeom prst="straightConnector1">
            <a:avLst/>
          </a:prstGeom>
          <a:noFill/>
          <a:ln w="28575" cap="flat" cmpd="sng" algn="ctr">
            <a:solidFill>
              <a:srgbClr val="FF00FF"/>
            </a:solidFill>
            <a:prstDash val="solid"/>
            <a:tailEnd type="arrow"/>
          </a:ln>
          <a:effectLst/>
        </p:spPr>
      </p:cxnSp>
      <p:sp>
        <p:nvSpPr>
          <p:cNvPr id="28" name="矩形 27">
            <a:extLst>
              <a:ext uri="{FF2B5EF4-FFF2-40B4-BE49-F238E27FC236}">
                <a16:creationId xmlns:a16="http://schemas.microsoft.com/office/drawing/2014/main" id="{9EAFB01D-20E2-4F90-898C-947B7B92F073}"/>
              </a:ext>
            </a:extLst>
          </p:cNvPr>
          <p:cNvSpPr/>
          <p:nvPr/>
        </p:nvSpPr>
        <p:spPr>
          <a:xfrm>
            <a:off x="4334886" y="4437112"/>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1 2 4 </a:t>
            </a:r>
            <a:r>
              <a:rPr kumimoji="1" lang="en-US" altLang="zh-CN" sz="18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5</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9" name="矩形 28">
            <a:extLst>
              <a:ext uri="{FF2B5EF4-FFF2-40B4-BE49-F238E27FC236}">
                <a16:creationId xmlns:a16="http://schemas.microsoft.com/office/drawing/2014/main" id="{0372E8D2-C61E-44E2-8DAF-F026880B0928}"/>
              </a:ext>
            </a:extLst>
          </p:cNvPr>
          <p:cNvSpPr/>
          <p:nvPr/>
        </p:nvSpPr>
        <p:spPr>
          <a:xfrm>
            <a:off x="5763646" y="4437112"/>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9</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0" name="矩形 29">
            <a:extLst>
              <a:ext uri="{FF2B5EF4-FFF2-40B4-BE49-F238E27FC236}">
                <a16:creationId xmlns:a16="http://schemas.microsoft.com/office/drawing/2014/main" id="{A798CC8B-A828-46F1-9C15-F28712A9D1F6}"/>
              </a:ext>
            </a:extLst>
          </p:cNvPr>
          <p:cNvSpPr/>
          <p:nvPr/>
        </p:nvSpPr>
        <p:spPr>
          <a:xfrm>
            <a:off x="7217806" y="4437112"/>
            <a:ext cx="147479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 </a:t>
            </a:r>
            <a:r>
              <a:rPr kumimoji="1" lang="en-US" altLang="zh-CN" sz="20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17</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1" name="矩形 30">
            <a:extLst>
              <a:ext uri="{FF2B5EF4-FFF2-40B4-BE49-F238E27FC236}">
                <a16:creationId xmlns:a16="http://schemas.microsoft.com/office/drawing/2014/main" id="{2DAE5431-438B-413E-8B67-B65A8DBD4195}"/>
              </a:ext>
            </a:extLst>
          </p:cNvPr>
          <p:cNvSpPr/>
          <p:nvPr/>
        </p:nvSpPr>
        <p:spPr>
          <a:xfrm>
            <a:off x="7217806" y="4437112"/>
            <a:ext cx="176055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 </a:t>
            </a:r>
            <a:r>
              <a:rPr kumimoji="1" lang="en-US" altLang="zh-CN" sz="18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16 </a:t>
            </a: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2" name="TextBox 34">
            <a:extLst>
              <a:ext uri="{FF2B5EF4-FFF2-40B4-BE49-F238E27FC236}">
                <a16:creationId xmlns:a16="http://schemas.microsoft.com/office/drawing/2014/main" id="{E7412C2F-4A8B-4F44-90C5-95528EA6B732}"/>
              </a:ext>
            </a:extLst>
          </p:cNvPr>
          <p:cNvSpPr txBox="1"/>
          <p:nvPr/>
        </p:nvSpPr>
        <p:spPr>
          <a:xfrm>
            <a:off x="834424" y="1865344"/>
            <a:ext cx="1357322" cy="400110"/>
          </a:xfrm>
          <a:prstGeom prst="rect">
            <a:avLst/>
          </a:prstGeom>
          <a:noFill/>
        </p:spPr>
        <p:txBody>
          <a:bodyPr wrap="square" rtlCol="0">
            <a:spAutoFit/>
          </a:bodyPr>
          <a:lstStyle/>
          <a:p>
            <a:pPr fontAlgn="base">
              <a:spcBef>
                <a:spcPct val="0"/>
              </a:spcBef>
              <a:spcAft>
                <a:spcPct val="0"/>
              </a:spcAft>
            </a:pPr>
            <a:r>
              <a:rPr kumimoji="1" lang="en-US" altLang="zh-CN" sz="20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9">
            <a:extLst>
              <a:ext uri="{FF2B5EF4-FFF2-40B4-BE49-F238E27FC236}">
                <a16:creationId xmlns:a16="http://schemas.microsoft.com/office/drawing/2014/main" id="{82FF60BC-5ADD-44D2-BDA4-36FF14F77315}"/>
              </a:ext>
            </a:extLst>
          </p:cNvPr>
          <p:cNvSpPr txBox="1"/>
          <p:nvPr/>
        </p:nvSpPr>
        <p:spPr>
          <a:xfrm>
            <a:off x="3620506" y="3508418"/>
            <a:ext cx="785818" cy="369332"/>
          </a:xfrm>
          <a:prstGeom prst="rect">
            <a:avLst/>
          </a:prstGeom>
          <a:noFill/>
        </p:spPr>
        <p:txBody>
          <a:bodyPr wrap="square" rtlCol="0">
            <a:spAutoFit/>
          </a:bodyPr>
          <a:lstStyle/>
          <a:p>
            <a:pPr fontAlgn="base">
              <a:spcBef>
                <a:spcPct val="0"/>
              </a:spcBef>
              <a:spcAft>
                <a:spcPct val="0"/>
              </a:spcAft>
            </a:pPr>
            <a:r>
              <a:rPr kumimoji="1" lang="zh-CN" altLang="en-US" b="1">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kumimoji="1" lang="zh-CN" altLang="en-US"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矩形 33">
            <a:extLst>
              <a:ext uri="{FF2B5EF4-FFF2-40B4-BE49-F238E27FC236}">
                <a16:creationId xmlns:a16="http://schemas.microsoft.com/office/drawing/2014/main" id="{987A9CA2-732F-4FD5-8F36-73FCC8C660EC}"/>
              </a:ext>
            </a:extLst>
          </p:cNvPr>
          <p:cNvSpPr/>
          <p:nvPr/>
        </p:nvSpPr>
        <p:spPr>
          <a:xfrm>
            <a:off x="302930" y="188640"/>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4</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8</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13</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10</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5</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17</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9</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16</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endParaRPr lang="zh-CN" altLang="en-US" dirty="0"/>
          </a:p>
        </p:txBody>
      </p:sp>
    </p:spTree>
    <p:extLst>
      <p:ext uri="{BB962C8B-B14F-4D97-AF65-F5344CB8AC3E}">
        <p14:creationId xmlns:p14="http://schemas.microsoft.com/office/powerpoint/2010/main" val="295235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xit" presetSubtype="4" fill="hold" nodeType="clickEffect">
                                  <p:stCondLst>
                                    <p:cond delay="0"/>
                                  </p:stCondLst>
                                  <p:childTnLst>
                                    <p:animEffect transition="out" filter="wipe(down)">
                                      <p:cBhvr>
                                        <p:cTn id="49" dur="500"/>
                                        <p:tgtEl>
                                          <p:spTgt spid="5"/>
                                        </p:tgtEl>
                                      </p:cBhvr>
                                    </p:animEffect>
                                    <p:set>
                                      <p:cBhvr>
                                        <p:cTn id="50" dur="1" fill="hold">
                                          <p:stCondLst>
                                            <p:cond delay="499"/>
                                          </p:stCondLst>
                                        </p:cTn>
                                        <p:tgtEl>
                                          <p:spTgt spid="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xit" presetSubtype="4" fill="hold" nodeType="clickEffect">
                                  <p:stCondLst>
                                    <p:cond delay="0"/>
                                  </p:stCondLst>
                                  <p:childTnLst>
                                    <p:animEffect transition="out" filter="wipe(down)">
                                      <p:cBhvr>
                                        <p:cTn id="64" dur="500"/>
                                        <p:tgtEl>
                                          <p:spTgt spid="21"/>
                                        </p:tgtEl>
                                      </p:cBhvr>
                                    </p:animEffect>
                                    <p:set>
                                      <p:cBhvr>
                                        <p:cTn id="65" dur="1" fill="hold">
                                          <p:stCondLst>
                                            <p:cond delay="499"/>
                                          </p:stCondLst>
                                        </p:cTn>
                                        <p:tgtEl>
                                          <p:spTgt spid="21"/>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2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xit" presetSubtype="4" fill="hold" nodeType="clickEffect">
                                  <p:stCondLst>
                                    <p:cond delay="0"/>
                                  </p:stCondLst>
                                  <p:childTnLst>
                                    <p:animEffect transition="out" filter="wipe(down)">
                                      <p:cBhvr>
                                        <p:cTn id="79" dur="500"/>
                                        <p:tgtEl>
                                          <p:spTgt spid="23"/>
                                        </p:tgtEl>
                                      </p:cBhvr>
                                    </p:animEffect>
                                    <p:set>
                                      <p:cBhvr>
                                        <p:cTn id="80" dur="1" fill="hold">
                                          <p:stCondLst>
                                            <p:cond delay="499"/>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xit" presetSubtype="4" fill="hold" nodeType="clickEffect">
                                  <p:stCondLst>
                                    <p:cond delay="0"/>
                                  </p:stCondLst>
                                  <p:childTnLst>
                                    <p:animEffect transition="out" filter="wipe(down)">
                                      <p:cBhvr>
                                        <p:cTn id="94" dur="500"/>
                                        <p:tgtEl>
                                          <p:spTgt spid="25"/>
                                        </p:tgtEl>
                                      </p:cBhvr>
                                    </p:animEffect>
                                    <p:set>
                                      <p:cBhvr>
                                        <p:cTn id="95" dur="1" fill="hold">
                                          <p:stCondLst>
                                            <p:cond delay="499"/>
                                          </p:stCondLst>
                                        </p:cTn>
                                        <p:tgtEl>
                                          <p:spTgt spid="25"/>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6"/>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27"/>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10" grpId="0" animBg="1"/>
      <p:bldP spid="11" grpId="0" animBg="1"/>
      <p:bldP spid="12" grpId="0"/>
      <p:bldP spid="13" grpId="0" animBg="1"/>
      <p:bldP spid="16" grpId="0" animBg="1"/>
      <p:bldP spid="17" grpId="0" animBg="1"/>
      <p:bldP spid="18" grpId="0" animBg="1"/>
      <p:bldP spid="20" grpId="0"/>
      <p:bldP spid="22" grpId="0"/>
      <p:bldP spid="24" grpId="0"/>
      <p:bldP spid="26" grpId="0"/>
      <p:bldP spid="28" grpId="0" animBg="1"/>
      <p:bldP spid="29" grpId="0" animBg="1"/>
      <p:bldP spid="30" grpId="0" animBg="1"/>
      <p:bldP spid="31" grpId="0" animBg="1"/>
      <p:bldP spid="3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2AF75F-5493-40DA-90FC-5ABD8FBFB557}"/>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TextBox 73">
            <a:extLst>
              <a:ext uri="{FF2B5EF4-FFF2-40B4-BE49-F238E27FC236}">
                <a16:creationId xmlns:a16="http://schemas.microsoft.com/office/drawing/2014/main" id="{ADE13DFC-345D-486B-AFEA-626E58DEDFBD}"/>
              </a:ext>
            </a:extLst>
          </p:cNvPr>
          <p:cNvSpPr txBox="1"/>
          <p:nvPr/>
        </p:nvSpPr>
        <p:spPr>
          <a:xfrm>
            <a:off x="3123290" y="1321581"/>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20</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TextBox 75">
            <a:extLst>
              <a:ext uri="{FF2B5EF4-FFF2-40B4-BE49-F238E27FC236}">
                <a16:creationId xmlns:a16="http://schemas.microsoft.com/office/drawing/2014/main" id="{D5ED0C47-4276-4F49-8E71-9314964CA5E5}"/>
              </a:ext>
            </a:extLst>
          </p:cNvPr>
          <p:cNvSpPr txBox="1"/>
          <p:nvPr/>
        </p:nvSpPr>
        <p:spPr>
          <a:xfrm>
            <a:off x="980182" y="1250141"/>
            <a:ext cx="2214578"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 name="直接箭头连接符 4">
            <a:extLst>
              <a:ext uri="{FF2B5EF4-FFF2-40B4-BE49-F238E27FC236}">
                <a16:creationId xmlns:a16="http://schemas.microsoft.com/office/drawing/2014/main" id="{C040BBE6-704F-4C1C-B7DC-7B80EFCAB4E2}"/>
              </a:ext>
            </a:extLst>
          </p:cNvPr>
          <p:cNvCxnSpPr/>
          <p:nvPr/>
        </p:nvCxnSpPr>
        <p:spPr>
          <a:xfrm rot="5400000" flipH="1" flipV="1">
            <a:off x="3158215" y="1857364"/>
            <a:ext cx="357984" cy="794"/>
          </a:xfrm>
          <a:prstGeom prst="straightConnector1">
            <a:avLst/>
          </a:prstGeom>
          <a:noFill/>
          <a:ln w="28575" cap="flat" cmpd="sng" algn="ctr">
            <a:solidFill>
              <a:srgbClr val="FF00FF"/>
            </a:solidFill>
            <a:prstDash val="solid"/>
            <a:tailEnd type="arrow"/>
          </a:ln>
          <a:effectLst/>
        </p:spPr>
      </p:cxnSp>
      <p:sp>
        <p:nvSpPr>
          <p:cNvPr id="6" name="矩形 5">
            <a:extLst>
              <a:ext uri="{FF2B5EF4-FFF2-40B4-BE49-F238E27FC236}">
                <a16:creationId xmlns:a16="http://schemas.microsoft.com/office/drawing/2014/main" id="{39176036-4E2F-48D4-A0E8-CB57B2EF2B6B}"/>
              </a:ext>
            </a:extLst>
          </p:cNvPr>
          <p:cNvSpPr/>
          <p:nvPr/>
        </p:nvSpPr>
        <p:spPr>
          <a:xfrm>
            <a:off x="1980282" y="2250273"/>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6  10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7" name="直接箭头连接符 6">
            <a:extLst>
              <a:ext uri="{FF2B5EF4-FFF2-40B4-BE49-F238E27FC236}">
                <a16:creationId xmlns:a16="http://schemas.microsoft.com/office/drawing/2014/main" id="{F021F303-BD17-4607-B205-8ABFC4390C61}"/>
              </a:ext>
            </a:extLst>
          </p:cNvPr>
          <p:cNvCxnSpPr/>
          <p:nvPr/>
        </p:nvCxnSpPr>
        <p:spPr>
          <a:xfrm rot="5400000">
            <a:off x="1658811" y="2571744"/>
            <a:ext cx="642942" cy="571504"/>
          </a:xfrm>
          <a:prstGeom prst="straightConnector1">
            <a:avLst/>
          </a:prstGeom>
          <a:noFill/>
          <a:ln w="28575" cap="flat" cmpd="sng" algn="ctr">
            <a:solidFill>
              <a:srgbClr val="3333FF"/>
            </a:solidFill>
            <a:prstDash val="solid"/>
            <a:tailEnd type="arrow"/>
          </a:ln>
          <a:effectLst/>
        </p:spPr>
      </p:cxnSp>
      <p:cxnSp>
        <p:nvCxnSpPr>
          <p:cNvPr id="8" name="直接箭头连接符 7">
            <a:extLst>
              <a:ext uri="{FF2B5EF4-FFF2-40B4-BE49-F238E27FC236}">
                <a16:creationId xmlns:a16="http://schemas.microsoft.com/office/drawing/2014/main" id="{2EDEBFC0-4AA7-4883-A173-CF494E839341}"/>
              </a:ext>
            </a:extLst>
          </p:cNvPr>
          <p:cNvCxnSpPr/>
          <p:nvPr/>
        </p:nvCxnSpPr>
        <p:spPr>
          <a:xfrm rot="16200000" flipH="1">
            <a:off x="3016133" y="2571744"/>
            <a:ext cx="642942" cy="571504"/>
          </a:xfrm>
          <a:prstGeom prst="straightConnector1">
            <a:avLst/>
          </a:prstGeom>
          <a:noFill/>
          <a:ln w="28575" cap="flat" cmpd="sng" algn="ctr">
            <a:solidFill>
              <a:srgbClr val="3333FF"/>
            </a:solidFill>
            <a:prstDash val="solid"/>
            <a:tailEnd type="arrow"/>
          </a:ln>
          <a:effectLst/>
        </p:spPr>
      </p:cxnSp>
      <p:sp>
        <p:nvSpPr>
          <p:cNvPr id="9" name="TextBox 36">
            <a:extLst>
              <a:ext uri="{FF2B5EF4-FFF2-40B4-BE49-F238E27FC236}">
                <a16:creationId xmlns:a16="http://schemas.microsoft.com/office/drawing/2014/main" id="{AE919B1A-305F-4BE7-892B-CDEFD47626FA}"/>
              </a:ext>
            </a:extLst>
          </p:cNvPr>
          <p:cNvSpPr txBox="1"/>
          <p:nvPr/>
        </p:nvSpPr>
        <p:spPr>
          <a:xfrm>
            <a:off x="3383642" y="3750471"/>
            <a:ext cx="2143140"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rPr>
              <a:t>关键字个数</a:t>
            </a:r>
            <a:r>
              <a:rPr kumimoji="1" lang="en-US" altLang="zh-CN" b="1" dirty="0">
                <a:solidFill>
                  <a:srgbClr val="FF0000"/>
                </a:solidFill>
                <a:latin typeface="Consolas" panose="020B0609020204030204" pitchFamily="49" charset="0"/>
                <a:ea typeface="方正启体简体" pitchFamily="65" charset="-122"/>
                <a:cs typeface="Consolas" panose="020B0609020204030204" pitchFamily="49" charset="0"/>
              </a:rPr>
              <a:t>&gt;4</a:t>
            </a:r>
            <a:endPar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endParaRPr>
          </a:p>
        </p:txBody>
      </p:sp>
      <p:cxnSp>
        <p:nvCxnSpPr>
          <p:cNvPr id="10" name="直接箭头连接符 9">
            <a:extLst>
              <a:ext uri="{FF2B5EF4-FFF2-40B4-BE49-F238E27FC236}">
                <a16:creationId xmlns:a16="http://schemas.microsoft.com/office/drawing/2014/main" id="{CD999029-41A4-43AA-900B-1528179EDABC}"/>
              </a:ext>
            </a:extLst>
          </p:cNvPr>
          <p:cNvCxnSpPr/>
          <p:nvPr/>
        </p:nvCxnSpPr>
        <p:spPr>
          <a:xfrm rot="16200000" flipH="1">
            <a:off x="2349001" y="2810248"/>
            <a:ext cx="642942" cy="94496"/>
          </a:xfrm>
          <a:prstGeom prst="straightConnector1">
            <a:avLst/>
          </a:prstGeom>
          <a:noFill/>
          <a:ln w="28575" cap="flat" cmpd="sng" algn="ctr">
            <a:solidFill>
              <a:srgbClr val="3333FF"/>
            </a:solidFill>
            <a:prstDash val="solid"/>
            <a:tailEnd type="arrow"/>
          </a:ln>
          <a:effectLst/>
        </p:spPr>
      </p:cxnSp>
      <p:sp>
        <p:nvSpPr>
          <p:cNvPr id="11" name="矩形 10">
            <a:extLst>
              <a:ext uri="{FF2B5EF4-FFF2-40B4-BE49-F238E27FC236}">
                <a16:creationId xmlns:a16="http://schemas.microsoft.com/office/drawing/2014/main" id="{DCA73722-5C53-4AD0-9877-B371BB3E0FE0}"/>
              </a:ext>
            </a:extLst>
          </p:cNvPr>
          <p:cNvSpPr/>
          <p:nvPr/>
        </p:nvSpPr>
        <p:spPr>
          <a:xfrm>
            <a:off x="622960" y="3178967"/>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矩形 11">
            <a:extLst>
              <a:ext uri="{FF2B5EF4-FFF2-40B4-BE49-F238E27FC236}">
                <a16:creationId xmlns:a16="http://schemas.microsoft.com/office/drawing/2014/main" id="{E89FC4DA-2B0B-435D-ABC9-5F184C908E91}"/>
              </a:ext>
            </a:extLst>
          </p:cNvPr>
          <p:cNvSpPr/>
          <p:nvPr/>
        </p:nvSpPr>
        <p:spPr>
          <a:xfrm>
            <a:off x="2051720" y="3178967"/>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3" name="矩形 12">
            <a:extLst>
              <a:ext uri="{FF2B5EF4-FFF2-40B4-BE49-F238E27FC236}">
                <a16:creationId xmlns:a16="http://schemas.microsoft.com/office/drawing/2014/main" id="{51C2F941-2214-46FB-9534-5F7B237821E2}"/>
              </a:ext>
            </a:extLst>
          </p:cNvPr>
          <p:cNvSpPr/>
          <p:nvPr/>
        </p:nvSpPr>
        <p:spPr>
          <a:xfrm>
            <a:off x="3505880" y="3166904"/>
            <a:ext cx="216377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 </a:t>
            </a:r>
            <a:r>
              <a:rPr kumimoji="1" lang="en-US" altLang="zh-CN" sz="1800" b="1" i="0" u="none" strike="noStrike" kern="0" cap="none" spc="0" normalizeH="0" baseline="0" noProof="0" dirty="0">
                <a:ln>
                  <a:noFill/>
                </a:ln>
                <a:solidFill>
                  <a:srgbClr val="9900FF"/>
                </a:solidFill>
                <a:effectLst/>
                <a:uLnTx/>
                <a:uFillTx/>
                <a:latin typeface="Consolas" panose="020B0609020204030204" pitchFamily="49" charset="0"/>
                <a:ea typeface="宋体" panose="02010600030101010101" pitchFamily="2" charset="-122"/>
                <a:cs typeface="Consolas" panose="020B0609020204030204" pitchFamily="49" charset="0"/>
              </a:rPr>
              <a:t>16</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17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20</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nvGrpSpPr>
          <p:cNvPr id="14" name="组合 68">
            <a:extLst>
              <a:ext uri="{FF2B5EF4-FFF2-40B4-BE49-F238E27FC236}">
                <a16:creationId xmlns:a16="http://schemas.microsoft.com/office/drawing/2014/main" id="{CE18AE08-9D7D-43D4-BF33-2979989B032B}"/>
              </a:ext>
            </a:extLst>
          </p:cNvPr>
          <p:cNvGrpSpPr/>
          <p:nvPr/>
        </p:nvGrpSpPr>
        <p:grpSpPr>
          <a:xfrm>
            <a:off x="2266034" y="4536289"/>
            <a:ext cx="5403888" cy="1643074"/>
            <a:chOff x="1785918" y="3500438"/>
            <a:chExt cx="5403888" cy="1643074"/>
          </a:xfrm>
        </p:grpSpPr>
        <p:sp>
          <p:nvSpPr>
            <p:cNvPr id="15" name="矩形 14">
              <a:extLst>
                <a:ext uri="{FF2B5EF4-FFF2-40B4-BE49-F238E27FC236}">
                  <a16:creationId xmlns:a16="http://schemas.microsoft.com/office/drawing/2014/main" id="{D632541F-5393-4089-BCDB-45175D13A83E}"/>
                </a:ext>
              </a:extLst>
            </p:cNvPr>
            <p:cNvSpPr/>
            <p:nvPr/>
          </p:nvSpPr>
          <p:spPr>
            <a:xfrm>
              <a:off x="3786182" y="3500438"/>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6 10 16</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6" name="直接箭头连接符 15">
              <a:extLst>
                <a:ext uri="{FF2B5EF4-FFF2-40B4-BE49-F238E27FC236}">
                  <a16:creationId xmlns:a16="http://schemas.microsoft.com/office/drawing/2014/main" id="{1B512B78-E935-4FB4-A4D8-09A7C3308D1A}"/>
                </a:ext>
              </a:extLst>
            </p:cNvPr>
            <p:cNvCxnSpPr/>
            <p:nvPr/>
          </p:nvCxnSpPr>
          <p:spPr>
            <a:xfrm rot="10800000" flipV="1">
              <a:off x="2857488" y="3857628"/>
              <a:ext cx="1143008" cy="814336"/>
            </a:xfrm>
            <a:prstGeom prst="straightConnector1">
              <a:avLst/>
            </a:prstGeom>
            <a:noFill/>
            <a:ln w="28575" cap="flat" cmpd="sng" algn="ctr">
              <a:solidFill>
                <a:srgbClr val="3333FF"/>
              </a:solidFill>
              <a:prstDash val="solid"/>
              <a:tailEnd type="arrow"/>
            </a:ln>
            <a:effectLst/>
          </p:spPr>
        </p:cxnSp>
        <p:cxnSp>
          <p:nvCxnSpPr>
            <p:cNvPr id="17" name="直接箭头连接符 16">
              <a:extLst>
                <a:ext uri="{FF2B5EF4-FFF2-40B4-BE49-F238E27FC236}">
                  <a16:creationId xmlns:a16="http://schemas.microsoft.com/office/drawing/2014/main" id="{D6749FAE-C9F2-42FD-9919-70B209E29671}"/>
                </a:ext>
              </a:extLst>
            </p:cNvPr>
            <p:cNvCxnSpPr/>
            <p:nvPr/>
          </p:nvCxnSpPr>
          <p:spPr>
            <a:xfrm rot="16200000" flipH="1">
              <a:off x="4483894" y="3983835"/>
              <a:ext cx="785817" cy="533404"/>
            </a:xfrm>
            <a:prstGeom prst="straightConnector1">
              <a:avLst/>
            </a:prstGeom>
            <a:noFill/>
            <a:ln w="28575" cap="flat" cmpd="sng" algn="ctr">
              <a:solidFill>
                <a:srgbClr val="3333FF"/>
              </a:solidFill>
              <a:prstDash val="solid"/>
              <a:tailEnd type="arrow"/>
            </a:ln>
            <a:effectLst/>
          </p:spPr>
        </p:cxnSp>
        <p:cxnSp>
          <p:nvCxnSpPr>
            <p:cNvPr id="18" name="直接箭头连接符 17">
              <a:extLst>
                <a:ext uri="{FF2B5EF4-FFF2-40B4-BE49-F238E27FC236}">
                  <a16:creationId xmlns:a16="http://schemas.microsoft.com/office/drawing/2014/main" id="{CEEA136D-FD1A-4952-801F-DE60ED57BE21}"/>
                </a:ext>
              </a:extLst>
            </p:cNvPr>
            <p:cNvCxnSpPr/>
            <p:nvPr/>
          </p:nvCxnSpPr>
          <p:spPr>
            <a:xfrm rot="5400000">
              <a:off x="3640576" y="4097730"/>
              <a:ext cx="814336" cy="334132"/>
            </a:xfrm>
            <a:prstGeom prst="straightConnector1">
              <a:avLst/>
            </a:prstGeom>
            <a:noFill/>
            <a:ln w="28575" cap="flat" cmpd="sng" algn="ctr">
              <a:solidFill>
                <a:srgbClr val="3333FF"/>
              </a:solidFill>
              <a:prstDash val="solid"/>
              <a:tailEnd type="arrow"/>
            </a:ln>
            <a:effectLst/>
          </p:spPr>
        </p:cxnSp>
        <p:sp>
          <p:nvSpPr>
            <p:cNvPr id="19" name="矩形 18">
              <a:extLst>
                <a:ext uri="{FF2B5EF4-FFF2-40B4-BE49-F238E27FC236}">
                  <a16:creationId xmlns:a16="http://schemas.microsoft.com/office/drawing/2014/main" id="{01C55BFF-F236-4382-A5A6-1096E5444E86}"/>
                </a:ext>
              </a:extLst>
            </p:cNvPr>
            <p:cNvSpPr/>
            <p:nvPr/>
          </p:nvSpPr>
          <p:spPr>
            <a:xfrm>
              <a:off x="1785918" y="4643446"/>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0" name="矩形 19">
              <a:extLst>
                <a:ext uri="{FF2B5EF4-FFF2-40B4-BE49-F238E27FC236}">
                  <a16:creationId xmlns:a16="http://schemas.microsoft.com/office/drawing/2014/main" id="{2965B077-9E62-415B-838C-5475DBAB8C44}"/>
                </a:ext>
              </a:extLst>
            </p:cNvPr>
            <p:cNvSpPr/>
            <p:nvPr/>
          </p:nvSpPr>
          <p:spPr>
            <a:xfrm>
              <a:off x="3214678" y="4643446"/>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1" name="矩形 20">
              <a:extLst>
                <a:ext uri="{FF2B5EF4-FFF2-40B4-BE49-F238E27FC236}">
                  <a16:creationId xmlns:a16="http://schemas.microsoft.com/office/drawing/2014/main" id="{E65B3478-5722-4461-B83E-FA35F2638088}"/>
                </a:ext>
              </a:extLst>
            </p:cNvPr>
            <p:cNvSpPr/>
            <p:nvPr/>
          </p:nvSpPr>
          <p:spPr>
            <a:xfrm>
              <a:off x="4668838" y="4643446"/>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2" name="矩形 21">
              <a:extLst>
                <a:ext uri="{FF2B5EF4-FFF2-40B4-BE49-F238E27FC236}">
                  <a16:creationId xmlns:a16="http://schemas.microsoft.com/office/drawing/2014/main" id="{29A06DE4-65B7-455F-99D9-1CE8DF58A12A}"/>
                </a:ext>
              </a:extLst>
            </p:cNvPr>
            <p:cNvSpPr/>
            <p:nvPr/>
          </p:nvSpPr>
          <p:spPr>
            <a:xfrm>
              <a:off x="6000760" y="4643446"/>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20</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3" name="直接箭头连接符 22">
              <a:extLst>
                <a:ext uri="{FF2B5EF4-FFF2-40B4-BE49-F238E27FC236}">
                  <a16:creationId xmlns:a16="http://schemas.microsoft.com/office/drawing/2014/main" id="{53F30CEE-3C5E-4270-896C-66DFFD4B91F3}"/>
                </a:ext>
              </a:extLst>
            </p:cNvPr>
            <p:cNvCxnSpPr/>
            <p:nvPr/>
          </p:nvCxnSpPr>
          <p:spPr>
            <a:xfrm>
              <a:off x="5000628" y="3786190"/>
              <a:ext cx="1357322" cy="857256"/>
            </a:xfrm>
            <a:prstGeom prst="straightConnector1">
              <a:avLst/>
            </a:prstGeom>
            <a:noFill/>
            <a:ln w="28575" cap="flat" cmpd="sng" algn="ctr">
              <a:solidFill>
                <a:srgbClr val="3333FF"/>
              </a:solidFill>
              <a:prstDash val="solid"/>
              <a:tailEnd type="arrow"/>
            </a:ln>
            <a:effectLst/>
          </p:spPr>
        </p:cxnSp>
      </p:grpSp>
      <p:sp>
        <p:nvSpPr>
          <p:cNvPr id="24" name="右弧形箭头 65">
            <a:extLst>
              <a:ext uri="{FF2B5EF4-FFF2-40B4-BE49-F238E27FC236}">
                <a16:creationId xmlns:a16="http://schemas.microsoft.com/office/drawing/2014/main" id="{6992AB2F-C902-4185-BEEC-C7AA3D47B397}"/>
              </a:ext>
            </a:extLst>
          </p:cNvPr>
          <p:cNvSpPr/>
          <p:nvPr/>
        </p:nvSpPr>
        <p:spPr>
          <a:xfrm>
            <a:off x="5766496" y="3250405"/>
            <a:ext cx="357190" cy="1143008"/>
          </a:xfrm>
          <a:prstGeom prst="curvedLeftArrow">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black"/>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5" name="TextBox 23">
            <a:extLst>
              <a:ext uri="{FF2B5EF4-FFF2-40B4-BE49-F238E27FC236}">
                <a16:creationId xmlns:a16="http://schemas.microsoft.com/office/drawing/2014/main" id="{5C137BFA-ED26-4308-A420-2F25FA711DCF}"/>
              </a:ext>
            </a:extLst>
          </p:cNvPr>
          <p:cNvSpPr txBox="1"/>
          <p:nvPr/>
        </p:nvSpPr>
        <p:spPr>
          <a:xfrm>
            <a:off x="526122" y="821513"/>
            <a:ext cx="1357322" cy="400110"/>
          </a:xfrm>
          <a:prstGeom prst="rect">
            <a:avLst/>
          </a:prstGeom>
          <a:noFill/>
        </p:spPr>
        <p:txBody>
          <a:bodyPr wrap="square" rtlCol="0">
            <a:spAutoFit/>
          </a:bodyPr>
          <a:lstStyle/>
          <a:p>
            <a:pPr fontAlgn="base">
              <a:spcBef>
                <a:spcPct val="0"/>
              </a:spcBef>
              <a:spcAft>
                <a:spcPct val="0"/>
              </a:spcAft>
            </a:pPr>
            <a:r>
              <a:rPr kumimoji="1" lang="en-US" altLang="zh-CN" sz="20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6" name="TextBox 24">
            <a:extLst>
              <a:ext uri="{FF2B5EF4-FFF2-40B4-BE49-F238E27FC236}">
                <a16:creationId xmlns:a16="http://schemas.microsoft.com/office/drawing/2014/main" id="{5D253C17-D0F9-4679-9A7E-E91E42CCC63E}"/>
              </a:ext>
            </a:extLst>
          </p:cNvPr>
          <p:cNvSpPr txBox="1"/>
          <p:nvPr/>
        </p:nvSpPr>
        <p:spPr>
          <a:xfrm>
            <a:off x="6241162" y="3607595"/>
            <a:ext cx="785818" cy="400110"/>
          </a:xfrm>
          <a:prstGeom prst="rect">
            <a:avLst/>
          </a:prstGeom>
          <a:noFill/>
        </p:spPr>
        <p:txBody>
          <a:bodyPr wrap="square" rtlCol="0">
            <a:spAutoFit/>
          </a:bodyPr>
          <a:lstStyle/>
          <a:p>
            <a:pPr fontAlgn="base">
              <a:spcBef>
                <a:spcPct val="0"/>
              </a:spcBef>
              <a:spcAft>
                <a:spcPct val="0"/>
              </a:spcAft>
            </a:pPr>
            <a:r>
              <a:rPr kumimoji="1"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7" name="矩形 26">
            <a:extLst>
              <a:ext uri="{FF2B5EF4-FFF2-40B4-BE49-F238E27FC236}">
                <a16:creationId xmlns:a16="http://schemas.microsoft.com/office/drawing/2014/main" id="{66B39E40-67F5-4306-A2CE-E52B8BB65D74}"/>
              </a:ext>
            </a:extLst>
          </p:cNvPr>
          <p:cNvSpPr/>
          <p:nvPr/>
        </p:nvSpPr>
        <p:spPr>
          <a:xfrm>
            <a:off x="222880" y="228471"/>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4</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8</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13</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10</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5</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9</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16</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endParaRPr lang="zh-CN" altLang="en-US" dirty="0"/>
          </a:p>
        </p:txBody>
      </p:sp>
    </p:spTree>
    <p:extLst>
      <p:ext uri="{BB962C8B-B14F-4D97-AF65-F5344CB8AC3E}">
        <p14:creationId xmlns:p14="http://schemas.microsoft.com/office/powerpoint/2010/main" val="156626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9" grpId="0"/>
      <p:bldP spid="11" grpId="0" animBg="1"/>
      <p:bldP spid="12" grpId="0" animBg="1"/>
      <p:bldP spid="13" grpId="0" animBg="1"/>
      <p:bldP spid="24" grpId="0" animBg="1"/>
      <p:bldP spid="2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3005899-B100-484F-8C8A-ED032E0C0EE7}"/>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TextBox 73">
            <a:extLst>
              <a:ext uri="{FF2B5EF4-FFF2-40B4-BE49-F238E27FC236}">
                <a16:creationId xmlns:a16="http://schemas.microsoft.com/office/drawing/2014/main" id="{057A57B5-4E0B-45FB-974B-7FC2492BC553}"/>
              </a:ext>
            </a:extLst>
          </p:cNvPr>
          <p:cNvSpPr txBox="1"/>
          <p:nvPr/>
        </p:nvSpPr>
        <p:spPr>
          <a:xfrm>
            <a:off x="3855090" y="1132726"/>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3</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TextBox 75">
            <a:extLst>
              <a:ext uri="{FF2B5EF4-FFF2-40B4-BE49-F238E27FC236}">
                <a16:creationId xmlns:a16="http://schemas.microsoft.com/office/drawing/2014/main" id="{BDA91913-6584-41B1-89ED-BB8E8C136366}"/>
              </a:ext>
            </a:extLst>
          </p:cNvPr>
          <p:cNvSpPr txBox="1"/>
          <p:nvPr/>
        </p:nvSpPr>
        <p:spPr>
          <a:xfrm>
            <a:off x="1711982" y="1061286"/>
            <a:ext cx="2214578"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 name="直接箭头连接符 4">
            <a:extLst>
              <a:ext uri="{FF2B5EF4-FFF2-40B4-BE49-F238E27FC236}">
                <a16:creationId xmlns:a16="http://schemas.microsoft.com/office/drawing/2014/main" id="{D35EAC2F-9F2F-48BE-A6C1-A27C55425AB7}"/>
              </a:ext>
            </a:extLst>
          </p:cNvPr>
          <p:cNvCxnSpPr/>
          <p:nvPr/>
        </p:nvCxnSpPr>
        <p:spPr>
          <a:xfrm rot="5400000" flipH="1" flipV="1">
            <a:off x="3890015" y="1668509"/>
            <a:ext cx="357984" cy="794"/>
          </a:xfrm>
          <a:prstGeom prst="straightConnector1">
            <a:avLst/>
          </a:prstGeom>
          <a:noFill/>
          <a:ln w="28575" cap="flat" cmpd="sng" algn="ctr">
            <a:solidFill>
              <a:srgbClr val="FF00FF"/>
            </a:solidFill>
            <a:prstDash val="solid"/>
            <a:tailEnd type="arrow"/>
          </a:ln>
          <a:effectLst/>
        </p:spPr>
      </p:cxnSp>
      <p:sp>
        <p:nvSpPr>
          <p:cNvPr id="6" name="右弧形箭头 65">
            <a:extLst>
              <a:ext uri="{FF2B5EF4-FFF2-40B4-BE49-F238E27FC236}">
                <a16:creationId xmlns:a16="http://schemas.microsoft.com/office/drawing/2014/main" id="{51FA017A-29EA-4A41-8C0A-47343A5D31E4}"/>
              </a:ext>
            </a:extLst>
          </p:cNvPr>
          <p:cNvSpPr/>
          <p:nvPr/>
        </p:nvSpPr>
        <p:spPr>
          <a:xfrm>
            <a:off x="7212676" y="3418740"/>
            <a:ext cx="357190" cy="1143008"/>
          </a:xfrm>
          <a:prstGeom prst="curvedLeftArrow">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black"/>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nvGrpSpPr>
          <p:cNvPr id="7" name="组合 72">
            <a:extLst>
              <a:ext uri="{FF2B5EF4-FFF2-40B4-BE49-F238E27FC236}">
                <a16:creationId xmlns:a16="http://schemas.microsoft.com/office/drawing/2014/main" id="{1CA6B447-61BA-4857-BD68-73C5595B072E}"/>
              </a:ext>
            </a:extLst>
          </p:cNvPr>
          <p:cNvGrpSpPr/>
          <p:nvPr/>
        </p:nvGrpSpPr>
        <p:grpSpPr>
          <a:xfrm>
            <a:off x="1043608" y="2132856"/>
            <a:ext cx="5811878" cy="2083844"/>
            <a:chOff x="285720" y="1428736"/>
            <a:chExt cx="5811878" cy="2083844"/>
          </a:xfrm>
        </p:grpSpPr>
        <p:sp>
          <p:nvSpPr>
            <p:cNvPr id="8" name="TextBox 36">
              <a:extLst>
                <a:ext uri="{FF2B5EF4-FFF2-40B4-BE49-F238E27FC236}">
                  <a16:creationId xmlns:a16="http://schemas.microsoft.com/office/drawing/2014/main" id="{F56FB73F-31AE-4700-948F-597E9EACE44E}"/>
                </a:ext>
              </a:extLst>
            </p:cNvPr>
            <p:cNvSpPr txBox="1"/>
            <p:nvPr/>
          </p:nvSpPr>
          <p:spPr>
            <a:xfrm>
              <a:off x="285720" y="3143248"/>
              <a:ext cx="2143140" cy="369332"/>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方正启体简体" pitchFamily="65" charset="-122"/>
                  <a:cs typeface="Consolas" panose="020B0609020204030204" pitchFamily="49" charset="0"/>
                </a:rPr>
                <a:t>关键字个数</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方正启体简体" pitchFamily="65" charset="-122"/>
                  <a:cs typeface="Consolas" panose="020B0609020204030204" pitchFamily="49" charset="0"/>
                </a:rPr>
                <a:t>&gt;4</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方正启体简体" pitchFamily="65" charset="-122"/>
                <a:cs typeface="Consolas" panose="020B0609020204030204" pitchFamily="49" charset="0"/>
              </a:endParaRPr>
            </a:p>
          </p:txBody>
        </p:sp>
        <p:sp>
          <p:nvSpPr>
            <p:cNvPr id="9" name="矩形 8">
              <a:extLst>
                <a:ext uri="{FF2B5EF4-FFF2-40B4-BE49-F238E27FC236}">
                  <a16:creationId xmlns:a16="http://schemas.microsoft.com/office/drawing/2014/main" id="{32FDA283-BA0C-4858-9AA2-40FD21F9916B}"/>
                </a:ext>
              </a:extLst>
            </p:cNvPr>
            <p:cNvSpPr/>
            <p:nvPr/>
          </p:nvSpPr>
          <p:spPr>
            <a:xfrm>
              <a:off x="2693974" y="1428736"/>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6 10 16</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0" name="直接箭头连接符 9">
              <a:extLst>
                <a:ext uri="{FF2B5EF4-FFF2-40B4-BE49-F238E27FC236}">
                  <a16:creationId xmlns:a16="http://schemas.microsoft.com/office/drawing/2014/main" id="{F2DBE112-B419-401B-AF7C-A42212A7507B}"/>
                </a:ext>
              </a:extLst>
            </p:cNvPr>
            <p:cNvCxnSpPr/>
            <p:nvPr/>
          </p:nvCxnSpPr>
          <p:spPr>
            <a:xfrm rot="10800000" flipV="1">
              <a:off x="1765280" y="1785926"/>
              <a:ext cx="1143008" cy="814336"/>
            </a:xfrm>
            <a:prstGeom prst="straightConnector1">
              <a:avLst/>
            </a:prstGeom>
            <a:noFill/>
            <a:ln w="28575" cap="flat" cmpd="sng" algn="ctr">
              <a:solidFill>
                <a:srgbClr val="3333FF"/>
              </a:solidFill>
              <a:prstDash val="solid"/>
              <a:tailEnd type="arrow"/>
            </a:ln>
            <a:effectLst/>
          </p:spPr>
        </p:cxnSp>
        <p:cxnSp>
          <p:nvCxnSpPr>
            <p:cNvPr id="11" name="直接箭头连接符 10">
              <a:extLst>
                <a:ext uri="{FF2B5EF4-FFF2-40B4-BE49-F238E27FC236}">
                  <a16:creationId xmlns:a16="http://schemas.microsoft.com/office/drawing/2014/main" id="{C91438AA-A7FF-451F-8BE1-F6813AB3074F}"/>
                </a:ext>
              </a:extLst>
            </p:cNvPr>
            <p:cNvCxnSpPr/>
            <p:nvPr/>
          </p:nvCxnSpPr>
          <p:spPr>
            <a:xfrm rot="16200000" flipH="1">
              <a:off x="3391686" y="1912133"/>
              <a:ext cx="785817" cy="533404"/>
            </a:xfrm>
            <a:prstGeom prst="straightConnector1">
              <a:avLst/>
            </a:prstGeom>
            <a:noFill/>
            <a:ln w="28575" cap="flat" cmpd="sng" algn="ctr">
              <a:solidFill>
                <a:srgbClr val="3333FF"/>
              </a:solidFill>
              <a:prstDash val="solid"/>
              <a:tailEnd type="arrow"/>
            </a:ln>
            <a:effectLst/>
          </p:spPr>
        </p:cxnSp>
        <p:cxnSp>
          <p:nvCxnSpPr>
            <p:cNvPr id="12" name="直接箭头连接符 11">
              <a:extLst>
                <a:ext uri="{FF2B5EF4-FFF2-40B4-BE49-F238E27FC236}">
                  <a16:creationId xmlns:a16="http://schemas.microsoft.com/office/drawing/2014/main" id="{32A7418E-1BC8-4787-AFDD-08450AB07C5C}"/>
                </a:ext>
              </a:extLst>
            </p:cNvPr>
            <p:cNvCxnSpPr/>
            <p:nvPr/>
          </p:nvCxnSpPr>
          <p:spPr>
            <a:xfrm rot="5400000">
              <a:off x="2548368" y="2026028"/>
              <a:ext cx="814336" cy="334132"/>
            </a:xfrm>
            <a:prstGeom prst="straightConnector1">
              <a:avLst/>
            </a:prstGeom>
            <a:noFill/>
            <a:ln w="28575" cap="flat" cmpd="sng" algn="ctr">
              <a:solidFill>
                <a:srgbClr val="3333FF"/>
              </a:solidFill>
              <a:prstDash val="solid"/>
              <a:tailEnd type="arrow"/>
            </a:ln>
            <a:effectLst/>
          </p:spPr>
        </p:cxnSp>
        <p:sp>
          <p:nvSpPr>
            <p:cNvPr id="13" name="矩形 12">
              <a:extLst>
                <a:ext uri="{FF2B5EF4-FFF2-40B4-BE49-F238E27FC236}">
                  <a16:creationId xmlns:a16="http://schemas.microsoft.com/office/drawing/2014/main" id="{9926FA22-E538-42E3-B72B-D790CC36C032}"/>
                </a:ext>
              </a:extLst>
            </p:cNvPr>
            <p:cNvSpPr/>
            <p:nvPr/>
          </p:nvSpPr>
          <p:spPr>
            <a:xfrm>
              <a:off x="428596" y="2571744"/>
              <a:ext cx="159711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3</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4" name="矩形 13">
              <a:extLst>
                <a:ext uri="{FF2B5EF4-FFF2-40B4-BE49-F238E27FC236}">
                  <a16:creationId xmlns:a16="http://schemas.microsoft.com/office/drawing/2014/main" id="{BAD621DD-D1FB-4FC8-932F-5172F341BD6C}"/>
                </a:ext>
              </a:extLst>
            </p:cNvPr>
            <p:cNvSpPr/>
            <p:nvPr/>
          </p:nvSpPr>
          <p:spPr>
            <a:xfrm>
              <a:off x="2122470" y="2571744"/>
              <a:ext cx="133200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E49DE8FA-2D53-4E0B-B0BF-31562D9DCDCA}"/>
                </a:ext>
              </a:extLst>
            </p:cNvPr>
            <p:cNvSpPr/>
            <p:nvPr/>
          </p:nvSpPr>
          <p:spPr>
            <a:xfrm>
              <a:off x="3576630" y="2571744"/>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矩形 15">
              <a:extLst>
                <a:ext uri="{FF2B5EF4-FFF2-40B4-BE49-F238E27FC236}">
                  <a16:creationId xmlns:a16="http://schemas.microsoft.com/office/drawing/2014/main" id="{5DF45ED4-7B2B-4EDB-B460-EF533F18E35B}"/>
                </a:ext>
              </a:extLst>
            </p:cNvPr>
            <p:cNvSpPr/>
            <p:nvPr/>
          </p:nvSpPr>
          <p:spPr>
            <a:xfrm>
              <a:off x="4908552" y="2571744"/>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7" name="直接箭头连接符 16">
              <a:extLst>
                <a:ext uri="{FF2B5EF4-FFF2-40B4-BE49-F238E27FC236}">
                  <a16:creationId xmlns:a16="http://schemas.microsoft.com/office/drawing/2014/main" id="{C96304AD-6F10-46E4-8D0C-1D7117AD184E}"/>
                </a:ext>
              </a:extLst>
            </p:cNvPr>
            <p:cNvCxnSpPr/>
            <p:nvPr/>
          </p:nvCxnSpPr>
          <p:spPr>
            <a:xfrm>
              <a:off x="3908420" y="1714488"/>
              <a:ext cx="1357322" cy="857256"/>
            </a:xfrm>
            <a:prstGeom prst="straightConnector1">
              <a:avLst/>
            </a:prstGeom>
            <a:noFill/>
            <a:ln w="28575" cap="flat" cmpd="sng" algn="ctr">
              <a:solidFill>
                <a:srgbClr val="3333FF"/>
              </a:solidFill>
              <a:prstDash val="solid"/>
              <a:tailEnd type="arrow"/>
            </a:ln>
            <a:effectLst/>
          </p:spPr>
        </p:cxnSp>
      </p:grpSp>
      <p:grpSp>
        <p:nvGrpSpPr>
          <p:cNvPr id="18" name="组合 74">
            <a:extLst>
              <a:ext uri="{FF2B5EF4-FFF2-40B4-BE49-F238E27FC236}">
                <a16:creationId xmlns:a16="http://schemas.microsoft.com/office/drawing/2014/main" id="{9D91E58D-8B64-46D0-A0E2-46A5DCB87548}"/>
              </a:ext>
            </a:extLst>
          </p:cNvPr>
          <p:cNvGrpSpPr/>
          <p:nvPr/>
        </p:nvGrpSpPr>
        <p:grpSpPr>
          <a:xfrm>
            <a:off x="2497768" y="4561748"/>
            <a:ext cx="5903954" cy="1643074"/>
            <a:chOff x="1739880" y="3857628"/>
            <a:chExt cx="5903954" cy="1643074"/>
          </a:xfrm>
        </p:grpSpPr>
        <p:sp>
          <p:nvSpPr>
            <p:cNvPr id="19" name="矩形 18">
              <a:extLst>
                <a:ext uri="{FF2B5EF4-FFF2-40B4-BE49-F238E27FC236}">
                  <a16:creationId xmlns:a16="http://schemas.microsoft.com/office/drawing/2014/main" id="{500D7CEA-4E3B-467C-B290-A6E39BE977D7}"/>
                </a:ext>
              </a:extLst>
            </p:cNvPr>
            <p:cNvSpPr/>
            <p:nvPr/>
          </p:nvSpPr>
          <p:spPr>
            <a:xfrm>
              <a:off x="3786182" y="3857628"/>
              <a:ext cx="161767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3</a:t>
              </a: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6 10 16</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0" name="直接箭头连接符 19">
              <a:extLst>
                <a:ext uri="{FF2B5EF4-FFF2-40B4-BE49-F238E27FC236}">
                  <a16:creationId xmlns:a16="http://schemas.microsoft.com/office/drawing/2014/main" id="{FB85AC0C-1E15-48D2-AF91-2A5388311B8E}"/>
                </a:ext>
              </a:extLst>
            </p:cNvPr>
            <p:cNvCxnSpPr/>
            <p:nvPr/>
          </p:nvCxnSpPr>
          <p:spPr>
            <a:xfrm rot="10800000" flipV="1">
              <a:off x="2454261" y="4214818"/>
              <a:ext cx="1428761" cy="785818"/>
            </a:xfrm>
            <a:prstGeom prst="straightConnector1">
              <a:avLst/>
            </a:prstGeom>
            <a:noFill/>
            <a:ln w="28575" cap="flat" cmpd="sng" algn="ctr">
              <a:solidFill>
                <a:srgbClr val="3333FF"/>
              </a:solidFill>
              <a:prstDash val="solid"/>
              <a:tailEnd type="arrow"/>
            </a:ln>
            <a:effectLst/>
          </p:spPr>
        </p:cxnSp>
        <p:cxnSp>
          <p:nvCxnSpPr>
            <p:cNvPr id="21" name="直接箭头连接符 20">
              <a:extLst>
                <a:ext uri="{FF2B5EF4-FFF2-40B4-BE49-F238E27FC236}">
                  <a16:creationId xmlns:a16="http://schemas.microsoft.com/office/drawing/2014/main" id="{59053C7C-36BA-41CB-B01C-E9E8D78507DD}"/>
                </a:ext>
              </a:extLst>
            </p:cNvPr>
            <p:cNvCxnSpPr/>
            <p:nvPr/>
          </p:nvCxnSpPr>
          <p:spPr>
            <a:xfrm>
              <a:off x="4778376" y="4214818"/>
              <a:ext cx="819158" cy="785820"/>
            </a:xfrm>
            <a:prstGeom prst="straightConnector1">
              <a:avLst/>
            </a:prstGeom>
            <a:noFill/>
            <a:ln w="28575" cap="flat" cmpd="sng" algn="ctr">
              <a:solidFill>
                <a:srgbClr val="3333FF"/>
              </a:solidFill>
              <a:prstDash val="solid"/>
              <a:tailEnd type="arrow"/>
            </a:ln>
            <a:effectLst/>
          </p:spPr>
        </p:cxnSp>
        <p:cxnSp>
          <p:nvCxnSpPr>
            <p:cNvPr id="22" name="直接箭头连接符 21">
              <a:extLst>
                <a:ext uri="{FF2B5EF4-FFF2-40B4-BE49-F238E27FC236}">
                  <a16:creationId xmlns:a16="http://schemas.microsoft.com/office/drawing/2014/main" id="{A04333BC-28D6-40A5-8B9E-D89C0D68269B}"/>
                </a:ext>
              </a:extLst>
            </p:cNvPr>
            <p:cNvCxnSpPr/>
            <p:nvPr/>
          </p:nvCxnSpPr>
          <p:spPr>
            <a:xfrm rot="5400000">
              <a:off x="3987408" y="4516000"/>
              <a:ext cx="885774" cy="140534"/>
            </a:xfrm>
            <a:prstGeom prst="straightConnector1">
              <a:avLst/>
            </a:prstGeom>
            <a:noFill/>
            <a:ln w="28575" cap="flat" cmpd="sng" algn="ctr">
              <a:solidFill>
                <a:srgbClr val="3333FF"/>
              </a:solidFill>
              <a:prstDash val="solid"/>
              <a:tailEnd type="arrow"/>
            </a:ln>
            <a:effectLst/>
          </p:spPr>
        </p:cxnSp>
        <p:sp>
          <p:nvSpPr>
            <p:cNvPr id="23" name="矩形 22">
              <a:extLst>
                <a:ext uri="{FF2B5EF4-FFF2-40B4-BE49-F238E27FC236}">
                  <a16:creationId xmlns:a16="http://schemas.microsoft.com/office/drawing/2014/main" id="{5D84B775-A6F5-4278-8B9B-94164E5E7054}"/>
                </a:ext>
              </a:extLst>
            </p:cNvPr>
            <p:cNvSpPr/>
            <p:nvPr/>
          </p:nvSpPr>
          <p:spPr>
            <a:xfrm>
              <a:off x="2811450" y="5000636"/>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4" name="矩形 23">
              <a:extLst>
                <a:ext uri="{FF2B5EF4-FFF2-40B4-BE49-F238E27FC236}">
                  <a16:creationId xmlns:a16="http://schemas.microsoft.com/office/drawing/2014/main" id="{EC4DA4ED-F0B4-45BD-A389-E30AE7FA45CF}"/>
                </a:ext>
              </a:extLst>
            </p:cNvPr>
            <p:cNvSpPr/>
            <p:nvPr/>
          </p:nvSpPr>
          <p:spPr>
            <a:xfrm>
              <a:off x="3883020" y="500063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5" name="矩形 24">
              <a:extLst>
                <a:ext uri="{FF2B5EF4-FFF2-40B4-BE49-F238E27FC236}">
                  <a16:creationId xmlns:a16="http://schemas.microsoft.com/office/drawing/2014/main" id="{7BC4F04F-602E-4C03-9433-0B09F8C36DC9}"/>
                </a:ext>
              </a:extLst>
            </p:cNvPr>
            <p:cNvSpPr/>
            <p:nvPr/>
          </p:nvSpPr>
          <p:spPr>
            <a:xfrm>
              <a:off x="5122866" y="5000636"/>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11  13</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6" name="矩形 25">
              <a:extLst>
                <a:ext uri="{FF2B5EF4-FFF2-40B4-BE49-F238E27FC236}">
                  <a16:creationId xmlns:a16="http://schemas.microsoft.com/office/drawing/2014/main" id="{F24035D0-B4A9-4F24-99AC-471E883CEFEC}"/>
                </a:ext>
              </a:extLst>
            </p:cNvPr>
            <p:cNvSpPr/>
            <p:nvPr/>
          </p:nvSpPr>
          <p:spPr>
            <a:xfrm>
              <a:off x="6454788" y="5000636"/>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7" name="直接箭头连接符 26">
              <a:extLst>
                <a:ext uri="{FF2B5EF4-FFF2-40B4-BE49-F238E27FC236}">
                  <a16:creationId xmlns:a16="http://schemas.microsoft.com/office/drawing/2014/main" id="{74EECA71-E0AD-412C-A67B-0E2FFCD7B383}"/>
                </a:ext>
              </a:extLst>
            </p:cNvPr>
            <p:cNvCxnSpPr/>
            <p:nvPr/>
          </p:nvCxnSpPr>
          <p:spPr>
            <a:xfrm>
              <a:off x="5168904" y="4214818"/>
              <a:ext cx="1643074" cy="785818"/>
            </a:xfrm>
            <a:prstGeom prst="straightConnector1">
              <a:avLst/>
            </a:prstGeom>
            <a:noFill/>
            <a:ln w="28575" cap="flat" cmpd="sng" algn="ctr">
              <a:solidFill>
                <a:srgbClr val="3333FF"/>
              </a:solidFill>
              <a:prstDash val="solid"/>
              <a:tailEnd type="arrow"/>
            </a:ln>
            <a:effectLst/>
          </p:spPr>
        </p:cxnSp>
        <p:sp>
          <p:nvSpPr>
            <p:cNvPr id="28" name="矩形 27">
              <a:extLst>
                <a:ext uri="{FF2B5EF4-FFF2-40B4-BE49-F238E27FC236}">
                  <a16:creationId xmlns:a16="http://schemas.microsoft.com/office/drawing/2014/main" id="{B9542260-E7A3-44AE-AC0D-5D1A29A33446}"/>
                </a:ext>
              </a:extLst>
            </p:cNvPr>
            <p:cNvSpPr/>
            <p:nvPr/>
          </p:nvSpPr>
          <p:spPr>
            <a:xfrm>
              <a:off x="1739880" y="500063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9" name="直接箭头连接符 28">
              <a:extLst>
                <a:ext uri="{FF2B5EF4-FFF2-40B4-BE49-F238E27FC236}">
                  <a16:creationId xmlns:a16="http://schemas.microsoft.com/office/drawing/2014/main" id="{37BEE264-553A-4440-93EA-96D6C49569AC}"/>
                </a:ext>
              </a:extLst>
            </p:cNvPr>
            <p:cNvCxnSpPr>
              <a:endCxn id="23" idx="0"/>
            </p:cNvCxnSpPr>
            <p:nvPr/>
          </p:nvCxnSpPr>
          <p:spPr>
            <a:xfrm rot="10800000" flipV="1">
              <a:off x="3240078" y="4214818"/>
              <a:ext cx="974732" cy="785818"/>
            </a:xfrm>
            <a:prstGeom prst="straightConnector1">
              <a:avLst/>
            </a:prstGeom>
            <a:noFill/>
            <a:ln w="28575" cap="flat" cmpd="sng" algn="ctr">
              <a:solidFill>
                <a:srgbClr val="3333FF"/>
              </a:solidFill>
              <a:prstDash val="solid"/>
              <a:tailEnd type="arrow"/>
            </a:ln>
            <a:effectLst/>
          </p:spPr>
        </p:cxnSp>
      </p:grpSp>
      <p:sp>
        <p:nvSpPr>
          <p:cNvPr id="30" name="TextBox 28">
            <a:extLst>
              <a:ext uri="{FF2B5EF4-FFF2-40B4-BE49-F238E27FC236}">
                <a16:creationId xmlns:a16="http://schemas.microsoft.com/office/drawing/2014/main" id="{D40E0BE7-F582-4642-BAE8-B4D988E77DB9}"/>
              </a:ext>
            </a:extLst>
          </p:cNvPr>
          <p:cNvSpPr txBox="1"/>
          <p:nvPr/>
        </p:nvSpPr>
        <p:spPr>
          <a:xfrm>
            <a:off x="900732" y="775534"/>
            <a:ext cx="1357322" cy="400110"/>
          </a:xfrm>
          <a:prstGeom prst="rect">
            <a:avLst/>
          </a:prstGeom>
          <a:noFill/>
        </p:spPr>
        <p:txBody>
          <a:bodyPr wrap="square" rtlCol="0">
            <a:spAutoFit/>
          </a:bodyPr>
          <a:lstStyle/>
          <a:p>
            <a:pPr fontAlgn="base">
              <a:spcBef>
                <a:spcPct val="0"/>
              </a:spcBef>
              <a:spcAft>
                <a:spcPct val="0"/>
              </a:spcAft>
            </a:pPr>
            <a:r>
              <a:rPr kumimoji="1" lang="en-US" altLang="zh-CN" sz="20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1" name="TextBox 29">
            <a:extLst>
              <a:ext uri="{FF2B5EF4-FFF2-40B4-BE49-F238E27FC236}">
                <a16:creationId xmlns:a16="http://schemas.microsoft.com/office/drawing/2014/main" id="{72BE7624-5166-47AE-949C-79C82E2F48CD}"/>
              </a:ext>
            </a:extLst>
          </p:cNvPr>
          <p:cNvSpPr txBox="1"/>
          <p:nvPr/>
        </p:nvSpPr>
        <p:spPr>
          <a:xfrm>
            <a:off x="7687342" y="3733010"/>
            <a:ext cx="785818" cy="400110"/>
          </a:xfrm>
          <a:prstGeom prst="rect">
            <a:avLst/>
          </a:prstGeom>
          <a:noFill/>
        </p:spPr>
        <p:txBody>
          <a:bodyPr wrap="square" rtlCol="0">
            <a:spAutoFit/>
          </a:bodyPr>
          <a:lstStyle/>
          <a:p>
            <a:pPr fontAlgn="base">
              <a:spcBef>
                <a:spcPct val="0"/>
              </a:spcBef>
              <a:spcAft>
                <a:spcPct val="0"/>
              </a:spcAft>
            </a:pPr>
            <a:r>
              <a:rPr kumimoji="1"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2" name="矩形 31">
            <a:extLst>
              <a:ext uri="{FF2B5EF4-FFF2-40B4-BE49-F238E27FC236}">
                <a16:creationId xmlns:a16="http://schemas.microsoft.com/office/drawing/2014/main" id="{1792B26C-77EA-4CEC-9FBB-7F4FCE3573B0}"/>
              </a:ext>
            </a:extLst>
          </p:cNvPr>
          <p:cNvSpPr/>
          <p:nvPr/>
        </p:nvSpPr>
        <p:spPr>
          <a:xfrm>
            <a:off x="222880" y="228471"/>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4</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8</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13</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10</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5</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9</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12</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14</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18</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endParaRPr lang="zh-CN" altLang="en-US" dirty="0"/>
          </a:p>
        </p:txBody>
      </p:sp>
    </p:spTree>
    <p:extLst>
      <p:ext uri="{BB962C8B-B14F-4D97-AF65-F5344CB8AC3E}">
        <p14:creationId xmlns:p14="http://schemas.microsoft.com/office/powerpoint/2010/main" val="18313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3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19F73E-5F66-441C-9128-E4268C5E175B}"/>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TextBox 73">
            <a:extLst>
              <a:ext uri="{FF2B5EF4-FFF2-40B4-BE49-F238E27FC236}">
                <a16:creationId xmlns:a16="http://schemas.microsoft.com/office/drawing/2014/main" id="{1C1DFB1F-4E31-4FA6-9B7B-AB1C774BB293}"/>
              </a:ext>
            </a:extLst>
          </p:cNvPr>
          <p:cNvSpPr txBox="1"/>
          <p:nvPr/>
        </p:nvSpPr>
        <p:spPr>
          <a:xfrm>
            <a:off x="3754394" y="2152238"/>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12</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TextBox 75">
            <a:extLst>
              <a:ext uri="{FF2B5EF4-FFF2-40B4-BE49-F238E27FC236}">
                <a16:creationId xmlns:a16="http://schemas.microsoft.com/office/drawing/2014/main" id="{06EB7BE2-570A-46AF-AF8C-A647911507FC}"/>
              </a:ext>
            </a:extLst>
          </p:cNvPr>
          <p:cNvSpPr txBox="1"/>
          <p:nvPr/>
        </p:nvSpPr>
        <p:spPr>
          <a:xfrm>
            <a:off x="1611286" y="2080798"/>
            <a:ext cx="2214578"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 name="直接箭头连接符 4">
            <a:extLst>
              <a:ext uri="{FF2B5EF4-FFF2-40B4-BE49-F238E27FC236}">
                <a16:creationId xmlns:a16="http://schemas.microsoft.com/office/drawing/2014/main" id="{C80CDDBC-3E95-4157-B9B3-4E91CC13B67F}"/>
              </a:ext>
            </a:extLst>
          </p:cNvPr>
          <p:cNvCxnSpPr/>
          <p:nvPr/>
        </p:nvCxnSpPr>
        <p:spPr>
          <a:xfrm rot="5400000" flipH="1" flipV="1">
            <a:off x="3789319" y="2688021"/>
            <a:ext cx="357984" cy="794"/>
          </a:xfrm>
          <a:prstGeom prst="straightConnector1">
            <a:avLst/>
          </a:prstGeom>
          <a:noFill/>
          <a:ln w="28575" cap="flat" cmpd="sng" algn="ctr">
            <a:solidFill>
              <a:srgbClr val="FF00FF"/>
            </a:solidFill>
            <a:prstDash val="solid"/>
            <a:tailEnd type="arrow"/>
          </a:ln>
          <a:effectLst/>
        </p:spPr>
      </p:cxnSp>
      <p:sp>
        <p:nvSpPr>
          <p:cNvPr id="6" name="TextBox 26">
            <a:extLst>
              <a:ext uri="{FF2B5EF4-FFF2-40B4-BE49-F238E27FC236}">
                <a16:creationId xmlns:a16="http://schemas.microsoft.com/office/drawing/2014/main" id="{730A44FB-33BA-4BED-9183-3CC70E125C9C}"/>
              </a:ext>
            </a:extLst>
          </p:cNvPr>
          <p:cNvSpPr txBox="1"/>
          <p:nvPr/>
        </p:nvSpPr>
        <p:spPr>
          <a:xfrm>
            <a:off x="4300498" y="2152238"/>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14</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7" name="直接箭头连接符 6">
            <a:extLst>
              <a:ext uri="{FF2B5EF4-FFF2-40B4-BE49-F238E27FC236}">
                <a16:creationId xmlns:a16="http://schemas.microsoft.com/office/drawing/2014/main" id="{65ADC37F-6204-4DB8-9AAC-AC197AC6C78A}"/>
              </a:ext>
            </a:extLst>
          </p:cNvPr>
          <p:cNvCxnSpPr/>
          <p:nvPr/>
        </p:nvCxnSpPr>
        <p:spPr>
          <a:xfrm rot="5400000" flipH="1" flipV="1">
            <a:off x="4335423" y="2688021"/>
            <a:ext cx="357984" cy="794"/>
          </a:xfrm>
          <a:prstGeom prst="straightConnector1">
            <a:avLst/>
          </a:prstGeom>
          <a:noFill/>
          <a:ln w="28575" cap="flat" cmpd="sng" algn="ctr">
            <a:solidFill>
              <a:srgbClr val="FF00FF"/>
            </a:solidFill>
            <a:prstDash val="solid"/>
            <a:tailEnd type="arrow"/>
          </a:ln>
          <a:effectLst/>
        </p:spPr>
      </p:cxnSp>
      <p:sp>
        <p:nvSpPr>
          <p:cNvPr id="8" name="TextBox 28">
            <a:extLst>
              <a:ext uri="{FF2B5EF4-FFF2-40B4-BE49-F238E27FC236}">
                <a16:creationId xmlns:a16="http://schemas.microsoft.com/office/drawing/2014/main" id="{5F36FEBF-95B8-436A-88BA-FCBFAF00310B}"/>
              </a:ext>
            </a:extLst>
          </p:cNvPr>
          <p:cNvSpPr txBox="1"/>
          <p:nvPr/>
        </p:nvSpPr>
        <p:spPr>
          <a:xfrm>
            <a:off x="4800564" y="2152238"/>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18</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9" name="直接箭头连接符 8">
            <a:extLst>
              <a:ext uri="{FF2B5EF4-FFF2-40B4-BE49-F238E27FC236}">
                <a16:creationId xmlns:a16="http://schemas.microsoft.com/office/drawing/2014/main" id="{2C99E370-3C36-4AE4-96BE-8E77EDC5ECC2}"/>
              </a:ext>
            </a:extLst>
          </p:cNvPr>
          <p:cNvCxnSpPr/>
          <p:nvPr/>
        </p:nvCxnSpPr>
        <p:spPr>
          <a:xfrm rot="5400000" flipH="1" flipV="1">
            <a:off x="4835489" y="2688021"/>
            <a:ext cx="357984" cy="794"/>
          </a:xfrm>
          <a:prstGeom prst="straightConnector1">
            <a:avLst/>
          </a:prstGeom>
          <a:noFill/>
          <a:ln w="28575" cap="flat" cmpd="sng" algn="ctr">
            <a:solidFill>
              <a:srgbClr val="FF00FF"/>
            </a:solidFill>
            <a:prstDash val="solid"/>
            <a:tailEnd type="arrow"/>
          </a:ln>
          <a:effectLst/>
        </p:spPr>
      </p:cxnSp>
      <p:sp>
        <p:nvSpPr>
          <p:cNvPr id="10" name="TextBox 30">
            <a:extLst>
              <a:ext uri="{FF2B5EF4-FFF2-40B4-BE49-F238E27FC236}">
                <a16:creationId xmlns:a16="http://schemas.microsoft.com/office/drawing/2014/main" id="{274A6BB2-8EE7-4625-BE7D-529D75E80C7D}"/>
              </a:ext>
            </a:extLst>
          </p:cNvPr>
          <p:cNvSpPr txBox="1"/>
          <p:nvPr/>
        </p:nvSpPr>
        <p:spPr>
          <a:xfrm>
            <a:off x="5300630" y="2152238"/>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19</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1" name="直接箭头连接符 10">
            <a:extLst>
              <a:ext uri="{FF2B5EF4-FFF2-40B4-BE49-F238E27FC236}">
                <a16:creationId xmlns:a16="http://schemas.microsoft.com/office/drawing/2014/main" id="{DA805073-D9CB-4EC5-9713-813B4D6152E2}"/>
              </a:ext>
            </a:extLst>
          </p:cNvPr>
          <p:cNvCxnSpPr/>
          <p:nvPr/>
        </p:nvCxnSpPr>
        <p:spPr>
          <a:xfrm rot="5400000" flipH="1" flipV="1">
            <a:off x="5335555" y="2688021"/>
            <a:ext cx="357984" cy="794"/>
          </a:xfrm>
          <a:prstGeom prst="straightConnector1">
            <a:avLst/>
          </a:prstGeom>
          <a:noFill/>
          <a:ln w="28575" cap="flat" cmpd="sng" algn="ctr">
            <a:solidFill>
              <a:srgbClr val="FF00FF"/>
            </a:solidFill>
            <a:prstDash val="solid"/>
            <a:tailEnd type="arrow"/>
          </a:ln>
          <a:effectLst/>
        </p:spPr>
      </p:cxnSp>
      <p:sp>
        <p:nvSpPr>
          <p:cNvPr id="12" name="矩形 11">
            <a:extLst>
              <a:ext uri="{FF2B5EF4-FFF2-40B4-BE49-F238E27FC236}">
                <a16:creationId xmlns:a16="http://schemas.microsoft.com/office/drawing/2014/main" id="{88DB7CFB-77F7-420B-BE3D-64EAC59523B9}"/>
              </a:ext>
            </a:extLst>
          </p:cNvPr>
          <p:cNvSpPr/>
          <p:nvPr/>
        </p:nvSpPr>
        <p:spPr>
          <a:xfrm>
            <a:off x="3395742" y="3378745"/>
            <a:ext cx="157163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3 6 10 16</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AB990391-2530-4A1D-AA1C-2ABC7681A1B2}"/>
              </a:ext>
            </a:extLst>
          </p:cNvPr>
          <p:cNvCxnSpPr/>
          <p:nvPr/>
        </p:nvCxnSpPr>
        <p:spPr>
          <a:xfrm rot="10800000" flipV="1">
            <a:off x="2085923" y="3795310"/>
            <a:ext cx="1428761" cy="785818"/>
          </a:xfrm>
          <a:prstGeom prst="straightConnector1">
            <a:avLst/>
          </a:prstGeom>
          <a:noFill/>
          <a:ln w="28575" cap="flat" cmpd="sng" algn="ctr">
            <a:solidFill>
              <a:srgbClr val="3333FF"/>
            </a:solidFill>
            <a:prstDash val="solid"/>
            <a:tailEnd type="arrow"/>
          </a:ln>
          <a:effectLst/>
        </p:spPr>
      </p:cxnSp>
      <p:cxnSp>
        <p:nvCxnSpPr>
          <p:cNvPr id="14" name="直接箭头连接符 13">
            <a:extLst>
              <a:ext uri="{FF2B5EF4-FFF2-40B4-BE49-F238E27FC236}">
                <a16:creationId xmlns:a16="http://schemas.microsoft.com/office/drawing/2014/main" id="{05D6AAC8-86E7-4686-B14D-7BEC26C53E6F}"/>
              </a:ext>
            </a:extLst>
          </p:cNvPr>
          <p:cNvCxnSpPr/>
          <p:nvPr/>
        </p:nvCxnSpPr>
        <p:spPr>
          <a:xfrm>
            <a:off x="4410036" y="3795310"/>
            <a:ext cx="819158" cy="785820"/>
          </a:xfrm>
          <a:prstGeom prst="straightConnector1">
            <a:avLst/>
          </a:prstGeom>
          <a:noFill/>
          <a:ln w="28575" cap="flat" cmpd="sng" algn="ctr">
            <a:solidFill>
              <a:srgbClr val="3333FF"/>
            </a:solidFill>
            <a:prstDash val="solid"/>
            <a:tailEnd type="arrow"/>
          </a:ln>
          <a:effectLst/>
        </p:spPr>
      </p:cxnSp>
      <p:cxnSp>
        <p:nvCxnSpPr>
          <p:cNvPr id="15" name="直接箭头连接符 14">
            <a:extLst>
              <a:ext uri="{FF2B5EF4-FFF2-40B4-BE49-F238E27FC236}">
                <a16:creationId xmlns:a16="http://schemas.microsoft.com/office/drawing/2014/main" id="{70FEE536-BE29-4E3E-AE83-C3E633070E15}"/>
              </a:ext>
            </a:extLst>
          </p:cNvPr>
          <p:cNvCxnSpPr/>
          <p:nvPr/>
        </p:nvCxnSpPr>
        <p:spPr>
          <a:xfrm rot="5400000">
            <a:off x="3584520" y="4202478"/>
            <a:ext cx="814336" cy="0"/>
          </a:xfrm>
          <a:prstGeom prst="straightConnector1">
            <a:avLst/>
          </a:prstGeom>
          <a:noFill/>
          <a:ln w="28575" cap="flat" cmpd="sng" algn="ctr">
            <a:solidFill>
              <a:srgbClr val="3333FF"/>
            </a:solidFill>
            <a:prstDash val="solid"/>
            <a:tailEnd type="arrow"/>
          </a:ln>
          <a:effectLst/>
        </p:spPr>
      </p:cxnSp>
      <p:sp>
        <p:nvSpPr>
          <p:cNvPr id="16" name="矩形 15">
            <a:extLst>
              <a:ext uri="{FF2B5EF4-FFF2-40B4-BE49-F238E27FC236}">
                <a16:creationId xmlns:a16="http://schemas.microsoft.com/office/drawing/2014/main" id="{E433DF76-5C0D-4A9B-BFFB-45631EA17349}"/>
              </a:ext>
            </a:extLst>
          </p:cNvPr>
          <p:cNvSpPr/>
          <p:nvPr/>
        </p:nvSpPr>
        <p:spPr>
          <a:xfrm>
            <a:off x="2443110" y="4581128"/>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7" name="矩形 16">
            <a:extLst>
              <a:ext uri="{FF2B5EF4-FFF2-40B4-BE49-F238E27FC236}">
                <a16:creationId xmlns:a16="http://schemas.microsoft.com/office/drawing/2014/main" id="{5B2B59BD-A237-4E54-8EA2-3831DFCDEEC4}"/>
              </a:ext>
            </a:extLst>
          </p:cNvPr>
          <p:cNvSpPr/>
          <p:nvPr/>
        </p:nvSpPr>
        <p:spPr>
          <a:xfrm>
            <a:off x="3514680" y="4581128"/>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8" name="矩形 17">
            <a:extLst>
              <a:ext uri="{FF2B5EF4-FFF2-40B4-BE49-F238E27FC236}">
                <a16:creationId xmlns:a16="http://schemas.microsoft.com/office/drawing/2014/main" id="{44146396-F810-4FB6-9031-BF7938BE02BD}"/>
              </a:ext>
            </a:extLst>
          </p:cNvPr>
          <p:cNvSpPr/>
          <p:nvPr/>
        </p:nvSpPr>
        <p:spPr>
          <a:xfrm>
            <a:off x="6397600" y="4581128"/>
            <a:ext cx="11890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D3E36F2B-D37C-4553-86DB-0FFC300A4FB4}"/>
              </a:ext>
            </a:extLst>
          </p:cNvPr>
          <p:cNvCxnSpPr/>
          <p:nvPr/>
        </p:nvCxnSpPr>
        <p:spPr>
          <a:xfrm>
            <a:off x="4800564" y="3795310"/>
            <a:ext cx="1643074" cy="785818"/>
          </a:xfrm>
          <a:prstGeom prst="straightConnector1">
            <a:avLst/>
          </a:prstGeom>
          <a:noFill/>
          <a:ln w="28575" cap="flat" cmpd="sng" algn="ctr">
            <a:solidFill>
              <a:srgbClr val="3333FF"/>
            </a:solidFill>
            <a:prstDash val="solid"/>
            <a:tailEnd type="arrow"/>
          </a:ln>
          <a:effectLst/>
        </p:spPr>
      </p:cxnSp>
      <p:sp>
        <p:nvSpPr>
          <p:cNvPr id="20" name="矩形 19">
            <a:extLst>
              <a:ext uri="{FF2B5EF4-FFF2-40B4-BE49-F238E27FC236}">
                <a16:creationId xmlns:a16="http://schemas.microsoft.com/office/drawing/2014/main" id="{BDDD605D-CC91-41BE-AD17-9D9F0E21E126}"/>
              </a:ext>
            </a:extLst>
          </p:cNvPr>
          <p:cNvSpPr/>
          <p:nvPr/>
        </p:nvSpPr>
        <p:spPr>
          <a:xfrm>
            <a:off x="1371540" y="4581128"/>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1" name="直接箭头连接符 20">
            <a:extLst>
              <a:ext uri="{FF2B5EF4-FFF2-40B4-BE49-F238E27FC236}">
                <a16:creationId xmlns:a16="http://schemas.microsoft.com/office/drawing/2014/main" id="{EAB0EAA1-A718-461E-AE85-DDBB03BED83E}"/>
              </a:ext>
            </a:extLst>
          </p:cNvPr>
          <p:cNvCxnSpPr>
            <a:endCxn id="16" idx="0"/>
          </p:cNvCxnSpPr>
          <p:nvPr/>
        </p:nvCxnSpPr>
        <p:spPr>
          <a:xfrm rot="10800000" flipV="1">
            <a:off x="2871738" y="3723872"/>
            <a:ext cx="928694" cy="857256"/>
          </a:xfrm>
          <a:prstGeom prst="straightConnector1">
            <a:avLst/>
          </a:prstGeom>
          <a:noFill/>
          <a:ln w="28575" cap="flat" cmpd="sng" algn="ctr">
            <a:solidFill>
              <a:srgbClr val="3333FF"/>
            </a:solidFill>
            <a:prstDash val="solid"/>
            <a:tailEnd type="arrow"/>
          </a:ln>
          <a:effectLst/>
        </p:spPr>
      </p:cxnSp>
      <p:sp>
        <p:nvSpPr>
          <p:cNvPr id="22" name="矩形 21">
            <a:extLst>
              <a:ext uri="{FF2B5EF4-FFF2-40B4-BE49-F238E27FC236}">
                <a16:creationId xmlns:a16="http://schemas.microsoft.com/office/drawing/2014/main" id="{ACB7CBC5-2582-476B-BB5C-0C42B14B291E}"/>
              </a:ext>
            </a:extLst>
          </p:cNvPr>
          <p:cNvSpPr/>
          <p:nvPr/>
        </p:nvSpPr>
        <p:spPr>
          <a:xfrm>
            <a:off x="4657688" y="4581128"/>
            <a:ext cx="1357322"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12</a:t>
            </a:r>
            <a:r>
              <a:rPr kumimoji="1" lang="en-US" altLang="zh-CN" sz="1800" b="1" i="0" u="none" strike="noStrike" kern="0" cap="none" spc="0" normalizeH="0" baseline="0" noProof="0" dirty="0">
                <a:ln>
                  <a:noFill/>
                </a:ln>
                <a:solidFill>
                  <a:srgbClr val="9900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3" name="矩形 22">
            <a:extLst>
              <a:ext uri="{FF2B5EF4-FFF2-40B4-BE49-F238E27FC236}">
                <a16:creationId xmlns:a16="http://schemas.microsoft.com/office/drawing/2014/main" id="{2609D1BA-6C55-4357-946C-C3C745405DBD}"/>
              </a:ext>
            </a:extLst>
          </p:cNvPr>
          <p:cNvSpPr/>
          <p:nvPr/>
        </p:nvSpPr>
        <p:spPr>
          <a:xfrm>
            <a:off x="4657688" y="4581128"/>
            <a:ext cx="164307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tIns="4680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11 12 13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14</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4" name="矩形 23">
            <a:extLst>
              <a:ext uri="{FF2B5EF4-FFF2-40B4-BE49-F238E27FC236}">
                <a16:creationId xmlns:a16="http://schemas.microsoft.com/office/drawing/2014/main" id="{7987B3AF-684A-497A-BE1E-83C0ED2FBF40}"/>
              </a:ext>
            </a:extLst>
          </p:cNvPr>
          <p:cNvSpPr/>
          <p:nvPr/>
        </p:nvSpPr>
        <p:spPr>
          <a:xfrm>
            <a:off x="6372200" y="4581128"/>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18</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5" name="矩形 24">
            <a:extLst>
              <a:ext uri="{FF2B5EF4-FFF2-40B4-BE49-F238E27FC236}">
                <a16:creationId xmlns:a16="http://schemas.microsoft.com/office/drawing/2014/main" id="{85D8F2BA-5432-4775-A510-F981CB3E2DC0}"/>
              </a:ext>
            </a:extLst>
          </p:cNvPr>
          <p:cNvSpPr/>
          <p:nvPr/>
        </p:nvSpPr>
        <p:spPr>
          <a:xfrm>
            <a:off x="6372200" y="4581128"/>
            <a:ext cx="192882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19</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6" name="TextBox 37">
            <a:extLst>
              <a:ext uri="{FF2B5EF4-FFF2-40B4-BE49-F238E27FC236}">
                <a16:creationId xmlns:a16="http://schemas.microsoft.com/office/drawing/2014/main" id="{0012D2BA-B08A-48EA-B3FD-7D5E0D6E37E4}"/>
              </a:ext>
            </a:extLst>
          </p:cNvPr>
          <p:cNvSpPr txBox="1"/>
          <p:nvPr/>
        </p:nvSpPr>
        <p:spPr>
          <a:xfrm>
            <a:off x="1157226" y="1652170"/>
            <a:ext cx="1357322" cy="400110"/>
          </a:xfrm>
          <a:prstGeom prst="rect">
            <a:avLst/>
          </a:prstGeom>
          <a:noFill/>
        </p:spPr>
        <p:txBody>
          <a:bodyPr wrap="square" rtlCol="0">
            <a:spAutoFit/>
          </a:bodyPr>
          <a:lstStyle/>
          <a:p>
            <a:pPr fontAlgn="base">
              <a:spcBef>
                <a:spcPct val="0"/>
              </a:spcBef>
              <a:spcAft>
                <a:spcPct val="0"/>
              </a:spcAft>
            </a:pPr>
            <a:r>
              <a:rPr kumimoji="1" lang="en-US" altLang="zh-CN" sz="20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7" name="矩形 26">
            <a:extLst>
              <a:ext uri="{FF2B5EF4-FFF2-40B4-BE49-F238E27FC236}">
                <a16:creationId xmlns:a16="http://schemas.microsoft.com/office/drawing/2014/main" id="{7B07E905-8075-42D5-A092-29E462175752}"/>
              </a:ext>
            </a:extLst>
          </p:cNvPr>
          <p:cNvSpPr/>
          <p:nvPr/>
        </p:nvSpPr>
        <p:spPr>
          <a:xfrm>
            <a:off x="222880" y="228471"/>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4</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8</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13</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10</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5</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9</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3</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12</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14</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18</a:t>
            </a:r>
            <a:r>
              <a:rPr lang="zh-CN" altLang="en-US" b="1" dirty="0">
                <a:solidFill>
                  <a:srgbClr val="C0000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latin typeface="Consolas" panose="020B0609020204030204" pitchFamily="49" charset="0"/>
                <a:ea typeface="楷体" panose="02010609060101010101" pitchFamily="49" charset="-122"/>
                <a:cs typeface="Consolas" panose="020B0609020204030204" pitchFamily="49" charset="0"/>
              </a:rPr>
              <a:t>15)</a:t>
            </a:r>
            <a:endParaRPr lang="zh-CN" altLang="en-US" dirty="0"/>
          </a:p>
        </p:txBody>
      </p:sp>
    </p:spTree>
    <p:extLst>
      <p:ext uri="{BB962C8B-B14F-4D97-AF65-F5344CB8AC3E}">
        <p14:creationId xmlns:p14="http://schemas.microsoft.com/office/powerpoint/2010/main" val="135390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nodeType="clickEffect">
                                  <p:stCondLst>
                                    <p:cond delay="0"/>
                                  </p:stCondLst>
                                  <p:childTnLst>
                                    <p:animEffect transition="out" filter="wipe(down)">
                                      <p:cBhvr>
                                        <p:cTn id="36" dur="500"/>
                                        <p:tgtEl>
                                          <p:spTgt spid="5"/>
                                        </p:tgtEl>
                                      </p:cBhvr>
                                    </p:animEffect>
                                    <p:set>
                                      <p:cBhvr>
                                        <p:cTn id="37" dur="1" fill="hold">
                                          <p:stCondLst>
                                            <p:cond delay="499"/>
                                          </p:stCondLst>
                                        </p:cTn>
                                        <p:tgtEl>
                                          <p:spTgt spid="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nodeType="clickEffect">
                                  <p:stCondLst>
                                    <p:cond delay="0"/>
                                  </p:stCondLst>
                                  <p:childTnLst>
                                    <p:animEffect transition="out" filter="wipe(down)">
                                      <p:cBhvr>
                                        <p:cTn id="51" dur="500"/>
                                        <p:tgtEl>
                                          <p:spTgt spid="7"/>
                                        </p:tgtEl>
                                      </p:cBhvr>
                                    </p:animEffect>
                                    <p:set>
                                      <p:cBhvr>
                                        <p:cTn id="52" dur="1" fill="hold">
                                          <p:stCondLst>
                                            <p:cond delay="499"/>
                                          </p:stCondLst>
                                        </p:cTn>
                                        <p:tgtEl>
                                          <p:spTgt spid="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4" fill="hold" nodeType="clickEffect">
                                  <p:stCondLst>
                                    <p:cond delay="0"/>
                                  </p:stCondLst>
                                  <p:childTnLst>
                                    <p:animEffect transition="out" filter="wipe(down)">
                                      <p:cBhvr>
                                        <p:cTn id="66" dur="500"/>
                                        <p:tgtEl>
                                          <p:spTgt spid="9"/>
                                        </p:tgtEl>
                                      </p:cBhvr>
                                    </p:animEffect>
                                    <p:set>
                                      <p:cBhvr>
                                        <p:cTn id="67" dur="1" fill="hold">
                                          <p:stCondLst>
                                            <p:cond delay="499"/>
                                          </p:stCondLst>
                                        </p:cTn>
                                        <p:tgtEl>
                                          <p:spTgt spid="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0"/>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10" grpId="0"/>
      <p:bldP spid="12" grpId="0" animBg="1"/>
      <p:bldP spid="16" grpId="0" animBg="1"/>
      <p:bldP spid="17" grpId="0" animBg="1"/>
      <p:bldP spid="18" grpId="0" animBg="1"/>
      <p:bldP spid="20" grpId="0" animBg="1"/>
      <p:bldP spid="22" grpId="0" animBg="1"/>
      <p:bldP spid="23" grpId="0" animBg="1"/>
      <p:bldP spid="24" grpId="0" animBg="1"/>
      <p:bldP spid="2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EF975AB-DDA2-4D0D-A945-140035337925}"/>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TextBox 73">
            <a:extLst>
              <a:ext uri="{FF2B5EF4-FFF2-40B4-BE49-F238E27FC236}">
                <a16:creationId xmlns:a16="http://schemas.microsoft.com/office/drawing/2014/main" id="{425BFDA4-E7EC-457B-9BFB-B0095AA8E697}"/>
              </a:ext>
            </a:extLst>
          </p:cNvPr>
          <p:cNvSpPr txBox="1"/>
          <p:nvPr/>
        </p:nvSpPr>
        <p:spPr>
          <a:xfrm>
            <a:off x="3490111" y="645770"/>
            <a:ext cx="428628" cy="30777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000" b="1" dirty="0">
                <a:solidFill>
                  <a:srgbClr val="3333FF"/>
                </a:solidFill>
                <a:latin typeface="Consolas" panose="020B0609020204030204" pitchFamily="49" charset="0"/>
                <a:ea typeface="宋体" panose="02010600030101010101" pitchFamily="2" charset="-122"/>
                <a:cs typeface="Consolas" panose="020B0609020204030204" pitchFamily="49" charset="0"/>
              </a:rPr>
              <a:t>15</a:t>
            </a:r>
            <a:endParaRPr kumimoji="1" lang="zh-CN" altLang="en-US" sz="20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TextBox 75">
            <a:extLst>
              <a:ext uri="{FF2B5EF4-FFF2-40B4-BE49-F238E27FC236}">
                <a16:creationId xmlns:a16="http://schemas.microsoft.com/office/drawing/2014/main" id="{D7EA69A3-3F2A-48C5-A45A-A39D4654A315}"/>
              </a:ext>
            </a:extLst>
          </p:cNvPr>
          <p:cNvSpPr txBox="1"/>
          <p:nvPr/>
        </p:nvSpPr>
        <p:spPr>
          <a:xfrm>
            <a:off x="1347003" y="574330"/>
            <a:ext cx="2214578"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0000FF"/>
                </a:solidFill>
                <a:latin typeface="Consolas" panose="020B0609020204030204" pitchFamily="49" charset="0"/>
                <a:ea typeface="楷体" panose="02010609060101010101" pitchFamily="49" charset="-122"/>
                <a:cs typeface="Consolas" panose="020B0609020204030204" pitchFamily="49" charset="0"/>
              </a:rPr>
              <a:t>关键字序列</a:t>
            </a:r>
            <a:endParaRPr kumimoji="1"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 name="直接箭头连接符 4">
            <a:extLst>
              <a:ext uri="{FF2B5EF4-FFF2-40B4-BE49-F238E27FC236}">
                <a16:creationId xmlns:a16="http://schemas.microsoft.com/office/drawing/2014/main" id="{BDDAEFEE-B9AB-4F16-8FC7-C623D923F8D6}"/>
              </a:ext>
            </a:extLst>
          </p:cNvPr>
          <p:cNvCxnSpPr/>
          <p:nvPr/>
        </p:nvCxnSpPr>
        <p:spPr>
          <a:xfrm rot="5400000" flipH="1" flipV="1">
            <a:off x="3525036" y="1181553"/>
            <a:ext cx="357984" cy="794"/>
          </a:xfrm>
          <a:prstGeom prst="straightConnector1">
            <a:avLst/>
          </a:prstGeom>
          <a:noFill/>
          <a:ln w="28575" cap="flat" cmpd="sng" algn="ctr">
            <a:solidFill>
              <a:srgbClr val="FF00FF"/>
            </a:solidFill>
            <a:prstDash val="solid"/>
            <a:tailEnd type="arrow"/>
          </a:ln>
          <a:effectLst/>
        </p:spPr>
      </p:cxnSp>
      <p:sp>
        <p:nvSpPr>
          <p:cNvPr id="6" name="矩形 5">
            <a:extLst>
              <a:ext uri="{FF2B5EF4-FFF2-40B4-BE49-F238E27FC236}">
                <a16:creationId xmlns:a16="http://schemas.microsoft.com/office/drawing/2014/main" id="{A95D968D-7AE4-454D-861C-85F6EEED15FE}"/>
              </a:ext>
            </a:extLst>
          </p:cNvPr>
          <p:cNvSpPr/>
          <p:nvPr/>
        </p:nvSpPr>
        <p:spPr>
          <a:xfrm>
            <a:off x="2548080" y="1479086"/>
            <a:ext cx="164307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3 6 10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16</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7" name="直接箭头连接符 6">
            <a:extLst>
              <a:ext uri="{FF2B5EF4-FFF2-40B4-BE49-F238E27FC236}">
                <a16:creationId xmlns:a16="http://schemas.microsoft.com/office/drawing/2014/main" id="{02A6C40E-A8C2-4843-A23D-93FC15C6307A}"/>
              </a:ext>
            </a:extLst>
          </p:cNvPr>
          <p:cNvCxnSpPr/>
          <p:nvPr/>
        </p:nvCxnSpPr>
        <p:spPr>
          <a:xfrm>
            <a:off x="3574249" y="1860214"/>
            <a:ext cx="819158" cy="785820"/>
          </a:xfrm>
          <a:prstGeom prst="straightConnector1">
            <a:avLst/>
          </a:prstGeom>
          <a:noFill/>
          <a:ln w="28575" cap="flat" cmpd="sng" algn="ctr">
            <a:solidFill>
              <a:srgbClr val="3333FF"/>
            </a:solidFill>
            <a:prstDash val="solid"/>
            <a:tailEnd type="arrow"/>
          </a:ln>
          <a:effectLst/>
        </p:spPr>
      </p:cxnSp>
      <p:cxnSp>
        <p:nvCxnSpPr>
          <p:cNvPr id="8" name="直接箭头连接符 7">
            <a:extLst>
              <a:ext uri="{FF2B5EF4-FFF2-40B4-BE49-F238E27FC236}">
                <a16:creationId xmlns:a16="http://schemas.microsoft.com/office/drawing/2014/main" id="{1DE04E0B-F15A-4A43-880F-C3DE96CA071D}"/>
              </a:ext>
            </a:extLst>
          </p:cNvPr>
          <p:cNvCxnSpPr/>
          <p:nvPr/>
        </p:nvCxnSpPr>
        <p:spPr>
          <a:xfrm rot="5400000">
            <a:off x="2748733" y="2267382"/>
            <a:ext cx="814336" cy="0"/>
          </a:xfrm>
          <a:prstGeom prst="straightConnector1">
            <a:avLst/>
          </a:prstGeom>
          <a:noFill/>
          <a:ln w="28575" cap="flat" cmpd="sng" algn="ctr">
            <a:solidFill>
              <a:srgbClr val="3333FF"/>
            </a:solidFill>
            <a:prstDash val="solid"/>
            <a:tailEnd type="arrow"/>
          </a:ln>
          <a:effectLst/>
        </p:spPr>
      </p:cxnSp>
      <p:sp>
        <p:nvSpPr>
          <p:cNvPr id="9" name="矩形 8">
            <a:extLst>
              <a:ext uri="{FF2B5EF4-FFF2-40B4-BE49-F238E27FC236}">
                <a16:creationId xmlns:a16="http://schemas.microsoft.com/office/drawing/2014/main" id="{4003B69F-55CD-46FC-A3E7-BC2E01AC5358}"/>
              </a:ext>
            </a:extLst>
          </p:cNvPr>
          <p:cNvSpPr/>
          <p:nvPr/>
        </p:nvSpPr>
        <p:spPr>
          <a:xfrm>
            <a:off x="1607323" y="2646032"/>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0" name="矩形 9">
            <a:extLst>
              <a:ext uri="{FF2B5EF4-FFF2-40B4-BE49-F238E27FC236}">
                <a16:creationId xmlns:a16="http://schemas.microsoft.com/office/drawing/2014/main" id="{44D50657-C9B3-4126-BCEB-0AF3AB5DD434}"/>
              </a:ext>
            </a:extLst>
          </p:cNvPr>
          <p:cNvSpPr/>
          <p:nvPr/>
        </p:nvSpPr>
        <p:spPr>
          <a:xfrm>
            <a:off x="2536017" y="2646032"/>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1" name="直接箭头连接符 10">
            <a:extLst>
              <a:ext uri="{FF2B5EF4-FFF2-40B4-BE49-F238E27FC236}">
                <a16:creationId xmlns:a16="http://schemas.microsoft.com/office/drawing/2014/main" id="{105B2F94-6481-4CB2-A06D-FB169FCB4248}"/>
              </a:ext>
            </a:extLst>
          </p:cNvPr>
          <p:cNvCxnSpPr>
            <a:endCxn id="15" idx="0"/>
          </p:cNvCxnSpPr>
          <p:nvPr/>
        </p:nvCxnSpPr>
        <p:spPr>
          <a:xfrm>
            <a:off x="3964779" y="1860214"/>
            <a:ext cx="2678925" cy="785818"/>
          </a:xfrm>
          <a:prstGeom prst="straightConnector1">
            <a:avLst/>
          </a:prstGeom>
          <a:noFill/>
          <a:ln w="28575" cap="flat" cmpd="sng" algn="ctr">
            <a:solidFill>
              <a:srgbClr val="3333FF"/>
            </a:solidFill>
            <a:prstDash val="solid"/>
            <a:tailEnd type="arrow"/>
          </a:ln>
          <a:effectLst/>
        </p:spPr>
      </p:cxnSp>
      <p:sp>
        <p:nvSpPr>
          <p:cNvPr id="12" name="矩形 11">
            <a:extLst>
              <a:ext uri="{FF2B5EF4-FFF2-40B4-BE49-F238E27FC236}">
                <a16:creationId xmlns:a16="http://schemas.microsoft.com/office/drawing/2014/main" id="{3F88A297-CE31-421C-AF81-DFD00AF1E1D1}"/>
              </a:ext>
            </a:extLst>
          </p:cNvPr>
          <p:cNvSpPr/>
          <p:nvPr/>
        </p:nvSpPr>
        <p:spPr>
          <a:xfrm>
            <a:off x="535753" y="2646032"/>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E538F850-CC10-4173-B6F6-1F71FFC89E43}"/>
              </a:ext>
            </a:extLst>
          </p:cNvPr>
          <p:cNvCxnSpPr>
            <a:endCxn id="9" idx="0"/>
          </p:cNvCxnSpPr>
          <p:nvPr/>
        </p:nvCxnSpPr>
        <p:spPr>
          <a:xfrm rot="10800000" flipV="1">
            <a:off x="2035951" y="1788776"/>
            <a:ext cx="928694" cy="857256"/>
          </a:xfrm>
          <a:prstGeom prst="straightConnector1">
            <a:avLst/>
          </a:prstGeom>
          <a:noFill/>
          <a:ln w="28575" cap="flat" cmpd="sng" algn="ctr">
            <a:solidFill>
              <a:srgbClr val="3333FF"/>
            </a:solidFill>
            <a:prstDash val="solid"/>
            <a:tailEnd type="arrow"/>
          </a:ln>
          <a:effectLst/>
        </p:spPr>
      </p:cxnSp>
      <p:sp>
        <p:nvSpPr>
          <p:cNvPr id="14" name="矩形 13">
            <a:extLst>
              <a:ext uri="{FF2B5EF4-FFF2-40B4-BE49-F238E27FC236}">
                <a16:creationId xmlns:a16="http://schemas.microsoft.com/office/drawing/2014/main" id="{7E00BECE-48CE-404B-90C1-9E9A1480ACB8}"/>
              </a:ext>
            </a:extLst>
          </p:cNvPr>
          <p:cNvSpPr/>
          <p:nvPr/>
        </p:nvSpPr>
        <p:spPr>
          <a:xfrm>
            <a:off x="3679025" y="2646032"/>
            <a:ext cx="2071702"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r>
              <a:rPr kumimoji="1" lang="en-US" altLang="zh-CN" sz="1800" b="1" i="0" u="none" strike="noStrike" kern="0" cap="none" spc="0" normalizeH="0" baseline="0" noProof="0" dirty="0">
                <a:ln>
                  <a:noFill/>
                </a:ln>
                <a:solidFill>
                  <a:srgbClr val="9900FF"/>
                </a:solidFill>
                <a:effectLst/>
                <a:uLnTx/>
                <a:uFillTx/>
                <a:latin typeface="Consolas" panose="020B0609020204030204" pitchFamily="49" charset="0"/>
                <a:ea typeface="宋体" panose="02010600030101010101" pitchFamily="2" charset="-122"/>
                <a:cs typeface="Consolas" panose="020B0609020204030204" pitchFamily="49" charset="0"/>
              </a:rPr>
              <a:t>13</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14 </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15</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F4CFE5A2-4ADF-4B9D-B6D5-02ED2A18ED0D}"/>
              </a:ext>
            </a:extLst>
          </p:cNvPr>
          <p:cNvSpPr/>
          <p:nvPr/>
        </p:nvSpPr>
        <p:spPr>
          <a:xfrm>
            <a:off x="5822165" y="2646032"/>
            <a:ext cx="164307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17 18 19 20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TextBox 37">
            <a:extLst>
              <a:ext uri="{FF2B5EF4-FFF2-40B4-BE49-F238E27FC236}">
                <a16:creationId xmlns:a16="http://schemas.microsoft.com/office/drawing/2014/main" id="{B780C840-0EFC-4612-AE3E-D1A375A0B4FE}"/>
              </a:ext>
            </a:extLst>
          </p:cNvPr>
          <p:cNvSpPr txBox="1"/>
          <p:nvPr/>
        </p:nvSpPr>
        <p:spPr>
          <a:xfrm>
            <a:off x="3536149" y="3174616"/>
            <a:ext cx="2143140"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rPr>
              <a:t>关键字个数</a:t>
            </a:r>
            <a:r>
              <a:rPr kumimoji="1" lang="en-US" altLang="zh-CN" b="1" dirty="0">
                <a:solidFill>
                  <a:srgbClr val="FF0000"/>
                </a:solidFill>
                <a:latin typeface="Consolas" panose="020B0609020204030204" pitchFamily="49" charset="0"/>
                <a:ea typeface="方正启体简体" pitchFamily="65" charset="-122"/>
                <a:cs typeface="Consolas" panose="020B0609020204030204" pitchFamily="49" charset="0"/>
              </a:rPr>
              <a:t>&gt;4</a:t>
            </a:r>
            <a:endPar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endParaRPr>
          </a:p>
        </p:txBody>
      </p:sp>
      <p:grpSp>
        <p:nvGrpSpPr>
          <p:cNvPr id="17" name="组合 39">
            <a:extLst>
              <a:ext uri="{FF2B5EF4-FFF2-40B4-BE49-F238E27FC236}">
                <a16:creationId xmlns:a16="http://schemas.microsoft.com/office/drawing/2014/main" id="{A4B46D96-19C9-4CFA-9885-7B210C6EADB3}"/>
              </a:ext>
            </a:extLst>
          </p:cNvPr>
          <p:cNvGrpSpPr/>
          <p:nvPr/>
        </p:nvGrpSpPr>
        <p:grpSpPr>
          <a:xfrm>
            <a:off x="821505" y="3789040"/>
            <a:ext cx="7500990" cy="2428892"/>
            <a:chOff x="428596" y="3357562"/>
            <a:chExt cx="7500990" cy="2428892"/>
          </a:xfrm>
        </p:grpSpPr>
        <p:sp>
          <p:nvSpPr>
            <p:cNvPr id="18" name="矩形 17">
              <a:extLst>
                <a:ext uri="{FF2B5EF4-FFF2-40B4-BE49-F238E27FC236}">
                  <a16:creationId xmlns:a16="http://schemas.microsoft.com/office/drawing/2014/main" id="{61FBB707-CF06-483B-AB31-D632641A4460}"/>
                </a:ext>
              </a:extLst>
            </p:cNvPr>
            <p:cNvSpPr/>
            <p:nvPr/>
          </p:nvSpPr>
          <p:spPr>
            <a:xfrm>
              <a:off x="3023738" y="4119630"/>
              <a:ext cx="185738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3 6 10 </a:t>
              </a:r>
              <a:r>
                <a:rPr kumimoji="1" lang="en-US" altLang="zh-CN" sz="1800" b="1" i="0" u="none" strike="noStrike" kern="0" cap="none" spc="0" normalizeH="0" baseline="0" noProof="0">
                  <a:ln>
                    <a:noFill/>
                  </a:ln>
                  <a:solidFill>
                    <a:srgbClr val="9900FF"/>
                  </a:solidFill>
                  <a:effectLst/>
                  <a:uLnTx/>
                  <a:uFillTx/>
                  <a:latin typeface="Consolas" panose="020B0609020204030204" pitchFamily="49" charset="0"/>
                  <a:ea typeface="宋体" panose="02010600030101010101" pitchFamily="2" charset="-122"/>
                  <a:cs typeface="Consolas" panose="020B0609020204030204" pitchFamily="49" charset="0"/>
                </a:rPr>
                <a:t>13 </a:t>
              </a: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16</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10373F3E-6876-4EB4-B296-12741135CD3B}"/>
                </a:ext>
              </a:extLst>
            </p:cNvPr>
            <p:cNvCxnSpPr>
              <a:endCxn id="25" idx="0"/>
            </p:cNvCxnSpPr>
            <p:nvPr/>
          </p:nvCxnSpPr>
          <p:spPr>
            <a:xfrm rot="10800000" flipV="1">
              <a:off x="892943" y="4479932"/>
              <a:ext cx="2199498" cy="806456"/>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B6B8DA84-94B0-4D7F-B08C-EA8399E26C4E}"/>
                </a:ext>
              </a:extLst>
            </p:cNvPr>
            <p:cNvCxnSpPr>
              <a:endCxn id="31" idx="0"/>
            </p:cNvCxnSpPr>
            <p:nvPr/>
          </p:nvCxnSpPr>
          <p:spPr>
            <a:xfrm>
              <a:off x="4429124" y="4500570"/>
              <a:ext cx="1178727" cy="785818"/>
            </a:xfrm>
            <a:prstGeom prst="straightConnector1">
              <a:avLst/>
            </a:prstGeom>
            <a:noFill/>
            <a:ln w="28575" cap="flat" cmpd="sng" algn="ctr">
              <a:solidFill>
                <a:srgbClr val="3333FF"/>
              </a:solidFill>
              <a:prstDash val="solid"/>
              <a:tailEnd type="arrow"/>
            </a:ln>
            <a:effectLst/>
          </p:spPr>
        </p:cxnSp>
        <p:cxnSp>
          <p:nvCxnSpPr>
            <p:cNvPr id="21" name="直接箭头连接符 20">
              <a:extLst>
                <a:ext uri="{FF2B5EF4-FFF2-40B4-BE49-F238E27FC236}">
                  <a16:creationId xmlns:a16="http://schemas.microsoft.com/office/drawing/2014/main" id="{3A7F777E-E0A1-4EDE-AA7C-C08D716AD1B2}"/>
                </a:ext>
              </a:extLst>
            </p:cNvPr>
            <p:cNvCxnSpPr>
              <a:endCxn id="23" idx="0"/>
            </p:cNvCxnSpPr>
            <p:nvPr/>
          </p:nvCxnSpPr>
          <p:spPr>
            <a:xfrm rot="5400000">
              <a:off x="2950756" y="4644636"/>
              <a:ext cx="798517" cy="484986"/>
            </a:xfrm>
            <a:prstGeom prst="straightConnector1">
              <a:avLst/>
            </a:prstGeom>
            <a:noFill/>
            <a:ln w="28575" cap="flat" cmpd="sng" algn="ctr">
              <a:solidFill>
                <a:srgbClr val="3333FF"/>
              </a:solidFill>
              <a:prstDash val="solid"/>
              <a:tailEnd type="arrow"/>
            </a:ln>
            <a:effectLst/>
          </p:spPr>
        </p:cxnSp>
        <p:sp>
          <p:nvSpPr>
            <p:cNvPr id="22" name="矩形 21">
              <a:extLst>
                <a:ext uri="{FF2B5EF4-FFF2-40B4-BE49-F238E27FC236}">
                  <a16:creationId xmlns:a16="http://schemas.microsoft.com/office/drawing/2014/main" id="{B6469EF5-2CE3-4BA0-A58D-BD760426CFC9}"/>
                </a:ext>
              </a:extLst>
            </p:cNvPr>
            <p:cNvSpPr/>
            <p:nvPr/>
          </p:nvSpPr>
          <p:spPr>
            <a:xfrm>
              <a:off x="1500166" y="5286388"/>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3" name="矩形 22">
              <a:extLst>
                <a:ext uri="{FF2B5EF4-FFF2-40B4-BE49-F238E27FC236}">
                  <a16:creationId xmlns:a16="http://schemas.microsoft.com/office/drawing/2014/main" id="{1D11035F-8DD4-41DC-BFB6-15939A2C057B}"/>
                </a:ext>
              </a:extLst>
            </p:cNvPr>
            <p:cNvSpPr/>
            <p:nvPr/>
          </p:nvSpPr>
          <p:spPr>
            <a:xfrm>
              <a:off x="2571736" y="5286388"/>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4" name="直接箭头连接符 23">
              <a:extLst>
                <a:ext uri="{FF2B5EF4-FFF2-40B4-BE49-F238E27FC236}">
                  <a16:creationId xmlns:a16="http://schemas.microsoft.com/office/drawing/2014/main" id="{83719BB0-B87B-4B53-A411-CE84A0A4C036}"/>
                </a:ext>
              </a:extLst>
            </p:cNvPr>
            <p:cNvCxnSpPr/>
            <p:nvPr/>
          </p:nvCxnSpPr>
          <p:spPr>
            <a:xfrm>
              <a:off x="4786314" y="4429132"/>
              <a:ext cx="2107421" cy="857256"/>
            </a:xfrm>
            <a:prstGeom prst="straightConnector1">
              <a:avLst/>
            </a:prstGeom>
            <a:noFill/>
            <a:ln w="28575" cap="flat" cmpd="sng" algn="ctr">
              <a:solidFill>
                <a:srgbClr val="3333FF"/>
              </a:solidFill>
              <a:prstDash val="solid"/>
              <a:tailEnd type="arrow"/>
            </a:ln>
            <a:effectLst/>
          </p:spPr>
        </p:cxnSp>
        <p:sp>
          <p:nvSpPr>
            <p:cNvPr id="25" name="矩形 24">
              <a:extLst>
                <a:ext uri="{FF2B5EF4-FFF2-40B4-BE49-F238E27FC236}">
                  <a16:creationId xmlns:a16="http://schemas.microsoft.com/office/drawing/2014/main" id="{B216BB63-5C62-4700-933C-F0C9F2E149E3}"/>
                </a:ext>
              </a:extLst>
            </p:cNvPr>
            <p:cNvSpPr/>
            <p:nvPr/>
          </p:nvSpPr>
          <p:spPr>
            <a:xfrm>
              <a:off x="428596" y="5286388"/>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6" name="直接箭头连接符 25">
              <a:extLst>
                <a:ext uri="{FF2B5EF4-FFF2-40B4-BE49-F238E27FC236}">
                  <a16:creationId xmlns:a16="http://schemas.microsoft.com/office/drawing/2014/main" id="{36417F04-34D5-412A-8072-170FD971D173}"/>
                </a:ext>
              </a:extLst>
            </p:cNvPr>
            <p:cNvCxnSpPr>
              <a:endCxn id="22" idx="0"/>
            </p:cNvCxnSpPr>
            <p:nvPr/>
          </p:nvCxnSpPr>
          <p:spPr>
            <a:xfrm rot="10800000" flipV="1">
              <a:off x="1928795" y="4475170"/>
              <a:ext cx="1408125" cy="811218"/>
            </a:xfrm>
            <a:prstGeom prst="straightConnector1">
              <a:avLst/>
            </a:prstGeom>
            <a:noFill/>
            <a:ln w="28575" cap="flat" cmpd="sng" algn="ctr">
              <a:solidFill>
                <a:srgbClr val="3333FF"/>
              </a:solidFill>
              <a:prstDash val="solid"/>
              <a:tailEnd type="arrow"/>
            </a:ln>
            <a:effectLst/>
          </p:spPr>
        </p:cxnSp>
        <p:cxnSp>
          <p:nvCxnSpPr>
            <p:cNvPr id="27" name="直接箭头连接符 26">
              <a:extLst>
                <a:ext uri="{FF2B5EF4-FFF2-40B4-BE49-F238E27FC236}">
                  <a16:creationId xmlns:a16="http://schemas.microsoft.com/office/drawing/2014/main" id="{8211BC5A-F39F-4F46-B351-22AEA4F523B6}"/>
                </a:ext>
              </a:extLst>
            </p:cNvPr>
            <p:cNvCxnSpPr/>
            <p:nvPr/>
          </p:nvCxnSpPr>
          <p:spPr>
            <a:xfrm rot="16200000" flipH="1">
              <a:off x="3824711" y="4676355"/>
              <a:ext cx="785818" cy="434248"/>
            </a:xfrm>
            <a:prstGeom prst="straightConnector1">
              <a:avLst/>
            </a:prstGeom>
            <a:noFill/>
            <a:ln w="28575" cap="flat" cmpd="sng" algn="ctr">
              <a:solidFill>
                <a:srgbClr val="3333FF"/>
              </a:solidFill>
              <a:prstDash val="solid"/>
              <a:tailEnd type="arrow"/>
            </a:ln>
            <a:effectLst/>
          </p:spPr>
        </p:cxnSp>
        <p:sp>
          <p:nvSpPr>
            <p:cNvPr id="28" name="下箭头 91">
              <a:extLst>
                <a:ext uri="{FF2B5EF4-FFF2-40B4-BE49-F238E27FC236}">
                  <a16:creationId xmlns:a16="http://schemas.microsoft.com/office/drawing/2014/main" id="{A554DA4D-67FE-49C9-87FE-BD9978A455DF}"/>
                </a:ext>
              </a:extLst>
            </p:cNvPr>
            <p:cNvSpPr/>
            <p:nvPr/>
          </p:nvSpPr>
          <p:spPr>
            <a:xfrm>
              <a:off x="3714744" y="3357562"/>
              <a:ext cx="357190" cy="500066"/>
            </a:xfrm>
            <a:prstGeom prst="downArrow">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9" name="TextBox 93">
              <a:extLst>
                <a:ext uri="{FF2B5EF4-FFF2-40B4-BE49-F238E27FC236}">
                  <a16:creationId xmlns:a16="http://schemas.microsoft.com/office/drawing/2014/main" id="{EF85A841-74CD-44A4-9C3B-01E177ACAFBC}"/>
                </a:ext>
              </a:extLst>
            </p:cNvPr>
            <p:cNvSpPr txBox="1"/>
            <p:nvPr/>
          </p:nvSpPr>
          <p:spPr>
            <a:xfrm>
              <a:off x="4809688" y="4148148"/>
              <a:ext cx="2143140" cy="369332"/>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方正启体简体" pitchFamily="65" charset="-122"/>
                  <a:cs typeface="Consolas" panose="020B0609020204030204" pitchFamily="49" charset="0"/>
                </a:rPr>
                <a:t>关键字个数</a:t>
              </a:r>
              <a:r>
                <a:rPr kumimoji="1" lang="en-US" altLang="zh-CN" sz="1800" b="1" i="0" u="none" strike="noStrike" kern="0" cap="none" spc="0" normalizeH="0" baseline="0" noProof="0" dirty="0">
                  <a:ln>
                    <a:noFill/>
                  </a:ln>
                  <a:solidFill>
                    <a:srgbClr val="FF0000"/>
                  </a:solidFill>
                  <a:effectLst/>
                  <a:uLnTx/>
                  <a:uFillTx/>
                  <a:latin typeface="Consolas" panose="020B0609020204030204" pitchFamily="49" charset="0"/>
                  <a:ea typeface="方正启体简体" pitchFamily="65" charset="-122"/>
                  <a:cs typeface="Consolas" panose="020B0609020204030204" pitchFamily="49" charset="0"/>
                </a:rPr>
                <a:t>&gt;4</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方正启体简体" pitchFamily="65" charset="-122"/>
                <a:cs typeface="Consolas" panose="020B0609020204030204" pitchFamily="49" charset="0"/>
              </a:endParaRPr>
            </a:p>
          </p:txBody>
        </p:sp>
        <p:sp>
          <p:nvSpPr>
            <p:cNvPr id="30" name="矩形 29">
              <a:extLst>
                <a:ext uri="{FF2B5EF4-FFF2-40B4-BE49-F238E27FC236}">
                  <a16:creationId xmlns:a16="http://schemas.microsoft.com/office/drawing/2014/main" id="{F7F0A063-D093-4C1B-B478-4F0C73BB5084}"/>
                </a:ext>
              </a:extLst>
            </p:cNvPr>
            <p:cNvSpPr/>
            <p:nvPr/>
          </p:nvSpPr>
          <p:spPr>
            <a:xfrm>
              <a:off x="3929058" y="5286388"/>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1" name="矩形 30">
              <a:extLst>
                <a:ext uri="{FF2B5EF4-FFF2-40B4-BE49-F238E27FC236}">
                  <a16:creationId xmlns:a16="http://schemas.microsoft.com/office/drawing/2014/main" id="{96B22BF0-C7EE-430A-85F8-963B0788F6F9}"/>
                </a:ext>
              </a:extLst>
            </p:cNvPr>
            <p:cNvSpPr/>
            <p:nvPr/>
          </p:nvSpPr>
          <p:spPr>
            <a:xfrm>
              <a:off x="5143504" y="5286388"/>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2" name="矩形 31">
              <a:extLst>
                <a:ext uri="{FF2B5EF4-FFF2-40B4-BE49-F238E27FC236}">
                  <a16:creationId xmlns:a16="http://schemas.microsoft.com/office/drawing/2014/main" id="{6FCC5EDF-A156-4CFB-AD62-E48BACA03460}"/>
                </a:ext>
              </a:extLst>
            </p:cNvPr>
            <p:cNvSpPr/>
            <p:nvPr/>
          </p:nvSpPr>
          <p:spPr>
            <a:xfrm>
              <a:off x="6286512" y="5286388"/>
              <a:ext cx="164307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17 18 19 20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sp>
        <p:nvSpPr>
          <p:cNvPr id="33" name="TextBox 32">
            <a:extLst>
              <a:ext uri="{FF2B5EF4-FFF2-40B4-BE49-F238E27FC236}">
                <a16:creationId xmlns:a16="http://schemas.microsoft.com/office/drawing/2014/main" id="{277A4476-E2A0-4B38-9509-27D6EF6D03CC}"/>
              </a:ext>
            </a:extLst>
          </p:cNvPr>
          <p:cNvSpPr txBox="1"/>
          <p:nvPr/>
        </p:nvSpPr>
        <p:spPr>
          <a:xfrm>
            <a:off x="107125" y="837458"/>
            <a:ext cx="1357322" cy="400110"/>
          </a:xfrm>
          <a:prstGeom prst="rect">
            <a:avLst/>
          </a:prstGeom>
          <a:noFill/>
        </p:spPr>
        <p:txBody>
          <a:bodyPr wrap="square" rtlCol="0">
            <a:spAutoFit/>
          </a:bodyPr>
          <a:lstStyle/>
          <a:p>
            <a:pPr fontAlgn="base">
              <a:spcBef>
                <a:spcPct val="0"/>
              </a:spcBef>
              <a:spcAft>
                <a:spcPct val="0"/>
              </a:spcAft>
            </a:pPr>
            <a:r>
              <a:rPr kumimoji="1" lang="en-US" altLang="zh-CN" sz="20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a:extLst>
              <a:ext uri="{FF2B5EF4-FFF2-40B4-BE49-F238E27FC236}">
                <a16:creationId xmlns:a16="http://schemas.microsoft.com/office/drawing/2014/main" id="{EC23486D-06C9-459D-8D90-06275F23D7DC}"/>
              </a:ext>
            </a:extLst>
          </p:cNvPr>
          <p:cNvSpPr txBox="1"/>
          <p:nvPr/>
        </p:nvSpPr>
        <p:spPr>
          <a:xfrm>
            <a:off x="4464843" y="3789040"/>
            <a:ext cx="785818" cy="369332"/>
          </a:xfrm>
          <a:prstGeom prst="rect">
            <a:avLst/>
          </a:prstGeom>
          <a:noFill/>
        </p:spPr>
        <p:txBody>
          <a:bodyPr wrap="square" rtlCol="0">
            <a:spAutoFit/>
          </a:bodyPr>
          <a:lstStyle/>
          <a:p>
            <a:pPr fontAlgn="base">
              <a:spcBef>
                <a:spcPct val="0"/>
              </a:spcBef>
              <a:spcAft>
                <a:spcPct val="0"/>
              </a:spcAft>
            </a:pPr>
            <a:r>
              <a:rPr kumimoji="1" lang="zh-CN" altLang="en-US" b="1">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kumimoji="1" lang="zh-CN" altLang="en-US"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35" name="直接箭头连接符 34">
            <a:extLst>
              <a:ext uri="{FF2B5EF4-FFF2-40B4-BE49-F238E27FC236}">
                <a16:creationId xmlns:a16="http://schemas.microsoft.com/office/drawing/2014/main" id="{D512CC9B-C2EA-49C2-B7C2-AA51CE5353EB}"/>
              </a:ext>
            </a:extLst>
          </p:cNvPr>
          <p:cNvCxnSpPr/>
          <p:nvPr/>
        </p:nvCxnSpPr>
        <p:spPr>
          <a:xfrm rot="10800000" flipV="1">
            <a:off x="1250136" y="1860214"/>
            <a:ext cx="1428761" cy="785818"/>
          </a:xfrm>
          <a:prstGeom prst="straightConnector1">
            <a:avLst/>
          </a:prstGeom>
          <a:noFill/>
          <a:ln w="28575" cap="flat" cmpd="sng" algn="ctr">
            <a:solidFill>
              <a:srgbClr val="3333FF"/>
            </a:solidFill>
            <a:prstDash val="solid"/>
            <a:tailEnd type="arrow"/>
          </a:ln>
          <a:effectLst/>
        </p:spPr>
      </p:cxnSp>
      <p:sp>
        <p:nvSpPr>
          <p:cNvPr id="36" name="矩形 35">
            <a:extLst>
              <a:ext uri="{FF2B5EF4-FFF2-40B4-BE49-F238E27FC236}">
                <a16:creationId xmlns:a16="http://schemas.microsoft.com/office/drawing/2014/main" id="{30D9261D-CA99-4883-8A80-99C8E595D378}"/>
              </a:ext>
            </a:extLst>
          </p:cNvPr>
          <p:cNvSpPr/>
          <p:nvPr/>
        </p:nvSpPr>
        <p:spPr>
          <a:xfrm>
            <a:off x="222880" y="228471"/>
            <a:ext cx="8820472" cy="369332"/>
          </a:xfrm>
          <a:prstGeom prst="rect">
            <a:avLst/>
          </a:prstGeom>
        </p:spPr>
        <p:txBody>
          <a:bodyPr wrap="square">
            <a:spAutoFit/>
          </a:bodyPr>
          <a:lstStyle/>
          <a:p>
            <a:r>
              <a:rPr lang="en-US" altLang="zh-CN"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11</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4</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8</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13</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10</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5</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17</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9</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16</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20</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3</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12</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14</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18</a:t>
            </a:r>
            <a:r>
              <a:rPr lang="zh-CN" altLang="en-US" b="1" dirty="0">
                <a:solidFill>
                  <a:srgbClr val="00B050"/>
                </a:solidFill>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00B050"/>
                </a:solidFill>
                <a:latin typeface="Consolas" panose="020B0609020204030204" pitchFamily="49" charset="0"/>
                <a:ea typeface="楷体" panose="02010609060101010101" pitchFamily="49" charset="-122"/>
                <a:cs typeface="Consolas" panose="020B0609020204030204" pitchFamily="49" charset="0"/>
              </a:rPr>
              <a:t>19</a:t>
            </a:r>
            <a:r>
              <a:rPr lang="zh-CN" altLang="en-US" b="1" dirty="0">
                <a:latin typeface="Consolas" panose="020B0609020204030204" pitchFamily="49" charset="0"/>
                <a:ea typeface="楷体" panose="02010609060101010101" pitchFamily="49" charset="-122"/>
                <a:cs typeface="Consolas" panose="020B0609020204030204" pitchFamily="49" charset="0"/>
              </a:rPr>
              <a:t>，</a:t>
            </a:r>
            <a:r>
              <a:rPr lang="en-US" altLang="zh-CN" b="1" dirty="0">
                <a:solidFill>
                  <a:srgbClr val="C00000"/>
                </a:solidFill>
                <a:latin typeface="Consolas" panose="020B0609020204030204" pitchFamily="49" charset="0"/>
                <a:ea typeface="楷体" panose="02010609060101010101" pitchFamily="49" charset="-122"/>
                <a:cs typeface="Consolas" panose="020B0609020204030204" pitchFamily="49" charset="0"/>
              </a:rPr>
              <a:t>15</a:t>
            </a:r>
            <a:r>
              <a:rPr lang="en-US" altLang="zh-CN" b="1" dirty="0">
                <a:latin typeface="Consolas" panose="020B0609020204030204" pitchFamily="49" charset="0"/>
                <a:ea typeface="楷体" panose="02010609060101010101" pitchFamily="49" charset="-122"/>
                <a:cs typeface="Consolas" panose="020B0609020204030204" pitchFamily="49" charset="0"/>
              </a:rPr>
              <a:t>)</a:t>
            </a:r>
            <a:endParaRPr lang="zh-CN" altLang="en-US" dirty="0"/>
          </a:p>
        </p:txBody>
      </p:sp>
    </p:spTree>
    <p:extLst>
      <p:ext uri="{BB962C8B-B14F-4D97-AF65-F5344CB8AC3E}">
        <p14:creationId xmlns:p14="http://schemas.microsoft.com/office/powerpoint/2010/main" val="402714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BAAF72-03DC-4E7C-B381-2247B3806FFA}"/>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grpSp>
        <p:nvGrpSpPr>
          <p:cNvPr id="3" name="组合 81">
            <a:extLst>
              <a:ext uri="{FF2B5EF4-FFF2-40B4-BE49-F238E27FC236}">
                <a16:creationId xmlns:a16="http://schemas.microsoft.com/office/drawing/2014/main" id="{D8C349EF-D9DF-4633-9C0E-319183A5BC5D}"/>
              </a:ext>
            </a:extLst>
          </p:cNvPr>
          <p:cNvGrpSpPr/>
          <p:nvPr/>
        </p:nvGrpSpPr>
        <p:grpSpPr>
          <a:xfrm>
            <a:off x="971600" y="2852936"/>
            <a:ext cx="7786742" cy="2571768"/>
            <a:chOff x="642910" y="3000372"/>
            <a:chExt cx="7786742" cy="2571768"/>
          </a:xfrm>
        </p:grpSpPr>
        <p:sp>
          <p:nvSpPr>
            <p:cNvPr id="4" name="矩形 3">
              <a:extLst>
                <a:ext uri="{FF2B5EF4-FFF2-40B4-BE49-F238E27FC236}">
                  <a16:creationId xmlns:a16="http://schemas.microsoft.com/office/drawing/2014/main" id="{C5608637-D24E-4F79-A587-AD1241850B1D}"/>
                </a:ext>
              </a:extLst>
            </p:cNvPr>
            <p:cNvSpPr/>
            <p:nvPr/>
          </p:nvSpPr>
          <p:spPr>
            <a:xfrm>
              <a:off x="2428860" y="3929066"/>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5" name="直接箭头连接符 4">
              <a:extLst>
                <a:ext uri="{FF2B5EF4-FFF2-40B4-BE49-F238E27FC236}">
                  <a16:creationId xmlns:a16="http://schemas.microsoft.com/office/drawing/2014/main" id="{A839F585-BC5D-4BFB-BE17-1D4AC3D7D807}"/>
                </a:ext>
              </a:extLst>
            </p:cNvPr>
            <p:cNvCxnSpPr/>
            <p:nvPr/>
          </p:nvCxnSpPr>
          <p:spPr>
            <a:xfrm rot="10800000" flipV="1">
              <a:off x="1119958" y="4273556"/>
              <a:ext cx="1464479" cy="785818"/>
            </a:xfrm>
            <a:prstGeom prst="straightConnector1">
              <a:avLst/>
            </a:prstGeom>
            <a:noFill/>
            <a:ln w="28575" cap="flat" cmpd="sng" algn="ctr">
              <a:solidFill>
                <a:srgbClr val="3333FF"/>
              </a:solidFill>
              <a:prstDash val="solid"/>
              <a:tailEnd type="arrow"/>
            </a:ln>
            <a:effectLst/>
          </p:spPr>
        </p:cxnSp>
        <p:cxnSp>
          <p:nvCxnSpPr>
            <p:cNvPr id="6" name="直接箭头连接符 5">
              <a:extLst>
                <a:ext uri="{FF2B5EF4-FFF2-40B4-BE49-F238E27FC236}">
                  <a16:creationId xmlns:a16="http://schemas.microsoft.com/office/drawing/2014/main" id="{FB596C68-FC23-47AA-BA5E-C4A4E08F2810}"/>
                </a:ext>
              </a:extLst>
            </p:cNvPr>
            <p:cNvCxnSpPr>
              <a:endCxn id="8" idx="0"/>
            </p:cNvCxnSpPr>
            <p:nvPr/>
          </p:nvCxnSpPr>
          <p:spPr>
            <a:xfrm rot="16200000" flipH="1">
              <a:off x="2801528" y="4551767"/>
              <a:ext cx="790580" cy="250034"/>
            </a:xfrm>
            <a:prstGeom prst="straightConnector1">
              <a:avLst/>
            </a:prstGeom>
            <a:noFill/>
            <a:ln w="28575" cap="flat" cmpd="sng" algn="ctr">
              <a:solidFill>
                <a:srgbClr val="3333FF"/>
              </a:solidFill>
              <a:prstDash val="solid"/>
              <a:tailEnd type="arrow"/>
            </a:ln>
            <a:effectLst/>
          </p:spPr>
        </p:cxnSp>
        <p:sp>
          <p:nvSpPr>
            <p:cNvPr id="7" name="矩形 6">
              <a:extLst>
                <a:ext uri="{FF2B5EF4-FFF2-40B4-BE49-F238E27FC236}">
                  <a16:creationId xmlns:a16="http://schemas.microsoft.com/office/drawing/2014/main" id="{E6BF6470-0516-415B-8D10-8C93447278AA}"/>
                </a:ext>
              </a:extLst>
            </p:cNvPr>
            <p:cNvSpPr/>
            <p:nvPr/>
          </p:nvSpPr>
          <p:spPr>
            <a:xfrm>
              <a:off x="1714480" y="5072074"/>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8" name="矩形 7">
              <a:extLst>
                <a:ext uri="{FF2B5EF4-FFF2-40B4-BE49-F238E27FC236}">
                  <a16:creationId xmlns:a16="http://schemas.microsoft.com/office/drawing/2014/main" id="{D5E0D70E-813F-47A5-89DD-46E3FB97A14B}"/>
                </a:ext>
              </a:extLst>
            </p:cNvPr>
            <p:cNvSpPr/>
            <p:nvPr/>
          </p:nvSpPr>
          <p:spPr>
            <a:xfrm>
              <a:off x="2786050" y="5072074"/>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9" name="矩形 8">
              <a:extLst>
                <a:ext uri="{FF2B5EF4-FFF2-40B4-BE49-F238E27FC236}">
                  <a16:creationId xmlns:a16="http://schemas.microsoft.com/office/drawing/2014/main" id="{54EEB84D-7BFA-4661-8FEE-ECB045B40924}"/>
                </a:ext>
              </a:extLst>
            </p:cNvPr>
            <p:cNvSpPr/>
            <p:nvPr/>
          </p:nvSpPr>
          <p:spPr>
            <a:xfrm>
              <a:off x="642910" y="5072074"/>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0" name="直接箭头连接符 9">
              <a:extLst>
                <a:ext uri="{FF2B5EF4-FFF2-40B4-BE49-F238E27FC236}">
                  <a16:creationId xmlns:a16="http://schemas.microsoft.com/office/drawing/2014/main" id="{FDAAFAC5-4C0B-4A8D-A928-DFA5227341D8}"/>
                </a:ext>
              </a:extLst>
            </p:cNvPr>
            <p:cNvCxnSpPr>
              <a:endCxn id="7" idx="0"/>
            </p:cNvCxnSpPr>
            <p:nvPr/>
          </p:nvCxnSpPr>
          <p:spPr>
            <a:xfrm rot="5400000">
              <a:off x="2091119" y="4341422"/>
              <a:ext cx="782641" cy="678662"/>
            </a:xfrm>
            <a:prstGeom prst="straightConnector1">
              <a:avLst/>
            </a:prstGeom>
            <a:noFill/>
            <a:ln w="28575" cap="flat" cmpd="sng" algn="ctr">
              <a:solidFill>
                <a:srgbClr val="3333FF"/>
              </a:solidFill>
              <a:prstDash val="solid"/>
              <a:tailEnd type="arrow"/>
            </a:ln>
            <a:effectLst/>
          </p:spPr>
        </p:cxnSp>
        <p:sp>
          <p:nvSpPr>
            <p:cNvPr id="11" name="矩形 10">
              <a:extLst>
                <a:ext uri="{FF2B5EF4-FFF2-40B4-BE49-F238E27FC236}">
                  <a16:creationId xmlns:a16="http://schemas.microsoft.com/office/drawing/2014/main" id="{0D468BAF-5C43-4E04-B53A-A56DFEA2AC8E}"/>
                </a:ext>
              </a:extLst>
            </p:cNvPr>
            <p:cNvSpPr/>
            <p:nvPr/>
          </p:nvSpPr>
          <p:spPr>
            <a:xfrm>
              <a:off x="4214810" y="5072074"/>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矩形 11">
              <a:extLst>
                <a:ext uri="{FF2B5EF4-FFF2-40B4-BE49-F238E27FC236}">
                  <a16:creationId xmlns:a16="http://schemas.microsoft.com/office/drawing/2014/main" id="{DA17A9F3-6402-495A-8A69-37E66CDED6EB}"/>
                </a:ext>
              </a:extLst>
            </p:cNvPr>
            <p:cNvSpPr/>
            <p:nvPr/>
          </p:nvSpPr>
          <p:spPr>
            <a:xfrm>
              <a:off x="5429256" y="5072074"/>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3" name="矩形 12">
              <a:extLst>
                <a:ext uri="{FF2B5EF4-FFF2-40B4-BE49-F238E27FC236}">
                  <a16:creationId xmlns:a16="http://schemas.microsoft.com/office/drawing/2014/main" id="{1A5514A5-E387-460E-8D19-C97324197633}"/>
                </a:ext>
              </a:extLst>
            </p:cNvPr>
            <p:cNvSpPr/>
            <p:nvPr/>
          </p:nvSpPr>
          <p:spPr>
            <a:xfrm>
              <a:off x="6643702" y="5072074"/>
              <a:ext cx="178595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17 18 19 20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4" name="矩形 13">
              <a:extLst>
                <a:ext uri="{FF2B5EF4-FFF2-40B4-BE49-F238E27FC236}">
                  <a16:creationId xmlns:a16="http://schemas.microsoft.com/office/drawing/2014/main" id="{37108044-50C1-4388-AFC3-96321096EDE2}"/>
                </a:ext>
              </a:extLst>
            </p:cNvPr>
            <p:cNvSpPr/>
            <p:nvPr/>
          </p:nvSpPr>
          <p:spPr>
            <a:xfrm>
              <a:off x="3857620" y="3000372"/>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DE072844-41AC-437D-BA14-7F9802C7B42D}"/>
                </a:ext>
              </a:extLst>
            </p:cNvPr>
            <p:cNvSpPr/>
            <p:nvPr/>
          </p:nvSpPr>
          <p:spPr>
            <a:xfrm>
              <a:off x="5143504" y="392906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13  16</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6" name="直接箭头连接符 15">
              <a:extLst>
                <a:ext uri="{FF2B5EF4-FFF2-40B4-BE49-F238E27FC236}">
                  <a16:creationId xmlns:a16="http://schemas.microsoft.com/office/drawing/2014/main" id="{2D5BCC80-C3B6-4BBC-B790-2E982C2D28A1}"/>
                </a:ext>
              </a:extLst>
            </p:cNvPr>
            <p:cNvCxnSpPr/>
            <p:nvPr/>
          </p:nvCxnSpPr>
          <p:spPr>
            <a:xfrm rot="5400000">
              <a:off x="4625610" y="4360504"/>
              <a:ext cx="785818" cy="637322"/>
            </a:xfrm>
            <a:prstGeom prst="straightConnector1">
              <a:avLst/>
            </a:prstGeom>
            <a:noFill/>
            <a:ln w="28575" cap="flat" cmpd="sng" algn="ctr">
              <a:solidFill>
                <a:srgbClr val="3333FF"/>
              </a:solidFill>
              <a:prstDash val="solid"/>
              <a:tailEnd type="arrow"/>
            </a:ln>
            <a:effectLst/>
          </p:spPr>
        </p:cxnSp>
        <p:cxnSp>
          <p:nvCxnSpPr>
            <p:cNvPr id="17" name="直接箭头连接符 16">
              <a:extLst>
                <a:ext uri="{FF2B5EF4-FFF2-40B4-BE49-F238E27FC236}">
                  <a16:creationId xmlns:a16="http://schemas.microsoft.com/office/drawing/2014/main" id="{05FC16F7-DBFB-4BFE-A6F0-1BD27FE01B31}"/>
                </a:ext>
              </a:extLst>
            </p:cNvPr>
            <p:cNvCxnSpPr>
              <a:endCxn id="12" idx="0"/>
            </p:cNvCxnSpPr>
            <p:nvPr/>
          </p:nvCxnSpPr>
          <p:spPr>
            <a:xfrm rot="16200000" flipH="1">
              <a:off x="5385996" y="4564467"/>
              <a:ext cx="785818" cy="229396"/>
            </a:xfrm>
            <a:prstGeom prst="straightConnector1">
              <a:avLst/>
            </a:prstGeom>
            <a:noFill/>
            <a:ln w="28575" cap="flat" cmpd="sng" algn="ctr">
              <a:solidFill>
                <a:srgbClr val="3333FF"/>
              </a:solidFill>
              <a:prstDash val="solid"/>
              <a:tailEnd type="arrow"/>
            </a:ln>
            <a:effectLst/>
          </p:spPr>
        </p:cxnSp>
        <p:cxnSp>
          <p:nvCxnSpPr>
            <p:cNvPr id="18" name="直接箭头连接符 17">
              <a:extLst>
                <a:ext uri="{FF2B5EF4-FFF2-40B4-BE49-F238E27FC236}">
                  <a16:creationId xmlns:a16="http://schemas.microsoft.com/office/drawing/2014/main" id="{E25FB2A0-17D7-4D9D-AFBF-278A342DDC92}"/>
                </a:ext>
              </a:extLst>
            </p:cNvPr>
            <p:cNvCxnSpPr>
              <a:endCxn id="13" idx="0"/>
            </p:cNvCxnSpPr>
            <p:nvPr/>
          </p:nvCxnSpPr>
          <p:spPr>
            <a:xfrm>
              <a:off x="6000760" y="4286256"/>
              <a:ext cx="1535917" cy="785818"/>
            </a:xfrm>
            <a:prstGeom prst="straightConnector1">
              <a:avLst/>
            </a:prstGeom>
            <a:noFill/>
            <a:ln w="28575" cap="flat" cmpd="sng" algn="ctr">
              <a:solidFill>
                <a:srgbClr val="3333FF"/>
              </a:solidFill>
              <a:prstDash val="solid"/>
              <a:tailEnd type="arrow"/>
            </a:ln>
            <a:effectLst/>
          </p:spPr>
        </p:cxnSp>
        <p:cxnSp>
          <p:nvCxnSpPr>
            <p:cNvPr id="19" name="直接箭头连接符 18">
              <a:extLst>
                <a:ext uri="{FF2B5EF4-FFF2-40B4-BE49-F238E27FC236}">
                  <a16:creationId xmlns:a16="http://schemas.microsoft.com/office/drawing/2014/main" id="{C4E7F43A-1BE9-4E9D-A7A2-448A9610B6CF}"/>
                </a:ext>
              </a:extLst>
            </p:cNvPr>
            <p:cNvCxnSpPr>
              <a:endCxn id="4" idx="0"/>
            </p:cNvCxnSpPr>
            <p:nvPr/>
          </p:nvCxnSpPr>
          <p:spPr>
            <a:xfrm rot="10800000" flipV="1">
              <a:off x="2821770" y="3357562"/>
              <a:ext cx="1178727" cy="571504"/>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22C223E7-35AE-4AFE-A9C7-4D7DD1DBC6BE}"/>
                </a:ext>
              </a:extLst>
            </p:cNvPr>
            <p:cNvCxnSpPr>
              <a:endCxn id="15" idx="0"/>
            </p:cNvCxnSpPr>
            <p:nvPr/>
          </p:nvCxnSpPr>
          <p:spPr>
            <a:xfrm>
              <a:off x="4508500" y="3336924"/>
              <a:ext cx="1170789" cy="592142"/>
            </a:xfrm>
            <a:prstGeom prst="straightConnector1">
              <a:avLst/>
            </a:prstGeom>
            <a:noFill/>
            <a:ln w="28575" cap="flat" cmpd="sng" algn="ctr">
              <a:solidFill>
                <a:srgbClr val="3333FF"/>
              </a:solidFill>
              <a:prstDash val="solid"/>
              <a:tailEnd type="arrow"/>
            </a:ln>
            <a:effectLst/>
          </p:spPr>
        </p:cxnSp>
      </p:grpSp>
      <p:sp>
        <p:nvSpPr>
          <p:cNvPr id="21" name="Text Box 67">
            <a:extLst>
              <a:ext uri="{FF2B5EF4-FFF2-40B4-BE49-F238E27FC236}">
                <a16:creationId xmlns:a16="http://schemas.microsoft.com/office/drawing/2014/main" id="{618100CA-A3C2-4EA2-839A-F1034DF7D421}"/>
              </a:ext>
            </a:extLst>
          </p:cNvPr>
          <p:cNvSpPr txBox="1">
            <a:spLocks noChangeArrowheads="1"/>
          </p:cNvSpPr>
          <p:nvPr/>
        </p:nvSpPr>
        <p:spPr bwMode="auto">
          <a:xfrm>
            <a:off x="3100465" y="5753322"/>
            <a:ext cx="3168650" cy="369332"/>
          </a:xfrm>
          <a:prstGeom prst="rect">
            <a:avLst/>
          </a:prstGeom>
          <a:noFill/>
          <a:ln w="28575" algn="ctr">
            <a:noFill/>
            <a:miter lim="800000"/>
          </a:ln>
        </p:spPr>
        <p:txBody>
          <a:bodyPr>
            <a:spAutoFit/>
          </a:bodyPr>
          <a:lstStyle/>
          <a:p>
            <a:pPr algn="ctr" fontAlgn="base">
              <a:spcBef>
                <a:spcPct val="50000"/>
              </a:spcBef>
              <a:spcAft>
                <a:spcPct val="0"/>
              </a:spcAft>
            </a:pPr>
            <a:r>
              <a:rPr lang="en-US" altLang="zh-CN" b="1" dirty="0">
                <a:solidFill>
                  <a:srgbClr val="FF00FF"/>
                </a:solidFill>
                <a:latin typeface="Consolas" panose="020B0609020204030204" pitchFamily="49" charset="0"/>
                <a:ea typeface="楷体" panose="02010609060101010101" pitchFamily="49" charset="-122"/>
                <a:cs typeface="Consolas" panose="020B0609020204030204" pitchFamily="49" charset="0"/>
              </a:rPr>
              <a:t>B</a:t>
            </a:r>
            <a:r>
              <a:rPr lang="zh-CN" altLang="en-US" b="1" dirty="0">
                <a:solidFill>
                  <a:srgbClr val="FF00FF"/>
                </a:solidFill>
                <a:latin typeface="Consolas" panose="020B0609020204030204" pitchFamily="49" charset="0"/>
                <a:ea typeface="楷体" panose="02010609060101010101" pitchFamily="49" charset="-122"/>
                <a:cs typeface="Consolas" panose="020B0609020204030204" pitchFamily="49" charset="0"/>
              </a:rPr>
              <a:t>树构建完毕</a:t>
            </a:r>
          </a:p>
        </p:txBody>
      </p:sp>
      <p:sp>
        <p:nvSpPr>
          <p:cNvPr id="22" name="矩形 21">
            <a:extLst>
              <a:ext uri="{FF2B5EF4-FFF2-40B4-BE49-F238E27FC236}">
                <a16:creationId xmlns:a16="http://schemas.microsoft.com/office/drawing/2014/main" id="{DE7847AE-6171-460A-9934-39F65C9E8F5F}"/>
              </a:ext>
            </a:extLst>
          </p:cNvPr>
          <p:cNvSpPr/>
          <p:nvPr/>
        </p:nvSpPr>
        <p:spPr>
          <a:xfrm>
            <a:off x="3352616" y="364669"/>
            <a:ext cx="200026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3 6 10 </a:t>
            </a:r>
            <a:r>
              <a:rPr kumimoji="1" lang="en-US" altLang="zh-CN" sz="1800" b="1" i="0" u="none" strike="noStrike" kern="0" cap="none" spc="0" normalizeH="0" baseline="0" noProof="0">
                <a:ln>
                  <a:noFill/>
                </a:ln>
                <a:solidFill>
                  <a:srgbClr val="9900FF"/>
                </a:solidFill>
                <a:effectLst/>
                <a:uLnTx/>
                <a:uFillTx/>
                <a:latin typeface="Consolas" panose="020B0609020204030204" pitchFamily="49" charset="0"/>
                <a:ea typeface="宋体" panose="02010600030101010101" pitchFamily="2" charset="-122"/>
                <a:cs typeface="Consolas" panose="020B0609020204030204" pitchFamily="49" charset="0"/>
              </a:rPr>
              <a:t>13</a:t>
            </a: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16</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3" name="直接箭头连接符 22">
            <a:extLst>
              <a:ext uri="{FF2B5EF4-FFF2-40B4-BE49-F238E27FC236}">
                <a16:creationId xmlns:a16="http://schemas.microsoft.com/office/drawing/2014/main" id="{E85B483D-CE0B-4263-89AA-838D444E6F6E}"/>
              </a:ext>
            </a:extLst>
          </p:cNvPr>
          <p:cNvCxnSpPr>
            <a:endCxn id="29" idx="0"/>
          </p:cNvCxnSpPr>
          <p:nvPr/>
        </p:nvCxnSpPr>
        <p:spPr>
          <a:xfrm rot="10800000" flipV="1">
            <a:off x="1293071" y="760596"/>
            <a:ext cx="2199498" cy="806456"/>
          </a:xfrm>
          <a:prstGeom prst="straightConnector1">
            <a:avLst/>
          </a:prstGeom>
          <a:noFill/>
          <a:ln w="28575" cap="flat" cmpd="sng" algn="ctr">
            <a:solidFill>
              <a:srgbClr val="3333FF"/>
            </a:solidFill>
            <a:prstDash val="solid"/>
            <a:tailEnd type="arrow"/>
          </a:ln>
          <a:effectLst/>
        </p:spPr>
      </p:cxnSp>
      <p:cxnSp>
        <p:nvCxnSpPr>
          <p:cNvPr id="24" name="直接箭头连接符 23">
            <a:extLst>
              <a:ext uri="{FF2B5EF4-FFF2-40B4-BE49-F238E27FC236}">
                <a16:creationId xmlns:a16="http://schemas.microsoft.com/office/drawing/2014/main" id="{CD5C5D60-8386-4741-B996-4F9947E66B0F}"/>
              </a:ext>
            </a:extLst>
          </p:cNvPr>
          <p:cNvCxnSpPr/>
          <p:nvPr/>
        </p:nvCxnSpPr>
        <p:spPr>
          <a:xfrm>
            <a:off x="4829254" y="709796"/>
            <a:ext cx="1393041" cy="857256"/>
          </a:xfrm>
          <a:prstGeom prst="straightConnector1">
            <a:avLst/>
          </a:prstGeom>
          <a:noFill/>
          <a:ln w="28575" cap="flat" cmpd="sng" algn="ctr">
            <a:solidFill>
              <a:srgbClr val="3333FF"/>
            </a:solidFill>
            <a:prstDash val="solid"/>
            <a:tailEnd type="arrow"/>
          </a:ln>
          <a:effectLst/>
        </p:spPr>
      </p:cxnSp>
      <p:cxnSp>
        <p:nvCxnSpPr>
          <p:cNvPr id="25" name="直接箭头连接符 24">
            <a:extLst>
              <a:ext uri="{FF2B5EF4-FFF2-40B4-BE49-F238E27FC236}">
                <a16:creationId xmlns:a16="http://schemas.microsoft.com/office/drawing/2014/main" id="{16A702FC-AC6F-4105-86A6-5E8B0CC5E560}"/>
              </a:ext>
            </a:extLst>
          </p:cNvPr>
          <p:cNvCxnSpPr>
            <a:endCxn id="27" idx="0"/>
          </p:cNvCxnSpPr>
          <p:nvPr/>
        </p:nvCxnSpPr>
        <p:spPr>
          <a:xfrm rot="5400000">
            <a:off x="3350886" y="925300"/>
            <a:ext cx="798517" cy="484986"/>
          </a:xfrm>
          <a:prstGeom prst="straightConnector1">
            <a:avLst/>
          </a:prstGeom>
          <a:noFill/>
          <a:ln w="28575" cap="flat" cmpd="sng" algn="ctr">
            <a:solidFill>
              <a:srgbClr val="3333FF"/>
            </a:solidFill>
            <a:prstDash val="solid"/>
            <a:tailEnd type="arrow"/>
          </a:ln>
          <a:effectLst/>
        </p:spPr>
      </p:cxnSp>
      <p:sp>
        <p:nvSpPr>
          <p:cNvPr id="26" name="矩形 25">
            <a:extLst>
              <a:ext uri="{FF2B5EF4-FFF2-40B4-BE49-F238E27FC236}">
                <a16:creationId xmlns:a16="http://schemas.microsoft.com/office/drawing/2014/main" id="{A7040307-65CB-41D9-82CF-EB10E1299777}"/>
              </a:ext>
            </a:extLst>
          </p:cNvPr>
          <p:cNvSpPr/>
          <p:nvPr/>
        </p:nvSpPr>
        <p:spPr>
          <a:xfrm>
            <a:off x="1900294" y="1567052"/>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7" name="矩形 26">
            <a:extLst>
              <a:ext uri="{FF2B5EF4-FFF2-40B4-BE49-F238E27FC236}">
                <a16:creationId xmlns:a16="http://schemas.microsoft.com/office/drawing/2014/main" id="{9CAC9323-731B-4055-AAAF-46C83D525D8F}"/>
              </a:ext>
            </a:extLst>
          </p:cNvPr>
          <p:cNvSpPr/>
          <p:nvPr/>
        </p:nvSpPr>
        <p:spPr>
          <a:xfrm>
            <a:off x="2971864" y="1567052"/>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8" name="直接箭头连接符 27">
            <a:extLst>
              <a:ext uri="{FF2B5EF4-FFF2-40B4-BE49-F238E27FC236}">
                <a16:creationId xmlns:a16="http://schemas.microsoft.com/office/drawing/2014/main" id="{EE950F6E-577D-473F-9211-ED844A615B10}"/>
              </a:ext>
            </a:extLst>
          </p:cNvPr>
          <p:cNvCxnSpPr/>
          <p:nvPr/>
        </p:nvCxnSpPr>
        <p:spPr>
          <a:xfrm>
            <a:off x="5257882" y="709796"/>
            <a:ext cx="2035983" cy="857256"/>
          </a:xfrm>
          <a:prstGeom prst="straightConnector1">
            <a:avLst/>
          </a:prstGeom>
          <a:noFill/>
          <a:ln w="28575" cap="flat" cmpd="sng" algn="ctr">
            <a:solidFill>
              <a:srgbClr val="3333FF"/>
            </a:solidFill>
            <a:prstDash val="solid"/>
            <a:tailEnd type="arrow"/>
          </a:ln>
          <a:effectLst/>
        </p:spPr>
      </p:cxnSp>
      <p:sp>
        <p:nvSpPr>
          <p:cNvPr id="29" name="矩形 28">
            <a:extLst>
              <a:ext uri="{FF2B5EF4-FFF2-40B4-BE49-F238E27FC236}">
                <a16:creationId xmlns:a16="http://schemas.microsoft.com/office/drawing/2014/main" id="{892CC460-CF88-42AE-91A3-268E4B0696CE}"/>
              </a:ext>
            </a:extLst>
          </p:cNvPr>
          <p:cNvSpPr/>
          <p:nvPr/>
        </p:nvSpPr>
        <p:spPr>
          <a:xfrm>
            <a:off x="828724" y="1567052"/>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0" name="直接箭头连接符 29">
            <a:extLst>
              <a:ext uri="{FF2B5EF4-FFF2-40B4-BE49-F238E27FC236}">
                <a16:creationId xmlns:a16="http://schemas.microsoft.com/office/drawing/2014/main" id="{20217006-7FF5-489F-99E4-30E459423C73}"/>
              </a:ext>
            </a:extLst>
          </p:cNvPr>
          <p:cNvCxnSpPr>
            <a:endCxn id="26" idx="0"/>
          </p:cNvCxnSpPr>
          <p:nvPr/>
        </p:nvCxnSpPr>
        <p:spPr>
          <a:xfrm rot="10800000" flipV="1">
            <a:off x="2328925" y="755834"/>
            <a:ext cx="1408125" cy="811218"/>
          </a:xfrm>
          <a:prstGeom prst="straightConnector1">
            <a:avLst/>
          </a:prstGeom>
          <a:noFill/>
          <a:ln w="28575" cap="flat" cmpd="sng" algn="ctr">
            <a:solidFill>
              <a:srgbClr val="3333FF"/>
            </a:solidFill>
            <a:prstDash val="solid"/>
            <a:tailEnd type="arrow"/>
          </a:ln>
          <a:effectLst/>
        </p:spPr>
      </p:cxnSp>
      <p:cxnSp>
        <p:nvCxnSpPr>
          <p:cNvPr id="31" name="直接箭头连接符 30">
            <a:extLst>
              <a:ext uri="{FF2B5EF4-FFF2-40B4-BE49-F238E27FC236}">
                <a16:creationId xmlns:a16="http://schemas.microsoft.com/office/drawing/2014/main" id="{973E3E73-E83A-4CD6-B70D-F6EA4491BBCA}"/>
              </a:ext>
            </a:extLst>
          </p:cNvPr>
          <p:cNvCxnSpPr/>
          <p:nvPr/>
        </p:nvCxnSpPr>
        <p:spPr>
          <a:xfrm rot="16200000" flipH="1">
            <a:off x="4189120" y="921300"/>
            <a:ext cx="857256" cy="434248"/>
          </a:xfrm>
          <a:prstGeom prst="straightConnector1">
            <a:avLst/>
          </a:prstGeom>
          <a:noFill/>
          <a:ln w="28575" cap="flat" cmpd="sng" algn="ctr">
            <a:solidFill>
              <a:srgbClr val="3333FF"/>
            </a:solidFill>
            <a:prstDash val="solid"/>
            <a:tailEnd type="arrow"/>
          </a:ln>
          <a:effectLst/>
        </p:spPr>
      </p:cxnSp>
      <p:sp>
        <p:nvSpPr>
          <p:cNvPr id="32" name="TextBox 66">
            <a:extLst>
              <a:ext uri="{FF2B5EF4-FFF2-40B4-BE49-F238E27FC236}">
                <a16:creationId xmlns:a16="http://schemas.microsoft.com/office/drawing/2014/main" id="{7C723FDE-3438-4B62-9655-068AEAC1D2E8}"/>
              </a:ext>
            </a:extLst>
          </p:cNvPr>
          <p:cNvSpPr txBox="1"/>
          <p:nvPr/>
        </p:nvSpPr>
        <p:spPr>
          <a:xfrm>
            <a:off x="5210004" y="393187"/>
            <a:ext cx="2000264"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rPr>
              <a:t>关键字个数</a:t>
            </a:r>
            <a:r>
              <a:rPr kumimoji="1" lang="en-US" altLang="zh-CN" b="1" dirty="0">
                <a:solidFill>
                  <a:srgbClr val="FF0000"/>
                </a:solidFill>
                <a:latin typeface="Consolas" panose="020B0609020204030204" pitchFamily="49" charset="0"/>
                <a:ea typeface="方正启体简体" pitchFamily="65" charset="-122"/>
                <a:cs typeface="Consolas" panose="020B0609020204030204" pitchFamily="49" charset="0"/>
              </a:rPr>
              <a:t>&gt;4</a:t>
            </a:r>
            <a:endParaRPr kumimoji="1" lang="zh-CN" altLang="en-US" b="1" dirty="0">
              <a:solidFill>
                <a:srgbClr val="FF0000"/>
              </a:solidFill>
              <a:latin typeface="Consolas" panose="020B0609020204030204" pitchFamily="49" charset="0"/>
              <a:ea typeface="方正启体简体" pitchFamily="65" charset="-122"/>
              <a:cs typeface="Consolas" panose="020B0609020204030204" pitchFamily="49" charset="0"/>
            </a:endParaRPr>
          </a:p>
        </p:txBody>
      </p:sp>
      <p:sp>
        <p:nvSpPr>
          <p:cNvPr id="33" name="矩形 32">
            <a:extLst>
              <a:ext uri="{FF2B5EF4-FFF2-40B4-BE49-F238E27FC236}">
                <a16:creationId xmlns:a16="http://schemas.microsoft.com/office/drawing/2014/main" id="{7BBA7B84-3530-48A1-BED9-115A5429F194}"/>
              </a:ext>
            </a:extLst>
          </p:cNvPr>
          <p:cNvSpPr/>
          <p:nvPr/>
        </p:nvSpPr>
        <p:spPr>
          <a:xfrm>
            <a:off x="4329186" y="1567052"/>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4" name="矩形 33">
            <a:extLst>
              <a:ext uri="{FF2B5EF4-FFF2-40B4-BE49-F238E27FC236}">
                <a16:creationId xmlns:a16="http://schemas.microsoft.com/office/drawing/2014/main" id="{C64C192C-11AD-4C04-BF7E-DA84475042DC}"/>
              </a:ext>
            </a:extLst>
          </p:cNvPr>
          <p:cNvSpPr/>
          <p:nvPr/>
        </p:nvSpPr>
        <p:spPr>
          <a:xfrm>
            <a:off x="5543632" y="1567052"/>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5" name="矩形 34">
            <a:extLst>
              <a:ext uri="{FF2B5EF4-FFF2-40B4-BE49-F238E27FC236}">
                <a16:creationId xmlns:a16="http://schemas.microsoft.com/office/drawing/2014/main" id="{B8B40324-612B-40D7-A63D-D5837D345616}"/>
              </a:ext>
            </a:extLst>
          </p:cNvPr>
          <p:cNvSpPr/>
          <p:nvPr/>
        </p:nvSpPr>
        <p:spPr>
          <a:xfrm>
            <a:off x="6758078" y="1567052"/>
            <a:ext cx="185738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17 18 19 20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nvGrpSpPr>
          <p:cNvPr id="36" name="组合 80">
            <a:extLst>
              <a:ext uri="{FF2B5EF4-FFF2-40B4-BE49-F238E27FC236}">
                <a16:creationId xmlns:a16="http://schemas.microsoft.com/office/drawing/2014/main" id="{3D834076-FDB7-4E8A-8CB7-B5A7439F340E}"/>
              </a:ext>
            </a:extLst>
          </p:cNvPr>
          <p:cNvGrpSpPr/>
          <p:nvPr/>
        </p:nvGrpSpPr>
        <p:grpSpPr>
          <a:xfrm>
            <a:off x="4400624" y="2281432"/>
            <a:ext cx="1785950" cy="500066"/>
            <a:chOff x="4071934" y="2428868"/>
            <a:chExt cx="1785950" cy="500066"/>
          </a:xfrm>
        </p:grpSpPr>
        <p:sp>
          <p:nvSpPr>
            <p:cNvPr id="37" name="下箭头 91">
              <a:extLst>
                <a:ext uri="{FF2B5EF4-FFF2-40B4-BE49-F238E27FC236}">
                  <a16:creationId xmlns:a16="http://schemas.microsoft.com/office/drawing/2014/main" id="{DEC66C06-AD35-4BAA-B097-2692B92F0B13}"/>
                </a:ext>
              </a:extLst>
            </p:cNvPr>
            <p:cNvSpPr/>
            <p:nvPr/>
          </p:nvSpPr>
          <p:spPr>
            <a:xfrm>
              <a:off x="4071934" y="2428868"/>
              <a:ext cx="357190" cy="500066"/>
            </a:xfrm>
            <a:prstGeom prst="downArrow">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8" name="TextBox 78">
              <a:extLst>
                <a:ext uri="{FF2B5EF4-FFF2-40B4-BE49-F238E27FC236}">
                  <a16:creationId xmlns:a16="http://schemas.microsoft.com/office/drawing/2014/main" id="{9417B1D8-8D24-440F-8A92-6F3A9D452CF1}"/>
                </a:ext>
              </a:extLst>
            </p:cNvPr>
            <p:cNvSpPr txBox="1"/>
            <p:nvPr/>
          </p:nvSpPr>
          <p:spPr>
            <a:xfrm>
              <a:off x="4500562" y="2428868"/>
              <a:ext cx="1357322" cy="369332"/>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继续分裂</a:t>
              </a:r>
            </a:p>
          </p:txBody>
        </p:sp>
      </p:grpSp>
      <p:sp>
        <p:nvSpPr>
          <p:cNvPr id="39" name="TextBox 37">
            <a:extLst>
              <a:ext uri="{FF2B5EF4-FFF2-40B4-BE49-F238E27FC236}">
                <a16:creationId xmlns:a16="http://schemas.microsoft.com/office/drawing/2014/main" id="{9B314CC3-82AE-4107-9D75-EFCE87AE1D08}"/>
              </a:ext>
            </a:extLst>
          </p:cNvPr>
          <p:cNvSpPr txBox="1"/>
          <p:nvPr/>
        </p:nvSpPr>
        <p:spPr>
          <a:xfrm>
            <a:off x="1185914" y="352606"/>
            <a:ext cx="1357322" cy="400110"/>
          </a:xfrm>
          <a:prstGeom prst="rect">
            <a:avLst/>
          </a:prstGeom>
          <a:noFill/>
        </p:spPr>
        <p:txBody>
          <a:bodyPr wrap="square" rtlCol="0">
            <a:spAutoFit/>
          </a:bodyPr>
          <a:lstStyle/>
          <a:p>
            <a:pPr fontAlgn="base">
              <a:spcBef>
                <a:spcPct val="0"/>
              </a:spcBef>
              <a:spcAft>
                <a:spcPct val="0"/>
              </a:spcAft>
            </a:pPr>
            <a:r>
              <a:rPr kumimoji="1" lang="en-US" altLang="zh-CN" sz="2000" b="1">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kumimoji="1"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9485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2"/>
                                        </p:tgtEl>
                                      </p:cBhvr>
                                    </p:animEffect>
                                    <p:animScale>
                                      <p:cBhvr>
                                        <p:cTn id="10" dur="250" autoRev="1" fill="hold"/>
                                        <p:tgtEl>
                                          <p:spTgt spid="32"/>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3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848872" cy="5256584"/>
          </a:xfrm>
        </p:spPr>
        <p:txBody>
          <a:bodyPr>
            <a:normAutofit fontScale="85000" lnSpcReduction="20000"/>
          </a:bodyPr>
          <a:lstStyle/>
          <a:p>
            <a:pPr>
              <a:lnSpc>
                <a:spcPct val="140000"/>
              </a:lnSpc>
              <a:spcBef>
                <a:spcPts val="0"/>
              </a:spcBef>
            </a:pPr>
            <a:r>
              <a:rPr lang="zh-CN" altLang="zh-CN" dirty="0"/>
              <a:t>算法</a:t>
            </a:r>
            <a:r>
              <a:rPr lang="en-US" altLang="zh-CN" dirty="0"/>
              <a:t>8.11</a:t>
            </a:r>
            <a:r>
              <a:rPr lang="zh-CN" altLang="zh-CN" dirty="0"/>
              <a:t>：</a:t>
            </a:r>
            <a:r>
              <a:rPr lang="en-US" altLang="zh-CN" dirty="0">
                <a:solidFill>
                  <a:srgbClr val="FF0000"/>
                </a:solidFill>
              </a:rPr>
              <a:t>B</a:t>
            </a:r>
            <a:r>
              <a:rPr lang="zh-CN" altLang="zh-CN" dirty="0">
                <a:solidFill>
                  <a:srgbClr val="FF0000"/>
                </a:solidFill>
              </a:rPr>
              <a:t>树的插入算法</a:t>
            </a:r>
          </a:p>
          <a:p>
            <a:pPr>
              <a:lnSpc>
                <a:spcPct val="140000"/>
              </a:lnSpc>
              <a:spcBef>
                <a:spcPts val="0"/>
              </a:spcBef>
            </a:pPr>
            <a:r>
              <a:rPr lang="en-US" altLang="zh-CN" b="0" dirty="0" err="1"/>
              <a:t>bool</a:t>
            </a:r>
            <a:r>
              <a:rPr lang="en-US" altLang="zh-CN" b="0" dirty="0"/>
              <a:t> </a:t>
            </a:r>
            <a:r>
              <a:rPr lang="en-US" altLang="zh-CN" b="0" dirty="0" err="1"/>
              <a:t>MBTree</a:t>
            </a:r>
            <a:r>
              <a:rPr lang="en-US" altLang="zh-CN" b="0" dirty="0"/>
              <a:t> :: </a:t>
            </a:r>
            <a:r>
              <a:rPr lang="en-US" altLang="zh-CN" b="0" dirty="0" err="1"/>
              <a:t>InsertMBTree</a:t>
            </a:r>
            <a:r>
              <a:rPr lang="en-US" altLang="zh-CN" b="0" dirty="0"/>
              <a:t>(</a:t>
            </a:r>
            <a:r>
              <a:rPr lang="en-US" altLang="zh-CN" b="0" dirty="0" err="1"/>
              <a:t>KeyType</a:t>
            </a:r>
            <a:r>
              <a:rPr lang="en-US" altLang="zh-CN" b="0" dirty="0"/>
              <a:t> k, </a:t>
            </a:r>
            <a:r>
              <a:rPr lang="en-US" altLang="zh-CN" b="0" dirty="0" err="1"/>
              <a:t>int</a:t>
            </a:r>
            <a:r>
              <a:rPr lang="en-US" altLang="zh-CN" b="0" dirty="0"/>
              <a:t> </a:t>
            </a:r>
            <a:r>
              <a:rPr lang="en-US" altLang="zh-CN" b="0" dirty="0" err="1"/>
              <a:t>num</a:t>
            </a:r>
            <a:r>
              <a:rPr lang="en-US" altLang="zh-CN" b="0" dirty="0"/>
              <a:t>) {</a:t>
            </a:r>
            <a:endParaRPr lang="zh-CN" altLang="zh-CN" b="0" dirty="0"/>
          </a:p>
          <a:p>
            <a:pPr>
              <a:lnSpc>
                <a:spcPct val="140000"/>
              </a:lnSpc>
              <a:spcBef>
                <a:spcPts val="0"/>
              </a:spcBef>
            </a:pPr>
            <a:r>
              <a:rPr lang="en-US" altLang="zh-CN" b="0" dirty="0"/>
              <a:t>	//</a:t>
            </a:r>
            <a:r>
              <a:rPr lang="zh-CN" altLang="zh-CN" b="0" dirty="0"/>
              <a:t>插入索引项（</a:t>
            </a:r>
            <a:r>
              <a:rPr lang="en-US" altLang="zh-CN" b="0" dirty="0"/>
              <a:t>k, </a:t>
            </a:r>
            <a:r>
              <a:rPr lang="en-US" altLang="zh-CN" b="0" dirty="0" err="1"/>
              <a:t>num</a:t>
            </a:r>
            <a:r>
              <a:rPr lang="en-US" altLang="zh-CN" b="0" dirty="0"/>
              <a:t>, NULL)---</a:t>
            </a:r>
            <a:r>
              <a:rPr lang="zh-CN" altLang="en-US" b="0" dirty="0"/>
              <a:t>关键字、记录地址、双亲指针</a:t>
            </a:r>
            <a:endParaRPr lang="zh-CN" altLang="zh-CN" b="0" dirty="0"/>
          </a:p>
          <a:p>
            <a:pPr>
              <a:lnSpc>
                <a:spcPct val="140000"/>
              </a:lnSpc>
              <a:spcBef>
                <a:spcPts val="0"/>
              </a:spcBef>
            </a:pPr>
            <a:r>
              <a:rPr lang="en-US" altLang="zh-CN" b="0" dirty="0"/>
              <a:t>     </a:t>
            </a:r>
            <a:r>
              <a:rPr lang="en-US" altLang="zh-CN" b="0" dirty="0">
                <a:solidFill>
                  <a:srgbClr val="FF0000"/>
                </a:solidFill>
              </a:rPr>
              <a:t>//</a:t>
            </a:r>
            <a:r>
              <a:rPr lang="zh-CN" altLang="zh-CN" b="0" dirty="0">
                <a:solidFill>
                  <a:srgbClr val="FF0000"/>
                </a:solidFill>
              </a:rPr>
              <a:t>当</a:t>
            </a:r>
            <a:r>
              <a:rPr lang="en-US" altLang="zh-CN" b="0" dirty="0">
                <a:solidFill>
                  <a:srgbClr val="FF0000"/>
                </a:solidFill>
              </a:rPr>
              <a:t>B</a:t>
            </a:r>
            <a:r>
              <a:rPr lang="zh-CN" altLang="zh-CN" b="0" dirty="0">
                <a:solidFill>
                  <a:srgbClr val="FF0000"/>
                </a:solidFill>
              </a:rPr>
              <a:t>树为空时的处理情况</a:t>
            </a:r>
          </a:p>
          <a:p>
            <a:pPr>
              <a:lnSpc>
                <a:spcPct val="140000"/>
              </a:lnSpc>
              <a:spcBef>
                <a:spcPts val="0"/>
              </a:spcBef>
            </a:pPr>
            <a:r>
              <a:rPr lang="en-US" altLang="zh-CN" b="0" dirty="0"/>
              <a:t>	if(MT==NULL){</a:t>
            </a:r>
            <a:endParaRPr lang="zh-CN" altLang="zh-CN" b="0" dirty="0"/>
          </a:p>
          <a:p>
            <a:pPr>
              <a:lnSpc>
                <a:spcPct val="140000"/>
              </a:lnSpc>
              <a:spcBef>
                <a:spcPts val="0"/>
              </a:spcBef>
            </a:pPr>
            <a:r>
              <a:rPr lang="en-US" altLang="zh-CN" b="0" dirty="0"/>
              <a:t>		MT=new </a:t>
            </a:r>
            <a:r>
              <a:rPr lang="en-US" altLang="zh-CN" b="0" dirty="0" err="1"/>
              <a:t>MBNode</a:t>
            </a:r>
            <a:r>
              <a:rPr lang="en-US" altLang="zh-CN" b="0" dirty="0"/>
              <a:t>;</a:t>
            </a:r>
            <a:endParaRPr lang="zh-CN" altLang="zh-CN" b="0" dirty="0"/>
          </a:p>
          <a:p>
            <a:pPr>
              <a:lnSpc>
                <a:spcPct val="140000"/>
              </a:lnSpc>
              <a:spcBef>
                <a:spcPts val="0"/>
              </a:spcBef>
            </a:pPr>
            <a:r>
              <a:rPr lang="en-US" altLang="zh-CN" b="0" dirty="0"/>
              <a:t>		MT-&gt;</a:t>
            </a:r>
            <a:r>
              <a:rPr lang="en-US" altLang="zh-CN" b="0" dirty="0" err="1"/>
              <a:t>keynum</a:t>
            </a:r>
            <a:r>
              <a:rPr lang="en-US" altLang="zh-CN" b="0" dirty="0"/>
              <a:t>=1; </a:t>
            </a:r>
          </a:p>
          <a:p>
            <a:pPr>
              <a:lnSpc>
                <a:spcPct val="140000"/>
              </a:lnSpc>
              <a:spcBef>
                <a:spcPts val="0"/>
              </a:spcBef>
            </a:pPr>
            <a:r>
              <a:rPr lang="en-US" altLang="zh-CN" b="0" dirty="0"/>
              <a:t>		MT-&gt;parent=NULL;</a:t>
            </a:r>
            <a:endParaRPr lang="zh-CN" altLang="zh-CN" b="0" dirty="0"/>
          </a:p>
          <a:p>
            <a:pPr>
              <a:lnSpc>
                <a:spcPct val="140000"/>
              </a:lnSpc>
              <a:spcBef>
                <a:spcPts val="0"/>
              </a:spcBef>
            </a:pPr>
            <a:r>
              <a:rPr lang="en-US" altLang="zh-CN" b="0" dirty="0"/>
              <a:t>		MT-&gt;key[1]=k;</a:t>
            </a:r>
          </a:p>
          <a:p>
            <a:pPr>
              <a:lnSpc>
                <a:spcPct val="140000"/>
              </a:lnSpc>
              <a:spcBef>
                <a:spcPts val="0"/>
              </a:spcBef>
            </a:pPr>
            <a:r>
              <a:rPr lang="en-US" altLang="zh-CN" b="0" dirty="0"/>
              <a:t>		MT-&gt;key[2]=</a:t>
            </a:r>
            <a:r>
              <a:rPr lang="en-US" altLang="zh-CN" b="0" dirty="0" err="1"/>
              <a:t>MaxKey</a:t>
            </a:r>
            <a:r>
              <a:rPr lang="en-US" altLang="zh-CN" b="0" dirty="0"/>
              <a:t>;</a:t>
            </a:r>
            <a:endParaRPr lang="zh-CN" altLang="zh-CN" b="0" dirty="0"/>
          </a:p>
          <a:p>
            <a:pPr>
              <a:lnSpc>
                <a:spcPct val="140000"/>
              </a:lnSpc>
              <a:spcBef>
                <a:spcPts val="0"/>
              </a:spcBef>
            </a:pPr>
            <a:r>
              <a:rPr lang="en-US" altLang="zh-CN" b="0" dirty="0"/>
              <a:t>		MT-&gt;</a:t>
            </a:r>
            <a:r>
              <a:rPr lang="en-US" altLang="zh-CN" b="0" dirty="0" err="1"/>
              <a:t>recptr</a:t>
            </a:r>
            <a:r>
              <a:rPr lang="en-US" altLang="zh-CN" b="0" dirty="0"/>
              <a:t>[1]=</a:t>
            </a:r>
            <a:r>
              <a:rPr lang="en-US" altLang="zh-CN" b="0" dirty="0" err="1"/>
              <a:t>num</a:t>
            </a:r>
            <a:r>
              <a:rPr lang="en-US" altLang="zh-CN" b="0" dirty="0"/>
              <a:t>;</a:t>
            </a:r>
            <a:endParaRPr lang="zh-CN" altLang="zh-CN" b="0" dirty="0"/>
          </a:p>
          <a:p>
            <a:pPr>
              <a:lnSpc>
                <a:spcPct val="140000"/>
              </a:lnSpc>
              <a:spcBef>
                <a:spcPts val="0"/>
              </a:spcBef>
            </a:pPr>
            <a:r>
              <a:rPr lang="en-US" altLang="zh-CN" b="0" dirty="0"/>
              <a:t>		MT-&gt;</a:t>
            </a:r>
            <a:r>
              <a:rPr lang="en-US" altLang="zh-CN" b="0" dirty="0" err="1"/>
              <a:t>ptr</a:t>
            </a:r>
            <a:r>
              <a:rPr lang="en-US" altLang="zh-CN" b="0" dirty="0"/>
              <a:t>[0]=MT-&gt;</a:t>
            </a:r>
            <a:r>
              <a:rPr lang="en-US" altLang="zh-CN" b="0" dirty="0" err="1"/>
              <a:t>ptr</a:t>
            </a:r>
            <a:r>
              <a:rPr lang="en-US" altLang="zh-CN" b="0" dirty="0"/>
              <a:t>[1]=NULL;</a:t>
            </a:r>
            <a:endParaRPr lang="zh-CN" altLang="zh-CN" b="0" dirty="0"/>
          </a:p>
          <a:p>
            <a:pPr>
              <a:lnSpc>
                <a:spcPct val="140000"/>
              </a:lnSpc>
              <a:spcBef>
                <a:spcPts val="0"/>
              </a:spcBef>
            </a:pPr>
            <a:r>
              <a:rPr lang="en-US" altLang="zh-CN" b="0" dirty="0"/>
              <a:t>		return true;</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24055196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064896" cy="5472608"/>
          </a:xfrm>
        </p:spPr>
        <p:txBody>
          <a:bodyPr>
            <a:normAutofit fontScale="85000" lnSpcReduction="10000"/>
          </a:bodyPr>
          <a:lstStyle/>
          <a:p>
            <a:pPr>
              <a:lnSpc>
                <a:spcPct val="140000"/>
              </a:lnSpc>
              <a:spcBef>
                <a:spcPts val="0"/>
              </a:spcBef>
            </a:pPr>
            <a:r>
              <a:rPr lang="en-US" altLang="zh-CN" b="0" dirty="0">
                <a:solidFill>
                  <a:srgbClr val="FF0000"/>
                </a:solidFill>
              </a:rPr>
              <a:t>	//</a:t>
            </a:r>
            <a:r>
              <a:rPr lang="zh-CN" altLang="zh-CN" b="0" dirty="0">
                <a:solidFill>
                  <a:srgbClr val="FF0000"/>
                </a:solidFill>
              </a:rPr>
              <a:t>从</a:t>
            </a:r>
            <a:r>
              <a:rPr lang="en-US" altLang="zh-CN" b="0" dirty="0">
                <a:solidFill>
                  <a:srgbClr val="FF0000"/>
                </a:solidFill>
              </a:rPr>
              <a:t>B</a:t>
            </a:r>
            <a:r>
              <a:rPr lang="zh-CN" altLang="zh-CN" b="0" dirty="0">
                <a:solidFill>
                  <a:srgbClr val="FF0000"/>
                </a:solidFill>
              </a:rPr>
              <a:t>树上查找插入位置</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pPr>
              <a:lnSpc>
                <a:spcPct val="140000"/>
              </a:lnSpc>
              <a:spcBef>
                <a:spcPts val="0"/>
              </a:spcBef>
            </a:pPr>
            <a:r>
              <a:rPr lang="en-US" altLang="zh-CN" b="0" dirty="0"/>
              <a:t>	</a:t>
            </a:r>
            <a:r>
              <a:rPr lang="en-US" altLang="zh-CN" b="0" dirty="0" err="1"/>
              <a:t>MBNode</a:t>
            </a:r>
            <a:r>
              <a:rPr lang="en-US" altLang="zh-CN" b="0" dirty="0"/>
              <a:t> *</a:t>
            </a:r>
            <a:r>
              <a:rPr lang="en-US" altLang="zh-CN" b="0" dirty="0" err="1"/>
              <a:t>xp</a:t>
            </a:r>
            <a:r>
              <a:rPr lang="en-US" altLang="zh-CN" b="0" dirty="0"/>
              <a:t>=MT, *p=NULL;     //</a:t>
            </a:r>
            <a:r>
              <a:rPr lang="en-US" altLang="zh-CN" b="0" dirty="0" err="1"/>
              <a:t>xp</a:t>
            </a:r>
            <a:r>
              <a:rPr lang="zh-CN" altLang="zh-CN" b="0" dirty="0"/>
              <a:t>和</a:t>
            </a:r>
            <a:r>
              <a:rPr lang="en-US" altLang="zh-CN" b="0" dirty="0"/>
              <a:t>p</a:t>
            </a:r>
            <a:r>
              <a:rPr lang="zh-CN" altLang="zh-CN" b="0" dirty="0"/>
              <a:t>分别指向当前结点和父结点</a:t>
            </a:r>
          </a:p>
          <a:p>
            <a:pPr>
              <a:lnSpc>
                <a:spcPct val="140000"/>
              </a:lnSpc>
              <a:spcBef>
                <a:spcPts val="0"/>
              </a:spcBef>
            </a:pPr>
            <a:r>
              <a:rPr lang="en-US" altLang="zh-CN" b="0" dirty="0"/>
              <a:t>	while(</a:t>
            </a:r>
            <a:r>
              <a:rPr lang="en-US" altLang="zh-CN" b="0" dirty="0" err="1"/>
              <a:t>xp</a:t>
            </a:r>
            <a:r>
              <a:rPr lang="en-US" altLang="zh-CN" b="0" dirty="0"/>
              <a:t> != NULL) {</a:t>
            </a:r>
            <a:endParaRPr lang="zh-CN" altLang="zh-CN" b="0" dirty="0"/>
          </a:p>
          <a:p>
            <a:pPr>
              <a:lnSpc>
                <a:spcPct val="140000"/>
              </a:lnSpc>
              <a:spcBef>
                <a:spcPts val="0"/>
              </a:spcBef>
            </a:pPr>
            <a:r>
              <a:rPr lang="en-US" altLang="zh-CN" b="0" dirty="0"/>
              <a:t>		</a:t>
            </a:r>
            <a:r>
              <a:rPr lang="en-US" altLang="zh-CN" b="0" dirty="0" err="1"/>
              <a:t>i</a:t>
            </a:r>
            <a:r>
              <a:rPr lang="en-US" altLang="zh-CN" b="0" dirty="0"/>
              <a:t>=1;</a:t>
            </a:r>
            <a:endParaRPr lang="zh-CN" altLang="zh-CN" b="0" dirty="0"/>
          </a:p>
          <a:p>
            <a:pPr>
              <a:lnSpc>
                <a:spcPct val="140000"/>
              </a:lnSpc>
              <a:spcBef>
                <a:spcPts val="0"/>
              </a:spcBef>
            </a:pPr>
            <a:r>
              <a:rPr lang="en-US" altLang="zh-CN" b="0" dirty="0"/>
              <a:t>		while( K &gt; </a:t>
            </a:r>
            <a:r>
              <a:rPr lang="en-US" altLang="zh-CN" b="0" dirty="0" err="1"/>
              <a:t>xp</a:t>
            </a:r>
            <a:r>
              <a:rPr lang="en-US" altLang="zh-CN" b="0" dirty="0"/>
              <a:t>-&gt;key[</a:t>
            </a:r>
            <a:r>
              <a:rPr lang="en-US" altLang="zh-CN" b="0" dirty="0" err="1"/>
              <a:t>i</a:t>
            </a:r>
            <a:r>
              <a:rPr lang="en-US" altLang="zh-CN" b="0" dirty="0"/>
              <a:t>] ) </a:t>
            </a:r>
            <a:r>
              <a:rPr lang="en-US" altLang="zh-CN" b="0" dirty="0" err="1"/>
              <a:t>i</a:t>
            </a:r>
            <a:r>
              <a:rPr lang="en-US" altLang="zh-CN" b="0" dirty="0"/>
              <a:t>++;</a:t>
            </a:r>
            <a:endParaRPr lang="zh-CN" altLang="zh-CN" b="0" dirty="0"/>
          </a:p>
          <a:p>
            <a:pPr>
              <a:lnSpc>
                <a:spcPct val="140000"/>
              </a:lnSpc>
              <a:spcBef>
                <a:spcPts val="0"/>
              </a:spcBef>
            </a:pPr>
            <a:r>
              <a:rPr lang="en-US" altLang="zh-CN" b="0" dirty="0"/>
              <a:t>		if(K == </a:t>
            </a:r>
            <a:r>
              <a:rPr lang="en-US" altLang="zh-CN" b="0" dirty="0" err="1"/>
              <a:t>xp</a:t>
            </a:r>
            <a:r>
              <a:rPr lang="en-US" altLang="zh-CN" b="0" dirty="0"/>
              <a:t>-&gt;key[</a:t>
            </a:r>
            <a:r>
              <a:rPr lang="en-US" altLang="zh-CN" b="0" dirty="0" err="1"/>
              <a:t>i</a:t>
            </a:r>
            <a:r>
              <a:rPr lang="en-US" altLang="zh-CN" b="0" dirty="0"/>
              <a:t>])               //</a:t>
            </a:r>
            <a:r>
              <a:rPr lang="zh-CN" altLang="zh-CN" b="0" dirty="0"/>
              <a:t>关键字已经存在，插入失败</a:t>
            </a:r>
          </a:p>
          <a:p>
            <a:pPr>
              <a:lnSpc>
                <a:spcPct val="140000"/>
              </a:lnSpc>
              <a:spcBef>
                <a:spcPts val="0"/>
              </a:spcBef>
            </a:pPr>
            <a:r>
              <a:rPr lang="en-US" altLang="zh-CN" b="0" dirty="0"/>
              <a:t>			return false;</a:t>
            </a:r>
            <a:endParaRPr lang="zh-CN" altLang="zh-CN" b="0" dirty="0"/>
          </a:p>
          <a:p>
            <a:pPr>
              <a:lnSpc>
                <a:spcPct val="140000"/>
              </a:lnSpc>
              <a:spcBef>
                <a:spcPts val="0"/>
              </a:spcBef>
            </a:pPr>
            <a:r>
              <a:rPr lang="en-US" altLang="zh-CN" b="0" dirty="0"/>
              <a:t>		else {</a:t>
            </a:r>
            <a:endParaRPr lang="zh-CN" altLang="zh-CN" b="0" dirty="0"/>
          </a:p>
          <a:p>
            <a:pPr>
              <a:lnSpc>
                <a:spcPct val="140000"/>
              </a:lnSpc>
              <a:spcBef>
                <a:spcPts val="0"/>
              </a:spcBef>
            </a:pPr>
            <a:r>
              <a:rPr lang="en-US" altLang="zh-CN" b="0" dirty="0"/>
              <a:t>			p=</a:t>
            </a:r>
            <a:r>
              <a:rPr lang="en-US" altLang="zh-CN" b="0" dirty="0" err="1"/>
              <a:t>xp</a:t>
            </a:r>
            <a:r>
              <a:rPr lang="en-US" altLang="zh-CN" b="0" dirty="0"/>
              <a:t>;</a:t>
            </a:r>
          </a:p>
          <a:p>
            <a:pPr>
              <a:lnSpc>
                <a:spcPct val="140000"/>
              </a:lnSpc>
              <a:spcBef>
                <a:spcPts val="0"/>
              </a:spcBef>
            </a:pPr>
            <a:r>
              <a:rPr lang="en-US" altLang="zh-CN" b="0" dirty="0"/>
              <a:t>			</a:t>
            </a:r>
            <a:r>
              <a:rPr lang="en-US" altLang="zh-CN" b="0" dirty="0" err="1"/>
              <a:t>xp</a:t>
            </a:r>
            <a:r>
              <a:rPr lang="en-US" altLang="zh-CN" b="0" dirty="0"/>
              <a:t>=</a:t>
            </a:r>
            <a:r>
              <a:rPr lang="en-US" altLang="zh-CN" b="0" dirty="0" err="1"/>
              <a:t>xp</a:t>
            </a:r>
            <a:r>
              <a:rPr lang="en-US" altLang="zh-CN" b="0" dirty="0"/>
              <a:t>-&gt;</a:t>
            </a:r>
            <a:r>
              <a:rPr lang="en-US" altLang="zh-CN" b="0" dirty="0" err="1"/>
              <a:t>ptr</a:t>
            </a:r>
            <a:r>
              <a:rPr lang="en-US" altLang="zh-CN" b="0" dirty="0"/>
              <a:t>[i-1];       //</a:t>
            </a:r>
            <a:r>
              <a:rPr lang="zh-CN" altLang="zh-CN" b="0" dirty="0"/>
              <a:t>下移一层查找</a:t>
            </a:r>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28928965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92888" cy="5184576"/>
          </a:xfrm>
        </p:spPr>
        <p:txBody>
          <a:bodyPr>
            <a:normAutofit fontScale="85000" lnSpcReduction="20000"/>
          </a:bodyPr>
          <a:lstStyle/>
          <a:p>
            <a:pPr>
              <a:lnSpc>
                <a:spcPct val="140000"/>
              </a:lnSpc>
              <a:spcBef>
                <a:spcPts val="0"/>
              </a:spcBef>
            </a:pPr>
            <a:r>
              <a:rPr lang="en-US" altLang="zh-CN" dirty="0"/>
              <a:t>	</a:t>
            </a:r>
            <a:r>
              <a:rPr lang="en-US" altLang="zh-CN" b="0" dirty="0">
                <a:solidFill>
                  <a:srgbClr val="FF0000"/>
                </a:solidFill>
              </a:rPr>
              <a:t>//</a:t>
            </a:r>
            <a:r>
              <a:rPr lang="zh-CN" altLang="zh-CN" b="0" dirty="0">
                <a:solidFill>
                  <a:srgbClr val="FF0000"/>
                </a:solidFill>
              </a:rPr>
              <a:t>向非空的</a:t>
            </a:r>
            <a:r>
              <a:rPr lang="en-US" altLang="zh-CN" b="0" dirty="0">
                <a:solidFill>
                  <a:srgbClr val="FF0000"/>
                </a:solidFill>
              </a:rPr>
              <a:t>B</a:t>
            </a:r>
            <a:r>
              <a:rPr lang="zh-CN" altLang="zh-CN" b="0" dirty="0">
                <a:solidFill>
                  <a:srgbClr val="FF0000"/>
                </a:solidFill>
              </a:rPr>
              <a:t>树中插入索引项（</a:t>
            </a:r>
            <a:r>
              <a:rPr lang="en-US" altLang="zh-CN" b="0" dirty="0">
                <a:solidFill>
                  <a:srgbClr val="FF0000"/>
                </a:solidFill>
              </a:rPr>
              <a:t>K, </a:t>
            </a:r>
            <a:r>
              <a:rPr lang="en-US" altLang="zh-CN" b="0" dirty="0" err="1">
                <a:solidFill>
                  <a:srgbClr val="FF0000"/>
                </a:solidFill>
              </a:rPr>
              <a:t>num</a:t>
            </a:r>
            <a:r>
              <a:rPr lang="en-US" altLang="zh-CN" b="0" dirty="0">
                <a:solidFill>
                  <a:srgbClr val="FF0000"/>
                </a:solidFill>
              </a:rPr>
              <a:t>, </a:t>
            </a:r>
            <a:r>
              <a:rPr lang="en-US" altLang="zh-CN" b="0" dirty="0" err="1">
                <a:solidFill>
                  <a:srgbClr val="FF0000"/>
                </a:solidFill>
              </a:rPr>
              <a:t>ap</a:t>
            </a:r>
            <a:r>
              <a:rPr lang="en-US" altLang="zh-CN" b="0" dirty="0">
                <a:solidFill>
                  <a:srgbClr val="FF0000"/>
                </a:solidFill>
              </a:rPr>
              <a:t>)</a:t>
            </a:r>
            <a:endParaRPr lang="zh-CN" altLang="zh-CN" b="0" dirty="0">
              <a:solidFill>
                <a:srgbClr val="FF0000"/>
              </a:solidFill>
            </a:endParaRPr>
          </a:p>
          <a:p>
            <a:pPr>
              <a:lnSpc>
                <a:spcPct val="140000"/>
              </a:lnSpc>
              <a:spcBef>
                <a:spcPts val="0"/>
              </a:spcBef>
            </a:pPr>
            <a:r>
              <a:rPr lang="en-US" altLang="zh-CN" b="0" dirty="0"/>
              <a:t>	</a:t>
            </a:r>
            <a:r>
              <a:rPr lang="en-US" altLang="zh-CN" b="0" dirty="0" err="1"/>
              <a:t>MBNode</a:t>
            </a:r>
            <a:r>
              <a:rPr lang="en-US" altLang="zh-CN" b="0" dirty="0"/>
              <a:t> *ap = NULL;      //ap</a:t>
            </a:r>
            <a:r>
              <a:rPr lang="zh-CN" altLang="zh-CN" b="0" dirty="0"/>
              <a:t>的初值为空</a:t>
            </a:r>
          </a:p>
          <a:p>
            <a:pPr>
              <a:lnSpc>
                <a:spcPct val="140000"/>
              </a:lnSpc>
              <a:spcBef>
                <a:spcPts val="0"/>
              </a:spcBef>
            </a:pPr>
            <a:r>
              <a:rPr lang="en-US" altLang="zh-CN" b="0" dirty="0"/>
              <a:t>	while(1){</a:t>
            </a:r>
            <a:endParaRPr lang="zh-CN" altLang="zh-CN" b="0" dirty="0"/>
          </a:p>
          <a:p>
            <a:pPr>
              <a:lnSpc>
                <a:spcPct val="140000"/>
              </a:lnSpc>
              <a:spcBef>
                <a:spcPts val="0"/>
              </a:spcBef>
            </a:pPr>
            <a:r>
              <a:rPr lang="en-US" altLang="zh-CN" b="0" dirty="0"/>
              <a:t>		int j, c;   </a:t>
            </a:r>
          </a:p>
          <a:p>
            <a:pPr>
              <a:lnSpc>
                <a:spcPct val="140000"/>
              </a:lnSpc>
              <a:spcBef>
                <a:spcPts val="0"/>
              </a:spcBef>
            </a:pPr>
            <a:r>
              <a:rPr lang="en-US" altLang="zh-CN" b="0" dirty="0"/>
              <a:t>               //</a:t>
            </a:r>
            <a:r>
              <a:rPr lang="zh-CN" altLang="zh-CN" b="0" dirty="0"/>
              <a:t>从最后到插入位置的所有索引项均后移一个位置</a:t>
            </a:r>
          </a:p>
          <a:p>
            <a:pPr>
              <a:lnSpc>
                <a:spcPct val="140000"/>
              </a:lnSpc>
              <a:spcBef>
                <a:spcPts val="0"/>
              </a:spcBef>
            </a:pPr>
            <a:r>
              <a:rPr lang="en-US" altLang="zh-CN" b="0" dirty="0"/>
              <a:t>		for(j=p-&gt;</a:t>
            </a:r>
            <a:r>
              <a:rPr lang="en-US" altLang="zh-CN" b="0" dirty="0" err="1"/>
              <a:t>keynum</a:t>
            </a:r>
            <a:r>
              <a:rPr lang="en-US" altLang="zh-CN" b="0" dirty="0"/>
              <a:t>; j&gt;=</a:t>
            </a:r>
            <a:r>
              <a:rPr lang="en-US" altLang="zh-CN" b="0" dirty="0" err="1"/>
              <a:t>i</a:t>
            </a:r>
            <a:r>
              <a:rPr lang="en-US" altLang="zh-CN" b="0" dirty="0"/>
              <a:t>; j--) {</a:t>
            </a:r>
            <a:endParaRPr lang="zh-CN" altLang="zh-CN" b="0" dirty="0"/>
          </a:p>
          <a:p>
            <a:pPr>
              <a:lnSpc>
                <a:spcPct val="140000"/>
              </a:lnSpc>
              <a:spcBef>
                <a:spcPts val="0"/>
              </a:spcBef>
            </a:pPr>
            <a:r>
              <a:rPr lang="en-US" altLang="zh-CN" b="0" dirty="0"/>
              <a:t>			p-&gt;key[j+1] = p-&gt;key[j];</a:t>
            </a:r>
            <a:endParaRPr lang="zh-CN" altLang="zh-CN" b="0" dirty="0"/>
          </a:p>
          <a:p>
            <a:pPr>
              <a:lnSpc>
                <a:spcPct val="140000"/>
              </a:lnSpc>
              <a:spcBef>
                <a:spcPts val="0"/>
              </a:spcBef>
            </a:pPr>
            <a:r>
              <a:rPr lang="en-US" altLang="zh-CN" b="0" dirty="0"/>
              <a:t>			p-&gt;</a:t>
            </a:r>
            <a:r>
              <a:rPr lang="en-US" altLang="zh-CN" b="0" dirty="0" err="1"/>
              <a:t>recptr</a:t>
            </a:r>
            <a:r>
              <a:rPr lang="en-US" altLang="zh-CN" b="0" dirty="0"/>
              <a:t>[j+1] = p-&gt;</a:t>
            </a:r>
            <a:r>
              <a:rPr lang="en-US" altLang="zh-CN" b="0" dirty="0" err="1"/>
              <a:t>recptr</a:t>
            </a:r>
            <a:r>
              <a:rPr lang="en-US" altLang="zh-CN" b="0" dirty="0"/>
              <a:t>[j];</a:t>
            </a:r>
            <a:endParaRPr lang="zh-CN" altLang="zh-CN" b="0" dirty="0"/>
          </a:p>
          <a:p>
            <a:pPr>
              <a:lnSpc>
                <a:spcPct val="140000"/>
              </a:lnSpc>
              <a:spcBef>
                <a:spcPts val="0"/>
              </a:spcBef>
            </a:pPr>
            <a:r>
              <a:rPr lang="en-US" altLang="zh-CN" b="0" dirty="0"/>
              <a:t>			p-&gt;</a:t>
            </a:r>
            <a:r>
              <a:rPr lang="en-US" altLang="zh-CN" b="0" dirty="0" err="1"/>
              <a:t>ptr</a:t>
            </a:r>
            <a:r>
              <a:rPr lang="en-US" altLang="zh-CN" b="0" dirty="0"/>
              <a:t>[j+1] = p-&gt;</a:t>
            </a:r>
            <a:r>
              <a:rPr lang="en-US" altLang="zh-CN" b="0" dirty="0" err="1"/>
              <a:t>ptr</a:t>
            </a:r>
            <a:r>
              <a:rPr lang="en-US" altLang="zh-CN" b="0" dirty="0"/>
              <a:t>[j];</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r>
              <a:rPr lang="zh-CN" altLang="zh-CN" b="0" dirty="0"/>
              <a:t>把一个插入索引项（</a:t>
            </a:r>
            <a:r>
              <a:rPr lang="en-US" altLang="zh-CN" b="0" dirty="0" err="1"/>
              <a:t>K,num,ap</a:t>
            </a:r>
            <a:r>
              <a:rPr lang="zh-CN" altLang="zh-CN" b="0" dirty="0"/>
              <a:t>）放入</a:t>
            </a:r>
            <a:r>
              <a:rPr lang="en-US" altLang="zh-CN" b="0" dirty="0"/>
              <a:t>p</a:t>
            </a:r>
            <a:r>
              <a:rPr lang="zh-CN" altLang="zh-CN" b="0" dirty="0"/>
              <a:t>结点的</a:t>
            </a:r>
            <a:r>
              <a:rPr lang="en-US" altLang="zh-CN" b="0" dirty="0" err="1"/>
              <a:t>i</a:t>
            </a:r>
            <a:r>
              <a:rPr lang="zh-CN" altLang="zh-CN" b="0" dirty="0"/>
              <a:t>下标位置</a:t>
            </a:r>
          </a:p>
          <a:p>
            <a:pPr>
              <a:lnSpc>
                <a:spcPct val="140000"/>
              </a:lnSpc>
              <a:spcBef>
                <a:spcPts val="0"/>
              </a:spcBef>
            </a:pPr>
            <a:r>
              <a:rPr lang="en-US" altLang="zh-CN" b="0" dirty="0"/>
              <a:t>		p-&gt;key[</a:t>
            </a:r>
            <a:r>
              <a:rPr lang="en-US" altLang="zh-CN" b="0" dirty="0" err="1"/>
              <a:t>i</a:t>
            </a:r>
            <a:r>
              <a:rPr lang="en-US" altLang="zh-CN" b="0" dirty="0"/>
              <a:t>]=k; p-&gt;</a:t>
            </a:r>
            <a:r>
              <a:rPr lang="en-US" altLang="zh-CN" b="0" dirty="0" err="1"/>
              <a:t>recptr</a:t>
            </a:r>
            <a:r>
              <a:rPr lang="en-US" altLang="zh-CN" b="0" dirty="0"/>
              <a:t>[</a:t>
            </a:r>
            <a:r>
              <a:rPr lang="en-US" altLang="zh-CN" b="0" dirty="0" err="1"/>
              <a:t>i</a:t>
            </a:r>
            <a:r>
              <a:rPr lang="en-US" altLang="zh-CN" b="0" dirty="0"/>
              <a:t>]=</a:t>
            </a:r>
            <a:r>
              <a:rPr lang="en-US" altLang="zh-CN" b="0" dirty="0" err="1"/>
              <a:t>num</a:t>
            </a:r>
            <a:r>
              <a:rPr lang="en-US" altLang="zh-CN" b="0" dirty="0"/>
              <a:t>; p-&gt;</a:t>
            </a:r>
            <a:r>
              <a:rPr lang="en-US" altLang="zh-CN" b="0" dirty="0" err="1"/>
              <a:t>ptr</a:t>
            </a:r>
            <a:r>
              <a:rPr lang="en-US" altLang="zh-CN" b="0" dirty="0"/>
              <a:t>[</a:t>
            </a:r>
            <a:r>
              <a:rPr lang="en-US" altLang="zh-CN" b="0" dirty="0" err="1"/>
              <a:t>i</a:t>
            </a:r>
            <a:r>
              <a:rPr lang="en-US" altLang="zh-CN" b="0" dirty="0"/>
              <a:t>]=</a:t>
            </a:r>
            <a:r>
              <a:rPr lang="en-US" altLang="zh-CN" b="0" dirty="0" err="1"/>
              <a:t>ap</a:t>
            </a:r>
            <a:r>
              <a:rPr lang="en-US" altLang="zh-CN" b="0" dirty="0"/>
              <a:t>;</a:t>
            </a:r>
            <a:endParaRPr lang="zh-CN" altLang="zh-CN" b="0" dirty="0"/>
          </a:p>
          <a:p>
            <a:pPr>
              <a:lnSpc>
                <a:spcPct val="140000"/>
              </a:lnSpc>
              <a:spcBef>
                <a:spcPts val="0"/>
              </a:spcBef>
            </a:pPr>
            <a:r>
              <a:rPr lang="en-US" altLang="zh-CN" b="0" dirty="0"/>
              <a:t> 		//</a:t>
            </a:r>
            <a:r>
              <a:rPr lang="zh-CN" altLang="zh-CN" b="0" dirty="0"/>
              <a:t>使</a:t>
            </a:r>
            <a:r>
              <a:rPr lang="en-US" altLang="zh-CN" b="0" dirty="0"/>
              <a:t>p</a:t>
            </a:r>
            <a:r>
              <a:rPr lang="zh-CN" altLang="zh-CN" b="0" dirty="0"/>
              <a:t>结点的关键字个数增</a:t>
            </a:r>
            <a:r>
              <a:rPr lang="en-US" altLang="zh-CN" b="0" dirty="0"/>
              <a:t>1</a:t>
            </a:r>
          </a:p>
          <a:p>
            <a:pPr>
              <a:lnSpc>
                <a:spcPct val="140000"/>
              </a:lnSpc>
              <a:spcBef>
                <a:spcPts val="0"/>
              </a:spcBef>
            </a:pPr>
            <a:r>
              <a:rPr lang="en-US" altLang="zh-CN" b="0" dirty="0"/>
              <a:t>		p-&gt; </a:t>
            </a:r>
            <a:r>
              <a:rPr lang="en-US" altLang="zh-CN" b="0" dirty="0" err="1"/>
              <a:t>keynum</a:t>
            </a:r>
            <a:r>
              <a:rPr lang="en-US" altLang="zh-CN" b="0" dirty="0"/>
              <a:t> ++;</a:t>
            </a:r>
            <a:endParaRPr lang="zh-CN" altLang="zh-CN" b="0" dirty="0"/>
          </a:p>
        </p:txBody>
      </p:sp>
    </p:spTree>
    <p:extLst>
      <p:ext uri="{BB962C8B-B14F-4D97-AF65-F5344CB8AC3E}">
        <p14:creationId xmlns:p14="http://schemas.microsoft.com/office/powerpoint/2010/main" val="9414341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136904" cy="5472608"/>
          </a:xfrm>
        </p:spPr>
        <p:txBody>
          <a:bodyPr>
            <a:noAutofit/>
          </a:bodyPr>
          <a:lstStyle/>
          <a:p>
            <a:pPr>
              <a:spcBef>
                <a:spcPts val="0"/>
              </a:spcBef>
            </a:pPr>
            <a:r>
              <a:rPr lang="en-US" altLang="zh-CN" sz="1800" dirty="0"/>
              <a:t>	</a:t>
            </a:r>
            <a:r>
              <a:rPr lang="en-US" altLang="zh-CN" sz="1800" b="0" dirty="0"/>
              <a:t>	//</a:t>
            </a:r>
            <a:r>
              <a:rPr lang="zh-CN" altLang="zh-CN" sz="1800" b="0" dirty="0"/>
              <a:t>若插入后结点中关键字个数不超过所允许的最大值，则插入完成</a:t>
            </a:r>
          </a:p>
          <a:p>
            <a:pPr>
              <a:spcBef>
                <a:spcPts val="0"/>
              </a:spcBef>
            </a:pPr>
            <a:r>
              <a:rPr lang="en-US" altLang="zh-CN" sz="1800" b="0" dirty="0"/>
              <a:t>		if(p-&gt;</a:t>
            </a:r>
            <a:r>
              <a:rPr lang="en-US" altLang="zh-CN" sz="1800" b="0" dirty="0" err="1"/>
              <a:t>keynum</a:t>
            </a:r>
            <a:r>
              <a:rPr lang="en-US" altLang="zh-CN" sz="1800" b="0" dirty="0"/>
              <a:t>&lt;=m-1) {</a:t>
            </a:r>
            <a:endParaRPr lang="zh-CN" altLang="zh-CN" sz="1800" b="0" dirty="0"/>
          </a:p>
          <a:p>
            <a:pPr>
              <a:spcBef>
                <a:spcPts val="0"/>
              </a:spcBef>
            </a:pPr>
            <a:r>
              <a:rPr lang="en-US" altLang="zh-CN" sz="1800" b="0" dirty="0"/>
              <a:t>			p-&gt;key[p-&gt;keynum+1] = </a:t>
            </a:r>
            <a:r>
              <a:rPr lang="en-US" altLang="zh-CN" sz="1800" b="0" dirty="0" err="1"/>
              <a:t>MaxKey</a:t>
            </a:r>
            <a:r>
              <a:rPr lang="en-US" altLang="zh-CN" sz="1800" b="0" dirty="0"/>
              <a:t>;</a:t>
            </a:r>
          </a:p>
          <a:p>
            <a:pPr>
              <a:spcBef>
                <a:spcPts val="0"/>
              </a:spcBef>
            </a:pPr>
            <a:r>
              <a:rPr lang="en-US" altLang="zh-CN" sz="1800" b="0" dirty="0"/>
              <a:t>			return true;</a:t>
            </a:r>
            <a:endParaRPr lang="zh-CN" altLang="zh-CN" sz="1800" b="0" dirty="0"/>
          </a:p>
          <a:p>
            <a:pPr>
              <a:spcBef>
                <a:spcPts val="0"/>
              </a:spcBef>
            </a:pPr>
            <a:r>
              <a:rPr lang="en-US" altLang="zh-CN" sz="1800" b="0" dirty="0"/>
              <a:t> 		}</a:t>
            </a:r>
            <a:endParaRPr lang="zh-CN" altLang="zh-CN" sz="1800" b="0" dirty="0"/>
          </a:p>
          <a:p>
            <a:pPr>
              <a:spcBef>
                <a:spcPts val="0"/>
              </a:spcBef>
            </a:pPr>
            <a:r>
              <a:rPr lang="en-US" altLang="zh-CN" sz="1800" b="0" dirty="0"/>
              <a:t>		//</a:t>
            </a:r>
            <a:r>
              <a:rPr lang="zh-CN" altLang="zh-CN" sz="1800" b="0" dirty="0"/>
              <a:t>计算出</a:t>
            </a:r>
            <a:r>
              <a:rPr lang="en-US" altLang="zh-CN" sz="1800" b="0" dirty="0"/>
              <a:t>m/2</a:t>
            </a:r>
            <a:r>
              <a:rPr lang="zh-CN" altLang="zh-CN" sz="1800" b="0" dirty="0"/>
              <a:t>的向上取整值</a:t>
            </a:r>
          </a:p>
          <a:p>
            <a:pPr>
              <a:spcBef>
                <a:spcPts val="0"/>
              </a:spcBef>
            </a:pPr>
            <a:r>
              <a:rPr lang="en-US" altLang="zh-CN" sz="1800" b="0" dirty="0"/>
              <a:t>		c = (m%2 ? (m+1)/2 : m/2);</a:t>
            </a:r>
            <a:endParaRPr lang="zh-CN" altLang="zh-CN" sz="1800" b="0" dirty="0"/>
          </a:p>
          <a:p>
            <a:pPr>
              <a:spcBef>
                <a:spcPts val="0"/>
              </a:spcBef>
            </a:pPr>
            <a:r>
              <a:rPr lang="en-US" altLang="zh-CN" sz="1800" b="0" dirty="0"/>
              <a:t>		//</a:t>
            </a:r>
            <a:r>
              <a:rPr lang="zh-CN" altLang="zh-CN" sz="1800" b="0" dirty="0"/>
              <a:t>建立新分裂的结点，该结点含有</a:t>
            </a:r>
            <a:r>
              <a:rPr lang="en-US" altLang="zh-CN" sz="1800" b="0" dirty="0"/>
              <a:t>m-c</a:t>
            </a:r>
            <a:r>
              <a:rPr lang="zh-CN" altLang="zh-CN" sz="1800" b="0" dirty="0"/>
              <a:t>个索引项</a:t>
            </a:r>
          </a:p>
          <a:p>
            <a:pPr>
              <a:spcBef>
                <a:spcPts val="0"/>
              </a:spcBef>
            </a:pPr>
            <a:r>
              <a:rPr lang="en-US" altLang="zh-CN" sz="1800" b="0" dirty="0"/>
              <a:t>		</a:t>
            </a:r>
            <a:r>
              <a:rPr lang="en-US" altLang="zh-CN" sz="1800" b="0" dirty="0" err="1"/>
              <a:t>ap</a:t>
            </a:r>
            <a:r>
              <a:rPr lang="en-US" altLang="zh-CN" sz="1800" b="0" dirty="0"/>
              <a:t>=new </a:t>
            </a:r>
            <a:r>
              <a:rPr lang="en-US" altLang="zh-CN" sz="1800" b="0" dirty="0" err="1"/>
              <a:t>MBNode</a:t>
            </a:r>
            <a:r>
              <a:rPr lang="en-US" altLang="zh-CN" sz="1800" b="0" dirty="0"/>
              <a:t>;</a:t>
            </a:r>
            <a:endParaRPr lang="zh-CN" altLang="zh-CN" sz="1800" b="0" dirty="0"/>
          </a:p>
          <a:p>
            <a:pPr>
              <a:spcBef>
                <a:spcPts val="0"/>
              </a:spcBef>
            </a:pPr>
            <a:r>
              <a:rPr lang="en-US" altLang="zh-CN" sz="1800" b="0" dirty="0"/>
              <a:t>		</a:t>
            </a:r>
            <a:r>
              <a:rPr lang="en-US" altLang="zh-CN" sz="1800" b="0" dirty="0" err="1"/>
              <a:t>ap</a:t>
            </a:r>
            <a:r>
              <a:rPr lang="en-US" altLang="zh-CN" sz="1800" b="0" dirty="0"/>
              <a:t>-&gt;</a:t>
            </a:r>
            <a:r>
              <a:rPr lang="en-US" altLang="zh-CN" sz="1800" b="0" dirty="0" err="1"/>
              <a:t>keynum</a:t>
            </a:r>
            <a:r>
              <a:rPr lang="en-US" altLang="zh-CN" sz="1800" b="0" dirty="0"/>
              <a:t>=m-c;</a:t>
            </a:r>
            <a:endParaRPr lang="zh-CN" altLang="zh-CN" sz="1800" b="0" dirty="0"/>
          </a:p>
          <a:p>
            <a:pPr>
              <a:spcBef>
                <a:spcPts val="0"/>
              </a:spcBef>
            </a:pPr>
            <a:r>
              <a:rPr lang="en-US" altLang="zh-CN" sz="1800" b="0" dirty="0"/>
              <a:t>		</a:t>
            </a:r>
            <a:r>
              <a:rPr lang="en-US" altLang="zh-CN" sz="1800" b="0" dirty="0" err="1"/>
              <a:t>ap</a:t>
            </a:r>
            <a:r>
              <a:rPr lang="en-US" altLang="zh-CN" sz="1800" b="0" dirty="0"/>
              <a:t>-&gt;parent=p-&gt;parent;</a:t>
            </a:r>
            <a:endParaRPr lang="zh-CN" altLang="zh-CN" sz="1800" b="0" dirty="0"/>
          </a:p>
          <a:p>
            <a:pPr>
              <a:spcBef>
                <a:spcPts val="0"/>
              </a:spcBef>
            </a:pPr>
            <a:r>
              <a:rPr lang="en-US" altLang="zh-CN" sz="1800" b="0" dirty="0"/>
              <a:t>		for(j=1; j&lt;=</a:t>
            </a:r>
            <a:r>
              <a:rPr lang="en-US" altLang="zh-CN" sz="1800" b="0" dirty="0" err="1"/>
              <a:t>ap</a:t>
            </a:r>
            <a:r>
              <a:rPr lang="en-US" altLang="zh-CN" sz="1800" b="0" dirty="0"/>
              <a:t>-&gt;</a:t>
            </a:r>
            <a:r>
              <a:rPr lang="en-US" altLang="zh-CN" sz="1800" b="0" dirty="0" err="1"/>
              <a:t>keynum</a:t>
            </a:r>
            <a:r>
              <a:rPr lang="en-US" altLang="zh-CN" sz="1800" b="0" dirty="0"/>
              <a:t>; j++){       //</a:t>
            </a:r>
            <a:r>
              <a:rPr lang="zh-CN" altLang="zh-CN" sz="1800" b="0" dirty="0"/>
              <a:t>复制关键字和记录位置</a:t>
            </a:r>
          </a:p>
          <a:p>
            <a:pPr>
              <a:spcBef>
                <a:spcPts val="0"/>
              </a:spcBef>
            </a:pPr>
            <a:r>
              <a:rPr lang="en-US" altLang="zh-CN" sz="1800" b="0" dirty="0"/>
              <a:t>			</a:t>
            </a:r>
            <a:r>
              <a:rPr lang="en-US" altLang="zh-CN" sz="1800" b="0" dirty="0" err="1"/>
              <a:t>ap</a:t>
            </a:r>
            <a:r>
              <a:rPr lang="en-US" altLang="zh-CN" sz="1800" b="0" dirty="0"/>
              <a:t>-&gt;key[j] = p-&gt;key[</a:t>
            </a:r>
            <a:r>
              <a:rPr lang="en-US" altLang="zh-CN" sz="1800" b="0" dirty="0" err="1"/>
              <a:t>j+c</a:t>
            </a:r>
            <a:r>
              <a:rPr lang="en-US" altLang="zh-CN" sz="1800" b="0" dirty="0"/>
              <a:t>];</a:t>
            </a:r>
            <a:endParaRPr lang="zh-CN" altLang="zh-CN" sz="1800" b="0" dirty="0"/>
          </a:p>
          <a:p>
            <a:pPr>
              <a:spcBef>
                <a:spcPts val="0"/>
              </a:spcBef>
            </a:pPr>
            <a:r>
              <a:rPr lang="en-US" altLang="zh-CN" sz="1800" b="0" dirty="0"/>
              <a:t>			</a:t>
            </a:r>
            <a:r>
              <a:rPr lang="en-US" altLang="zh-CN" sz="1800" b="0" dirty="0" err="1"/>
              <a:t>ap</a:t>
            </a:r>
            <a:r>
              <a:rPr lang="en-US" altLang="zh-CN" sz="1800" b="0" dirty="0"/>
              <a:t>-&gt;</a:t>
            </a:r>
            <a:r>
              <a:rPr lang="en-US" altLang="zh-CN" sz="1800" b="0" dirty="0" err="1"/>
              <a:t>recptr</a:t>
            </a:r>
            <a:r>
              <a:rPr lang="en-US" altLang="zh-CN" sz="1800" b="0" dirty="0"/>
              <a:t>[j] = p-&gt;</a:t>
            </a:r>
            <a:r>
              <a:rPr lang="en-US" altLang="zh-CN" sz="1800" b="0" dirty="0" err="1"/>
              <a:t>recptr</a:t>
            </a:r>
            <a:r>
              <a:rPr lang="en-US" altLang="zh-CN" sz="1800" b="0" dirty="0"/>
              <a:t>[</a:t>
            </a:r>
            <a:r>
              <a:rPr lang="en-US" altLang="zh-CN" sz="1800" b="0" dirty="0" err="1"/>
              <a:t>j+c</a:t>
            </a:r>
            <a:r>
              <a:rPr lang="en-US" altLang="zh-CN" sz="1800" b="0" dirty="0"/>
              <a:t>];</a:t>
            </a:r>
          </a:p>
          <a:p>
            <a:pPr>
              <a:spcBef>
                <a:spcPts val="0"/>
              </a:spcBef>
            </a:pPr>
            <a:r>
              <a:rPr lang="en-US" altLang="zh-CN" sz="1800" b="0" dirty="0"/>
              <a:t> 		}</a:t>
            </a:r>
            <a:endParaRPr lang="zh-CN" altLang="zh-CN" sz="1800" b="0" dirty="0"/>
          </a:p>
        </p:txBody>
      </p:sp>
    </p:spTree>
    <p:extLst>
      <p:ext uri="{BB962C8B-B14F-4D97-AF65-F5344CB8AC3E}">
        <p14:creationId xmlns:p14="http://schemas.microsoft.com/office/powerpoint/2010/main" val="6991709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208912" cy="5328592"/>
          </a:xfrm>
        </p:spPr>
        <p:txBody>
          <a:bodyPr>
            <a:normAutofit fontScale="92500" lnSpcReduction="20000"/>
          </a:bodyPr>
          <a:lstStyle/>
          <a:p>
            <a:r>
              <a:rPr lang="en-US" altLang="zh-CN" b="0" dirty="0"/>
              <a:t>		for(j=0; j&lt;=</a:t>
            </a:r>
            <a:r>
              <a:rPr lang="en-US" altLang="zh-CN" b="0" dirty="0" err="1"/>
              <a:t>ap</a:t>
            </a:r>
            <a:r>
              <a:rPr lang="en-US" altLang="zh-CN" b="0" dirty="0"/>
              <a:t>-&gt;</a:t>
            </a:r>
            <a:r>
              <a:rPr lang="en-US" altLang="zh-CN" b="0" dirty="0" err="1"/>
              <a:t>keynum</a:t>
            </a:r>
            <a:r>
              <a:rPr lang="en-US" altLang="zh-CN" b="0" dirty="0"/>
              <a:t>; j++) {          //</a:t>
            </a:r>
            <a:r>
              <a:rPr lang="zh-CN" altLang="zh-CN" b="0" dirty="0"/>
              <a:t>复制指针</a:t>
            </a:r>
          </a:p>
          <a:p>
            <a:r>
              <a:rPr lang="en-US" altLang="zh-CN" b="0" dirty="0"/>
              <a:t>			</a:t>
            </a:r>
            <a:r>
              <a:rPr lang="en-US" altLang="zh-CN" b="0" dirty="0" err="1"/>
              <a:t>ap</a:t>
            </a:r>
            <a:r>
              <a:rPr lang="en-US" altLang="zh-CN" b="0" dirty="0"/>
              <a:t>-&gt;</a:t>
            </a:r>
            <a:r>
              <a:rPr lang="en-US" altLang="zh-CN" b="0" dirty="0" err="1"/>
              <a:t>ptr</a:t>
            </a:r>
            <a:r>
              <a:rPr lang="en-US" altLang="zh-CN" b="0" dirty="0"/>
              <a:t>[j]=p-</a:t>
            </a:r>
            <a:r>
              <a:rPr lang="en-US" altLang="zh-CN" b="0" dirty="0" err="1"/>
              <a:t>ptr</a:t>
            </a:r>
            <a:r>
              <a:rPr lang="en-US" altLang="zh-CN" b="0" dirty="0"/>
              <a:t>[</a:t>
            </a:r>
            <a:r>
              <a:rPr lang="en-US" altLang="zh-CN" b="0" dirty="0" err="1"/>
              <a:t>j+c</a:t>
            </a:r>
            <a:r>
              <a:rPr lang="en-US" altLang="zh-CN" b="0" dirty="0"/>
              <a:t>];</a:t>
            </a:r>
            <a:endParaRPr lang="zh-CN" altLang="zh-CN" b="0" dirty="0"/>
          </a:p>
          <a:p>
            <a:r>
              <a:rPr lang="en-US" altLang="zh-CN" b="0" dirty="0"/>
              <a:t>			if(</a:t>
            </a:r>
            <a:r>
              <a:rPr lang="en-US" altLang="zh-CN" b="0" dirty="0" err="1"/>
              <a:t>ap</a:t>
            </a:r>
            <a:r>
              <a:rPr lang="en-US" altLang="zh-CN" b="0" dirty="0"/>
              <a:t>-&gt;</a:t>
            </a:r>
            <a:r>
              <a:rPr lang="en-US" altLang="zh-CN" b="0" dirty="0" err="1"/>
              <a:t>ptr</a:t>
            </a:r>
            <a:r>
              <a:rPr lang="en-US" altLang="zh-CN" b="0" dirty="0"/>
              <a:t>[j] != NULL)	</a:t>
            </a:r>
            <a:r>
              <a:rPr lang="en-US" altLang="zh-CN" b="0" dirty="0" err="1"/>
              <a:t>ap</a:t>
            </a:r>
            <a:r>
              <a:rPr lang="en-US" altLang="zh-CN" b="0" dirty="0"/>
              <a:t>-&gt;</a:t>
            </a:r>
            <a:r>
              <a:rPr lang="en-US" altLang="zh-CN" b="0" dirty="0" err="1"/>
              <a:t>ptr</a:t>
            </a:r>
            <a:r>
              <a:rPr lang="en-US" altLang="zh-CN" b="0" dirty="0"/>
              <a:t>[j]-&gt;parent=</a:t>
            </a:r>
            <a:r>
              <a:rPr lang="en-US" altLang="zh-CN" b="0" dirty="0" err="1"/>
              <a:t>ap</a:t>
            </a:r>
            <a:r>
              <a:rPr lang="en-US" altLang="zh-CN" b="0" dirty="0"/>
              <a:t>;</a:t>
            </a:r>
            <a:endParaRPr lang="zh-CN" altLang="zh-CN" b="0" dirty="0"/>
          </a:p>
          <a:p>
            <a:r>
              <a:rPr lang="en-US" altLang="zh-CN" b="0" dirty="0"/>
              <a:t> 		}</a:t>
            </a:r>
            <a:endParaRPr lang="zh-CN" altLang="zh-CN" b="0" dirty="0"/>
          </a:p>
          <a:p>
            <a:r>
              <a:rPr lang="en-US" altLang="zh-CN" b="0" dirty="0"/>
              <a:t>		</a:t>
            </a:r>
            <a:r>
              <a:rPr lang="en-US" altLang="zh-CN" b="0" dirty="0" err="1"/>
              <a:t>ap</a:t>
            </a:r>
            <a:r>
              <a:rPr lang="en-US" altLang="zh-CN" b="0" dirty="0"/>
              <a:t>-&gt;key[m-c+1]=</a:t>
            </a:r>
            <a:r>
              <a:rPr lang="en-US" altLang="zh-CN" b="0" dirty="0" err="1"/>
              <a:t>MaxKey</a:t>
            </a:r>
            <a:r>
              <a:rPr lang="en-US" altLang="zh-CN" b="0" dirty="0"/>
              <a:t>;    //</a:t>
            </a:r>
            <a:r>
              <a:rPr lang="zh-CN" altLang="zh-CN" b="0" dirty="0"/>
              <a:t>最大值放入所有关键字之后</a:t>
            </a:r>
          </a:p>
          <a:p>
            <a:r>
              <a:rPr lang="en-US" altLang="zh-CN" b="0" dirty="0"/>
              <a:t>		//</a:t>
            </a:r>
            <a:r>
              <a:rPr lang="zh-CN" altLang="zh-CN" b="0" dirty="0"/>
              <a:t>修改</a:t>
            </a:r>
            <a:r>
              <a:rPr lang="en-US" altLang="zh-CN" b="0" dirty="0"/>
              <a:t>p</a:t>
            </a:r>
            <a:r>
              <a:rPr lang="zh-CN" altLang="zh-CN" b="0" dirty="0"/>
              <a:t>结点中的关键字个数</a:t>
            </a:r>
          </a:p>
          <a:p>
            <a:r>
              <a:rPr lang="en-US" altLang="zh-CN" b="0" dirty="0"/>
              <a:t>		p-&gt;</a:t>
            </a:r>
            <a:r>
              <a:rPr lang="en-US" altLang="zh-CN" b="0" dirty="0" err="1"/>
              <a:t>keynum</a:t>
            </a:r>
            <a:r>
              <a:rPr lang="en-US" altLang="zh-CN" b="0" dirty="0"/>
              <a:t>=c-1;</a:t>
            </a:r>
            <a:endParaRPr lang="zh-CN" altLang="zh-CN" b="0" dirty="0"/>
          </a:p>
          <a:p>
            <a:r>
              <a:rPr lang="en-US" altLang="zh-CN" b="0" dirty="0"/>
              <a:t>		//</a:t>
            </a:r>
            <a:r>
              <a:rPr lang="zh-CN" altLang="zh-CN" b="0" dirty="0"/>
              <a:t>建立新的待向双亲结点插入的索引项（</a:t>
            </a:r>
            <a:r>
              <a:rPr lang="en-US" altLang="zh-CN" b="0" dirty="0" err="1"/>
              <a:t>K,num,ap</a:t>
            </a:r>
            <a:r>
              <a:rPr lang="en-US" altLang="zh-CN" b="0" dirty="0"/>
              <a:t>)</a:t>
            </a:r>
            <a:endParaRPr lang="zh-CN" altLang="zh-CN" b="0" dirty="0"/>
          </a:p>
          <a:p>
            <a:r>
              <a:rPr lang="en-US" altLang="zh-CN" b="0" dirty="0"/>
              <a:t>		K = p-&gt;key[c];</a:t>
            </a:r>
          </a:p>
          <a:p>
            <a:r>
              <a:rPr lang="en-US" altLang="zh-CN" b="0" dirty="0"/>
              <a:t>		</a:t>
            </a:r>
            <a:r>
              <a:rPr lang="en-US" altLang="zh-CN" b="0" dirty="0" err="1"/>
              <a:t>num</a:t>
            </a:r>
            <a:r>
              <a:rPr lang="en-US" altLang="zh-CN" b="0" dirty="0"/>
              <a:t>=p-&gt;</a:t>
            </a:r>
            <a:r>
              <a:rPr lang="en-US" altLang="zh-CN" b="0" dirty="0" err="1"/>
              <a:t>recptr</a:t>
            </a:r>
            <a:r>
              <a:rPr lang="en-US" altLang="zh-CN" b="0" dirty="0"/>
              <a:t>[c];</a:t>
            </a:r>
            <a:endParaRPr lang="zh-CN" altLang="zh-CN" b="0" dirty="0"/>
          </a:p>
          <a:p>
            <a:r>
              <a:rPr lang="en-US" altLang="zh-CN" b="0" dirty="0"/>
              <a:t>		//</a:t>
            </a:r>
            <a:r>
              <a:rPr lang="zh-CN" altLang="zh-CN" b="0" dirty="0"/>
              <a:t>在</a:t>
            </a:r>
            <a:r>
              <a:rPr lang="en-US" altLang="zh-CN" b="0" dirty="0"/>
              <a:t>p</a:t>
            </a:r>
            <a:r>
              <a:rPr lang="zh-CN" altLang="zh-CN" b="0" dirty="0"/>
              <a:t>结点的所有关键字最后放入最大关键字</a:t>
            </a:r>
          </a:p>
          <a:p>
            <a:r>
              <a:rPr lang="en-US" altLang="zh-CN" b="0" dirty="0"/>
              <a:t>		p-&gt;key[c]=</a:t>
            </a:r>
            <a:r>
              <a:rPr lang="en-US" altLang="zh-CN" b="0" dirty="0" err="1"/>
              <a:t>MaxKey</a:t>
            </a:r>
            <a:r>
              <a:rPr lang="en-US" altLang="zh-CN" b="0" dirty="0"/>
              <a:t>;</a:t>
            </a:r>
            <a:endParaRPr lang="zh-CN" altLang="zh-CN" b="0" dirty="0"/>
          </a:p>
        </p:txBody>
      </p:sp>
    </p:spTree>
    <p:extLst>
      <p:ext uri="{BB962C8B-B14F-4D97-AF65-F5344CB8AC3E}">
        <p14:creationId xmlns:p14="http://schemas.microsoft.com/office/powerpoint/2010/main" val="42192126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704856" cy="5472608"/>
          </a:xfrm>
        </p:spPr>
        <p:txBody>
          <a:bodyPr>
            <a:normAutofit fontScale="70000" lnSpcReduction="20000"/>
          </a:bodyPr>
          <a:lstStyle/>
          <a:p>
            <a:pPr>
              <a:lnSpc>
                <a:spcPct val="140000"/>
              </a:lnSpc>
              <a:spcBef>
                <a:spcPts val="0"/>
              </a:spcBef>
            </a:pPr>
            <a:r>
              <a:rPr lang="en-US" altLang="zh-CN" b="0" dirty="0"/>
              <a:t>		//</a:t>
            </a:r>
            <a:r>
              <a:rPr lang="zh-CN" altLang="zh-CN" b="0" dirty="0"/>
              <a:t>建立新的树根结点</a:t>
            </a:r>
          </a:p>
          <a:p>
            <a:pPr>
              <a:lnSpc>
                <a:spcPct val="140000"/>
              </a:lnSpc>
              <a:spcBef>
                <a:spcPts val="0"/>
              </a:spcBef>
            </a:pPr>
            <a:r>
              <a:rPr lang="en-US" altLang="zh-CN" b="0" dirty="0"/>
              <a:t>		if(p-&gt;parent==NULL)</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MT=new </a:t>
            </a:r>
            <a:r>
              <a:rPr lang="en-US" altLang="zh-CN" b="0" dirty="0" err="1"/>
              <a:t>MBNode</a:t>
            </a:r>
            <a:r>
              <a:rPr lang="en-US" altLang="zh-CN" b="0" dirty="0"/>
              <a:t>;</a:t>
            </a:r>
            <a:endParaRPr lang="zh-CN" altLang="zh-CN" b="0" dirty="0"/>
          </a:p>
          <a:p>
            <a:pPr>
              <a:lnSpc>
                <a:spcPct val="140000"/>
              </a:lnSpc>
              <a:spcBef>
                <a:spcPts val="0"/>
              </a:spcBef>
            </a:pPr>
            <a:r>
              <a:rPr lang="en-US" altLang="zh-CN" b="0" dirty="0"/>
              <a:t>			MT-&gt;</a:t>
            </a:r>
            <a:r>
              <a:rPr lang="en-US" altLang="zh-CN" b="0" dirty="0" err="1"/>
              <a:t>keynum</a:t>
            </a:r>
            <a:r>
              <a:rPr lang="en-US" altLang="zh-CN" b="0" dirty="0"/>
              <a:t> = 1;  	MT-&gt;parent = NULL;</a:t>
            </a:r>
            <a:endParaRPr lang="zh-CN" altLang="zh-CN" b="0" dirty="0"/>
          </a:p>
          <a:p>
            <a:pPr>
              <a:lnSpc>
                <a:spcPct val="140000"/>
              </a:lnSpc>
              <a:spcBef>
                <a:spcPts val="0"/>
              </a:spcBef>
            </a:pPr>
            <a:r>
              <a:rPr lang="en-US" altLang="zh-CN" b="0" dirty="0"/>
              <a:t>			MT-&gt;key[1] = K;	MT-&gt;key[2] = </a:t>
            </a:r>
            <a:r>
              <a:rPr lang="en-US" altLang="zh-CN" b="0" dirty="0" err="1"/>
              <a:t>MaxKey</a:t>
            </a:r>
            <a:r>
              <a:rPr lang="en-US" altLang="zh-CN" b="0" dirty="0"/>
              <a:t>;</a:t>
            </a:r>
            <a:endParaRPr lang="zh-CN" altLang="zh-CN" b="0" dirty="0"/>
          </a:p>
          <a:p>
            <a:pPr>
              <a:lnSpc>
                <a:spcPct val="140000"/>
              </a:lnSpc>
              <a:spcBef>
                <a:spcPts val="0"/>
              </a:spcBef>
            </a:pPr>
            <a:r>
              <a:rPr lang="en-US" altLang="zh-CN" b="0" dirty="0"/>
              <a:t>			MT-&gt;</a:t>
            </a:r>
            <a:r>
              <a:rPr lang="en-US" altLang="zh-CN" b="0" dirty="0" err="1"/>
              <a:t>recptr</a:t>
            </a:r>
            <a:r>
              <a:rPr lang="en-US" altLang="zh-CN" b="0" dirty="0"/>
              <a:t>[1] = </a:t>
            </a:r>
            <a:r>
              <a:rPr lang="en-US" altLang="zh-CN" b="0" dirty="0" err="1"/>
              <a:t>num</a:t>
            </a:r>
            <a:r>
              <a:rPr lang="en-US" altLang="zh-CN" b="0" dirty="0"/>
              <a:t>;</a:t>
            </a:r>
            <a:endParaRPr lang="zh-CN" altLang="zh-CN" b="0" dirty="0"/>
          </a:p>
          <a:p>
            <a:pPr>
              <a:lnSpc>
                <a:spcPct val="140000"/>
              </a:lnSpc>
              <a:spcBef>
                <a:spcPts val="0"/>
              </a:spcBef>
            </a:pPr>
            <a:r>
              <a:rPr lang="en-US" altLang="zh-CN" b="0" dirty="0"/>
              <a:t>			MT-&gt;</a:t>
            </a:r>
            <a:r>
              <a:rPr lang="en-US" altLang="zh-CN" b="0" dirty="0" err="1"/>
              <a:t>ptr</a:t>
            </a:r>
            <a:r>
              <a:rPr lang="en-US" altLang="zh-CN" b="0" dirty="0"/>
              <a:t>[0] = p;	MT-&gt;</a:t>
            </a:r>
            <a:r>
              <a:rPr lang="en-US" altLang="zh-CN" b="0" dirty="0" err="1"/>
              <a:t>ptr</a:t>
            </a:r>
            <a:r>
              <a:rPr lang="en-US" altLang="zh-CN" b="0" dirty="0"/>
              <a:t>[1] = </a:t>
            </a:r>
            <a:r>
              <a:rPr lang="en-US" altLang="zh-CN" b="0" dirty="0" err="1"/>
              <a:t>ap</a:t>
            </a:r>
            <a:r>
              <a:rPr lang="en-US" altLang="zh-CN" b="0" dirty="0"/>
              <a:t>;</a:t>
            </a:r>
            <a:endParaRPr lang="zh-CN" altLang="zh-CN" b="0" dirty="0"/>
          </a:p>
          <a:p>
            <a:pPr>
              <a:lnSpc>
                <a:spcPct val="140000"/>
              </a:lnSpc>
              <a:spcBef>
                <a:spcPts val="0"/>
              </a:spcBef>
            </a:pPr>
            <a:r>
              <a:rPr lang="en-US" altLang="zh-CN" b="0" dirty="0"/>
              <a:t>			p-&gt;parent=</a:t>
            </a:r>
            <a:r>
              <a:rPr lang="en-US" altLang="zh-CN" b="0" dirty="0" err="1"/>
              <a:t>ap</a:t>
            </a:r>
            <a:r>
              <a:rPr lang="en-US" altLang="zh-CN" b="0" dirty="0"/>
              <a:t>-&gt;parent = MT;</a:t>
            </a:r>
            <a:endParaRPr lang="zh-CN" altLang="zh-CN" b="0" dirty="0"/>
          </a:p>
          <a:p>
            <a:pPr>
              <a:lnSpc>
                <a:spcPct val="140000"/>
              </a:lnSpc>
              <a:spcBef>
                <a:spcPts val="0"/>
              </a:spcBef>
            </a:pPr>
            <a:r>
              <a:rPr lang="en-US" altLang="zh-CN" b="0" dirty="0"/>
              <a:t>			return true;</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r>
              <a:rPr lang="zh-CN" altLang="zh-CN" b="0" dirty="0"/>
              <a:t>求出新的索引项（</a:t>
            </a:r>
            <a:r>
              <a:rPr lang="en-US" altLang="zh-CN" b="0" dirty="0"/>
              <a:t>K, </a:t>
            </a:r>
            <a:r>
              <a:rPr lang="en-US" altLang="zh-CN" b="0" dirty="0" err="1"/>
              <a:t>num</a:t>
            </a:r>
            <a:r>
              <a:rPr lang="en-US" altLang="zh-CN" b="0" dirty="0"/>
              <a:t>, </a:t>
            </a:r>
            <a:r>
              <a:rPr lang="en-US" altLang="zh-CN" b="0" dirty="0" err="1"/>
              <a:t>ap</a:t>
            </a:r>
            <a:r>
              <a:rPr lang="en-US" altLang="zh-CN" b="0" dirty="0"/>
              <a:t>)</a:t>
            </a:r>
            <a:r>
              <a:rPr lang="zh-CN" altLang="zh-CN" b="0" dirty="0"/>
              <a:t>在双亲结点的插入位置</a:t>
            </a:r>
          </a:p>
          <a:p>
            <a:pPr>
              <a:lnSpc>
                <a:spcPct val="140000"/>
              </a:lnSpc>
              <a:spcBef>
                <a:spcPts val="0"/>
              </a:spcBef>
            </a:pPr>
            <a:r>
              <a:rPr lang="en-US" altLang="zh-CN" b="0" dirty="0"/>
              <a:t> 		p=p-&gt;parent;</a:t>
            </a:r>
            <a:endParaRPr lang="zh-CN" altLang="zh-CN" b="0" dirty="0"/>
          </a:p>
          <a:p>
            <a:pPr>
              <a:lnSpc>
                <a:spcPct val="140000"/>
              </a:lnSpc>
              <a:spcBef>
                <a:spcPts val="0"/>
              </a:spcBef>
            </a:pPr>
            <a:r>
              <a:rPr lang="en-US" altLang="zh-CN" b="0" dirty="0"/>
              <a:t> 		</a:t>
            </a:r>
            <a:r>
              <a:rPr lang="en-US" altLang="zh-CN" b="0" dirty="0" err="1"/>
              <a:t>i</a:t>
            </a:r>
            <a:r>
              <a:rPr lang="en-US" altLang="zh-CN" b="0" dirty="0"/>
              <a:t>=1;</a:t>
            </a:r>
            <a:endParaRPr lang="zh-CN" altLang="zh-CN" b="0" dirty="0"/>
          </a:p>
          <a:p>
            <a:pPr>
              <a:lnSpc>
                <a:spcPct val="140000"/>
              </a:lnSpc>
              <a:spcBef>
                <a:spcPts val="0"/>
              </a:spcBef>
            </a:pPr>
            <a:r>
              <a:rPr lang="en-US" altLang="zh-CN" b="0" dirty="0"/>
              <a:t>		while(K&gt;p-&gt;key[</a:t>
            </a:r>
            <a:r>
              <a:rPr lang="en-US" altLang="zh-CN" b="0" dirty="0" err="1"/>
              <a:t>i</a:t>
            </a:r>
            <a:r>
              <a:rPr lang="en-US" altLang="zh-CN" b="0" dirty="0"/>
              <a:t>]) </a:t>
            </a:r>
            <a:r>
              <a:rPr lang="en-US" altLang="zh-CN" b="0" dirty="0" err="1"/>
              <a:t>i</a:t>
            </a:r>
            <a:r>
              <a:rPr lang="en-US" altLang="zh-CN" b="0" dirty="0"/>
              <a:t>++;</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40657430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488832" cy="5256584"/>
          </a:xfrm>
        </p:spPr>
        <p:txBody>
          <a:bodyPr>
            <a:normAutofit/>
          </a:bodyPr>
          <a:lstStyle/>
          <a:p>
            <a:pPr algn="just"/>
            <a:r>
              <a:rPr lang="en-US" altLang="zh-CN" dirty="0"/>
              <a:t>3</a:t>
            </a:r>
            <a:r>
              <a:rPr lang="zh-CN" altLang="zh-CN" dirty="0"/>
              <a:t>．</a:t>
            </a:r>
            <a:r>
              <a:rPr lang="en-US" altLang="zh-CN" dirty="0"/>
              <a:t> B</a:t>
            </a:r>
            <a:r>
              <a:rPr lang="zh-CN" altLang="zh-CN" dirty="0"/>
              <a:t>树的删除</a:t>
            </a:r>
          </a:p>
          <a:p>
            <a:pPr algn="just">
              <a:buFont typeface="Wingdings" panose="05000000000000000000" pitchFamily="2" charset="2"/>
              <a:buChar char="Ø"/>
            </a:pPr>
            <a:r>
              <a:rPr lang="zh-CN" altLang="zh-CN" b="0" dirty="0">
                <a:solidFill>
                  <a:srgbClr val="FF0000"/>
                </a:solidFill>
              </a:rPr>
              <a:t>在</a:t>
            </a:r>
            <a:r>
              <a:rPr lang="en-US" altLang="zh-CN" b="0" dirty="0">
                <a:solidFill>
                  <a:srgbClr val="FF0000"/>
                </a:solidFill>
              </a:rPr>
              <a:t>B</a:t>
            </a:r>
            <a:r>
              <a:rPr lang="zh-CN" altLang="zh-CN" b="0" dirty="0">
                <a:solidFill>
                  <a:srgbClr val="FF0000"/>
                </a:solidFill>
              </a:rPr>
              <a:t>树上删除一个关键字</a:t>
            </a:r>
            <a:r>
              <a:rPr lang="zh-CN" altLang="zh-CN" b="0" dirty="0"/>
              <a:t>，则首先应该利用前述的</a:t>
            </a:r>
            <a:r>
              <a:rPr lang="en-US" altLang="zh-CN" b="0" dirty="0"/>
              <a:t>B</a:t>
            </a:r>
            <a:r>
              <a:rPr lang="zh-CN" altLang="zh-CN" b="0" dirty="0"/>
              <a:t>树的查找算法</a:t>
            </a:r>
            <a:r>
              <a:rPr lang="zh-CN" altLang="zh-CN" dirty="0">
                <a:solidFill>
                  <a:srgbClr val="FF0000"/>
                </a:solidFill>
              </a:rPr>
              <a:t>找出该关键字所在的结点</a:t>
            </a:r>
            <a:r>
              <a:rPr lang="zh-CN" altLang="zh-CN" b="0" dirty="0"/>
              <a:t>，并从中删除之</a:t>
            </a:r>
            <a:r>
              <a:rPr lang="zh-CN" altLang="en-US" b="0" dirty="0"/>
              <a:t>。</a:t>
            </a:r>
            <a:endParaRPr lang="en-US" altLang="zh-CN" b="0" dirty="0"/>
          </a:p>
          <a:p>
            <a:pPr algn="just">
              <a:buFont typeface="Wingdings" panose="05000000000000000000" pitchFamily="2" charset="2"/>
              <a:buChar char="Ø"/>
            </a:pPr>
            <a:r>
              <a:rPr lang="zh-CN" altLang="zh-CN" b="0" dirty="0"/>
              <a:t>若该结点为</a:t>
            </a:r>
            <a:r>
              <a:rPr lang="zh-CN" altLang="zh-CN" dirty="0">
                <a:solidFill>
                  <a:srgbClr val="FF0000"/>
                </a:solidFill>
              </a:rPr>
              <a:t>最下层的非终结点</a:t>
            </a:r>
            <a:r>
              <a:rPr lang="zh-CN" altLang="zh-CN" b="0" dirty="0"/>
              <a:t>，且该结点内的</a:t>
            </a:r>
            <a:r>
              <a:rPr lang="zh-CN" altLang="zh-CN" b="0" dirty="0">
                <a:solidFill>
                  <a:srgbClr val="FF0000"/>
                </a:solidFill>
              </a:rPr>
              <a:t>关键字个数不少于</a:t>
            </a:r>
            <a:r>
              <a:rPr lang="en-US" altLang="zh-CN" b="0" dirty="0">
                <a:solidFill>
                  <a:srgbClr val="FF0000"/>
                </a:solidFill>
              </a:rPr>
              <a:t>⌈m/2⌉</a:t>
            </a:r>
            <a:r>
              <a:rPr lang="zh-CN" altLang="zh-CN" b="0" dirty="0">
                <a:solidFill>
                  <a:srgbClr val="FF0000"/>
                </a:solidFill>
              </a:rPr>
              <a:t>，则删除完成</a:t>
            </a:r>
            <a:r>
              <a:rPr lang="zh-CN" altLang="zh-CN" b="0" dirty="0"/>
              <a:t>，否则需要进行</a:t>
            </a:r>
            <a:r>
              <a:rPr lang="zh-CN" altLang="zh-CN" dirty="0">
                <a:solidFill>
                  <a:srgbClr val="FF0000"/>
                </a:solidFill>
              </a:rPr>
              <a:t>“合并”结点</a:t>
            </a:r>
            <a:r>
              <a:rPr lang="zh-CN" altLang="zh-CN" b="0" dirty="0"/>
              <a:t>的操作。</a:t>
            </a:r>
            <a:endParaRPr lang="en-US" altLang="zh-CN" b="0" dirty="0"/>
          </a:p>
          <a:p>
            <a:pPr algn="just">
              <a:buFont typeface="Wingdings" panose="05000000000000000000" pitchFamily="2" charset="2"/>
              <a:buChar char="Ø"/>
            </a:pPr>
            <a:r>
              <a:rPr lang="zh-CN" altLang="zh-CN" b="0" dirty="0"/>
              <a:t>假如所删关键字为</a:t>
            </a:r>
            <a:r>
              <a:rPr lang="zh-CN" altLang="zh-CN" dirty="0">
                <a:solidFill>
                  <a:srgbClr val="FF0000"/>
                </a:solidFill>
              </a:rPr>
              <a:t>非</a:t>
            </a:r>
            <a:r>
              <a:rPr lang="zh-CN" altLang="en-US" dirty="0">
                <a:solidFill>
                  <a:srgbClr val="FF0000"/>
                </a:solidFill>
              </a:rPr>
              <a:t>底层</a:t>
            </a:r>
            <a:r>
              <a:rPr lang="zh-CN" altLang="zh-CN" dirty="0">
                <a:solidFill>
                  <a:srgbClr val="FF0000"/>
                </a:solidFill>
              </a:rPr>
              <a:t>结点</a:t>
            </a:r>
            <a:r>
              <a:rPr lang="zh-CN" altLang="zh-CN" b="0" dirty="0">
                <a:solidFill>
                  <a:srgbClr val="FF0000"/>
                </a:solidFill>
              </a:rPr>
              <a:t>中的</a:t>
            </a:r>
            <a:r>
              <a:rPr lang="en-US" altLang="zh-CN" b="0" dirty="0">
                <a:solidFill>
                  <a:srgbClr val="FF0000"/>
                </a:solidFill>
              </a:rPr>
              <a:t>K</a:t>
            </a:r>
            <a:r>
              <a:rPr lang="en-US" altLang="zh-CN" b="0" baseline="-25000" dirty="0">
                <a:solidFill>
                  <a:srgbClr val="FF0000"/>
                </a:solidFill>
              </a:rPr>
              <a:t>i</a:t>
            </a:r>
            <a:r>
              <a:rPr lang="zh-CN" altLang="zh-CN" b="0" dirty="0"/>
              <a:t>，则可以将</a:t>
            </a:r>
            <a:r>
              <a:rPr lang="en-US" altLang="zh-CN" b="0" dirty="0"/>
              <a:t>A</a:t>
            </a:r>
            <a:r>
              <a:rPr lang="en-US" altLang="zh-CN" b="0" baseline="-25000" dirty="0"/>
              <a:t>i</a:t>
            </a:r>
            <a:r>
              <a:rPr lang="zh-CN" altLang="zh-CN" b="0" dirty="0"/>
              <a:t>所指子树中的</a:t>
            </a:r>
            <a:r>
              <a:rPr lang="zh-CN" altLang="zh-CN" dirty="0">
                <a:solidFill>
                  <a:srgbClr val="FF0000"/>
                </a:solidFill>
              </a:rPr>
              <a:t>最小关键字</a:t>
            </a:r>
            <a:r>
              <a:rPr lang="en-US" altLang="zh-CN" b="0" dirty="0">
                <a:solidFill>
                  <a:srgbClr val="FF0000"/>
                </a:solidFill>
              </a:rPr>
              <a:t>Y</a:t>
            </a:r>
            <a:r>
              <a:rPr lang="zh-CN" altLang="zh-CN" b="0" dirty="0">
                <a:solidFill>
                  <a:srgbClr val="FF0000"/>
                </a:solidFill>
              </a:rPr>
              <a:t>替代</a:t>
            </a:r>
            <a:r>
              <a:rPr lang="en-US" altLang="zh-CN" b="0" dirty="0">
                <a:solidFill>
                  <a:srgbClr val="FF0000"/>
                </a:solidFill>
              </a:rPr>
              <a:t>K</a:t>
            </a:r>
            <a:r>
              <a:rPr lang="en-US" altLang="zh-CN" b="0" baseline="-25000" dirty="0">
                <a:solidFill>
                  <a:srgbClr val="FF0000"/>
                </a:solidFill>
              </a:rPr>
              <a:t>i</a:t>
            </a:r>
            <a:r>
              <a:rPr lang="zh-CN" altLang="zh-CN" b="0" dirty="0"/>
              <a:t>，</a:t>
            </a:r>
            <a:r>
              <a:rPr lang="zh-CN" altLang="en-US" b="0" dirty="0"/>
              <a:t>或者将</a:t>
            </a:r>
            <a:r>
              <a:rPr lang="en-US" altLang="zh-CN" b="0" dirty="0"/>
              <a:t>A</a:t>
            </a:r>
            <a:r>
              <a:rPr lang="en-US" altLang="zh-CN" b="0" baseline="-25000" dirty="0"/>
              <a:t>i-1</a:t>
            </a:r>
            <a:r>
              <a:rPr lang="zh-CN" altLang="zh-CN" b="0" dirty="0"/>
              <a:t>所指子树中的</a:t>
            </a:r>
            <a:r>
              <a:rPr lang="zh-CN" altLang="zh-CN" dirty="0">
                <a:solidFill>
                  <a:srgbClr val="FF0000"/>
                </a:solidFill>
              </a:rPr>
              <a:t>最</a:t>
            </a:r>
            <a:r>
              <a:rPr lang="zh-CN" altLang="en-US" dirty="0">
                <a:solidFill>
                  <a:srgbClr val="FF0000"/>
                </a:solidFill>
              </a:rPr>
              <a:t>大</a:t>
            </a:r>
            <a:r>
              <a:rPr lang="zh-CN" altLang="zh-CN" dirty="0">
                <a:solidFill>
                  <a:srgbClr val="FF0000"/>
                </a:solidFill>
              </a:rPr>
              <a:t>关键字</a:t>
            </a:r>
            <a:r>
              <a:rPr lang="en-US" altLang="zh-CN" b="0" dirty="0">
                <a:solidFill>
                  <a:srgbClr val="FF0000"/>
                </a:solidFill>
              </a:rPr>
              <a:t>Y</a:t>
            </a:r>
            <a:r>
              <a:rPr lang="zh-CN" altLang="zh-CN" b="0" dirty="0">
                <a:solidFill>
                  <a:srgbClr val="FF0000"/>
                </a:solidFill>
              </a:rPr>
              <a:t>替代</a:t>
            </a:r>
            <a:r>
              <a:rPr lang="en-US" altLang="zh-CN" b="0" dirty="0">
                <a:solidFill>
                  <a:srgbClr val="FF0000"/>
                </a:solidFill>
              </a:rPr>
              <a:t>K</a:t>
            </a:r>
            <a:r>
              <a:rPr lang="en-US" altLang="zh-CN" b="0" baseline="-25000" dirty="0">
                <a:solidFill>
                  <a:srgbClr val="FF0000"/>
                </a:solidFill>
              </a:rPr>
              <a:t>i</a:t>
            </a:r>
            <a:r>
              <a:rPr lang="zh-CN" altLang="en-US" b="0" dirty="0"/>
              <a:t>；然</a:t>
            </a:r>
            <a:r>
              <a:rPr lang="zh-CN" altLang="zh-CN" b="0" dirty="0"/>
              <a:t>后在相应的结点中</a:t>
            </a:r>
            <a:r>
              <a:rPr lang="zh-CN" altLang="zh-CN" b="0" dirty="0">
                <a:solidFill>
                  <a:srgbClr val="FF0000"/>
                </a:solidFill>
              </a:rPr>
              <a:t>删去</a:t>
            </a:r>
            <a:r>
              <a:rPr lang="en-US" altLang="zh-CN" b="0" dirty="0">
                <a:solidFill>
                  <a:srgbClr val="FF0000"/>
                </a:solidFill>
              </a:rPr>
              <a:t>Y</a:t>
            </a:r>
            <a:r>
              <a:rPr lang="zh-CN" altLang="zh-CN" b="0" dirty="0"/>
              <a:t>。</a:t>
            </a:r>
            <a:endParaRPr lang="zh-CN" altLang="en-US" b="0" dirty="0"/>
          </a:p>
        </p:txBody>
      </p:sp>
    </p:spTree>
    <p:extLst>
      <p:ext uri="{BB962C8B-B14F-4D97-AF65-F5344CB8AC3E}">
        <p14:creationId xmlns:p14="http://schemas.microsoft.com/office/powerpoint/2010/main" val="38257432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D34B342D-5128-4EEE-90F0-BBEC51666BC9}"/>
              </a:ext>
            </a:extLst>
          </p:cNvPr>
          <p:cNvSpPr txBox="1">
            <a:spLocks noChangeArrowheads="1"/>
          </p:cNvSpPr>
          <p:nvPr/>
        </p:nvSpPr>
        <p:spPr bwMode="auto">
          <a:xfrm>
            <a:off x="1227343" y="1871623"/>
            <a:ext cx="6224977" cy="10491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just" fontAlgn="ctr">
              <a:lnSpc>
                <a:spcPct val="110000"/>
              </a:lnSpc>
              <a:spcBef>
                <a:spcPct val="50000"/>
              </a:spcBef>
              <a:buFont typeface="Wingdings" panose="05000000000000000000" pitchFamily="2" charset="2"/>
              <a:buChar char="Ø"/>
            </a:pPr>
            <a:r>
              <a:rPr lang="zh-CN" altLang="en-US" sz="2000" b="1" dirty="0">
                <a:solidFill>
                  <a:schemeClr val="tx1"/>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b="1" i="1" dirty="0">
                <a:solidFill>
                  <a:schemeClr val="tx1"/>
                </a:solidFill>
                <a:latin typeface="Consolas" panose="020B0609020204030204" pitchFamily="49" charset="0"/>
                <a:ea typeface="仿宋" panose="02010609060101010101" pitchFamily="49" charset="-122"/>
                <a:cs typeface="Consolas" panose="020B0609020204030204" pitchFamily="49" charset="0"/>
              </a:rPr>
              <a:t>p</a:t>
            </a:r>
            <a:r>
              <a:rPr lang="zh-CN" altLang="en-US" sz="2000" b="1" dirty="0">
                <a:solidFill>
                  <a:schemeClr val="tx1"/>
                </a:solidFill>
                <a:latin typeface="Consolas" panose="020B0609020204030204" pitchFamily="49" charset="0"/>
                <a:ea typeface="仿宋" panose="02010609060101010101" pitchFamily="49" charset="-122"/>
                <a:cs typeface="Consolas" panose="020B0609020204030204" pitchFamily="49" charset="0"/>
              </a:rPr>
              <a:t>为</a:t>
            </a:r>
            <a:r>
              <a:rPr lang="zh-CN" altLang="en-US"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叶子结点</a:t>
            </a:r>
            <a:r>
              <a:rPr lang="en-US" altLang="zh-CN"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FF0000"/>
                </a:solidFill>
              </a:rPr>
              <a:t>最下层的非终结点</a:t>
            </a:r>
            <a:r>
              <a:rPr lang="en-US" altLang="zh-CN"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en-US" sz="2000" b="1" dirty="0">
                <a:solidFill>
                  <a:schemeClr val="tx1"/>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b="1" dirty="0">
              <a:solidFill>
                <a:schemeClr val="tx1"/>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fontAlgn="ctr">
              <a:lnSpc>
                <a:spcPct val="110000"/>
              </a:lnSpc>
              <a:spcBef>
                <a:spcPct val="50000"/>
              </a:spcBef>
              <a:buFont typeface="Wingdings" panose="05000000000000000000" pitchFamily="2" charset="2"/>
              <a:buChar char="Ø"/>
            </a:pPr>
            <a:r>
              <a:rPr lang="zh-CN" altLang="en-US" sz="2000" b="1" dirty="0">
                <a:solidFill>
                  <a:schemeClr val="tx1"/>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b="1" i="1" dirty="0">
                <a:solidFill>
                  <a:schemeClr val="tx1"/>
                </a:solidFill>
                <a:latin typeface="Consolas" panose="020B0609020204030204" pitchFamily="49" charset="0"/>
                <a:ea typeface="仿宋" panose="02010609060101010101" pitchFamily="49" charset="-122"/>
                <a:cs typeface="Consolas" panose="020B0609020204030204" pitchFamily="49" charset="0"/>
              </a:rPr>
              <a:t>p</a:t>
            </a:r>
            <a:r>
              <a:rPr lang="zh-CN" altLang="en-US" sz="2000" b="1" dirty="0">
                <a:solidFill>
                  <a:schemeClr val="tx1"/>
                </a:solidFill>
                <a:latin typeface="Consolas" panose="020B0609020204030204" pitchFamily="49" charset="0"/>
                <a:ea typeface="仿宋" panose="02010609060101010101" pitchFamily="49" charset="-122"/>
                <a:cs typeface="Consolas" panose="020B0609020204030204" pitchFamily="49" charset="0"/>
              </a:rPr>
              <a:t>为</a:t>
            </a:r>
            <a:r>
              <a:rPr lang="zh-CN" altLang="en-US"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非叶子结点</a:t>
            </a:r>
            <a:r>
              <a:rPr lang="en-US" altLang="zh-CN"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FF0000"/>
                </a:solidFill>
              </a:rPr>
              <a:t>非</a:t>
            </a:r>
            <a:r>
              <a:rPr lang="zh-CN" altLang="zh-CN" sz="2000" dirty="0">
                <a:solidFill>
                  <a:srgbClr val="FF0000"/>
                </a:solidFill>
              </a:rPr>
              <a:t>最下层的非终结点</a:t>
            </a:r>
            <a:r>
              <a:rPr lang="en-US" altLang="zh-CN"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en-US" sz="2000"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b="1"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3">
            <a:extLst>
              <a:ext uri="{FF2B5EF4-FFF2-40B4-BE49-F238E27FC236}">
                <a16:creationId xmlns:a16="http://schemas.microsoft.com/office/drawing/2014/main" id="{27908CF9-E724-4E2D-A41E-245E5796EEFA}"/>
              </a:ext>
            </a:extLst>
          </p:cNvPr>
          <p:cNvSpPr txBox="1"/>
          <p:nvPr/>
        </p:nvSpPr>
        <p:spPr>
          <a:xfrm>
            <a:off x="1044748" y="1157243"/>
            <a:ext cx="5759500" cy="461665"/>
          </a:xfrm>
          <a:prstGeom prst="rect">
            <a:avLst/>
          </a:prstGeom>
          <a:noFill/>
        </p:spPr>
        <p:txBody>
          <a:bodyPr wrap="square" rtlCol="0">
            <a:spAutoFit/>
          </a:bodyPr>
          <a:lstStyle/>
          <a:p>
            <a:pPr algn="l"/>
            <a:r>
              <a:rPr lang="zh-CN" altLang="en-US" sz="2400" b="1" dirty="0">
                <a:latin typeface="Arial" panose="020B0604020202020204" pitchFamily="34" charset="0"/>
                <a:ea typeface="楷体" panose="02010609060101010101" pitchFamily="49" charset="-122"/>
                <a:cs typeface="Consolas" panose="020B0609020204030204" pitchFamily="49" charset="0"/>
              </a:rPr>
              <a:t>在结点</a:t>
            </a:r>
            <a:r>
              <a:rPr lang="en-US" altLang="zh-CN" sz="2400" b="1" i="1" dirty="0">
                <a:latin typeface="Arial" panose="020B0604020202020204" pitchFamily="34" charset="0"/>
                <a:ea typeface="楷体" panose="02010609060101010101" pitchFamily="49" charset="-122"/>
                <a:cs typeface="Consolas" panose="020B0609020204030204" pitchFamily="49" charset="0"/>
              </a:rPr>
              <a:t>p</a:t>
            </a:r>
            <a:r>
              <a:rPr lang="zh-CN" altLang="en-US" sz="2400" b="1" dirty="0">
                <a:latin typeface="Arial" panose="020B0604020202020204" pitchFamily="34" charset="0"/>
                <a:ea typeface="楷体" panose="02010609060101010101" pitchFamily="49" charset="-122"/>
                <a:cs typeface="Consolas" panose="020B0609020204030204" pitchFamily="49" charset="0"/>
              </a:rPr>
              <a:t>中删除关键字</a:t>
            </a:r>
            <a:r>
              <a:rPr lang="en-US" altLang="zh-CN" sz="2400" b="1" i="1" dirty="0">
                <a:latin typeface="Arial" panose="020B0604020202020204" pitchFamily="34" charset="0"/>
                <a:ea typeface="楷体" panose="02010609060101010101" pitchFamily="49" charset="-122"/>
                <a:cs typeface="Consolas" panose="020B0609020204030204" pitchFamily="49" charset="0"/>
              </a:rPr>
              <a:t>k</a:t>
            </a:r>
            <a:r>
              <a:rPr lang="zh-CN" altLang="en-US" sz="2400" b="1" dirty="0">
                <a:latin typeface="Arial" panose="020B0604020202020204" pitchFamily="34" charset="0"/>
                <a:ea typeface="楷体" panose="02010609060101010101" pitchFamily="49" charset="-122"/>
                <a:cs typeface="Consolas" panose="020B0609020204030204" pitchFamily="49" charset="0"/>
              </a:rPr>
              <a:t>分两种情况：</a:t>
            </a:r>
          </a:p>
        </p:txBody>
      </p:sp>
      <p:sp>
        <p:nvSpPr>
          <p:cNvPr id="6" name="TextBox 4">
            <a:extLst>
              <a:ext uri="{FF2B5EF4-FFF2-40B4-BE49-F238E27FC236}">
                <a16:creationId xmlns:a16="http://schemas.microsoft.com/office/drawing/2014/main" id="{D048ED1D-1670-4C38-B204-6BF89DEDAFB2}"/>
              </a:ext>
            </a:extLst>
          </p:cNvPr>
          <p:cNvSpPr txBox="1"/>
          <p:nvPr/>
        </p:nvSpPr>
        <p:spPr>
          <a:xfrm>
            <a:off x="1223264" y="3737217"/>
            <a:ext cx="6451080" cy="400110"/>
          </a:xfrm>
          <a:prstGeom prst="rect">
            <a:avLst/>
          </a:prstGeom>
          <a:noFill/>
        </p:spPr>
        <p:txBody>
          <a:bodyPr wrap="square" rtlCol="0">
            <a:spAutoFit/>
          </a:bodyPr>
          <a:lstStyle/>
          <a:p>
            <a:pPr algn="l"/>
            <a:r>
              <a:rPr kumimoji="0" lang="zh-CN" altLang="en-US" sz="2000" b="1" dirty="0">
                <a:latin typeface="Consolas" panose="020B0609020204030204" pitchFamily="49" charset="0"/>
                <a:ea typeface="黑体" panose="02010609060101010101" pitchFamily="49" charset="-122"/>
                <a:cs typeface="Consolas" panose="020B0609020204030204" pitchFamily="49" charset="0"/>
              </a:rPr>
              <a:t>注意：</a:t>
            </a:r>
            <a:r>
              <a:rPr kumimoji="0" lang="zh-CN" altLang="en-US" sz="2000" b="1" dirty="0">
                <a:latin typeface="Consolas" panose="020B0609020204030204" pitchFamily="49" charset="0"/>
                <a:ea typeface="方正启体简体" pitchFamily="65" charset="-122"/>
                <a:cs typeface="Consolas" panose="020B0609020204030204" pitchFamily="49" charset="0"/>
              </a:rPr>
              <a:t>一般结点的关键字最少个数 </a:t>
            </a:r>
            <a:r>
              <a:rPr lang="en-US" altLang="zh-CN" sz="2000" b="1" dirty="0">
                <a:latin typeface="Consolas" panose="020B0609020204030204" pitchFamily="49" charset="0"/>
                <a:ea typeface="方正启体简体" pitchFamily="65" charset="-122"/>
                <a:cs typeface="Consolas" panose="020B0609020204030204" pitchFamily="49" charset="0"/>
                <a:sym typeface="Symbol" panose="05050102010706020507" pitchFamily="18" charset="2"/>
              </a:rPr>
              <a:t>Min = </a:t>
            </a:r>
            <a:r>
              <a:rPr lang="zh-CN" altLang="en-US" sz="2000" b="1" dirty="0">
                <a:latin typeface="Consolas" panose="020B0609020204030204" pitchFamily="49" charset="0"/>
                <a:ea typeface="方正启体简体" pitchFamily="65" charset="-122"/>
                <a:cs typeface="Consolas" panose="020B0609020204030204" pitchFamily="49" charset="0"/>
                <a:sym typeface="Symbol" panose="05050102010706020507" pitchFamily="18" charset="2"/>
              </a:rPr>
              <a:t></a:t>
            </a:r>
            <a:r>
              <a:rPr lang="en-US" altLang="zh-CN" sz="2000" b="1" i="1" dirty="0">
                <a:latin typeface="Consolas" panose="020B0609020204030204" pitchFamily="49" charset="0"/>
                <a:ea typeface="方正启体简体" pitchFamily="65" charset="-122"/>
                <a:cs typeface="Consolas" panose="020B0609020204030204" pitchFamily="49" charset="0"/>
                <a:sym typeface="Symbol" panose="05050102010706020507" pitchFamily="18" charset="2"/>
              </a:rPr>
              <a:t>m</a:t>
            </a:r>
            <a:r>
              <a:rPr lang="en-US" altLang="zh-CN" sz="2000" b="1" dirty="0">
                <a:latin typeface="Consolas" panose="020B0609020204030204" pitchFamily="49" charset="0"/>
                <a:ea typeface="方正启体简体" pitchFamily="65" charset="-122"/>
                <a:cs typeface="Consolas" panose="020B0609020204030204" pitchFamily="49" charset="0"/>
                <a:sym typeface="Symbol" panose="05050102010706020507" pitchFamily="18" charset="2"/>
              </a:rPr>
              <a:t>/2 </a:t>
            </a:r>
            <a:r>
              <a:rPr lang="en-US" altLang="zh-CN" sz="2000" b="1" dirty="0">
                <a:latin typeface="Consolas" panose="020B0609020204030204" pitchFamily="49" charset="0"/>
                <a:ea typeface="方正启体简体" pitchFamily="65" charset="-122"/>
                <a:cs typeface="Consolas" panose="020B0609020204030204" pitchFamily="49" charset="0"/>
              </a:rPr>
              <a:t>-1</a:t>
            </a:r>
            <a:endParaRPr lang="zh-CN" altLang="en-US" sz="2000" b="1" dirty="0">
              <a:latin typeface="Consolas" panose="020B0609020204030204" pitchFamily="49" charset="0"/>
              <a:ea typeface="方正启体简体" pitchFamily="65" charset="-122"/>
              <a:cs typeface="Consolas" panose="020B0609020204030204" pitchFamily="49" charset="0"/>
            </a:endParaRPr>
          </a:p>
        </p:txBody>
      </p:sp>
    </p:spTree>
    <p:extLst>
      <p:ext uri="{BB962C8B-B14F-4D97-AF65-F5344CB8AC3E}">
        <p14:creationId xmlns:p14="http://schemas.microsoft.com/office/powerpoint/2010/main" val="14912427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3792CE0A-9FF2-40C6-8DD5-D9EF177CDDA3}"/>
              </a:ext>
            </a:extLst>
          </p:cNvPr>
          <p:cNvSpPr txBox="1"/>
          <p:nvPr/>
        </p:nvSpPr>
        <p:spPr>
          <a:xfrm>
            <a:off x="827584" y="1340768"/>
            <a:ext cx="7313466" cy="500009"/>
          </a:xfrm>
          <a:prstGeom prst="rect">
            <a:avLst/>
          </a:prstGeom>
          <a:noFill/>
        </p:spPr>
        <p:txBody>
          <a:bodyPr wrap="square" rtlCol="0">
            <a:spAutoFit/>
          </a:bodyPr>
          <a:lstStyle/>
          <a:p>
            <a:pPr algn="l">
              <a:lnSpc>
                <a:spcPct val="150000"/>
              </a:lnSpc>
            </a:pPr>
            <a:r>
              <a:rPr lang="zh-CN" altLang="en-US" sz="2000" b="1" dirty="0">
                <a:latin typeface="Consolas" panose="020B0609020204030204" pitchFamily="49" charset="0"/>
                <a:ea typeface="楷体" panose="02010609060101010101" pitchFamily="49" charset="-122"/>
                <a:cs typeface="Consolas" panose="020B0609020204030204" pitchFamily="49" charset="0"/>
              </a:rPr>
              <a:t>在</a:t>
            </a:r>
            <a:r>
              <a:rPr lang="zh-CN" altLang="en-US" sz="2000" b="1" dirty="0">
                <a:solidFill>
                  <a:srgbClr val="C00000"/>
                </a:solidFill>
                <a:latin typeface="Consolas" panose="020B0609020204030204" pitchFamily="49" charset="0"/>
                <a:ea typeface="楷体" panose="02010609060101010101" pitchFamily="49" charset="-122"/>
                <a:cs typeface="Consolas" panose="020B0609020204030204" pitchFamily="49" charset="0"/>
              </a:rPr>
              <a:t>非叶子结点上</a:t>
            </a:r>
            <a:r>
              <a:rPr lang="zh-CN" altLang="en-US" sz="2000" b="1" dirty="0">
                <a:latin typeface="Consolas" panose="020B0609020204030204" pitchFamily="49" charset="0"/>
                <a:ea typeface="楷体" panose="02010609060101010101" pitchFamily="49" charset="-122"/>
                <a:cs typeface="Consolas" panose="020B0609020204030204" pitchFamily="49" charset="0"/>
              </a:rPr>
              <a:t>删除关键字</a:t>
            </a:r>
            <a:r>
              <a:rPr lang="en-US" altLang="zh-CN" sz="2000" b="1" i="1" dirty="0">
                <a:latin typeface="Consolas" panose="020B0609020204030204" pitchFamily="49" charset="0"/>
                <a:ea typeface="楷体" panose="02010609060101010101" pitchFamily="49" charset="-122"/>
                <a:cs typeface="Consolas" panose="020B0609020204030204" pitchFamily="49" charset="0"/>
              </a:rPr>
              <a:t>k</a:t>
            </a:r>
            <a:r>
              <a:rPr lang="zh-CN" altLang="en-US" sz="2000" b="1" i="1" dirty="0">
                <a:latin typeface="Consolas" panose="020B0609020204030204" pitchFamily="49" charset="0"/>
                <a:ea typeface="楷体" panose="02010609060101010101" pitchFamily="49" charset="-122"/>
                <a:cs typeface="Consolas" panose="020B0609020204030204" pitchFamily="49" charset="0"/>
              </a:rPr>
              <a:t>  </a:t>
            </a:r>
            <a:r>
              <a:rPr lang="zh-CN" altLang="en-US" sz="2000" b="1" dirty="0">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dirty="0">
                <a:latin typeface="Consolas" panose="020B0609020204030204" pitchFamily="49" charset="0"/>
                <a:ea typeface="楷体" panose="02010609060101010101" pitchFamily="49" charset="-122"/>
                <a:cs typeface="Consolas" panose="020B0609020204030204" pitchFamily="49" charset="0"/>
              </a:rPr>
              <a:t>在叶子结点上删除关键字</a:t>
            </a:r>
            <a:r>
              <a:rPr lang="en-US" altLang="zh-CN" sz="2000" b="1" i="1" dirty="0">
                <a:latin typeface="Consolas" panose="020B0609020204030204" pitchFamily="49" charset="0"/>
                <a:ea typeface="楷体" panose="02010609060101010101" pitchFamily="49" charset="-122"/>
                <a:cs typeface="Consolas" panose="020B0609020204030204" pitchFamily="49" charset="0"/>
              </a:rPr>
              <a:t>k'</a:t>
            </a:r>
            <a:r>
              <a:rPr lang="zh-CN" altLang="en-US" sz="2000" b="1" i="1" dirty="0">
                <a:latin typeface="Consolas" panose="020B0609020204030204" pitchFamily="49" charset="0"/>
                <a:ea typeface="楷体" panose="02010609060101010101" pitchFamily="49" charset="-122"/>
                <a:cs typeface="Consolas" panose="020B0609020204030204" pitchFamily="49" charset="0"/>
              </a:rPr>
              <a:t> </a:t>
            </a:r>
            <a:endParaRPr lang="zh-CN" altLang="en-US" sz="2000" b="1" dirty="0">
              <a:latin typeface="Consolas" panose="020B0609020204030204" pitchFamily="49" charset="0"/>
              <a:ea typeface="楷体" panose="02010609060101010101" pitchFamily="49" charset="-122"/>
              <a:cs typeface="Consolas" panose="020B0609020204030204" pitchFamily="49" charset="0"/>
            </a:endParaRPr>
          </a:p>
        </p:txBody>
      </p:sp>
      <p:sp>
        <p:nvSpPr>
          <p:cNvPr id="5" name="矩形 4">
            <a:extLst>
              <a:ext uri="{FF2B5EF4-FFF2-40B4-BE49-F238E27FC236}">
                <a16:creationId xmlns:a16="http://schemas.microsoft.com/office/drawing/2014/main" id="{17FEC035-8D3E-4F7A-8067-883C4273E6DD}"/>
              </a:ext>
            </a:extLst>
          </p:cNvPr>
          <p:cNvSpPr/>
          <p:nvPr/>
        </p:nvSpPr>
        <p:spPr>
          <a:xfrm>
            <a:off x="2756410" y="3555344"/>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6" name="直接箭头连接符 5">
            <a:extLst>
              <a:ext uri="{FF2B5EF4-FFF2-40B4-BE49-F238E27FC236}">
                <a16:creationId xmlns:a16="http://schemas.microsoft.com/office/drawing/2014/main" id="{134CA968-D99A-4D74-B03C-277C9CF484F9}"/>
              </a:ext>
            </a:extLst>
          </p:cNvPr>
          <p:cNvCxnSpPr/>
          <p:nvPr/>
        </p:nvCxnSpPr>
        <p:spPr>
          <a:xfrm rot="10800000" flipV="1">
            <a:off x="1447510" y="3899834"/>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E4A6CFA1-7F4A-40B9-9DFA-93B1C6056DC7}"/>
              </a:ext>
            </a:extLst>
          </p:cNvPr>
          <p:cNvCxnSpPr>
            <a:endCxn id="9" idx="0"/>
          </p:cNvCxnSpPr>
          <p:nvPr/>
        </p:nvCxnSpPr>
        <p:spPr>
          <a:xfrm rot="16200000" flipH="1">
            <a:off x="3075499" y="4231623"/>
            <a:ext cx="790580" cy="14287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313AB8A3-E8CC-405F-A5D9-F00D5F9DA3FE}"/>
              </a:ext>
            </a:extLst>
          </p:cNvPr>
          <p:cNvSpPr/>
          <p:nvPr/>
        </p:nvSpPr>
        <p:spPr>
          <a:xfrm>
            <a:off x="2042030" y="4698352"/>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9" name="矩形 8">
            <a:extLst>
              <a:ext uri="{FF2B5EF4-FFF2-40B4-BE49-F238E27FC236}">
                <a16:creationId xmlns:a16="http://schemas.microsoft.com/office/drawing/2014/main" id="{E0FA8AC8-3745-4F39-8119-CD7F2E605D75}"/>
              </a:ext>
            </a:extLst>
          </p:cNvPr>
          <p:cNvSpPr/>
          <p:nvPr/>
        </p:nvSpPr>
        <p:spPr>
          <a:xfrm>
            <a:off x="3113600" y="4698352"/>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a:solidFill>
                  <a:srgbClr val="3333FF"/>
                </a:solidFill>
                <a:latin typeface="Consolas" panose="020B0609020204030204" pitchFamily="49" charset="0"/>
                <a:cs typeface="Consolas" panose="020B0609020204030204" pitchFamily="49" charset="0"/>
              </a:rPr>
              <a:t>7  </a:t>
            </a:r>
            <a:r>
              <a:rPr lang="en-US" altLang="zh-CN" sz="2000" b="1">
                <a:solidFill>
                  <a:srgbClr val="3333FF"/>
                </a:solidFill>
                <a:latin typeface="Consolas" panose="020B0609020204030204" pitchFamily="49" charset="0"/>
                <a:cs typeface="Consolas" panose="020B0609020204030204" pitchFamily="49" charset="0"/>
              </a:rPr>
              <a:t>8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0" name="矩形 9">
            <a:extLst>
              <a:ext uri="{FF2B5EF4-FFF2-40B4-BE49-F238E27FC236}">
                <a16:creationId xmlns:a16="http://schemas.microsoft.com/office/drawing/2014/main" id="{7F078075-6DA4-4BEB-BD7F-3A3FD55B14AD}"/>
              </a:ext>
            </a:extLst>
          </p:cNvPr>
          <p:cNvSpPr/>
          <p:nvPr/>
        </p:nvSpPr>
        <p:spPr>
          <a:xfrm>
            <a:off x="970460" y="469835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11" name="直接箭头连接符 10">
            <a:extLst>
              <a:ext uri="{FF2B5EF4-FFF2-40B4-BE49-F238E27FC236}">
                <a16:creationId xmlns:a16="http://schemas.microsoft.com/office/drawing/2014/main" id="{34A4B7E5-A257-4145-8659-D524DEA7CE87}"/>
              </a:ext>
            </a:extLst>
          </p:cNvPr>
          <p:cNvCxnSpPr>
            <a:endCxn id="8" idx="0"/>
          </p:cNvCxnSpPr>
          <p:nvPr/>
        </p:nvCxnSpPr>
        <p:spPr>
          <a:xfrm rot="5400000">
            <a:off x="2418671" y="3967700"/>
            <a:ext cx="782641" cy="67866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FC616F70-E1C4-4D7D-8AF7-66B0F081ED6A}"/>
              </a:ext>
            </a:extLst>
          </p:cNvPr>
          <p:cNvSpPr/>
          <p:nvPr/>
        </p:nvSpPr>
        <p:spPr>
          <a:xfrm>
            <a:off x="5971120" y="469835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a:solidFill>
                  <a:srgbClr val="3333FF"/>
                </a:solidFill>
                <a:latin typeface="Consolas" panose="020B0609020204030204" pitchFamily="49" charset="0"/>
                <a:cs typeface="Consolas" panose="020B0609020204030204" pitchFamily="49" charset="0"/>
              </a:rPr>
              <a:t>15 16</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3" name="矩形 12">
            <a:extLst>
              <a:ext uri="{FF2B5EF4-FFF2-40B4-BE49-F238E27FC236}">
                <a16:creationId xmlns:a16="http://schemas.microsoft.com/office/drawing/2014/main" id="{A2AEECAC-E413-48E8-95FC-5B355952116E}"/>
              </a:ext>
            </a:extLst>
          </p:cNvPr>
          <p:cNvSpPr/>
          <p:nvPr/>
        </p:nvSpPr>
        <p:spPr>
          <a:xfrm>
            <a:off x="6971252" y="469835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a:solidFill>
                  <a:srgbClr val="3333FF"/>
                </a:solidFill>
                <a:latin typeface="Consolas" panose="020B0609020204030204" pitchFamily="49" charset="0"/>
                <a:cs typeface="Consolas" panose="020B0609020204030204" pitchFamily="49" charset="0"/>
              </a:rPr>
              <a:t>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4" name="矩形 13">
            <a:extLst>
              <a:ext uri="{FF2B5EF4-FFF2-40B4-BE49-F238E27FC236}">
                <a16:creationId xmlns:a16="http://schemas.microsoft.com/office/drawing/2014/main" id="{1DEF4B2F-89C9-46C9-B8E7-E2172C0FA50B}"/>
              </a:ext>
            </a:extLst>
          </p:cNvPr>
          <p:cNvSpPr/>
          <p:nvPr/>
        </p:nvSpPr>
        <p:spPr>
          <a:xfrm>
            <a:off x="4185170" y="2626650"/>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a:solidFill>
                  <a:srgbClr val="3333FF"/>
                </a:solidFill>
                <a:latin typeface="Consolas" panose="020B0609020204030204" pitchFamily="49" charset="0"/>
                <a:cs typeface="Consolas" panose="020B0609020204030204" pitchFamily="49" charset="0"/>
              </a:rPr>
              <a:t>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5" name="矩形 14">
            <a:extLst>
              <a:ext uri="{FF2B5EF4-FFF2-40B4-BE49-F238E27FC236}">
                <a16:creationId xmlns:a16="http://schemas.microsoft.com/office/drawing/2014/main" id="{52D0E73B-0BCA-47E6-8E78-40127803DCB4}"/>
              </a:ext>
            </a:extLst>
          </p:cNvPr>
          <p:cNvSpPr/>
          <p:nvPr/>
        </p:nvSpPr>
        <p:spPr>
          <a:xfrm>
            <a:off x="5471054" y="355534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a:solidFill>
                  <a:srgbClr val="FF0000"/>
                </a:solidFill>
                <a:latin typeface="Consolas" panose="020B0609020204030204" pitchFamily="49" charset="0"/>
                <a:cs typeface="Consolas" panose="020B0609020204030204" pitchFamily="49" charset="0"/>
              </a:rPr>
              <a:t>13</a:t>
            </a:r>
            <a:r>
              <a:rPr lang="en-US" altLang="zh-CN" sz="2000" b="1">
                <a:solidFill>
                  <a:srgbClr val="3333FF"/>
                </a:solidFill>
                <a:latin typeface="Consolas" panose="020B0609020204030204" pitchFamily="49" charset="0"/>
                <a:cs typeface="Consolas" panose="020B0609020204030204" pitchFamily="49" charset="0"/>
              </a:rPr>
              <a:t>  17</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16" name="直接箭头连接符 15">
            <a:extLst>
              <a:ext uri="{FF2B5EF4-FFF2-40B4-BE49-F238E27FC236}">
                <a16:creationId xmlns:a16="http://schemas.microsoft.com/office/drawing/2014/main" id="{B092D368-9B4A-46FF-BB46-150F1E7C517B}"/>
              </a:ext>
            </a:extLst>
          </p:cNvPr>
          <p:cNvCxnSpPr>
            <a:endCxn id="5" idx="0"/>
          </p:cNvCxnSpPr>
          <p:nvPr/>
        </p:nvCxnSpPr>
        <p:spPr>
          <a:xfrm rot="10800000" flipV="1">
            <a:off x="3149322" y="2983840"/>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A9D1B8F5-F6FE-4C62-BD3F-3E190A071AD1}"/>
              </a:ext>
            </a:extLst>
          </p:cNvPr>
          <p:cNvCxnSpPr>
            <a:endCxn id="15" idx="0"/>
          </p:cNvCxnSpPr>
          <p:nvPr/>
        </p:nvCxnSpPr>
        <p:spPr>
          <a:xfrm>
            <a:off x="4836052" y="2963202"/>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8" name="TextBox 22">
            <a:extLst>
              <a:ext uri="{FF2B5EF4-FFF2-40B4-BE49-F238E27FC236}">
                <a16:creationId xmlns:a16="http://schemas.microsoft.com/office/drawing/2014/main" id="{57919880-FF6B-4CB8-9C46-1E633E8817A6}"/>
              </a:ext>
            </a:extLst>
          </p:cNvPr>
          <p:cNvSpPr txBox="1"/>
          <p:nvPr/>
        </p:nvSpPr>
        <p:spPr>
          <a:xfrm>
            <a:off x="5685368" y="2626650"/>
            <a:ext cx="2143140" cy="369332"/>
          </a:xfrm>
          <a:prstGeom prst="rect">
            <a:avLst/>
          </a:prstGeom>
          <a:noFill/>
        </p:spPr>
        <p:txBody>
          <a:bodyPr wrap="square" rtlCol="0">
            <a:spAutoFit/>
          </a:bodyPr>
          <a:lstStyle/>
          <a:p>
            <a:r>
              <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删除关键字</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13</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89CDC7F0-5033-4CD3-8901-A18A82C93B3A}"/>
              </a:ext>
            </a:extLst>
          </p:cNvPr>
          <p:cNvCxnSpPr>
            <a:stCxn id="18" idx="2"/>
          </p:cNvCxnSpPr>
          <p:nvPr/>
        </p:nvCxnSpPr>
        <p:spPr>
          <a:xfrm rot="5400000">
            <a:off x="5977191" y="2918473"/>
            <a:ext cx="702238" cy="8572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5B0E28F6-5203-4C68-92DE-8E9BC340A1D9}"/>
              </a:ext>
            </a:extLst>
          </p:cNvPr>
          <p:cNvSpPr/>
          <p:nvPr/>
        </p:nvSpPr>
        <p:spPr>
          <a:xfrm>
            <a:off x="5471054" y="355534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a:solidFill>
                  <a:srgbClr val="FF0000"/>
                </a:solidFill>
                <a:latin typeface="Consolas" panose="020B0609020204030204" pitchFamily="49" charset="0"/>
                <a:cs typeface="Consolas" panose="020B0609020204030204" pitchFamily="49" charset="0"/>
              </a:rPr>
              <a:t>12</a:t>
            </a:r>
            <a:r>
              <a:rPr lang="en-US" altLang="zh-CN" sz="2000" b="1">
                <a:solidFill>
                  <a:srgbClr val="3333FF"/>
                </a:solidFill>
                <a:latin typeface="Consolas" panose="020B0609020204030204" pitchFamily="49" charset="0"/>
                <a:cs typeface="Consolas" panose="020B0609020204030204" pitchFamily="49" charset="0"/>
              </a:rPr>
              <a:t>  17</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21" name="直接箭头连接符 20">
            <a:extLst>
              <a:ext uri="{FF2B5EF4-FFF2-40B4-BE49-F238E27FC236}">
                <a16:creationId xmlns:a16="http://schemas.microsoft.com/office/drawing/2014/main" id="{CBE3F7FA-A288-46EA-A4B4-0929C56BF3EB}"/>
              </a:ext>
            </a:extLst>
          </p:cNvPr>
          <p:cNvCxnSpPr/>
          <p:nvPr/>
        </p:nvCxnSpPr>
        <p:spPr>
          <a:xfrm rot="5400000">
            <a:off x="4953160" y="3986782"/>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A9FA6AD7-8C96-4393-9594-4F7276C79066}"/>
              </a:ext>
            </a:extLst>
          </p:cNvPr>
          <p:cNvCxnSpPr/>
          <p:nvPr/>
        </p:nvCxnSpPr>
        <p:spPr>
          <a:xfrm rot="16200000" flipH="1">
            <a:off x="5759584" y="4144709"/>
            <a:ext cx="785818" cy="32147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BDC5C94D-D3E9-4E12-9F8A-0455ADB0F8B9}"/>
              </a:ext>
            </a:extLst>
          </p:cNvPr>
          <p:cNvCxnSpPr>
            <a:endCxn id="13" idx="0"/>
          </p:cNvCxnSpPr>
          <p:nvPr/>
        </p:nvCxnSpPr>
        <p:spPr>
          <a:xfrm>
            <a:off x="6328312" y="3912534"/>
            <a:ext cx="110728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75CE904-B094-403F-A60C-EB1239757958}"/>
              </a:ext>
            </a:extLst>
          </p:cNvPr>
          <p:cNvCxnSpPr/>
          <p:nvPr/>
        </p:nvCxnSpPr>
        <p:spPr>
          <a:xfrm rot="5400000" flipH="1" flipV="1">
            <a:off x="5342974" y="4211288"/>
            <a:ext cx="615146" cy="216109"/>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32">
            <a:extLst>
              <a:ext uri="{FF2B5EF4-FFF2-40B4-BE49-F238E27FC236}">
                <a16:creationId xmlns:a16="http://schemas.microsoft.com/office/drawing/2014/main" id="{D723AA57-8E9D-4491-A314-F4CE7FACEDE2}"/>
              </a:ext>
            </a:extLst>
          </p:cNvPr>
          <p:cNvSpPr txBox="1"/>
          <p:nvPr/>
        </p:nvSpPr>
        <p:spPr>
          <a:xfrm>
            <a:off x="3899418" y="5412732"/>
            <a:ext cx="2928958" cy="369332"/>
          </a:xfrm>
          <a:prstGeom prst="rect">
            <a:avLst/>
          </a:prstGeom>
          <a:noFill/>
        </p:spPr>
        <p:txBody>
          <a:bodyPr wrap="square" rtlCol="0">
            <a:spAutoFit/>
          </a:bodyPr>
          <a:lstStyle/>
          <a:p>
            <a:pPr algn="l"/>
            <a:r>
              <a:rPr lang="zh-CN" altLang="en-US" sz="1800" b="1">
                <a:solidFill>
                  <a:srgbClr val="3333FF"/>
                </a:solidFill>
                <a:latin typeface="Consolas" panose="020B0609020204030204" pitchFamily="49" charset="0"/>
                <a:ea typeface="仿宋" panose="02010609060101010101" pitchFamily="49" charset="-122"/>
                <a:cs typeface="Consolas" panose="020B0609020204030204" pitchFamily="49" charset="0"/>
              </a:rPr>
              <a:t>删除叶子结点中的</a:t>
            </a:r>
            <a:r>
              <a:rPr lang="en-US" altLang="zh-CN" sz="1800" b="1">
                <a:solidFill>
                  <a:srgbClr val="3333FF"/>
                </a:solidFill>
                <a:latin typeface="Consolas" panose="020B0609020204030204" pitchFamily="49" charset="0"/>
                <a:ea typeface="仿宋" panose="02010609060101010101" pitchFamily="49" charset="-122"/>
                <a:cs typeface="Consolas" panose="020B0609020204030204" pitchFamily="49" charset="0"/>
              </a:rPr>
              <a:t>12</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矩形 25">
            <a:extLst>
              <a:ext uri="{FF2B5EF4-FFF2-40B4-BE49-F238E27FC236}">
                <a16:creationId xmlns:a16="http://schemas.microsoft.com/office/drawing/2014/main" id="{8F600223-3FF9-4576-B15C-49E04CA61997}"/>
              </a:ext>
            </a:extLst>
          </p:cNvPr>
          <p:cNvSpPr/>
          <p:nvPr/>
        </p:nvSpPr>
        <p:spPr>
          <a:xfrm>
            <a:off x="4328046" y="4722102"/>
            <a:ext cx="157163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a:solidFill>
                  <a:srgbClr val="3333FF"/>
                </a:solidFill>
                <a:latin typeface="Consolas" panose="020B0609020204030204" pitchFamily="49" charset="0"/>
                <a:cs typeface="Consolas" panose="020B0609020204030204" pitchFamily="49" charset="0"/>
              </a:rPr>
              <a:t>10 11 12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7" name="椭圆 26">
            <a:extLst>
              <a:ext uri="{FF2B5EF4-FFF2-40B4-BE49-F238E27FC236}">
                <a16:creationId xmlns:a16="http://schemas.microsoft.com/office/drawing/2014/main" id="{A916CE7D-DD03-4F56-916C-48EB6BF2BD76}"/>
              </a:ext>
            </a:extLst>
          </p:cNvPr>
          <p:cNvSpPr/>
          <p:nvPr/>
        </p:nvSpPr>
        <p:spPr>
          <a:xfrm>
            <a:off x="5328178" y="4555476"/>
            <a:ext cx="500066" cy="785818"/>
          </a:xfrm>
          <a:prstGeom prst="ellipse">
            <a:avLst/>
          </a:prstGeom>
          <a:solidFill>
            <a:schemeClr val="accent1">
              <a:alpha val="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28" name="矩形 27">
            <a:extLst>
              <a:ext uri="{FF2B5EF4-FFF2-40B4-BE49-F238E27FC236}">
                <a16:creationId xmlns:a16="http://schemas.microsoft.com/office/drawing/2014/main" id="{A2D1DBA8-B099-4E69-BA9E-927B22BC3D05}"/>
              </a:ext>
            </a:extLst>
          </p:cNvPr>
          <p:cNvSpPr/>
          <p:nvPr/>
        </p:nvSpPr>
        <p:spPr>
          <a:xfrm>
            <a:off x="4328046" y="4698352"/>
            <a:ext cx="157163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a:solidFill>
                  <a:srgbClr val="3333FF"/>
                </a:solidFill>
                <a:latin typeface="Consolas" panose="020B0609020204030204" pitchFamily="49" charset="0"/>
                <a:cs typeface="Consolas" panose="020B0609020204030204" pitchFamily="49" charset="0"/>
              </a:rPr>
              <a:t>10  11</a:t>
            </a:r>
            <a:endParaRPr lang="zh-CN" altLang="en-US" sz="2000" b="1" dirty="0">
              <a:solidFill>
                <a:srgbClr val="3333FF"/>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3951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1" nodeType="afterEffect">
                                  <p:stCondLst>
                                    <p:cond delay="0"/>
                                  </p:stCondLst>
                                  <p:childTnLst>
                                    <p:animEffect transition="out" filter="fade">
                                      <p:cBhvr>
                                        <p:cTn id="9" dur="500" tmFilter="0, 0; .2, .5; .8, .5; 1, 0"/>
                                        <p:tgtEl>
                                          <p:spTgt spid="27"/>
                                        </p:tgtEl>
                                      </p:cBhvr>
                                    </p:animEffect>
                                    <p:animScale>
                                      <p:cBhvr>
                                        <p:cTn id="10" dur="250" autoRev="1" fill="hold"/>
                                        <p:tgtEl>
                                          <p:spTgt spid="27"/>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childTnLst>
                          </p:cTn>
                        </p:par>
                        <p:par>
                          <p:cTn id="23" fill="hold">
                            <p:stCondLst>
                              <p:cond delay="500"/>
                            </p:stCondLst>
                            <p:childTnLst>
                              <p:par>
                                <p:cTn id="24" presetID="22" presetClass="exit" presetSubtype="4" fill="hold" grpId="2" nodeType="afterEffect">
                                  <p:stCondLst>
                                    <p:cond delay="0"/>
                                  </p:stCondLst>
                                  <p:childTnLst>
                                    <p:animEffect transition="out" filter="wipe(down)">
                                      <p:cBhvr>
                                        <p:cTn id="25" dur="500"/>
                                        <p:tgtEl>
                                          <p:spTgt spid="27"/>
                                        </p:tgtEl>
                                      </p:cBhvr>
                                    </p:animEffect>
                                    <p:set>
                                      <p:cBhvr>
                                        <p:cTn id="26" dur="1" fill="hold">
                                          <p:stCondLst>
                                            <p:cond delay="499"/>
                                          </p:stCondLst>
                                        </p:cTn>
                                        <p:tgtEl>
                                          <p:spTgt spid="2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p:bldP spid="27" grpId="0" animBg="1"/>
      <p:bldP spid="27" grpId="1" animBg="1"/>
      <p:bldP spid="27" grpId="2" animBg="1"/>
      <p:bldP spid="2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906BFCB4-CD3A-465B-A145-4B709446F92D}"/>
              </a:ext>
            </a:extLst>
          </p:cNvPr>
          <p:cNvSpPr txBox="1">
            <a:spLocks noChangeArrowheads="1"/>
          </p:cNvSpPr>
          <p:nvPr/>
        </p:nvSpPr>
        <p:spPr bwMode="auto">
          <a:xfrm>
            <a:off x="213771" y="1806079"/>
            <a:ext cx="8143932" cy="859311"/>
          </a:xfrm>
          <a:prstGeom prst="rect">
            <a:avLst/>
          </a:prstGeom>
          <a:solidFill>
            <a:sysClr val="window" lastClr="FFFFFF"/>
          </a:solidFill>
          <a:ln w="25400" cap="flat" cmpd="sng" algn="ctr">
            <a:noFill/>
            <a:prstDash val="solid"/>
          </a:ln>
          <a:effectLst/>
          <a:scene3d>
            <a:camera prst="orthographicFront">
              <a:rot lat="0" lon="0" rev="0"/>
            </a:camera>
            <a:lightRig rig="chilly" dir="t">
              <a:rot lat="0" lon="0" rev="18480000"/>
            </a:lightRig>
          </a:scene3d>
          <a:sp3d prstMaterial="clear">
            <a:bevelT h="63500"/>
          </a:sp3d>
        </p:spPr>
        <p:txBody>
          <a:bodyPr wrap="square" tIns="108000" bIns="108000">
            <a:spAutoFit/>
          </a:bodyPr>
          <a:lstStyle/>
          <a:p>
            <a:pPr marL="0" marR="0" lvl="0" indent="0" algn="just" defTabSz="914400" eaLnBrk="1" fontAlgn="ctr" latinLnBrk="0" hangingPunct="1">
              <a:lnSpc>
                <a:spcPts val="2500"/>
              </a:lnSpc>
              <a:spcBef>
                <a:spcPts val="0"/>
              </a:spcBef>
              <a:spcAft>
                <a:spcPct val="0"/>
              </a:spcAft>
              <a:buClrTx/>
              <a:buSzTx/>
              <a:buFontTx/>
              <a:buNone/>
              <a:tabLst/>
              <a:defRPr/>
            </a:pPr>
            <a:r>
              <a:rPr kumimoji="1" lang="zh-CN" altLang="en-US" sz="2000" b="1" i="0" u="none" strike="noStrike" kern="0" cap="none" spc="0" normalizeH="0" noProof="0" dirty="0">
                <a:ln>
                  <a:noFill/>
                </a:ln>
                <a:solidFill>
                  <a:srgbClr val="C00000"/>
                </a:solidFill>
                <a:effectLst/>
                <a:uLnTx/>
                <a:uFillTx/>
                <a:latin typeface="Arial" panose="020B0604020202020204" pitchFamily="34" charset="0"/>
                <a:ea typeface="楷体" panose="02010609060101010101" pitchFamily="49" charset="-122"/>
                <a:cs typeface="Consolas" panose="020B0609020204030204" pitchFamily="49" charset="0"/>
              </a:rPr>
              <a:t>情况</a:t>
            </a:r>
            <a:r>
              <a:rPr kumimoji="1" lang="en-US" altLang="zh-CN" sz="2000" b="1" i="0" u="none" strike="noStrike" kern="0" cap="none" spc="0" normalizeH="0" noProof="0" dirty="0">
                <a:ln>
                  <a:noFill/>
                </a:ln>
                <a:solidFill>
                  <a:srgbClr val="C00000"/>
                </a:solidFill>
                <a:effectLst/>
                <a:uLnTx/>
                <a:uFillTx/>
                <a:latin typeface="Arial" panose="020B0604020202020204" pitchFamily="34" charset="0"/>
                <a:ea typeface="楷体" panose="02010609060101010101" pitchFamily="49" charset="-122"/>
                <a:cs typeface="Consolas" panose="020B0609020204030204" pitchFamily="49" charset="0"/>
              </a:rPr>
              <a:t>1</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：假如</a:t>
            </a:r>
            <a:r>
              <a:rPr kumimoji="1" lang="en-US" altLang="zh-CN" sz="2000" b="1" i="1"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b</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结点的关键字个数大于</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Min</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，说明删去该关键字后该结点仍满足</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B</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树的定义，则可直接删去该关键字。     </a:t>
            </a:r>
          </a:p>
        </p:txBody>
      </p:sp>
      <p:sp>
        <p:nvSpPr>
          <p:cNvPr id="5" name="Rectangle 3">
            <a:extLst>
              <a:ext uri="{FF2B5EF4-FFF2-40B4-BE49-F238E27FC236}">
                <a16:creationId xmlns:a16="http://schemas.microsoft.com/office/drawing/2014/main" id="{6D3EE034-0635-4D1B-A281-C05877DDBD39}"/>
              </a:ext>
            </a:extLst>
          </p:cNvPr>
          <p:cNvSpPr>
            <a:spLocks noChangeArrowheads="1"/>
          </p:cNvSpPr>
          <p:nvPr/>
        </p:nvSpPr>
        <p:spPr bwMode="auto">
          <a:xfrm>
            <a:off x="2376767" y="3481305"/>
            <a:ext cx="1655762" cy="576263"/>
          </a:xfrm>
          <a:prstGeom prst="rect">
            <a:avLst/>
          </a:prstGeom>
          <a:solidFill>
            <a:srgbClr val="FFFFFF"/>
          </a:solidFill>
          <a:ln w="28575" algn="ctr">
            <a:solidFill>
              <a:srgbClr val="9900FF"/>
            </a:solidFill>
            <a:miter lim="800000"/>
          </a:ln>
        </p:spPr>
        <p:txBody>
          <a:bodyPr wrap="none" anchor="ctr"/>
          <a:lstStyle/>
          <a:p>
            <a:pPr algn="ctr" fontAlgn="base">
              <a:spcBef>
                <a:spcPct val="0"/>
              </a:spcBef>
              <a:spcAft>
                <a:spcPct val="0"/>
              </a:spcAft>
            </a:pPr>
            <a:r>
              <a:rPr kumimoji="1" lang="en-US" altLang="zh-CN" sz="2400" b="1">
                <a:solidFill>
                  <a:srgbClr val="3333FF"/>
                </a:solidFill>
                <a:latin typeface="Consolas" panose="020B0609020204030204" pitchFamily="49" charset="0"/>
                <a:ea typeface="宋体" panose="02010600030101010101" pitchFamily="2" charset="-122"/>
                <a:cs typeface="Consolas" panose="020B0609020204030204" pitchFamily="49" charset="0"/>
              </a:rPr>
              <a:t>1  </a:t>
            </a:r>
            <a:r>
              <a:rPr kumimoji="1" lang="en-US" altLang="zh-CN" sz="2400" b="1">
                <a:solidFill>
                  <a:srgbClr val="FF00FF"/>
                </a:solidFill>
                <a:latin typeface="Consolas" panose="020B0609020204030204" pitchFamily="49" charset="0"/>
                <a:ea typeface="宋体" panose="02010600030101010101" pitchFamily="2" charset="-122"/>
                <a:cs typeface="Consolas" panose="020B0609020204030204" pitchFamily="49" charset="0"/>
              </a:rPr>
              <a:t>2</a:t>
            </a:r>
            <a:r>
              <a:rPr kumimoji="1" lang="en-US" altLang="zh-CN" sz="2400" b="1">
                <a:solidFill>
                  <a:srgbClr val="3333FF"/>
                </a:solidFill>
                <a:latin typeface="Consolas" panose="020B0609020204030204" pitchFamily="49" charset="0"/>
                <a:ea typeface="宋体" panose="02010600030101010101" pitchFamily="2" charset="-122"/>
                <a:cs typeface="Consolas" panose="020B0609020204030204" pitchFamily="49" charset="0"/>
              </a:rPr>
              <a:t>  3</a:t>
            </a:r>
            <a:endParaRPr kumimoji="1" lang="zh-CN" altLang="en-US" sz="2400" b="1">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sp>
        <p:nvSpPr>
          <p:cNvPr id="6" name="Text Box 5">
            <a:extLst>
              <a:ext uri="{FF2B5EF4-FFF2-40B4-BE49-F238E27FC236}">
                <a16:creationId xmlns:a16="http://schemas.microsoft.com/office/drawing/2014/main" id="{363B299E-1423-4E9B-A5B5-3A8A78F7447C}"/>
              </a:ext>
            </a:extLst>
          </p:cNvPr>
          <p:cNvSpPr txBox="1">
            <a:spLocks noChangeArrowheads="1"/>
          </p:cNvSpPr>
          <p:nvPr/>
        </p:nvSpPr>
        <p:spPr bwMode="auto">
          <a:xfrm>
            <a:off x="1962414" y="3116178"/>
            <a:ext cx="647700"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en-US" altLang="zh-CN" sz="2400" b="1" i="1" dirty="0">
                <a:solidFill>
                  <a:srgbClr val="FF0000"/>
                </a:solidFill>
                <a:latin typeface="Consolas" panose="020B0609020204030204" pitchFamily="49" charset="0"/>
                <a:ea typeface="楷体_GB2312" pitchFamily="49" charset="-122"/>
                <a:cs typeface="Consolas" panose="020B0609020204030204" pitchFamily="49" charset="0"/>
              </a:rPr>
              <a:t>b</a:t>
            </a:r>
          </a:p>
        </p:txBody>
      </p:sp>
      <p:grpSp>
        <p:nvGrpSpPr>
          <p:cNvPr id="7" name="组合 10">
            <a:extLst>
              <a:ext uri="{FF2B5EF4-FFF2-40B4-BE49-F238E27FC236}">
                <a16:creationId xmlns:a16="http://schemas.microsoft.com/office/drawing/2014/main" id="{42B2077D-DEE9-4756-A3E4-188BA4878DC3}"/>
              </a:ext>
            </a:extLst>
          </p:cNvPr>
          <p:cNvGrpSpPr/>
          <p:nvPr/>
        </p:nvGrpSpPr>
        <p:grpSpPr>
          <a:xfrm>
            <a:off x="4321456" y="3320968"/>
            <a:ext cx="2663825" cy="738187"/>
            <a:chOff x="4140200" y="2979738"/>
            <a:chExt cx="2663825" cy="738187"/>
          </a:xfrm>
        </p:grpSpPr>
        <p:sp>
          <p:nvSpPr>
            <p:cNvPr id="8" name="Freeform 6">
              <a:extLst>
                <a:ext uri="{FF2B5EF4-FFF2-40B4-BE49-F238E27FC236}">
                  <a16:creationId xmlns:a16="http://schemas.microsoft.com/office/drawing/2014/main" id="{C6C8939D-D324-4656-B3DB-95B9A56710DE}"/>
                </a:ext>
              </a:extLst>
            </p:cNvPr>
            <p:cNvSpPr/>
            <p:nvPr/>
          </p:nvSpPr>
          <p:spPr bwMode="auto">
            <a:xfrm>
              <a:off x="4140200" y="3479800"/>
              <a:ext cx="1295400" cy="1588"/>
            </a:xfrm>
            <a:custGeom>
              <a:avLst/>
              <a:gdLst>
                <a:gd name="T0" fmla="*/ 0 w 792"/>
                <a:gd name="T1" fmla="*/ 13 h 13"/>
                <a:gd name="T2" fmla="*/ 792 w 792"/>
                <a:gd name="T3" fmla="*/ 0 h 13"/>
                <a:gd name="T4" fmla="*/ 0 60000 65536"/>
                <a:gd name="T5" fmla="*/ 0 60000 65536"/>
                <a:gd name="T6" fmla="*/ 0 w 792"/>
                <a:gd name="T7" fmla="*/ 0 h 13"/>
                <a:gd name="T8" fmla="*/ 792 w 792"/>
                <a:gd name="T9" fmla="*/ 13 h 13"/>
              </a:gdLst>
              <a:ahLst/>
              <a:cxnLst>
                <a:cxn ang="T4">
                  <a:pos x="T0" y="T1"/>
                </a:cxn>
                <a:cxn ang="T5">
                  <a:pos x="T2" y="T3"/>
                </a:cxn>
              </a:cxnLst>
              <a:rect l="T6" t="T7" r="T8" b="T9"/>
              <a:pathLst>
                <a:path w="792" h="13">
                  <a:moveTo>
                    <a:pt x="0" y="13"/>
                  </a:moveTo>
                  <a:lnTo>
                    <a:pt x="792" y="0"/>
                  </a:lnTo>
                </a:path>
              </a:pathLst>
            </a:custGeom>
            <a:noFill/>
            <a:ln w="38100">
              <a:solidFill>
                <a:srgbClr val="3333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sp>
          <p:nvSpPr>
            <p:cNvPr id="9" name="Text Box 7">
              <a:extLst>
                <a:ext uri="{FF2B5EF4-FFF2-40B4-BE49-F238E27FC236}">
                  <a16:creationId xmlns:a16="http://schemas.microsoft.com/office/drawing/2014/main" id="{9EDBE43B-B97D-4D2F-B2C4-5158EAF7D4B7}"/>
                </a:ext>
              </a:extLst>
            </p:cNvPr>
            <p:cNvSpPr txBox="1">
              <a:spLocks noChangeArrowheads="1"/>
            </p:cNvSpPr>
            <p:nvPr/>
          </p:nvSpPr>
          <p:spPr bwMode="auto">
            <a:xfrm>
              <a:off x="4140200" y="2979738"/>
              <a:ext cx="1223963" cy="276999"/>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zh-CN" altLang="en-US" b="1" dirty="0">
                  <a:solidFill>
                    <a:srgbClr val="3333FF"/>
                  </a:solidFill>
                  <a:latin typeface="仿宋" panose="02010609060101010101" pitchFamily="49" charset="-122"/>
                  <a:ea typeface="仿宋" panose="02010609060101010101" pitchFamily="49" charset="-122"/>
                  <a:cs typeface="Consolas" panose="020B0609020204030204" pitchFamily="49" charset="0"/>
                </a:rPr>
                <a:t>直接删除</a:t>
              </a:r>
            </a:p>
          </p:txBody>
        </p:sp>
        <p:sp>
          <p:nvSpPr>
            <p:cNvPr id="10" name="Rectangle 8">
              <a:extLst>
                <a:ext uri="{FF2B5EF4-FFF2-40B4-BE49-F238E27FC236}">
                  <a16:creationId xmlns:a16="http://schemas.microsoft.com/office/drawing/2014/main" id="{1BD9478C-75A4-4964-A7F2-4C03C4F6C89E}"/>
                </a:ext>
              </a:extLst>
            </p:cNvPr>
            <p:cNvSpPr>
              <a:spLocks noChangeArrowheads="1"/>
            </p:cNvSpPr>
            <p:nvPr/>
          </p:nvSpPr>
          <p:spPr bwMode="auto">
            <a:xfrm>
              <a:off x="5651500" y="3141663"/>
              <a:ext cx="1152525" cy="576262"/>
            </a:xfrm>
            <a:prstGeom prst="rect">
              <a:avLst/>
            </a:prstGeom>
            <a:solidFill>
              <a:srgbClr val="FFFFFF"/>
            </a:solidFill>
            <a:ln w="28575" algn="ctr">
              <a:solidFill>
                <a:srgbClr val="9900FF"/>
              </a:solidFill>
              <a:miter lim="800000"/>
            </a:ln>
          </p:spPr>
          <p:txBody>
            <a:bodyPr wrap="none" anchor="ctr"/>
            <a:lstStyle/>
            <a:p>
              <a:pPr algn="ctr" fontAlgn="base">
                <a:spcBef>
                  <a:spcPct val="0"/>
                </a:spcBef>
                <a:spcAft>
                  <a:spcPct val="0"/>
                </a:spcAft>
              </a:pPr>
              <a:r>
                <a:rPr kumimoji="1" lang="en-US" altLang="zh-CN" sz="2400" b="1">
                  <a:solidFill>
                    <a:srgbClr val="3333FF"/>
                  </a:solidFill>
                  <a:latin typeface="Consolas" panose="020B0609020204030204" pitchFamily="49" charset="0"/>
                  <a:ea typeface="宋体" panose="02010600030101010101" pitchFamily="2" charset="-122"/>
                  <a:cs typeface="Consolas" panose="020B0609020204030204" pitchFamily="49" charset="0"/>
                </a:rPr>
                <a:t>1  3</a:t>
              </a:r>
              <a:endParaRPr kumimoji="1" lang="zh-CN" altLang="en-US" sz="2400" b="1">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grpSp>
      <p:sp>
        <p:nvSpPr>
          <p:cNvPr id="11" name="TextBox 8">
            <a:extLst>
              <a:ext uri="{FF2B5EF4-FFF2-40B4-BE49-F238E27FC236}">
                <a16:creationId xmlns:a16="http://schemas.microsoft.com/office/drawing/2014/main" id="{D2CFD068-2809-4312-BCEC-F53077412BD0}"/>
              </a:ext>
            </a:extLst>
          </p:cNvPr>
          <p:cNvSpPr txBox="1"/>
          <p:nvPr/>
        </p:nvSpPr>
        <p:spPr>
          <a:xfrm>
            <a:off x="213771" y="928555"/>
            <a:ext cx="8215370" cy="461665"/>
          </a:xfrm>
          <a:prstGeom prst="rect">
            <a:avLst/>
          </a:prstGeom>
          <a:noFill/>
        </p:spPr>
        <p:txBody>
          <a:bodyPr wrap="square" rtlCol="0">
            <a:spAutoFit/>
          </a:bodyPr>
          <a:lstStyle/>
          <a:p>
            <a:pPr fontAlgn="base">
              <a:spcBef>
                <a:spcPct val="0"/>
              </a:spcBef>
              <a:spcAft>
                <a:spcPct val="0"/>
              </a:spcAft>
            </a:pPr>
            <a:r>
              <a:rPr kumimoji="1" lang="zh-CN" altLang="en-US" sz="2400" b="1">
                <a:latin typeface="楷体" panose="02010609060101010101" pitchFamily="49" charset="-122"/>
                <a:ea typeface="楷体" panose="02010609060101010101" pitchFamily="49" charset="-122"/>
                <a:cs typeface="Consolas" panose="020B0609020204030204" pitchFamily="49" charset="0"/>
              </a:rPr>
              <a:t>在</a:t>
            </a:r>
            <a:r>
              <a:rPr kumimoji="1" lang="en-US" altLang="zh-CN" sz="2400" b="1">
                <a:latin typeface="楷体" panose="02010609060101010101" pitchFamily="49" charset="-122"/>
                <a:ea typeface="楷体" panose="02010609060101010101" pitchFamily="49" charset="-122"/>
                <a:cs typeface="Consolas" panose="020B0609020204030204" pitchFamily="49" charset="0"/>
              </a:rPr>
              <a:t>B</a:t>
            </a:r>
            <a:r>
              <a:rPr kumimoji="1" lang="zh-CN" altLang="en-US" sz="2400" b="1">
                <a:latin typeface="楷体" panose="02010609060101010101" pitchFamily="49" charset="-122"/>
                <a:ea typeface="楷体" panose="02010609060101010101" pitchFamily="49" charset="-122"/>
                <a:cs typeface="Consolas" panose="020B0609020204030204" pitchFamily="49" charset="0"/>
              </a:rPr>
              <a:t>树的叶子结点</a:t>
            </a:r>
            <a:r>
              <a:rPr kumimoji="1" lang="en-US" altLang="zh-CN" sz="2400" b="1" i="1">
                <a:latin typeface="楷体" panose="02010609060101010101" pitchFamily="49" charset="-122"/>
                <a:ea typeface="楷体" panose="02010609060101010101" pitchFamily="49" charset="-122"/>
                <a:cs typeface="Consolas" panose="020B0609020204030204" pitchFamily="49" charset="0"/>
              </a:rPr>
              <a:t>b</a:t>
            </a:r>
            <a:r>
              <a:rPr kumimoji="1" lang="zh-CN" altLang="en-US" sz="2400" b="1" dirty="0">
                <a:latin typeface="楷体" panose="02010609060101010101" pitchFamily="49" charset="-122"/>
                <a:ea typeface="楷体" panose="02010609060101010101" pitchFamily="49" charset="-122"/>
                <a:cs typeface="Consolas" panose="020B0609020204030204" pitchFamily="49" charset="0"/>
              </a:rPr>
              <a:t>上删除关键字共有以下</a:t>
            </a:r>
            <a:r>
              <a:rPr kumimoji="1" lang="en-US" altLang="zh-CN" sz="2400" b="1" dirty="0">
                <a:latin typeface="楷体" panose="02010609060101010101" pitchFamily="49" charset="-122"/>
                <a:ea typeface="楷体" panose="02010609060101010101" pitchFamily="49" charset="-122"/>
                <a:cs typeface="Consolas" panose="020B0609020204030204" pitchFamily="49" charset="0"/>
              </a:rPr>
              <a:t>3</a:t>
            </a:r>
            <a:r>
              <a:rPr kumimoji="1" lang="zh-CN" altLang="en-US" sz="2400" b="1" dirty="0">
                <a:latin typeface="楷体" panose="02010609060101010101" pitchFamily="49" charset="-122"/>
                <a:ea typeface="楷体" panose="02010609060101010101" pitchFamily="49" charset="-122"/>
                <a:cs typeface="Consolas" panose="020B0609020204030204" pitchFamily="49" charset="0"/>
              </a:rPr>
              <a:t>种情况：</a:t>
            </a:r>
          </a:p>
        </p:txBody>
      </p:sp>
      <p:sp>
        <p:nvSpPr>
          <p:cNvPr id="12" name="TextBox 9">
            <a:extLst>
              <a:ext uri="{FF2B5EF4-FFF2-40B4-BE49-F238E27FC236}">
                <a16:creationId xmlns:a16="http://schemas.microsoft.com/office/drawing/2014/main" id="{D61CE162-492C-49FD-9DAC-86B46BFF843D}"/>
              </a:ext>
            </a:extLst>
          </p:cNvPr>
          <p:cNvSpPr txBox="1"/>
          <p:nvPr/>
        </p:nvSpPr>
        <p:spPr>
          <a:xfrm>
            <a:off x="3610246" y="4913236"/>
            <a:ext cx="2000264" cy="400110"/>
          </a:xfrm>
          <a:prstGeom prst="rect">
            <a:avLst/>
          </a:prstGeom>
          <a:noFill/>
        </p:spPr>
        <p:txBody>
          <a:bodyPr wrap="square" rtlCol="0">
            <a:spAutoFit/>
          </a:bodyPr>
          <a:lstStyle/>
          <a:p>
            <a:pPr algn="ctr" fontAlgn="base">
              <a:spcBef>
                <a:spcPct val="0"/>
              </a:spcBef>
              <a:spcAft>
                <a:spcPct val="0"/>
              </a:spcAft>
            </a:pPr>
            <a:r>
              <a:rPr kumimoji="1" lang="zh-CN" altLang="en-US" sz="2000" b="1">
                <a:solidFill>
                  <a:srgbClr val="FF00FF"/>
                </a:solidFill>
                <a:latin typeface="Consolas" panose="020B0609020204030204" pitchFamily="49" charset="0"/>
                <a:ea typeface="楷体" panose="02010609060101010101" pitchFamily="49" charset="-122"/>
                <a:cs typeface="Consolas" panose="020B0609020204030204" pitchFamily="49" charset="0"/>
              </a:rPr>
              <a:t>删除完成</a:t>
            </a:r>
            <a:endParaRPr kumimoji="1" lang="zh-CN" altLang="en-US" sz="2000" b="1"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Text Box 7">
            <a:extLst>
              <a:ext uri="{FF2B5EF4-FFF2-40B4-BE49-F238E27FC236}">
                <a16:creationId xmlns:a16="http://schemas.microsoft.com/office/drawing/2014/main" id="{C3071713-BBD8-49E1-92C2-EEB4B408BF21}"/>
              </a:ext>
            </a:extLst>
          </p:cNvPr>
          <p:cNvSpPr txBox="1">
            <a:spLocks noChangeArrowheads="1"/>
          </p:cNvSpPr>
          <p:nvPr/>
        </p:nvSpPr>
        <p:spPr bwMode="auto">
          <a:xfrm>
            <a:off x="2538678" y="4341734"/>
            <a:ext cx="1223963" cy="276999"/>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zh-CN" altLang="en-US" b="1">
                <a:solidFill>
                  <a:srgbClr val="3333FF"/>
                </a:solidFill>
                <a:latin typeface="Consolas" panose="020B0609020204030204" pitchFamily="49" charset="0"/>
                <a:ea typeface="仿宋" panose="02010609060101010101" pitchFamily="49" charset="-122"/>
                <a:cs typeface="Consolas" panose="020B0609020204030204" pitchFamily="49" charset="0"/>
              </a:rPr>
              <a:t>删除</a:t>
            </a:r>
            <a:r>
              <a:rPr lang="en-US" altLang="zh-CN" b="1">
                <a:solidFill>
                  <a:srgbClr val="3333FF"/>
                </a:solidFill>
                <a:latin typeface="Consolas" panose="020B0609020204030204" pitchFamily="49" charset="0"/>
                <a:ea typeface="仿宋" panose="02010609060101010101" pitchFamily="49" charset="-122"/>
                <a:cs typeface="Consolas" panose="020B0609020204030204" pitchFamily="49" charset="0"/>
              </a:rPr>
              <a:t>2</a:t>
            </a:r>
            <a:endParaRPr lang="en-US" altLang="zh-CN"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4" name="直接箭头连接符 13">
            <a:extLst>
              <a:ext uri="{FF2B5EF4-FFF2-40B4-BE49-F238E27FC236}">
                <a16:creationId xmlns:a16="http://schemas.microsoft.com/office/drawing/2014/main" id="{7D2C5734-C2B9-46BB-B0AC-46A21C5EFD52}"/>
              </a:ext>
            </a:extLst>
          </p:cNvPr>
          <p:cNvCxnSpPr/>
          <p:nvPr/>
        </p:nvCxnSpPr>
        <p:spPr>
          <a:xfrm rot="16200000" flipV="1">
            <a:off x="3056204" y="4198856"/>
            <a:ext cx="285752" cy="0"/>
          </a:xfrm>
          <a:prstGeom prst="straightConnector1">
            <a:avLst/>
          </a:prstGeom>
          <a:noFill/>
          <a:ln w="28575" cap="flat" cmpd="sng" algn="ctr">
            <a:solidFill>
              <a:srgbClr val="3333FF"/>
            </a:solidFill>
            <a:prstDash val="solid"/>
            <a:tailEnd type="arrow"/>
          </a:ln>
          <a:effectLst/>
        </p:spPr>
      </p:cxnSp>
      <p:sp>
        <p:nvSpPr>
          <p:cNvPr id="15" name="TextBox 13">
            <a:extLst>
              <a:ext uri="{FF2B5EF4-FFF2-40B4-BE49-F238E27FC236}">
                <a16:creationId xmlns:a16="http://schemas.microsoft.com/office/drawing/2014/main" id="{A97803C1-3451-4904-9A3B-B9EAAE039E46}"/>
              </a:ext>
            </a:extLst>
          </p:cNvPr>
          <p:cNvSpPr txBox="1"/>
          <p:nvPr/>
        </p:nvSpPr>
        <p:spPr>
          <a:xfrm>
            <a:off x="538412" y="3522879"/>
            <a:ext cx="1285884" cy="461665"/>
          </a:xfrm>
          <a:prstGeom prst="rect">
            <a:avLst/>
          </a:prstGeom>
          <a:noFill/>
        </p:spPr>
        <p:txBody>
          <a:bodyPr wrap="square" rtlCol="0">
            <a:spAutoFit/>
          </a:bodyPr>
          <a:lstStyle/>
          <a:p>
            <a:pPr algn="ctr" fontAlgn="base">
              <a:spcBef>
                <a:spcPct val="0"/>
              </a:spcBef>
              <a:spcAft>
                <a:spcPct val="0"/>
              </a:spcAft>
            </a:pPr>
            <a:r>
              <a:rPr kumimoji="1" lang="en-US" altLang="zh-CN" sz="2400" b="1">
                <a:solidFill>
                  <a:srgbClr val="FF00FF"/>
                </a:solidFill>
                <a:latin typeface="Consolas" panose="020B0609020204030204" pitchFamily="49" charset="0"/>
                <a:ea typeface="楷体" panose="02010609060101010101" pitchFamily="49" charset="-122"/>
                <a:cs typeface="Consolas" panose="020B0609020204030204" pitchFamily="49" charset="0"/>
              </a:rPr>
              <a:t>Min=2</a:t>
            </a:r>
            <a:endParaRPr kumimoji="1" lang="zh-CN" altLang="en-US" sz="2400" b="1"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356645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BB77EF3C-5BD6-4918-BD90-19E813A5F874}"/>
              </a:ext>
            </a:extLst>
          </p:cNvPr>
          <p:cNvSpPr txBox="1">
            <a:spLocks noChangeArrowheads="1"/>
          </p:cNvSpPr>
          <p:nvPr/>
        </p:nvSpPr>
        <p:spPr bwMode="auto">
          <a:xfrm>
            <a:off x="190500" y="1268760"/>
            <a:ext cx="8763000" cy="1018328"/>
          </a:xfrm>
          <a:prstGeom prst="rect">
            <a:avLst/>
          </a:prstGeom>
          <a:solidFill>
            <a:sysClr val="window" lastClr="FFFFFF"/>
          </a:solidFill>
          <a:ln w="25400" cap="flat" cmpd="sng" algn="ctr">
            <a:noFill/>
            <a:prstDash val="solid"/>
          </a:ln>
          <a:effectLst/>
          <a:scene3d>
            <a:camera prst="orthographicFront">
              <a:rot lat="0" lon="0" rev="0"/>
            </a:camera>
            <a:lightRig rig="chilly" dir="t">
              <a:rot lat="0" lon="0" rev="18480000"/>
            </a:lightRig>
          </a:scene3d>
          <a:sp3d prstMaterial="clear">
            <a:bevelT h="63500"/>
          </a:sp3d>
        </p:spPr>
        <p:txBody>
          <a:bodyPr lIns="144000" tIns="108000" bIns="108000">
            <a:spAutoFit/>
          </a:bodyPr>
          <a:lstStyle/>
          <a:p>
            <a:pPr marL="0" marR="0" lvl="0" indent="0" algn="just" defTabSz="914400" eaLnBrk="1" fontAlgn="ctr" latinLnBrk="0" hangingPunct="1">
              <a:lnSpc>
                <a:spcPct val="130000"/>
              </a:lnSpc>
              <a:spcBef>
                <a:spcPts val="600"/>
              </a:spcBef>
              <a:spcAft>
                <a:spcPct val="0"/>
              </a:spcAft>
              <a:buClrTx/>
              <a:buSzTx/>
              <a:buFontTx/>
              <a:buNone/>
              <a:tabLst/>
              <a:defRPr/>
            </a:pPr>
            <a:r>
              <a:rPr kumimoji="1" lang="zh-CN" altLang="en-US" sz="2000" b="1" i="0" u="none" strike="noStrike" kern="0" cap="none" spc="0" normalizeH="0" noProof="0" dirty="0">
                <a:ln>
                  <a:noFill/>
                </a:ln>
                <a:solidFill>
                  <a:srgbClr val="C00000"/>
                </a:solidFill>
                <a:effectLst/>
                <a:uLnTx/>
                <a:uFillTx/>
                <a:latin typeface="Arial" panose="020B0604020202020204" pitchFamily="34" charset="0"/>
                <a:ea typeface="楷体" panose="02010609060101010101" pitchFamily="49" charset="-122"/>
                <a:cs typeface="Consolas" panose="020B0609020204030204" pitchFamily="49" charset="0"/>
              </a:rPr>
              <a:t>情况</a:t>
            </a:r>
            <a:r>
              <a:rPr kumimoji="1" lang="en-US" altLang="zh-CN" sz="2000" b="1" i="0" u="none" strike="noStrike" kern="0" cap="none" spc="0" normalizeH="0" noProof="0" dirty="0">
                <a:ln>
                  <a:noFill/>
                </a:ln>
                <a:solidFill>
                  <a:srgbClr val="C00000"/>
                </a:solidFill>
                <a:effectLst/>
                <a:uLnTx/>
                <a:uFillTx/>
                <a:latin typeface="Arial" panose="020B0604020202020204" pitchFamily="34" charset="0"/>
                <a:ea typeface="楷体" panose="02010609060101010101" pitchFamily="49" charset="-122"/>
                <a:cs typeface="Consolas" panose="020B0609020204030204" pitchFamily="49" charset="0"/>
              </a:rPr>
              <a:t>2</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：假如</a:t>
            </a:r>
            <a:r>
              <a:rPr kumimoji="1" lang="en-US" altLang="zh-CN" sz="2000" b="1" i="1"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b</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结点的关键字个数等于</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Min</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，说明删去关键字后该结点将不满足</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B</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树的定义。</a:t>
            </a:r>
            <a:r>
              <a:rPr kumimoji="1" lang="zh-CN" altLang="en-US" sz="2000" b="1" i="0" u="none" strike="noStrike" kern="0" cap="none" spc="0" normalizeH="0" noProof="0" dirty="0">
                <a:ln>
                  <a:noFill/>
                </a:ln>
                <a:solidFill>
                  <a:srgbClr val="C00000"/>
                </a:solidFill>
                <a:effectLst/>
                <a:uLnTx/>
                <a:uFillTx/>
                <a:latin typeface="Arial" panose="020B0604020202020204" pitchFamily="34" charset="0"/>
                <a:ea typeface="楷体" panose="02010609060101010101" pitchFamily="49" charset="-122"/>
                <a:cs typeface="Consolas" panose="020B0609020204030204" pitchFamily="49" charset="0"/>
              </a:rPr>
              <a:t>若可以从兄弟结点借。</a:t>
            </a:r>
            <a:r>
              <a:rPr kumimoji="1" lang="zh-CN" altLang="en-US" sz="2000" b="1" i="0" u="none" strike="noStrike" kern="0" cap="none" spc="0" normalizeH="0" baseline="0" noProof="0" dirty="0">
                <a:ln>
                  <a:noFill/>
                </a:ln>
                <a:effectLst/>
                <a:uLnTx/>
                <a:uFillTx/>
                <a:latin typeface="Consolas" panose="020B0609020204030204" pitchFamily="49" charset="0"/>
                <a:ea typeface="仿宋" panose="02010609060101010101" pitchFamily="49" charset="-122"/>
                <a:cs typeface="Consolas" panose="020B0609020204030204" pitchFamily="49" charset="0"/>
              </a:rPr>
              <a:t>　　</a:t>
            </a:r>
          </a:p>
        </p:txBody>
      </p:sp>
      <p:sp>
        <p:nvSpPr>
          <p:cNvPr id="5" name="Rectangle 3">
            <a:extLst>
              <a:ext uri="{FF2B5EF4-FFF2-40B4-BE49-F238E27FC236}">
                <a16:creationId xmlns:a16="http://schemas.microsoft.com/office/drawing/2014/main" id="{CA363C91-E103-404E-B7E8-4EB5F4E9ACD3}"/>
              </a:ext>
            </a:extLst>
          </p:cNvPr>
          <p:cNvSpPr>
            <a:spLocks noChangeArrowheads="1"/>
          </p:cNvSpPr>
          <p:nvPr/>
        </p:nvSpPr>
        <p:spPr bwMode="auto">
          <a:xfrm>
            <a:off x="923374" y="4132632"/>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14  </a:t>
            </a:r>
            <a:r>
              <a:rPr kumimoji="0"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楷体_GB2312" pitchFamily="49" charset="-122"/>
                <a:cs typeface="Consolas" panose="020B0609020204030204" pitchFamily="49" charset="0"/>
              </a:rPr>
              <a:t>15</a:t>
            </a:r>
          </a:p>
        </p:txBody>
      </p:sp>
      <p:sp>
        <p:nvSpPr>
          <p:cNvPr id="6" name="Text Box 5">
            <a:extLst>
              <a:ext uri="{FF2B5EF4-FFF2-40B4-BE49-F238E27FC236}">
                <a16:creationId xmlns:a16="http://schemas.microsoft.com/office/drawing/2014/main" id="{54780664-C648-4AB3-AEA0-7C3E859A7361}"/>
              </a:ext>
            </a:extLst>
          </p:cNvPr>
          <p:cNvSpPr txBox="1">
            <a:spLocks noChangeArrowheads="1"/>
          </p:cNvSpPr>
          <p:nvPr/>
        </p:nvSpPr>
        <p:spPr bwMode="auto">
          <a:xfrm>
            <a:off x="419070" y="4189782"/>
            <a:ext cx="647700"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en-US" altLang="zh-CN" sz="2400" b="1" i="1">
                <a:solidFill>
                  <a:srgbClr val="FF0000"/>
                </a:solidFill>
                <a:latin typeface="Consolas" panose="020B0609020204030204" pitchFamily="49" charset="0"/>
                <a:ea typeface="楷体_GB2312" pitchFamily="49" charset="-122"/>
                <a:cs typeface="Consolas" panose="020B0609020204030204" pitchFamily="49" charset="0"/>
              </a:rPr>
              <a:t>b</a:t>
            </a:r>
          </a:p>
        </p:txBody>
      </p:sp>
      <p:sp>
        <p:nvSpPr>
          <p:cNvPr id="7" name="Text Box 7">
            <a:extLst>
              <a:ext uri="{FF2B5EF4-FFF2-40B4-BE49-F238E27FC236}">
                <a16:creationId xmlns:a16="http://schemas.microsoft.com/office/drawing/2014/main" id="{1CAB7BA0-D5A4-401A-A6AA-A7D365AF4901}"/>
              </a:ext>
            </a:extLst>
          </p:cNvPr>
          <p:cNvSpPr txBox="1">
            <a:spLocks noChangeArrowheads="1"/>
          </p:cNvSpPr>
          <p:nvPr/>
        </p:nvSpPr>
        <p:spPr bwMode="auto">
          <a:xfrm>
            <a:off x="1095322" y="4983535"/>
            <a:ext cx="1223963" cy="304800"/>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zh-CN" altLang="en-US" sz="2000" b="1" dirty="0">
                <a:solidFill>
                  <a:srgbClr val="3333FF"/>
                </a:solidFill>
                <a:latin typeface="Consolas" panose="020B0609020204030204" pitchFamily="49" charset="0"/>
                <a:ea typeface="仿宋" panose="02010609060101010101" pitchFamily="49" charset="-122"/>
                <a:cs typeface="Consolas" panose="020B0609020204030204" pitchFamily="49" charset="0"/>
              </a:rPr>
              <a:t>删除</a:t>
            </a:r>
            <a:r>
              <a:rPr lang="en-US" altLang="zh-CN" sz="2000" b="1" dirty="0">
                <a:solidFill>
                  <a:srgbClr val="3333FF"/>
                </a:solidFill>
                <a:latin typeface="Consolas" panose="020B0609020204030204" pitchFamily="49" charset="0"/>
                <a:ea typeface="仿宋" panose="02010609060101010101" pitchFamily="49" charset="-122"/>
                <a:cs typeface="Consolas" panose="020B0609020204030204" pitchFamily="49" charset="0"/>
              </a:rPr>
              <a:t>15</a:t>
            </a:r>
          </a:p>
        </p:txBody>
      </p:sp>
      <p:sp>
        <p:nvSpPr>
          <p:cNvPr id="8" name="Rectangle 9">
            <a:extLst>
              <a:ext uri="{FF2B5EF4-FFF2-40B4-BE49-F238E27FC236}">
                <a16:creationId xmlns:a16="http://schemas.microsoft.com/office/drawing/2014/main" id="{8CD51E5E-6FC2-402C-BD1F-F209CF187959}"/>
              </a:ext>
            </a:extLst>
          </p:cNvPr>
          <p:cNvSpPr>
            <a:spLocks noChangeArrowheads="1"/>
          </p:cNvSpPr>
          <p:nvPr/>
        </p:nvSpPr>
        <p:spPr bwMode="auto">
          <a:xfrm>
            <a:off x="1585871" y="3186482"/>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  13       </a:t>
            </a:r>
            <a:endPar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endParaRPr>
          </a:p>
        </p:txBody>
      </p:sp>
      <p:sp>
        <p:nvSpPr>
          <p:cNvPr id="9" name="Rectangle 10">
            <a:extLst>
              <a:ext uri="{FF2B5EF4-FFF2-40B4-BE49-F238E27FC236}">
                <a16:creationId xmlns:a16="http://schemas.microsoft.com/office/drawing/2014/main" id="{E4038AFC-4B3D-4058-9CFF-23EB05A7FF87}"/>
              </a:ext>
            </a:extLst>
          </p:cNvPr>
          <p:cNvSpPr>
            <a:spLocks noChangeArrowheads="1"/>
          </p:cNvSpPr>
          <p:nvPr/>
        </p:nvSpPr>
        <p:spPr bwMode="auto">
          <a:xfrm>
            <a:off x="2309766" y="4135807"/>
            <a:ext cx="1643074"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     19 </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20</a:t>
            </a:r>
          </a:p>
        </p:txBody>
      </p:sp>
      <p:sp>
        <p:nvSpPr>
          <p:cNvPr id="10" name="Line 11">
            <a:extLst>
              <a:ext uri="{FF2B5EF4-FFF2-40B4-BE49-F238E27FC236}">
                <a16:creationId xmlns:a16="http://schemas.microsoft.com/office/drawing/2014/main" id="{34CE6F0A-6D63-4988-818B-2E51A5D19F22}"/>
              </a:ext>
            </a:extLst>
          </p:cNvPr>
          <p:cNvSpPr>
            <a:spLocks noChangeShapeType="1"/>
          </p:cNvSpPr>
          <p:nvPr/>
        </p:nvSpPr>
        <p:spPr bwMode="auto">
          <a:xfrm flipH="1">
            <a:off x="1812895" y="3546845"/>
            <a:ext cx="360362" cy="576262"/>
          </a:xfrm>
          <a:prstGeom prst="line">
            <a:avLst/>
          </a:prstGeom>
          <a:noFill/>
          <a:ln w="28575">
            <a:solidFill>
              <a:srgbClr val="9900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sp>
        <p:nvSpPr>
          <p:cNvPr id="11" name="Text Box 23">
            <a:extLst>
              <a:ext uri="{FF2B5EF4-FFF2-40B4-BE49-F238E27FC236}">
                <a16:creationId xmlns:a16="http://schemas.microsoft.com/office/drawing/2014/main" id="{44CEBD9F-980A-4C3C-AB27-540885FB7D1C}"/>
              </a:ext>
            </a:extLst>
          </p:cNvPr>
          <p:cNvSpPr txBox="1">
            <a:spLocks noChangeArrowheads="1"/>
          </p:cNvSpPr>
          <p:nvPr/>
        </p:nvSpPr>
        <p:spPr bwMode="auto">
          <a:xfrm>
            <a:off x="738132" y="2554643"/>
            <a:ext cx="1152525"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kumimoji="1"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p>
        </p:txBody>
      </p:sp>
      <p:sp>
        <p:nvSpPr>
          <p:cNvPr id="12" name="Line 24">
            <a:extLst>
              <a:ext uri="{FF2B5EF4-FFF2-40B4-BE49-F238E27FC236}">
                <a16:creationId xmlns:a16="http://schemas.microsoft.com/office/drawing/2014/main" id="{311B0F0A-45BB-4969-B5CF-DECA41419EA1}"/>
              </a:ext>
            </a:extLst>
          </p:cNvPr>
          <p:cNvSpPr>
            <a:spLocks noChangeShapeType="1"/>
          </p:cNvSpPr>
          <p:nvPr/>
        </p:nvSpPr>
        <p:spPr bwMode="auto">
          <a:xfrm flipH="1">
            <a:off x="1235024" y="3521447"/>
            <a:ext cx="431800" cy="142875"/>
          </a:xfrm>
          <a:prstGeom prst="line">
            <a:avLst/>
          </a:prstGeom>
          <a:noFill/>
          <a:ln w="28575">
            <a:solidFill>
              <a:srgbClr val="9900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sp>
        <p:nvSpPr>
          <p:cNvPr id="13" name="TextBox 22">
            <a:extLst>
              <a:ext uri="{FF2B5EF4-FFF2-40B4-BE49-F238E27FC236}">
                <a16:creationId xmlns:a16="http://schemas.microsoft.com/office/drawing/2014/main" id="{20D9FD57-DA0A-48E9-BDC1-0FCBF60B2A82}"/>
              </a:ext>
            </a:extLst>
          </p:cNvPr>
          <p:cNvSpPr txBox="1"/>
          <p:nvPr/>
        </p:nvSpPr>
        <p:spPr>
          <a:xfrm>
            <a:off x="2120852" y="3235685"/>
            <a:ext cx="468000" cy="40011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noFill/>
            <a:prstDash val="solid"/>
          </a:ln>
          <a:effectLst/>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14" name="TextBox 23">
            <a:extLst>
              <a:ext uri="{FF2B5EF4-FFF2-40B4-BE49-F238E27FC236}">
                <a16:creationId xmlns:a16="http://schemas.microsoft.com/office/drawing/2014/main" id="{794A0279-F0AA-497E-9114-B9D2889DDCC0}"/>
              </a:ext>
            </a:extLst>
          </p:cNvPr>
          <p:cNvSpPr txBox="1"/>
          <p:nvPr/>
        </p:nvSpPr>
        <p:spPr>
          <a:xfrm>
            <a:off x="2414542" y="4192897"/>
            <a:ext cx="500066" cy="40011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noFill/>
            <a:prstDash val="solid"/>
          </a:ln>
          <a:effectLst/>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18</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15" name="Line 12">
            <a:extLst>
              <a:ext uri="{FF2B5EF4-FFF2-40B4-BE49-F238E27FC236}">
                <a16:creationId xmlns:a16="http://schemas.microsoft.com/office/drawing/2014/main" id="{0660416B-F768-487D-AA34-60A1B76265BC}"/>
              </a:ext>
            </a:extLst>
          </p:cNvPr>
          <p:cNvSpPr>
            <a:spLocks noChangeShapeType="1"/>
          </p:cNvSpPr>
          <p:nvPr/>
        </p:nvSpPr>
        <p:spPr bwMode="auto">
          <a:xfrm>
            <a:off x="2452644" y="3554775"/>
            <a:ext cx="342915" cy="568332"/>
          </a:xfrm>
          <a:prstGeom prst="line">
            <a:avLst/>
          </a:prstGeom>
          <a:noFill/>
          <a:ln w="28575">
            <a:solidFill>
              <a:srgbClr val="9900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6" name="直接箭头连接符 15">
            <a:extLst>
              <a:ext uri="{FF2B5EF4-FFF2-40B4-BE49-F238E27FC236}">
                <a16:creationId xmlns:a16="http://schemas.microsoft.com/office/drawing/2014/main" id="{1E0653EF-04D4-4C59-9A15-7385767981D1}"/>
              </a:ext>
            </a:extLst>
          </p:cNvPr>
          <p:cNvCxnSpPr/>
          <p:nvPr/>
        </p:nvCxnSpPr>
        <p:spPr>
          <a:xfrm rot="16200000" flipV="1">
            <a:off x="1612848" y="4840659"/>
            <a:ext cx="285752" cy="0"/>
          </a:xfrm>
          <a:prstGeom prst="straightConnector1">
            <a:avLst/>
          </a:prstGeom>
          <a:noFill/>
          <a:ln w="28575" cap="flat" cmpd="sng" algn="ctr">
            <a:solidFill>
              <a:srgbClr val="3333FF"/>
            </a:solidFill>
            <a:prstDash val="solid"/>
            <a:tailEnd type="arrow"/>
          </a:ln>
          <a:effectLst/>
        </p:spPr>
      </p:cxnSp>
      <p:grpSp>
        <p:nvGrpSpPr>
          <p:cNvPr id="17" name="组合 27">
            <a:extLst>
              <a:ext uri="{FF2B5EF4-FFF2-40B4-BE49-F238E27FC236}">
                <a16:creationId xmlns:a16="http://schemas.microsoft.com/office/drawing/2014/main" id="{8926E9C6-17B0-4124-8BC0-46D995EFC452}"/>
              </a:ext>
            </a:extLst>
          </p:cNvPr>
          <p:cNvGrpSpPr/>
          <p:nvPr/>
        </p:nvGrpSpPr>
        <p:grpSpPr>
          <a:xfrm>
            <a:off x="4310030" y="3186484"/>
            <a:ext cx="4286280" cy="1439863"/>
            <a:chOff x="4286248" y="2489203"/>
            <a:chExt cx="4286280" cy="1439863"/>
          </a:xfrm>
        </p:grpSpPr>
        <p:sp>
          <p:nvSpPr>
            <p:cNvPr id="18" name="Rectangle 15">
              <a:extLst>
                <a:ext uri="{FF2B5EF4-FFF2-40B4-BE49-F238E27FC236}">
                  <a16:creationId xmlns:a16="http://schemas.microsoft.com/office/drawing/2014/main" id="{CA389F6E-1FC5-4873-91BA-B9B3761B0C55}"/>
                </a:ext>
              </a:extLst>
            </p:cNvPr>
            <p:cNvSpPr>
              <a:spLocks noChangeArrowheads="1"/>
            </p:cNvSpPr>
            <p:nvPr/>
          </p:nvSpPr>
          <p:spPr bwMode="auto">
            <a:xfrm>
              <a:off x="6011863" y="3422653"/>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14 17</a:t>
              </a:r>
            </a:p>
          </p:txBody>
        </p:sp>
        <p:sp>
          <p:nvSpPr>
            <p:cNvPr id="19" name="Text Box 16">
              <a:extLst>
                <a:ext uri="{FF2B5EF4-FFF2-40B4-BE49-F238E27FC236}">
                  <a16:creationId xmlns:a16="http://schemas.microsoft.com/office/drawing/2014/main" id="{113387AE-D737-4C02-861B-F23B2F3C8015}"/>
                </a:ext>
              </a:extLst>
            </p:cNvPr>
            <p:cNvSpPr txBox="1">
              <a:spLocks noChangeArrowheads="1"/>
            </p:cNvSpPr>
            <p:nvPr/>
          </p:nvSpPr>
          <p:spPr bwMode="auto">
            <a:xfrm>
              <a:off x="5435600" y="3497266"/>
              <a:ext cx="647700" cy="369332"/>
            </a:xfrm>
            <a:prstGeom prst="rect">
              <a:avLst/>
            </a:prstGeom>
            <a:noFill/>
            <a:ln w="28575" algn="ctr">
              <a:noFill/>
              <a:miter lim="800000"/>
            </a:ln>
          </p:spPr>
          <p:txBody>
            <a:bodyPr lIns="0" tIns="0" rIns="0" bIns="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FF0000"/>
                  </a:solidFill>
                  <a:effectLst/>
                  <a:uLnTx/>
                  <a:uFillTx/>
                  <a:latin typeface="Consolas" panose="020B0609020204030204" pitchFamily="49" charset="0"/>
                  <a:ea typeface="楷体_GB2312" pitchFamily="49" charset="-122"/>
                  <a:cs typeface="Consolas" panose="020B0609020204030204" pitchFamily="49" charset="0"/>
                </a:rPr>
                <a:t>b</a:t>
              </a:r>
            </a:p>
          </p:txBody>
        </p:sp>
        <p:sp>
          <p:nvSpPr>
            <p:cNvPr id="20" name="Rectangle 17">
              <a:extLst>
                <a:ext uri="{FF2B5EF4-FFF2-40B4-BE49-F238E27FC236}">
                  <a16:creationId xmlns:a16="http://schemas.microsoft.com/office/drawing/2014/main" id="{23C9A5C4-46A4-4781-9D87-5ECCAE7582F4}"/>
                </a:ext>
              </a:extLst>
            </p:cNvPr>
            <p:cNvSpPr>
              <a:spLocks noChangeArrowheads="1"/>
            </p:cNvSpPr>
            <p:nvPr/>
          </p:nvSpPr>
          <p:spPr bwMode="auto">
            <a:xfrm>
              <a:off x="6589713" y="2489203"/>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13 18</a:t>
              </a:r>
            </a:p>
          </p:txBody>
        </p:sp>
        <p:sp>
          <p:nvSpPr>
            <p:cNvPr id="21" name="Rectangle 18">
              <a:extLst>
                <a:ext uri="{FF2B5EF4-FFF2-40B4-BE49-F238E27FC236}">
                  <a16:creationId xmlns:a16="http://schemas.microsoft.com/office/drawing/2014/main" id="{6E17DEA6-944A-42A6-AB0C-9FB4E9326B99}"/>
                </a:ext>
              </a:extLst>
            </p:cNvPr>
            <p:cNvSpPr>
              <a:spLocks noChangeArrowheads="1"/>
            </p:cNvSpPr>
            <p:nvPr/>
          </p:nvSpPr>
          <p:spPr bwMode="auto">
            <a:xfrm>
              <a:off x="7456488" y="3425828"/>
              <a:ext cx="1116040"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19 20</a:t>
              </a:r>
            </a:p>
          </p:txBody>
        </p:sp>
        <p:sp>
          <p:nvSpPr>
            <p:cNvPr id="22" name="Line 19">
              <a:extLst>
                <a:ext uri="{FF2B5EF4-FFF2-40B4-BE49-F238E27FC236}">
                  <a16:creationId xmlns:a16="http://schemas.microsoft.com/office/drawing/2014/main" id="{4EA42A27-9290-4C87-8A4C-F266A5073A33}"/>
                </a:ext>
              </a:extLst>
            </p:cNvPr>
            <p:cNvSpPr>
              <a:spLocks noChangeShapeType="1"/>
            </p:cNvSpPr>
            <p:nvPr/>
          </p:nvSpPr>
          <p:spPr bwMode="auto">
            <a:xfrm flipH="1">
              <a:off x="6804025" y="2849566"/>
              <a:ext cx="360363" cy="576262"/>
            </a:xfrm>
            <a:prstGeom prst="line">
              <a:avLst/>
            </a:prstGeom>
            <a:noFill/>
            <a:ln w="28575">
              <a:solidFill>
                <a:srgbClr val="9900FF"/>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3" name="Line 20">
              <a:extLst>
                <a:ext uri="{FF2B5EF4-FFF2-40B4-BE49-F238E27FC236}">
                  <a16:creationId xmlns:a16="http://schemas.microsoft.com/office/drawing/2014/main" id="{29DD364D-0416-4E64-A5BA-4D3F4073E2D0}"/>
                </a:ext>
              </a:extLst>
            </p:cNvPr>
            <p:cNvSpPr>
              <a:spLocks noChangeShapeType="1"/>
            </p:cNvSpPr>
            <p:nvPr/>
          </p:nvSpPr>
          <p:spPr bwMode="auto">
            <a:xfrm>
              <a:off x="7491412" y="2849566"/>
              <a:ext cx="328635" cy="579434"/>
            </a:xfrm>
            <a:prstGeom prst="line">
              <a:avLst/>
            </a:prstGeom>
            <a:noFill/>
            <a:ln w="28575">
              <a:solidFill>
                <a:srgbClr val="9900FF"/>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4" name="Line 25">
              <a:extLst>
                <a:ext uri="{FF2B5EF4-FFF2-40B4-BE49-F238E27FC236}">
                  <a16:creationId xmlns:a16="http://schemas.microsoft.com/office/drawing/2014/main" id="{B8104667-6FD9-4B3E-AA15-B1357798FAE3}"/>
                </a:ext>
              </a:extLst>
            </p:cNvPr>
            <p:cNvSpPr>
              <a:spLocks noChangeShapeType="1"/>
            </p:cNvSpPr>
            <p:nvPr/>
          </p:nvSpPr>
          <p:spPr bwMode="auto">
            <a:xfrm flipH="1">
              <a:off x="6376988" y="2836866"/>
              <a:ext cx="431800" cy="142875"/>
            </a:xfrm>
            <a:prstGeom prst="line">
              <a:avLst/>
            </a:prstGeom>
            <a:noFill/>
            <a:ln w="28575">
              <a:solidFill>
                <a:srgbClr val="9900FF"/>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5" name="右箭头 26">
              <a:extLst>
                <a:ext uri="{FF2B5EF4-FFF2-40B4-BE49-F238E27FC236}">
                  <a16:creationId xmlns:a16="http://schemas.microsoft.com/office/drawing/2014/main" id="{58BA1EAD-A74A-45B3-BF97-3CC416BA50FC}"/>
                </a:ext>
              </a:extLst>
            </p:cNvPr>
            <p:cNvSpPr/>
            <p:nvPr/>
          </p:nvSpPr>
          <p:spPr>
            <a:xfrm>
              <a:off x="4286248" y="3000372"/>
              <a:ext cx="928694" cy="357190"/>
            </a:xfrm>
            <a:prstGeom prst="rightArrow">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sp>
        <p:nvSpPr>
          <p:cNvPr id="26" name="TextBox 24">
            <a:extLst>
              <a:ext uri="{FF2B5EF4-FFF2-40B4-BE49-F238E27FC236}">
                <a16:creationId xmlns:a16="http://schemas.microsoft.com/office/drawing/2014/main" id="{071A39F5-F2E7-4AF5-AAA0-7B62C879539C}"/>
              </a:ext>
            </a:extLst>
          </p:cNvPr>
          <p:cNvSpPr txBox="1"/>
          <p:nvPr/>
        </p:nvSpPr>
        <p:spPr>
          <a:xfrm>
            <a:off x="3809964" y="5412163"/>
            <a:ext cx="2000264" cy="400110"/>
          </a:xfrm>
          <a:prstGeom prst="rect">
            <a:avLst/>
          </a:prstGeom>
          <a:noFill/>
        </p:spPr>
        <p:txBody>
          <a:bodyPr wrap="square" rtlCol="0">
            <a:spAutoFit/>
          </a:bodyPr>
          <a:lstStyle/>
          <a:p>
            <a:pPr algn="ctr" fontAlgn="base">
              <a:spcBef>
                <a:spcPct val="0"/>
              </a:spcBef>
              <a:spcAft>
                <a:spcPct val="0"/>
              </a:spcAft>
            </a:pPr>
            <a:r>
              <a:rPr kumimoji="1" lang="zh-CN" altLang="en-US" sz="2000" b="1">
                <a:solidFill>
                  <a:srgbClr val="FF00FF"/>
                </a:solidFill>
                <a:latin typeface="Consolas" panose="020B0609020204030204" pitchFamily="49" charset="0"/>
                <a:ea typeface="楷体" panose="02010609060101010101" pitchFamily="49" charset="-122"/>
                <a:cs typeface="Consolas" panose="020B0609020204030204" pitchFamily="49" charset="0"/>
              </a:rPr>
              <a:t>删除完成</a:t>
            </a:r>
            <a:endParaRPr kumimoji="1" lang="zh-CN" altLang="en-US" sz="2000" b="1"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69549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542 0.00069 C -0.007 -0.00324 -0.00842 -0.00718 -0.01614 0.00069 C -0.02385 0.00856 -0.04571 0.02477 -0.05271 0.04815 C -0.05971 0.07153 -0.05728 0.12153 -0.05842 0.14074 " pathEditMode="relative" rAng="0" ptsTypes="AAAA">
                                      <p:cBhvr>
                                        <p:cTn id="6" dur="2000" fill="hold"/>
                                        <p:tgtEl>
                                          <p:spTgt spid="13"/>
                                        </p:tgtEl>
                                        <p:attrNameLst>
                                          <p:attrName>ppt_x</p:attrName>
                                          <p:attrName>ppt_y</p:attrName>
                                        </p:attrNameLst>
                                      </p:cBhvr>
                                      <p:rCtr x="-2657" y="6759"/>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2.77778E-7 -3.7037E-6 C -0.00139 -0.03935 -0.00278 -0.0787 -0.00834 -0.10185 C -0.01389 -0.125 -0.02362 -0.13194 -0.03334 -0.13889 " pathEditMode="relative" ptsTypes="aaA">
                                      <p:cBhvr>
                                        <p:cTn id="10" dur="2000" fill="hold"/>
                                        <p:tgtEl>
                                          <p:spTgt spid="14"/>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0">
            <a:extLst>
              <a:ext uri="{FF2B5EF4-FFF2-40B4-BE49-F238E27FC236}">
                <a16:creationId xmlns:a16="http://schemas.microsoft.com/office/drawing/2014/main" id="{48412768-1133-4CDD-A348-5AE8BA147C8B}"/>
              </a:ext>
            </a:extLst>
          </p:cNvPr>
          <p:cNvSpPr>
            <a:spLocks noChangeArrowheads="1"/>
          </p:cNvSpPr>
          <p:nvPr/>
        </p:nvSpPr>
        <p:spPr bwMode="auto">
          <a:xfrm>
            <a:off x="1334255" y="3739380"/>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14  </a:t>
            </a:r>
            <a:r>
              <a:rPr kumimoji="0" lang="en-US" altLang="zh-CN" sz="2000" b="1" i="0" u="none" strike="noStrike" kern="0" cap="none" spc="0" normalizeH="0" baseline="0" noProof="0">
                <a:ln>
                  <a:noFill/>
                </a:ln>
                <a:solidFill>
                  <a:srgbClr val="FF0000"/>
                </a:solidFill>
                <a:effectLst/>
                <a:uLnTx/>
                <a:uFillTx/>
                <a:latin typeface="Consolas" panose="020B0609020204030204" pitchFamily="49" charset="0"/>
                <a:ea typeface="楷体_GB2312" pitchFamily="49" charset="-122"/>
                <a:cs typeface="Consolas" panose="020B0609020204030204" pitchFamily="49" charset="0"/>
              </a:rPr>
              <a:t>15</a:t>
            </a:r>
            <a:endParaRPr kumimoji="0"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楷体_GB2312" pitchFamily="49" charset="-122"/>
              <a:cs typeface="Consolas" panose="020B0609020204030204" pitchFamily="49" charset="0"/>
            </a:endParaRPr>
          </a:p>
        </p:txBody>
      </p:sp>
      <p:sp>
        <p:nvSpPr>
          <p:cNvPr id="5" name="Text Box 21">
            <a:extLst>
              <a:ext uri="{FF2B5EF4-FFF2-40B4-BE49-F238E27FC236}">
                <a16:creationId xmlns:a16="http://schemas.microsoft.com/office/drawing/2014/main" id="{47E307C1-9A58-44AF-95E8-F46D858F821D}"/>
              </a:ext>
            </a:extLst>
          </p:cNvPr>
          <p:cNvSpPr txBox="1">
            <a:spLocks noChangeArrowheads="1"/>
          </p:cNvSpPr>
          <p:nvPr/>
        </p:nvSpPr>
        <p:spPr bwMode="auto">
          <a:xfrm>
            <a:off x="757991" y="3809230"/>
            <a:ext cx="647700"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en-US" altLang="zh-CN" sz="2400" b="1" i="1">
                <a:solidFill>
                  <a:srgbClr val="FF0000"/>
                </a:solidFill>
                <a:latin typeface="Consolas" panose="020B0609020204030204" pitchFamily="49" charset="0"/>
                <a:ea typeface="楷体_GB2312" pitchFamily="49" charset="-122"/>
                <a:cs typeface="Consolas" panose="020B0609020204030204" pitchFamily="49" charset="0"/>
              </a:rPr>
              <a:t>b</a:t>
            </a:r>
          </a:p>
        </p:txBody>
      </p:sp>
      <p:sp>
        <p:nvSpPr>
          <p:cNvPr id="6" name="Rectangle 24">
            <a:extLst>
              <a:ext uri="{FF2B5EF4-FFF2-40B4-BE49-F238E27FC236}">
                <a16:creationId xmlns:a16="http://schemas.microsoft.com/office/drawing/2014/main" id="{E57D14B8-BDBB-466D-82DD-0463004041EC}"/>
              </a:ext>
            </a:extLst>
          </p:cNvPr>
          <p:cNvSpPr>
            <a:spLocks noChangeArrowheads="1"/>
          </p:cNvSpPr>
          <p:nvPr/>
        </p:nvSpPr>
        <p:spPr bwMode="auto">
          <a:xfrm>
            <a:off x="2042229" y="2796391"/>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13 </a:t>
            </a: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17</a:t>
            </a:r>
          </a:p>
        </p:txBody>
      </p:sp>
      <p:sp>
        <p:nvSpPr>
          <p:cNvPr id="7" name="Rectangle 25">
            <a:extLst>
              <a:ext uri="{FF2B5EF4-FFF2-40B4-BE49-F238E27FC236}">
                <a16:creationId xmlns:a16="http://schemas.microsoft.com/office/drawing/2014/main" id="{D61E05C3-1A4F-4381-B599-F19E525EB3FF}"/>
              </a:ext>
            </a:extLst>
          </p:cNvPr>
          <p:cNvSpPr>
            <a:spLocks noChangeArrowheads="1"/>
          </p:cNvSpPr>
          <p:nvPr/>
        </p:nvSpPr>
        <p:spPr bwMode="auto">
          <a:xfrm>
            <a:off x="2774118" y="3742555"/>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18 19</a:t>
            </a:r>
          </a:p>
        </p:txBody>
      </p:sp>
      <p:sp>
        <p:nvSpPr>
          <p:cNvPr id="8" name="Line 26">
            <a:extLst>
              <a:ext uri="{FF2B5EF4-FFF2-40B4-BE49-F238E27FC236}">
                <a16:creationId xmlns:a16="http://schemas.microsoft.com/office/drawing/2014/main" id="{C7BA8777-3012-441B-800C-3AB065F16B67}"/>
              </a:ext>
            </a:extLst>
          </p:cNvPr>
          <p:cNvSpPr>
            <a:spLocks noChangeShapeType="1"/>
          </p:cNvSpPr>
          <p:nvPr/>
        </p:nvSpPr>
        <p:spPr bwMode="auto">
          <a:xfrm flipH="1">
            <a:off x="2215316" y="3166293"/>
            <a:ext cx="360362" cy="576262"/>
          </a:xfrm>
          <a:prstGeom prst="line">
            <a:avLst/>
          </a:prstGeom>
          <a:noFill/>
          <a:ln w="28575">
            <a:solidFill>
              <a:srgbClr val="9900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sp>
        <p:nvSpPr>
          <p:cNvPr id="9" name="Line 27">
            <a:extLst>
              <a:ext uri="{FF2B5EF4-FFF2-40B4-BE49-F238E27FC236}">
                <a16:creationId xmlns:a16="http://schemas.microsoft.com/office/drawing/2014/main" id="{DF576C5B-1D96-431E-90F7-2BAE5026BB88}"/>
              </a:ext>
            </a:extLst>
          </p:cNvPr>
          <p:cNvSpPr>
            <a:spLocks noChangeShapeType="1"/>
          </p:cNvSpPr>
          <p:nvPr/>
        </p:nvSpPr>
        <p:spPr bwMode="auto">
          <a:xfrm>
            <a:off x="2918578" y="3166293"/>
            <a:ext cx="215900" cy="576262"/>
          </a:xfrm>
          <a:prstGeom prst="line">
            <a:avLst/>
          </a:prstGeom>
          <a:noFill/>
          <a:ln w="28575">
            <a:solidFill>
              <a:srgbClr val="9900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sp>
        <p:nvSpPr>
          <p:cNvPr id="10" name="Text Box 36">
            <a:extLst>
              <a:ext uri="{FF2B5EF4-FFF2-40B4-BE49-F238E27FC236}">
                <a16:creationId xmlns:a16="http://schemas.microsoft.com/office/drawing/2014/main" id="{780E0D1F-4792-4E05-804E-D8F6F93F7CCD}"/>
              </a:ext>
            </a:extLst>
          </p:cNvPr>
          <p:cNvSpPr txBox="1">
            <a:spLocks noChangeArrowheads="1"/>
          </p:cNvSpPr>
          <p:nvPr/>
        </p:nvSpPr>
        <p:spPr bwMode="auto">
          <a:xfrm>
            <a:off x="757993" y="2445568"/>
            <a:ext cx="1152525"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kumimoji="1" lang="en-US" altLang="zh-CN" sz="2400" b="1">
                <a:solidFill>
                  <a:srgbClr val="FF00FF"/>
                </a:solidFill>
                <a:latin typeface="Consolas" panose="020B0609020204030204" pitchFamily="49" charset="0"/>
                <a:ea typeface="楷体_GB2312" pitchFamily="49" charset="-122"/>
                <a:cs typeface="Consolas" panose="020B0609020204030204" pitchFamily="49" charset="0"/>
              </a:rPr>
              <a:t>Min=2</a:t>
            </a:r>
          </a:p>
        </p:txBody>
      </p:sp>
      <p:sp>
        <p:nvSpPr>
          <p:cNvPr id="11" name="Line 37">
            <a:extLst>
              <a:ext uri="{FF2B5EF4-FFF2-40B4-BE49-F238E27FC236}">
                <a16:creationId xmlns:a16="http://schemas.microsoft.com/office/drawing/2014/main" id="{6C33E055-3CCB-4046-952D-BD7A4FFDFB4A}"/>
              </a:ext>
            </a:extLst>
          </p:cNvPr>
          <p:cNvSpPr>
            <a:spLocks noChangeShapeType="1"/>
          </p:cNvSpPr>
          <p:nvPr/>
        </p:nvSpPr>
        <p:spPr bwMode="auto">
          <a:xfrm flipH="1">
            <a:off x="1694616" y="3125007"/>
            <a:ext cx="557168" cy="184162"/>
          </a:xfrm>
          <a:prstGeom prst="line">
            <a:avLst/>
          </a:prstGeom>
          <a:noFill/>
          <a:ln w="28575">
            <a:solidFill>
              <a:srgbClr val="9900FF"/>
            </a:solidFill>
            <a:round/>
            <a:tailEnd type="triangle" w="med" len="med"/>
          </a:ln>
        </p:spPr>
        <p:txBody>
          <a:bodyPr wrap="none" anchor="ctr"/>
          <a:lstStyle/>
          <a:p>
            <a:pPr algn="ctr" fontAlgn="base">
              <a:spcBef>
                <a:spcPct val="0"/>
              </a:spcBef>
              <a:spcAft>
                <a:spcPct val="0"/>
              </a:spcAft>
            </a:pPr>
            <a:endParaRPr kumimoji="1" lang="zh-CN" altLang="en-US" sz="280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grpSp>
        <p:nvGrpSpPr>
          <p:cNvPr id="12" name="组合 27">
            <a:extLst>
              <a:ext uri="{FF2B5EF4-FFF2-40B4-BE49-F238E27FC236}">
                <a16:creationId xmlns:a16="http://schemas.microsoft.com/office/drawing/2014/main" id="{7B168BC5-620A-4D3A-B978-9859580583FD}"/>
              </a:ext>
            </a:extLst>
          </p:cNvPr>
          <p:cNvGrpSpPr/>
          <p:nvPr/>
        </p:nvGrpSpPr>
        <p:grpSpPr>
          <a:xfrm>
            <a:off x="1251654" y="2805394"/>
            <a:ext cx="3538589" cy="1649412"/>
            <a:chOff x="1214414" y="3136910"/>
            <a:chExt cx="3538589" cy="1649412"/>
          </a:xfrm>
        </p:grpSpPr>
        <p:sp>
          <p:nvSpPr>
            <p:cNvPr id="13" name="Freeform 40">
              <a:extLst>
                <a:ext uri="{FF2B5EF4-FFF2-40B4-BE49-F238E27FC236}">
                  <a16:creationId xmlns:a16="http://schemas.microsoft.com/office/drawing/2014/main" id="{0A5769E6-C3F0-4299-8CB7-61912ECD5791}"/>
                </a:ext>
              </a:extLst>
            </p:cNvPr>
            <p:cNvSpPr/>
            <p:nvPr/>
          </p:nvSpPr>
          <p:spPr bwMode="auto">
            <a:xfrm>
              <a:off x="1214414" y="3136910"/>
              <a:ext cx="3019425" cy="1649412"/>
            </a:xfrm>
            <a:custGeom>
              <a:avLst/>
              <a:gdLst>
                <a:gd name="T0" fmla="*/ 427 w 1902"/>
                <a:gd name="T1" fmla="*/ 1013 h 1039"/>
                <a:gd name="T2" fmla="*/ 1418 w 1902"/>
                <a:gd name="T3" fmla="*/ 1017 h 1039"/>
                <a:gd name="T4" fmla="*/ 1827 w 1902"/>
                <a:gd name="T5" fmla="*/ 880 h 1039"/>
                <a:gd name="T6" fmla="*/ 1871 w 1902"/>
                <a:gd name="T7" fmla="*/ 833 h 1039"/>
                <a:gd name="T8" fmla="*/ 1895 w 1902"/>
                <a:gd name="T9" fmla="*/ 761 h 1039"/>
                <a:gd name="T10" fmla="*/ 1879 w 1902"/>
                <a:gd name="T11" fmla="*/ 681 h 1039"/>
                <a:gd name="T12" fmla="*/ 1771 w 1902"/>
                <a:gd name="T13" fmla="*/ 541 h 1039"/>
                <a:gd name="T14" fmla="*/ 1835 w 1902"/>
                <a:gd name="T15" fmla="*/ 589 h 1039"/>
                <a:gd name="T16" fmla="*/ 1667 w 1902"/>
                <a:gd name="T17" fmla="*/ 453 h 1039"/>
                <a:gd name="T18" fmla="*/ 1831 w 1902"/>
                <a:gd name="T19" fmla="*/ 577 h 1039"/>
                <a:gd name="T20" fmla="*/ 1328 w 1902"/>
                <a:gd name="T21" fmla="*/ 200 h 1039"/>
                <a:gd name="T22" fmla="*/ 1056 w 1902"/>
                <a:gd name="T23" fmla="*/ 19 h 1039"/>
                <a:gd name="T24" fmla="*/ 891 w 1902"/>
                <a:gd name="T25" fmla="*/ 85 h 1039"/>
                <a:gd name="T26" fmla="*/ 691 w 1902"/>
                <a:gd name="T27" fmla="*/ 345 h 1039"/>
                <a:gd name="T28" fmla="*/ 239 w 1902"/>
                <a:gd name="T29" fmla="*/ 472 h 1039"/>
                <a:gd name="T30" fmla="*/ 55 w 1902"/>
                <a:gd name="T31" fmla="*/ 573 h 1039"/>
                <a:gd name="T32" fmla="*/ 3 w 1902"/>
                <a:gd name="T33" fmla="*/ 785 h 1039"/>
                <a:gd name="T34" fmla="*/ 71 w 1902"/>
                <a:gd name="T35" fmla="*/ 969 h 1039"/>
                <a:gd name="T36" fmla="*/ 247 w 1902"/>
                <a:gd name="T37" fmla="*/ 989 h 1039"/>
                <a:gd name="T38" fmla="*/ 427 w 1902"/>
                <a:gd name="T39" fmla="*/ 1013 h 10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02"/>
                <a:gd name="T61" fmla="*/ 0 h 1039"/>
                <a:gd name="T62" fmla="*/ 1902 w 1902"/>
                <a:gd name="T63" fmla="*/ 1039 h 10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02" h="1039">
                  <a:moveTo>
                    <a:pt x="427" y="1013"/>
                  </a:moveTo>
                  <a:cubicBezTo>
                    <a:pt x="622" y="1018"/>
                    <a:pt x="1185" y="1039"/>
                    <a:pt x="1418" y="1017"/>
                  </a:cubicBezTo>
                  <a:cubicBezTo>
                    <a:pt x="1651" y="995"/>
                    <a:pt x="1752" y="911"/>
                    <a:pt x="1827" y="880"/>
                  </a:cubicBezTo>
                  <a:cubicBezTo>
                    <a:pt x="1902" y="849"/>
                    <a:pt x="1860" y="853"/>
                    <a:pt x="1871" y="833"/>
                  </a:cubicBezTo>
                  <a:cubicBezTo>
                    <a:pt x="1882" y="813"/>
                    <a:pt x="1894" y="786"/>
                    <a:pt x="1895" y="761"/>
                  </a:cubicBezTo>
                  <a:cubicBezTo>
                    <a:pt x="1896" y="736"/>
                    <a:pt x="1900" y="718"/>
                    <a:pt x="1879" y="681"/>
                  </a:cubicBezTo>
                  <a:cubicBezTo>
                    <a:pt x="1858" y="644"/>
                    <a:pt x="1859" y="645"/>
                    <a:pt x="1771" y="541"/>
                  </a:cubicBezTo>
                  <a:cubicBezTo>
                    <a:pt x="1683" y="437"/>
                    <a:pt x="1852" y="604"/>
                    <a:pt x="1835" y="589"/>
                  </a:cubicBezTo>
                  <a:cubicBezTo>
                    <a:pt x="1818" y="574"/>
                    <a:pt x="1668" y="455"/>
                    <a:pt x="1667" y="453"/>
                  </a:cubicBezTo>
                  <a:cubicBezTo>
                    <a:pt x="1666" y="451"/>
                    <a:pt x="1888" y="619"/>
                    <a:pt x="1831" y="577"/>
                  </a:cubicBezTo>
                  <a:cubicBezTo>
                    <a:pt x="1774" y="535"/>
                    <a:pt x="1457" y="293"/>
                    <a:pt x="1328" y="200"/>
                  </a:cubicBezTo>
                  <a:cubicBezTo>
                    <a:pt x="1199" y="107"/>
                    <a:pt x="1129" y="38"/>
                    <a:pt x="1056" y="19"/>
                  </a:cubicBezTo>
                  <a:cubicBezTo>
                    <a:pt x="983" y="0"/>
                    <a:pt x="952" y="31"/>
                    <a:pt x="891" y="85"/>
                  </a:cubicBezTo>
                  <a:cubicBezTo>
                    <a:pt x="830" y="139"/>
                    <a:pt x="800" y="281"/>
                    <a:pt x="691" y="345"/>
                  </a:cubicBezTo>
                  <a:cubicBezTo>
                    <a:pt x="582" y="409"/>
                    <a:pt x="345" y="434"/>
                    <a:pt x="239" y="472"/>
                  </a:cubicBezTo>
                  <a:cubicBezTo>
                    <a:pt x="133" y="510"/>
                    <a:pt x="94" y="521"/>
                    <a:pt x="55" y="573"/>
                  </a:cubicBezTo>
                  <a:cubicBezTo>
                    <a:pt x="16" y="625"/>
                    <a:pt x="0" y="719"/>
                    <a:pt x="3" y="785"/>
                  </a:cubicBezTo>
                  <a:cubicBezTo>
                    <a:pt x="6" y="851"/>
                    <a:pt x="30" y="935"/>
                    <a:pt x="71" y="969"/>
                  </a:cubicBezTo>
                  <a:cubicBezTo>
                    <a:pt x="112" y="1003"/>
                    <a:pt x="188" y="982"/>
                    <a:pt x="247" y="989"/>
                  </a:cubicBezTo>
                  <a:cubicBezTo>
                    <a:pt x="306" y="996"/>
                    <a:pt x="232" y="1008"/>
                    <a:pt x="427" y="1013"/>
                  </a:cubicBezTo>
                  <a:close/>
                </a:path>
              </a:pathLst>
            </a:custGeom>
            <a:solidFill>
              <a:srgbClr val="FFFFFF">
                <a:alpha val="0"/>
              </a:srgbClr>
            </a:solidFill>
            <a:ln w="28575">
              <a:solidFill>
                <a:srgbClr val="9900FF"/>
              </a:solidFill>
              <a:prstDash val="sysDot"/>
              <a:rou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4" name="Line 41">
              <a:extLst>
                <a:ext uri="{FF2B5EF4-FFF2-40B4-BE49-F238E27FC236}">
                  <a16:creationId xmlns:a16="http://schemas.microsoft.com/office/drawing/2014/main" id="{A24E402A-32C0-4F43-9723-22081B5CE5AC}"/>
                </a:ext>
              </a:extLst>
            </p:cNvPr>
            <p:cNvSpPr>
              <a:spLocks noChangeShapeType="1"/>
            </p:cNvSpPr>
            <p:nvPr/>
          </p:nvSpPr>
          <p:spPr bwMode="auto">
            <a:xfrm flipH="1">
              <a:off x="3889402" y="3599398"/>
              <a:ext cx="182531" cy="166158"/>
            </a:xfrm>
            <a:prstGeom prst="line">
              <a:avLst/>
            </a:prstGeom>
            <a:noFill/>
            <a:ln w="28575">
              <a:solidFill>
                <a:srgbClr val="1F497D"/>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Text Box 42">
              <a:extLst>
                <a:ext uri="{FF2B5EF4-FFF2-40B4-BE49-F238E27FC236}">
                  <a16:creationId xmlns:a16="http://schemas.microsoft.com/office/drawing/2014/main" id="{6B660F08-A49A-4F42-84C3-5F9472E938F2}"/>
                </a:ext>
              </a:extLst>
            </p:cNvPr>
            <p:cNvSpPr txBox="1">
              <a:spLocks noChangeArrowheads="1"/>
            </p:cNvSpPr>
            <p:nvPr/>
          </p:nvSpPr>
          <p:spPr bwMode="auto">
            <a:xfrm>
              <a:off x="3960840" y="3313646"/>
              <a:ext cx="792163" cy="304800"/>
            </a:xfrm>
            <a:prstGeom prst="rect">
              <a:avLst/>
            </a:prstGeom>
            <a:noFill/>
            <a:ln w="28575" algn="ctr">
              <a:noFill/>
              <a:miter lim="800000"/>
            </a:ln>
          </p:spPr>
          <p:txBody>
            <a:bodyPr lIns="0" tIns="0" rIns="0" bIns="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合并</a:t>
              </a:r>
            </a:p>
          </p:txBody>
        </p:sp>
      </p:grpSp>
      <p:sp>
        <p:nvSpPr>
          <p:cNvPr id="16" name="Text Box 2">
            <a:extLst>
              <a:ext uri="{FF2B5EF4-FFF2-40B4-BE49-F238E27FC236}">
                <a16:creationId xmlns:a16="http://schemas.microsoft.com/office/drawing/2014/main" id="{91766255-9C81-4D18-BBA3-08298A835672}"/>
              </a:ext>
            </a:extLst>
          </p:cNvPr>
          <p:cNvSpPr txBox="1">
            <a:spLocks noChangeArrowheads="1"/>
          </p:cNvSpPr>
          <p:nvPr/>
        </p:nvSpPr>
        <p:spPr bwMode="auto">
          <a:xfrm>
            <a:off x="251520" y="1124744"/>
            <a:ext cx="8763000" cy="987551"/>
          </a:xfrm>
          <a:prstGeom prst="rect">
            <a:avLst/>
          </a:prstGeom>
          <a:solidFill>
            <a:sysClr val="window" lastClr="FFFFFF"/>
          </a:solidFill>
          <a:ln w="25400" cap="flat" cmpd="sng" algn="ctr">
            <a:noFill/>
            <a:prstDash val="solid"/>
          </a:ln>
          <a:effectLst/>
          <a:scene3d>
            <a:camera prst="orthographicFront">
              <a:rot lat="0" lon="0" rev="0"/>
            </a:camera>
            <a:lightRig rig="chilly" dir="t">
              <a:rot lat="0" lon="0" rev="18480000"/>
            </a:lightRig>
          </a:scene3d>
          <a:sp3d prstMaterial="clear">
            <a:bevelT h="63500"/>
          </a:sp3d>
        </p:spPr>
        <p:txBody>
          <a:bodyPr lIns="144000" tIns="108000" bIns="108000">
            <a:spAutoFit/>
          </a:bodyPr>
          <a:lstStyle/>
          <a:p>
            <a:pPr marL="0" marR="0" lvl="0" indent="0" algn="just" defTabSz="914400" eaLnBrk="1" fontAlgn="ctr" latinLnBrk="0" hangingPunct="1">
              <a:lnSpc>
                <a:spcPts val="3000"/>
              </a:lnSpc>
              <a:spcBef>
                <a:spcPts val="0"/>
              </a:spcBef>
              <a:spcAft>
                <a:spcPct val="0"/>
              </a:spcAft>
              <a:buClrTx/>
              <a:buSzTx/>
              <a:buFontTx/>
              <a:buNone/>
              <a:tabLst/>
              <a:defRPr/>
            </a:pP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情况</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3</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：假如</a:t>
            </a:r>
            <a:r>
              <a:rPr kumimoji="1" lang="en-US" altLang="zh-CN" sz="2000" b="1" i="1"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b</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结点的关键字个数等于</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Min</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，说明删去关键字后该结点将不满足</a:t>
            </a:r>
            <a:r>
              <a:rPr kumimoji="1" lang="en-US" altLang="zh-CN"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B</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树的定义。</a:t>
            </a:r>
            <a:r>
              <a:rPr kumimoji="1" lang="zh-CN" altLang="en-US" sz="2000" b="1" i="0" u="none" strike="noStrike" kern="0" cap="none" spc="0" normalizeH="0" noProof="0" dirty="0">
                <a:ln>
                  <a:noFill/>
                </a:ln>
                <a:solidFill>
                  <a:srgbClr val="C00000"/>
                </a:solidFill>
                <a:effectLst/>
                <a:uLnTx/>
                <a:uFillTx/>
                <a:latin typeface="Arial" panose="020B0604020202020204" pitchFamily="34" charset="0"/>
                <a:ea typeface="楷体" panose="02010609060101010101" pitchFamily="49" charset="-122"/>
                <a:cs typeface="Consolas" panose="020B0609020204030204" pitchFamily="49" charset="0"/>
              </a:rPr>
              <a:t>若不能从兄弟结点借</a:t>
            </a:r>
            <a:r>
              <a:rPr kumimoji="1" lang="zh-CN" altLang="en-US" sz="2000" b="1" i="0" u="none" strike="noStrike" kern="0" cap="none" spc="0" normalizeH="0" noProof="0" dirty="0">
                <a:ln>
                  <a:noFill/>
                </a:ln>
                <a:effectLst/>
                <a:uLnTx/>
                <a:uFillTx/>
                <a:latin typeface="Arial" panose="020B0604020202020204" pitchFamily="34" charset="0"/>
                <a:ea typeface="楷体" panose="02010609060101010101" pitchFamily="49" charset="-122"/>
                <a:cs typeface="Consolas" panose="020B0609020204030204" pitchFamily="49" charset="0"/>
              </a:rPr>
              <a:t>。</a:t>
            </a:r>
            <a:r>
              <a:rPr kumimoji="1" lang="zh-CN" altLang="en-US" sz="2000" b="1" i="0" u="none" strike="noStrike" kern="0" cap="none" spc="0" normalizeH="0" baseline="0" noProof="0" dirty="0">
                <a:ln>
                  <a:noFill/>
                </a:ln>
                <a:effectLst/>
                <a:uLnTx/>
                <a:uFillTx/>
                <a:latin typeface="Consolas" panose="020B0609020204030204" pitchFamily="49" charset="0"/>
                <a:ea typeface="仿宋" panose="02010609060101010101" pitchFamily="49" charset="-122"/>
                <a:cs typeface="Consolas" panose="020B0609020204030204" pitchFamily="49" charset="0"/>
              </a:rPr>
              <a:t>　　</a:t>
            </a:r>
          </a:p>
        </p:txBody>
      </p:sp>
      <p:sp>
        <p:nvSpPr>
          <p:cNvPr id="17" name="Text Box 7">
            <a:extLst>
              <a:ext uri="{FF2B5EF4-FFF2-40B4-BE49-F238E27FC236}">
                <a16:creationId xmlns:a16="http://schemas.microsoft.com/office/drawing/2014/main" id="{36BC1543-D8EC-458D-887A-51CAE1BB9EE0}"/>
              </a:ext>
            </a:extLst>
          </p:cNvPr>
          <p:cNvSpPr txBox="1">
            <a:spLocks noChangeArrowheads="1"/>
          </p:cNvSpPr>
          <p:nvPr/>
        </p:nvSpPr>
        <p:spPr bwMode="auto">
          <a:xfrm>
            <a:off x="1519951" y="4553768"/>
            <a:ext cx="1223963" cy="276999"/>
          </a:xfrm>
          <a:prstGeom prst="rect">
            <a:avLst/>
          </a:prstGeom>
          <a:noFill/>
          <a:ln w="28575" algn="ctr">
            <a:noFill/>
            <a:miter lim="800000"/>
          </a:ln>
        </p:spPr>
        <p:txBody>
          <a:bodyPr lIns="0" tIns="0" rIns="0" bIns="0">
            <a:spAutoFit/>
          </a:bodyPr>
          <a:lstStyle/>
          <a:p>
            <a:pPr algn="ctr" fontAlgn="base">
              <a:spcBef>
                <a:spcPct val="50000"/>
              </a:spcBef>
              <a:spcAft>
                <a:spcPct val="0"/>
              </a:spcAft>
            </a:pPr>
            <a:r>
              <a:rPr lang="zh-CN" altLang="en-US" b="1" dirty="0">
                <a:solidFill>
                  <a:srgbClr val="3333FF"/>
                </a:solidFill>
                <a:latin typeface="Consolas" panose="020B0609020204030204" pitchFamily="49" charset="0"/>
                <a:ea typeface="仿宋" panose="02010609060101010101" pitchFamily="49" charset="-122"/>
                <a:cs typeface="Consolas" panose="020B0609020204030204" pitchFamily="49" charset="0"/>
              </a:rPr>
              <a:t>删除</a:t>
            </a:r>
            <a:r>
              <a:rPr lang="en-US" altLang="zh-CN" b="1" dirty="0">
                <a:solidFill>
                  <a:srgbClr val="3333FF"/>
                </a:solidFill>
                <a:latin typeface="Consolas" panose="020B0609020204030204" pitchFamily="49" charset="0"/>
                <a:ea typeface="仿宋" panose="02010609060101010101" pitchFamily="49" charset="-122"/>
                <a:cs typeface="Consolas" panose="020B0609020204030204" pitchFamily="49" charset="0"/>
              </a:rPr>
              <a:t>15</a:t>
            </a:r>
          </a:p>
        </p:txBody>
      </p:sp>
      <p:cxnSp>
        <p:nvCxnSpPr>
          <p:cNvPr id="18" name="直接箭头连接符 17">
            <a:extLst>
              <a:ext uri="{FF2B5EF4-FFF2-40B4-BE49-F238E27FC236}">
                <a16:creationId xmlns:a16="http://schemas.microsoft.com/office/drawing/2014/main" id="{22F2D274-FD5E-4C44-A81B-F4D65AECF660}"/>
              </a:ext>
            </a:extLst>
          </p:cNvPr>
          <p:cNvCxnSpPr/>
          <p:nvPr/>
        </p:nvCxnSpPr>
        <p:spPr>
          <a:xfrm rot="16200000" flipV="1">
            <a:off x="2037477" y="4410890"/>
            <a:ext cx="285752" cy="0"/>
          </a:xfrm>
          <a:prstGeom prst="straightConnector1">
            <a:avLst/>
          </a:prstGeom>
          <a:noFill/>
          <a:ln w="28575" cap="flat" cmpd="sng" algn="ctr">
            <a:solidFill>
              <a:srgbClr val="3333FF"/>
            </a:solidFill>
            <a:prstDash val="solid"/>
            <a:tailEnd type="arrow"/>
          </a:ln>
          <a:effectLst/>
        </p:spPr>
      </p:cxnSp>
      <p:grpSp>
        <p:nvGrpSpPr>
          <p:cNvPr id="19" name="组合 29">
            <a:extLst>
              <a:ext uri="{FF2B5EF4-FFF2-40B4-BE49-F238E27FC236}">
                <a16:creationId xmlns:a16="http://schemas.microsoft.com/office/drawing/2014/main" id="{07AF339F-F4CF-4089-B699-978522FA05CC}"/>
              </a:ext>
            </a:extLst>
          </p:cNvPr>
          <p:cNvGrpSpPr/>
          <p:nvPr/>
        </p:nvGrpSpPr>
        <p:grpSpPr>
          <a:xfrm>
            <a:off x="5895122" y="2647160"/>
            <a:ext cx="2786082" cy="2049482"/>
            <a:chOff x="5857884" y="2093898"/>
            <a:chExt cx="2786082" cy="2049482"/>
          </a:xfrm>
        </p:grpSpPr>
        <p:sp>
          <p:nvSpPr>
            <p:cNvPr id="20" name="Text Box 31">
              <a:extLst>
                <a:ext uri="{FF2B5EF4-FFF2-40B4-BE49-F238E27FC236}">
                  <a16:creationId xmlns:a16="http://schemas.microsoft.com/office/drawing/2014/main" id="{FFEB9025-13F4-4DBB-AEA6-06358812CB40}"/>
                </a:ext>
              </a:extLst>
            </p:cNvPr>
            <p:cNvSpPr txBox="1">
              <a:spLocks noChangeArrowheads="1"/>
            </p:cNvSpPr>
            <p:nvPr/>
          </p:nvSpPr>
          <p:spPr bwMode="auto">
            <a:xfrm>
              <a:off x="6289684" y="3711580"/>
              <a:ext cx="647700" cy="369332"/>
            </a:xfrm>
            <a:prstGeom prst="rect">
              <a:avLst/>
            </a:prstGeom>
            <a:noFill/>
            <a:ln w="28575" algn="ctr">
              <a:noFill/>
              <a:miter lim="800000"/>
            </a:ln>
          </p:spPr>
          <p:txBody>
            <a:bodyPr lIns="0" tIns="0" rIns="0" bIns="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FF0000"/>
                  </a:solidFill>
                  <a:effectLst/>
                  <a:uLnTx/>
                  <a:uFillTx/>
                  <a:latin typeface="Consolas" panose="020B0609020204030204" pitchFamily="49" charset="0"/>
                  <a:ea typeface="楷体_GB2312" pitchFamily="49" charset="-122"/>
                  <a:cs typeface="Consolas" panose="020B0609020204030204" pitchFamily="49" charset="0"/>
                </a:rPr>
                <a:t>b</a:t>
              </a:r>
            </a:p>
          </p:txBody>
        </p:sp>
        <p:sp>
          <p:nvSpPr>
            <p:cNvPr id="21" name="Rectangle 32">
              <a:extLst>
                <a:ext uri="{FF2B5EF4-FFF2-40B4-BE49-F238E27FC236}">
                  <a16:creationId xmlns:a16="http://schemas.microsoft.com/office/drawing/2014/main" id="{E049B08F-7D69-4B49-A11B-67038AFD8E24}"/>
                </a:ext>
              </a:extLst>
            </p:cNvPr>
            <p:cNvSpPr>
              <a:spLocks noChangeArrowheads="1"/>
            </p:cNvSpPr>
            <p:nvPr/>
          </p:nvSpPr>
          <p:spPr bwMode="auto">
            <a:xfrm>
              <a:off x="6146809" y="2703517"/>
              <a:ext cx="1152525"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13  </a:t>
              </a:r>
              <a:endPar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endParaRPr>
            </a:p>
          </p:txBody>
        </p:sp>
        <p:sp>
          <p:nvSpPr>
            <p:cNvPr id="22" name="Rectangle 33">
              <a:extLst>
                <a:ext uri="{FF2B5EF4-FFF2-40B4-BE49-F238E27FC236}">
                  <a16:creationId xmlns:a16="http://schemas.microsoft.com/office/drawing/2014/main" id="{E31E2821-6372-4F00-B9BF-DBB8042C04CB}"/>
                </a:ext>
              </a:extLst>
            </p:cNvPr>
            <p:cNvSpPr>
              <a:spLocks noChangeArrowheads="1"/>
            </p:cNvSpPr>
            <p:nvPr/>
          </p:nvSpPr>
          <p:spPr bwMode="auto">
            <a:xfrm>
              <a:off x="6865946" y="3640142"/>
              <a:ext cx="1778020" cy="503238"/>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_GB2312" pitchFamily="49" charset="-122"/>
                  <a:cs typeface="Consolas" panose="020B0609020204030204" pitchFamily="49" charset="0"/>
                </a:rPr>
                <a:t>14 17 19 20</a:t>
              </a:r>
            </a:p>
          </p:txBody>
        </p:sp>
        <p:sp>
          <p:nvSpPr>
            <p:cNvPr id="23" name="Line 35">
              <a:extLst>
                <a:ext uri="{FF2B5EF4-FFF2-40B4-BE49-F238E27FC236}">
                  <a16:creationId xmlns:a16="http://schemas.microsoft.com/office/drawing/2014/main" id="{6DCC53D4-DE7F-4492-A703-C89E67C15CB0}"/>
                </a:ext>
              </a:extLst>
            </p:cNvPr>
            <p:cNvSpPr>
              <a:spLocks noChangeShapeType="1"/>
            </p:cNvSpPr>
            <p:nvPr/>
          </p:nvSpPr>
          <p:spPr bwMode="auto">
            <a:xfrm>
              <a:off x="6881810" y="3094030"/>
              <a:ext cx="420699" cy="546112"/>
            </a:xfrm>
            <a:prstGeom prst="line">
              <a:avLst/>
            </a:prstGeom>
            <a:noFill/>
            <a:ln w="28575">
              <a:solidFill>
                <a:srgbClr val="9900FF"/>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4" name="Line 38">
              <a:extLst>
                <a:ext uri="{FF2B5EF4-FFF2-40B4-BE49-F238E27FC236}">
                  <a16:creationId xmlns:a16="http://schemas.microsoft.com/office/drawing/2014/main" id="{1BE779A2-9208-4A42-8786-45CAB20D06A4}"/>
                </a:ext>
              </a:extLst>
            </p:cNvPr>
            <p:cNvSpPr>
              <a:spLocks noChangeShapeType="1"/>
            </p:cNvSpPr>
            <p:nvPr/>
          </p:nvSpPr>
          <p:spPr bwMode="auto">
            <a:xfrm flipH="1">
              <a:off x="5857884" y="3000372"/>
              <a:ext cx="571504" cy="231783"/>
            </a:xfrm>
            <a:prstGeom prst="line">
              <a:avLst/>
            </a:prstGeom>
            <a:noFill/>
            <a:ln w="28575">
              <a:solidFill>
                <a:srgbClr val="9900FF"/>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5" name="TextBox 24">
              <a:extLst>
                <a:ext uri="{FF2B5EF4-FFF2-40B4-BE49-F238E27FC236}">
                  <a16:creationId xmlns:a16="http://schemas.microsoft.com/office/drawing/2014/main" id="{3053D976-EC80-41ED-80E7-AC7C4791A282}"/>
                </a:ext>
              </a:extLst>
            </p:cNvPr>
            <p:cNvSpPr txBox="1"/>
            <p:nvPr/>
          </p:nvSpPr>
          <p:spPr>
            <a:xfrm>
              <a:off x="6596058" y="2093898"/>
              <a:ext cx="2000264" cy="369332"/>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仿宋" panose="02010609060101010101" pitchFamily="49" charset="-122"/>
                  <a:cs typeface="Consolas" panose="020B0609020204030204" pitchFamily="49" charset="0"/>
                </a:rPr>
                <a:t>减少</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仿宋" panose="02010609060101010101" pitchFamily="49" charset="-122"/>
                  <a:cs typeface="Consolas" panose="020B0609020204030204" pitchFamily="49" charset="0"/>
                </a:rPr>
                <a:t>1</a:t>
              </a:r>
              <a:r>
                <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仿宋" panose="02010609060101010101" pitchFamily="49" charset="-122"/>
                  <a:cs typeface="Consolas" panose="020B0609020204030204" pitchFamily="49" charset="0"/>
                </a:rPr>
                <a:t>个关键字</a:t>
              </a:r>
            </a:p>
          </p:txBody>
        </p:sp>
        <p:cxnSp>
          <p:nvCxnSpPr>
            <p:cNvPr id="26" name="直接箭头连接符 25">
              <a:extLst>
                <a:ext uri="{FF2B5EF4-FFF2-40B4-BE49-F238E27FC236}">
                  <a16:creationId xmlns:a16="http://schemas.microsoft.com/office/drawing/2014/main" id="{74086C76-7889-478A-8BFB-312EAD130AB9}"/>
                </a:ext>
              </a:extLst>
            </p:cNvPr>
            <p:cNvCxnSpPr>
              <a:stCxn id="25" idx="2"/>
            </p:cNvCxnSpPr>
            <p:nvPr/>
          </p:nvCxnSpPr>
          <p:spPr>
            <a:xfrm rot="5400000">
              <a:off x="7352228" y="2421440"/>
              <a:ext cx="202172" cy="285752"/>
            </a:xfrm>
            <a:prstGeom prst="straightConnector1">
              <a:avLst/>
            </a:prstGeom>
            <a:noFill/>
            <a:ln w="28575" cap="flat" cmpd="sng" algn="ctr">
              <a:solidFill>
                <a:srgbClr val="3333FF"/>
              </a:solidFill>
              <a:prstDash val="solid"/>
              <a:tailEnd type="arrow"/>
            </a:ln>
            <a:effectLst/>
          </p:spPr>
        </p:cxnSp>
      </p:grpSp>
      <p:sp>
        <p:nvSpPr>
          <p:cNvPr id="27" name="右箭头 28">
            <a:extLst>
              <a:ext uri="{FF2B5EF4-FFF2-40B4-BE49-F238E27FC236}">
                <a16:creationId xmlns:a16="http://schemas.microsoft.com/office/drawing/2014/main" id="{2BC31DE7-0948-4BB3-AF9F-EBA7E6381FA7}"/>
              </a:ext>
            </a:extLst>
          </p:cNvPr>
          <p:cNvSpPr/>
          <p:nvPr/>
        </p:nvSpPr>
        <p:spPr>
          <a:xfrm>
            <a:off x="4894990" y="3553634"/>
            <a:ext cx="714380" cy="285752"/>
          </a:xfrm>
          <a:prstGeom prst="rightArrow">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8" name="TextBox 25">
            <a:extLst>
              <a:ext uri="{FF2B5EF4-FFF2-40B4-BE49-F238E27FC236}">
                <a16:creationId xmlns:a16="http://schemas.microsoft.com/office/drawing/2014/main" id="{52CC9AF4-0E0A-4D7F-87F8-AE99DEAFBF19}"/>
              </a:ext>
            </a:extLst>
          </p:cNvPr>
          <p:cNvSpPr txBox="1"/>
          <p:nvPr/>
        </p:nvSpPr>
        <p:spPr>
          <a:xfrm>
            <a:off x="3823420" y="5268146"/>
            <a:ext cx="2000264" cy="400110"/>
          </a:xfrm>
          <a:prstGeom prst="rect">
            <a:avLst/>
          </a:prstGeom>
          <a:noFill/>
        </p:spPr>
        <p:txBody>
          <a:bodyPr wrap="square" rtlCol="0">
            <a:spAutoFit/>
          </a:bodyPr>
          <a:lstStyle/>
          <a:p>
            <a:pPr algn="ctr" fontAlgn="base">
              <a:spcBef>
                <a:spcPct val="0"/>
              </a:spcBef>
              <a:spcAft>
                <a:spcPct val="0"/>
              </a:spcAft>
            </a:pPr>
            <a:r>
              <a:rPr kumimoji="1" lang="zh-CN" altLang="en-US" sz="2000" b="1">
                <a:solidFill>
                  <a:srgbClr val="FF00FF"/>
                </a:solidFill>
                <a:latin typeface="Consolas" panose="020B0609020204030204" pitchFamily="49" charset="0"/>
                <a:ea typeface="楷体" panose="02010609060101010101" pitchFamily="49" charset="-122"/>
                <a:cs typeface="Consolas" panose="020B0609020204030204" pitchFamily="49" charset="0"/>
              </a:rPr>
              <a:t>删除完成</a:t>
            </a:r>
            <a:endParaRPr kumimoji="1" lang="zh-CN" altLang="en-US" sz="2000" b="1"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2098232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61A997-AF0D-43A4-A6C4-8326C8392026}"/>
              </a:ext>
            </a:extLst>
          </p:cNvPr>
          <p:cNvSpPr>
            <a:spLocks noGrp="1"/>
          </p:cNvSpPr>
          <p:nvPr>
            <p:ph type="title"/>
          </p:nvPr>
        </p:nvSpPr>
        <p:spPr>
          <a:xfrm>
            <a:off x="827584" y="895706"/>
            <a:ext cx="7920880" cy="949117"/>
          </a:xfrm>
        </p:spPr>
        <p:txBody>
          <a:bodyPr/>
          <a:lstStyle/>
          <a:p>
            <a:r>
              <a:rPr lang="en-US" altLang="zh-CN" sz="2400" b="1" dirty="0">
                <a:solidFill>
                  <a:srgbClr val="C00000"/>
                </a:solidFill>
                <a:latin typeface="楷体" panose="02010609060101010101" pitchFamily="49" charset="-122"/>
                <a:ea typeface="楷体" panose="02010609060101010101" pitchFamily="49" charset="-122"/>
              </a:rPr>
              <a:t>【</a:t>
            </a:r>
            <a:r>
              <a:rPr lang="zh-CN" altLang="en-US" sz="2400" b="1" dirty="0">
                <a:solidFill>
                  <a:srgbClr val="C00000"/>
                </a:solidFill>
                <a:latin typeface="楷体" panose="02010609060101010101" pitchFamily="49" charset="-122"/>
                <a:ea typeface="楷体" panose="02010609060101010101" pitchFamily="49" charset="-122"/>
              </a:rPr>
              <a:t>例</a:t>
            </a:r>
            <a:r>
              <a:rPr lang="en-US" altLang="zh-CN" sz="2400" b="1" dirty="0">
                <a:solidFill>
                  <a:srgbClr val="C00000"/>
                </a:solidFill>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对于前例生成的</a:t>
            </a:r>
            <a:r>
              <a:rPr lang="en-US" altLang="zh-CN" sz="2400" b="1" dirty="0">
                <a:latin typeface="楷体" panose="02010609060101010101" pitchFamily="49" charset="-122"/>
                <a:ea typeface="楷体" panose="02010609060101010101" pitchFamily="49" charset="-122"/>
              </a:rPr>
              <a:t>B</a:t>
            </a:r>
            <a:r>
              <a:rPr lang="zh-CN" altLang="en-US" sz="2400" b="1" dirty="0">
                <a:latin typeface="楷体" panose="02010609060101010101" pitchFamily="49" charset="-122"/>
                <a:ea typeface="楷体" panose="02010609060101010101" pitchFamily="49" charset="-122"/>
              </a:rPr>
              <a:t>树，给出删除</a:t>
            </a:r>
            <a:r>
              <a:rPr lang="en-US" altLang="zh-CN" sz="2400" b="1" dirty="0">
                <a:latin typeface="楷体" panose="02010609060101010101" pitchFamily="49" charset="-122"/>
                <a:ea typeface="楷体" panose="02010609060101010101" pitchFamily="49" charset="-122"/>
              </a:rPr>
              <a:t>8</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16</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15</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4</a:t>
            </a:r>
            <a:r>
              <a:rPr lang="zh-CN" altLang="en-US" sz="2400" b="1" dirty="0">
                <a:latin typeface="楷体" panose="02010609060101010101" pitchFamily="49" charset="-122"/>
                <a:ea typeface="楷体" panose="02010609060101010101" pitchFamily="49" charset="-122"/>
              </a:rPr>
              <a:t>，四个关键字的过程。</a:t>
            </a:r>
          </a:p>
        </p:txBody>
      </p:sp>
      <p:grpSp>
        <p:nvGrpSpPr>
          <p:cNvPr id="4" name="组合 81">
            <a:extLst>
              <a:ext uri="{FF2B5EF4-FFF2-40B4-BE49-F238E27FC236}">
                <a16:creationId xmlns:a16="http://schemas.microsoft.com/office/drawing/2014/main" id="{D989C74B-CC6C-4954-BA60-0D7BA66BE26C}"/>
              </a:ext>
            </a:extLst>
          </p:cNvPr>
          <p:cNvGrpSpPr/>
          <p:nvPr/>
        </p:nvGrpSpPr>
        <p:grpSpPr>
          <a:xfrm>
            <a:off x="827584" y="2564904"/>
            <a:ext cx="7786742" cy="2571768"/>
            <a:chOff x="642910" y="3000372"/>
            <a:chExt cx="7786742" cy="2571768"/>
          </a:xfrm>
        </p:grpSpPr>
        <p:sp>
          <p:nvSpPr>
            <p:cNvPr id="5" name="矩形 4">
              <a:extLst>
                <a:ext uri="{FF2B5EF4-FFF2-40B4-BE49-F238E27FC236}">
                  <a16:creationId xmlns:a16="http://schemas.microsoft.com/office/drawing/2014/main" id="{784675E2-099C-4B73-A07C-C4B2A1819414}"/>
                </a:ext>
              </a:extLst>
            </p:cNvPr>
            <p:cNvSpPr/>
            <p:nvPr/>
          </p:nvSpPr>
          <p:spPr>
            <a:xfrm>
              <a:off x="2428860" y="3929066"/>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6" name="直接箭头连接符 5">
              <a:extLst>
                <a:ext uri="{FF2B5EF4-FFF2-40B4-BE49-F238E27FC236}">
                  <a16:creationId xmlns:a16="http://schemas.microsoft.com/office/drawing/2014/main" id="{C04E3200-FF58-464C-BD1E-F82CCB4B7E4B}"/>
                </a:ext>
              </a:extLst>
            </p:cNvPr>
            <p:cNvCxnSpPr/>
            <p:nvPr/>
          </p:nvCxnSpPr>
          <p:spPr>
            <a:xfrm rot="10800000" flipV="1">
              <a:off x="1119958" y="4273556"/>
              <a:ext cx="1464479" cy="785818"/>
            </a:xfrm>
            <a:prstGeom prst="straightConnector1">
              <a:avLst/>
            </a:prstGeom>
            <a:noFill/>
            <a:ln w="28575" cap="flat" cmpd="sng" algn="ctr">
              <a:solidFill>
                <a:srgbClr val="3333FF"/>
              </a:solidFill>
              <a:prstDash val="solid"/>
              <a:tailEnd type="arrow"/>
            </a:ln>
            <a:effectLst/>
          </p:spPr>
        </p:cxnSp>
        <p:cxnSp>
          <p:nvCxnSpPr>
            <p:cNvPr id="7" name="直接箭头连接符 6">
              <a:extLst>
                <a:ext uri="{FF2B5EF4-FFF2-40B4-BE49-F238E27FC236}">
                  <a16:creationId xmlns:a16="http://schemas.microsoft.com/office/drawing/2014/main" id="{2F17944B-B97A-4E39-82C9-30A6592B07A8}"/>
                </a:ext>
              </a:extLst>
            </p:cNvPr>
            <p:cNvCxnSpPr>
              <a:endCxn id="9" idx="0"/>
            </p:cNvCxnSpPr>
            <p:nvPr/>
          </p:nvCxnSpPr>
          <p:spPr>
            <a:xfrm rot="16200000" flipH="1">
              <a:off x="2801528" y="4551767"/>
              <a:ext cx="790580" cy="250034"/>
            </a:xfrm>
            <a:prstGeom prst="straightConnector1">
              <a:avLst/>
            </a:prstGeom>
            <a:noFill/>
            <a:ln w="28575" cap="flat" cmpd="sng" algn="ctr">
              <a:solidFill>
                <a:srgbClr val="3333FF"/>
              </a:solidFill>
              <a:prstDash val="solid"/>
              <a:tailEnd type="arrow"/>
            </a:ln>
            <a:effectLst/>
          </p:spPr>
        </p:cxnSp>
        <p:sp>
          <p:nvSpPr>
            <p:cNvPr id="8" name="矩形 7">
              <a:extLst>
                <a:ext uri="{FF2B5EF4-FFF2-40B4-BE49-F238E27FC236}">
                  <a16:creationId xmlns:a16="http://schemas.microsoft.com/office/drawing/2014/main" id="{5CBFBD09-E356-4C85-9412-B2354C0E37BB}"/>
                </a:ext>
              </a:extLst>
            </p:cNvPr>
            <p:cNvSpPr/>
            <p:nvPr/>
          </p:nvSpPr>
          <p:spPr>
            <a:xfrm>
              <a:off x="1714480" y="5072074"/>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9" name="矩形 8">
              <a:extLst>
                <a:ext uri="{FF2B5EF4-FFF2-40B4-BE49-F238E27FC236}">
                  <a16:creationId xmlns:a16="http://schemas.microsoft.com/office/drawing/2014/main" id="{D6D12739-5B25-4178-9032-31708C77CA8A}"/>
                </a:ext>
              </a:extLst>
            </p:cNvPr>
            <p:cNvSpPr/>
            <p:nvPr/>
          </p:nvSpPr>
          <p:spPr>
            <a:xfrm>
              <a:off x="2786050" y="5072074"/>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7 8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9</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0" name="矩形 9">
              <a:extLst>
                <a:ext uri="{FF2B5EF4-FFF2-40B4-BE49-F238E27FC236}">
                  <a16:creationId xmlns:a16="http://schemas.microsoft.com/office/drawing/2014/main" id="{D0AFB78D-087F-4324-8120-2D1F11449DDE}"/>
                </a:ext>
              </a:extLst>
            </p:cNvPr>
            <p:cNvSpPr/>
            <p:nvPr/>
          </p:nvSpPr>
          <p:spPr>
            <a:xfrm>
              <a:off x="642910" y="5072074"/>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1" name="直接箭头连接符 10">
              <a:extLst>
                <a:ext uri="{FF2B5EF4-FFF2-40B4-BE49-F238E27FC236}">
                  <a16:creationId xmlns:a16="http://schemas.microsoft.com/office/drawing/2014/main" id="{E77E0E61-9597-4788-982F-F14D9E7E198A}"/>
                </a:ext>
              </a:extLst>
            </p:cNvPr>
            <p:cNvCxnSpPr>
              <a:endCxn id="8" idx="0"/>
            </p:cNvCxnSpPr>
            <p:nvPr/>
          </p:nvCxnSpPr>
          <p:spPr>
            <a:xfrm rot="5400000">
              <a:off x="2091119" y="4341422"/>
              <a:ext cx="782641" cy="678662"/>
            </a:xfrm>
            <a:prstGeom prst="straightConnector1">
              <a:avLst/>
            </a:prstGeom>
            <a:noFill/>
            <a:ln w="28575" cap="flat" cmpd="sng" algn="ctr">
              <a:solidFill>
                <a:srgbClr val="3333FF"/>
              </a:solidFill>
              <a:prstDash val="solid"/>
              <a:tailEnd type="arrow"/>
            </a:ln>
            <a:effectLst/>
          </p:spPr>
        </p:cxnSp>
        <p:sp>
          <p:nvSpPr>
            <p:cNvPr id="12" name="矩形 11">
              <a:extLst>
                <a:ext uri="{FF2B5EF4-FFF2-40B4-BE49-F238E27FC236}">
                  <a16:creationId xmlns:a16="http://schemas.microsoft.com/office/drawing/2014/main" id="{8F300B5A-730D-4382-9511-E146D07DFCD6}"/>
                </a:ext>
              </a:extLst>
            </p:cNvPr>
            <p:cNvSpPr/>
            <p:nvPr/>
          </p:nvSpPr>
          <p:spPr>
            <a:xfrm>
              <a:off x="4214810" y="5072074"/>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3" name="矩形 12">
              <a:extLst>
                <a:ext uri="{FF2B5EF4-FFF2-40B4-BE49-F238E27FC236}">
                  <a16:creationId xmlns:a16="http://schemas.microsoft.com/office/drawing/2014/main" id="{CAF4E53D-1C2A-4C55-B9CD-E03988BBF418}"/>
                </a:ext>
              </a:extLst>
            </p:cNvPr>
            <p:cNvSpPr/>
            <p:nvPr/>
          </p:nvSpPr>
          <p:spPr>
            <a:xfrm>
              <a:off x="5429256" y="5072074"/>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4" name="矩形 13">
              <a:extLst>
                <a:ext uri="{FF2B5EF4-FFF2-40B4-BE49-F238E27FC236}">
                  <a16:creationId xmlns:a16="http://schemas.microsoft.com/office/drawing/2014/main" id="{D59166E7-524E-4527-AFD6-E8F71429B0B7}"/>
                </a:ext>
              </a:extLst>
            </p:cNvPr>
            <p:cNvSpPr/>
            <p:nvPr/>
          </p:nvSpPr>
          <p:spPr>
            <a:xfrm>
              <a:off x="6643702" y="5072074"/>
              <a:ext cx="178595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17 18 19 20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1072202E-07D3-42EE-81CD-03EF02425E17}"/>
                </a:ext>
              </a:extLst>
            </p:cNvPr>
            <p:cNvSpPr/>
            <p:nvPr/>
          </p:nvSpPr>
          <p:spPr>
            <a:xfrm>
              <a:off x="3857620" y="3000372"/>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矩形 15">
              <a:extLst>
                <a:ext uri="{FF2B5EF4-FFF2-40B4-BE49-F238E27FC236}">
                  <a16:creationId xmlns:a16="http://schemas.microsoft.com/office/drawing/2014/main" id="{E8FA69E0-B330-4836-A939-407239D306A6}"/>
                </a:ext>
              </a:extLst>
            </p:cNvPr>
            <p:cNvSpPr/>
            <p:nvPr/>
          </p:nvSpPr>
          <p:spPr>
            <a:xfrm>
              <a:off x="5143504" y="392906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13  16</a:t>
              </a:r>
              <a:endParaRPr kumimoji="1" lang="zh-CN" altLang="en-US" sz="18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7" name="直接箭头连接符 16">
              <a:extLst>
                <a:ext uri="{FF2B5EF4-FFF2-40B4-BE49-F238E27FC236}">
                  <a16:creationId xmlns:a16="http://schemas.microsoft.com/office/drawing/2014/main" id="{8C69E68B-1833-4130-A80B-B5923CD08404}"/>
                </a:ext>
              </a:extLst>
            </p:cNvPr>
            <p:cNvCxnSpPr/>
            <p:nvPr/>
          </p:nvCxnSpPr>
          <p:spPr>
            <a:xfrm rot="5400000">
              <a:off x="4625610" y="4360504"/>
              <a:ext cx="785818" cy="637322"/>
            </a:xfrm>
            <a:prstGeom prst="straightConnector1">
              <a:avLst/>
            </a:prstGeom>
            <a:noFill/>
            <a:ln w="28575" cap="flat" cmpd="sng" algn="ctr">
              <a:solidFill>
                <a:srgbClr val="3333FF"/>
              </a:solidFill>
              <a:prstDash val="solid"/>
              <a:tailEnd type="arrow"/>
            </a:ln>
            <a:effectLst/>
          </p:spPr>
        </p:cxnSp>
        <p:cxnSp>
          <p:nvCxnSpPr>
            <p:cNvPr id="18" name="直接箭头连接符 17">
              <a:extLst>
                <a:ext uri="{FF2B5EF4-FFF2-40B4-BE49-F238E27FC236}">
                  <a16:creationId xmlns:a16="http://schemas.microsoft.com/office/drawing/2014/main" id="{34252978-19F9-484C-BEFC-9789E7B0133B}"/>
                </a:ext>
              </a:extLst>
            </p:cNvPr>
            <p:cNvCxnSpPr>
              <a:endCxn id="13" idx="0"/>
            </p:cNvCxnSpPr>
            <p:nvPr/>
          </p:nvCxnSpPr>
          <p:spPr>
            <a:xfrm rot="16200000" flipH="1">
              <a:off x="5385996" y="4564467"/>
              <a:ext cx="785818" cy="229396"/>
            </a:xfrm>
            <a:prstGeom prst="straightConnector1">
              <a:avLst/>
            </a:prstGeom>
            <a:noFill/>
            <a:ln w="28575" cap="flat" cmpd="sng" algn="ctr">
              <a:solidFill>
                <a:srgbClr val="3333FF"/>
              </a:solidFill>
              <a:prstDash val="solid"/>
              <a:tailEnd type="arrow"/>
            </a:ln>
            <a:effectLst/>
          </p:spPr>
        </p:cxnSp>
        <p:cxnSp>
          <p:nvCxnSpPr>
            <p:cNvPr id="19" name="直接箭头连接符 18">
              <a:extLst>
                <a:ext uri="{FF2B5EF4-FFF2-40B4-BE49-F238E27FC236}">
                  <a16:creationId xmlns:a16="http://schemas.microsoft.com/office/drawing/2014/main" id="{230F22CA-4AA0-4CF5-9841-BA924D971948}"/>
                </a:ext>
              </a:extLst>
            </p:cNvPr>
            <p:cNvCxnSpPr>
              <a:endCxn id="14" idx="0"/>
            </p:cNvCxnSpPr>
            <p:nvPr/>
          </p:nvCxnSpPr>
          <p:spPr>
            <a:xfrm>
              <a:off x="6000760" y="4286256"/>
              <a:ext cx="1535917" cy="785818"/>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8BF21A55-2033-46B1-AA28-9B68C77EE0F6}"/>
                </a:ext>
              </a:extLst>
            </p:cNvPr>
            <p:cNvCxnSpPr>
              <a:endCxn id="5" idx="0"/>
            </p:cNvCxnSpPr>
            <p:nvPr/>
          </p:nvCxnSpPr>
          <p:spPr>
            <a:xfrm rot="10800000" flipV="1">
              <a:off x="2821770" y="3357562"/>
              <a:ext cx="1178727" cy="571504"/>
            </a:xfrm>
            <a:prstGeom prst="straightConnector1">
              <a:avLst/>
            </a:prstGeom>
            <a:noFill/>
            <a:ln w="28575" cap="flat" cmpd="sng" algn="ctr">
              <a:solidFill>
                <a:srgbClr val="3333FF"/>
              </a:solidFill>
              <a:prstDash val="solid"/>
              <a:tailEnd type="arrow"/>
            </a:ln>
            <a:effectLst/>
          </p:spPr>
        </p:cxnSp>
        <p:cxnSp>
          <p:nvCxnSpPr>
            <p:cNvPr id="21" name="直接箭头连接符 20">
              <a:extLst>
                <a:ext uri="{FF2B5EF4-FFF2-40B4-BE49-F238E27FC236}">
                  <a16:creationId xmlns:a16="http://schemas.microsoft.com/office/drawing/2014/main" id="{3C86EAE0-5F72-4B7A-B874-DED5BC4C1474}"/>
                </a:ext>
              </a:extLst>
            </p:cNvPr>
            <p:cNvCxnSpPr>
              <a:endCxn id="16" idx="0"/>
            </p:cNvCxnSpPr>
            <p:nvPr/>
          </p:nvCxnSpPr>
          <p:spPr>
            <a:xfrm>
              <a:off x="4508500" y="3336924"/>
              <a:ext cx="1170789" cy="592142"/>
            </a:xfrm>
            <a:prstGeom prst="straightConnector1">
              <a:avLst/>
            </a:prstGeom>
            <a:noFill/>
            <a:ln w="28575" cap="flat" cmpd="sng" algn="ctr">
              <a:solidFill>
                <a:srgbClr val="3333FF"/>
              </a:solidFill>
              <a:prstDash val="solid"/>
              <a:tailEnd type="arrow"/>
            </a:ln>
            <a:effectLst/>
          </p:spPr>
        </p:cxnSp>
      </p:grpSp>
    </p:spTree>
    <p:extLst>
      <p:ext uri="{BB962C8B-B14F-4D97-AF65-F5344CB8AC3E}">
        <p14:creationId xmlns:p14="http://schemas.microsoft.com/office/powerpoint/2010/main" val="1677984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48">
            <a:extLst>
              <a:ext uri="{FF2B5EF4-FFF2-40B4-BE49-F238E27FC236}">
                <a16:creationId xmlns:a16="http://schemas.microsoft.com/office/drawing/2014/main" id="{30E3277C-6567-4542-B6DC-E448E55AD92F}"/>
              </a:ext>
            </a:extLst>
          </p:cNvPr>
          <p:cNvSpPr txBox="1">
            <a:spLocks noChangeArrowheads="1"/>
          </p:cNvSpPr>
          <p:nvPr/>
        </p:nvSpPr>
        <p:spPr bwMode="auto">
          <a:xfrm>
            <a:off x="899592" y="1412776"/>
            <a:ext cx="1152525"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kumimoji="1"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p>
        </p:txBody>
      </p:sp>
      <p:sp>
        <p:nvSpPr>
          <p:cNvPr id="27" name="TextBox 67">
            <a:extLst>
              <a:ext uri="{FF2B5EF4-FFF2-40B4-BE49-F238E27FC236}">
                <a16:creationId xmlns:a16="http://schemas.microsoft.com/office/drawing/2014/main" id="{358A99C5-3CF0-4070-8620-6EA11BF8571F}"/>
              </a:ext>
            </a:extLst>
          </p:cNvPr>
          <p:cNvSpPr txBox="1"/>
          <p:nvPr/>
        </p:nvSpPr>
        <p:spPr>
          <a:xfrm>
            <a:off x="2542664" y="1412775"/>
            <a:ext cx="857256" cy="369332"/>
          </a:xfrm>
          <a:prstGeom prst="rect">
            <a:avLst/>
          </a:prstGeom>
          <a:noFill/>
        </p:spPr>
        <p:txBody>
          <a:bodyPr wrap="square" rtlCol="0">
            <a:spAutoFit/>
          </a:bodyPr>
          <a:lstStyle/>
          <a:p>
            <a:pPr fontAlgn="base">
              <a:spcBef>
                <a:spcPct val="0"/>
              </a:spcBef>
              <a:spcAft>
                <a:spcPct val="0"/>
              </a:spcAft>
            </a:pPr>
            <a:r>
              <a:rPr kumimoji="1" lang="zh-CN" altLang="en-US"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p>
        </p:txBody>
      </p:sp>
      <p:sp>
        <p:nvSpPr>
          <p:cNvPr id="28" name="TextBox 68">
            <a:extLst>
              <a:ext uri="{FF2B5EF4-FFF2-40B4-BE49-F238E27FC236}">
                <a16:creationId xmlns:a16="http://schemas.microsoft.com/office/drawing/2014/main" id="{F03540D4-214A-4531-892D-F8226299683C}"/>
              </a:ext>
            </a:extLst>
          </p:cNvPr>
          <p:cNvSpPr txBox="1"/>
          <p:nvPr/>
        </p:nvSpPr>
        <p:spPr>
          <a:xfrm>
            <a:off x="3614234" y="1411981"/>
            <a:ext cx="428628" cy="369332"/>
          </a:xfrm>
          <a:prstGeom prst="rect">
            <a:avLst/>
          </a:prstGeom>
          <a:noFill/>
        </p:spPr>
        <p:txBody>
          <a:bodyPr wrap="square" lIns="0" tIns="0" rIns="0" bIns="0" rtlCol="0">
            <a:spAutoFit/>
          </a:bodyPr>
          <a:lstStyle/>
          <a:p>
            <a:pPr algn="ctr" fontAlgn="base">
              <a:spcBef>
                <a:spcPct val="0"/>
              </a:spcBef>
              <a:spcAft>
                <a:spcPct val="0"/>
              </a:spcAft>
            </a:pPr>
            <a:r>
              <a:rPr kumimoji="1" lang="en-US" altLang="zh-CN" sz="2400" b="1" dirty="0">
                <a:solidFill>
                  <a:srgbClr val="3333FF"/>
                </a:solidFill>
                <a:latin typeface="Consolas" panose="020B0609020204030204" pitchFamily="49" charset="0"/>
                <a:ea typeface="宋体" panose="02010600030101010101" pitchFamily="2" charset="-122"/>
                <a:cs typeface="Consolas" panose="020B0609020204030204" pitchFamily="49" charset="0"/>
              </a:rPr>
              <a:t>8</a:t>
            </a:r>
            <a:endParaRPr kumimoji="1" lang="zh-CN" altLang="en-US" sz="24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9" name="直接箭头连接符 28">
            <a:extLst>
              <a:ext uri="{FF2B5EF4-FFF2-40B4-BE49-F238E27FC236}">
                <a16:creationId xmlns:a16="http://schemas.microsoft.com/office/drawing/2014/main" id="{C7B268B7-6027-4D4B-8803-5D027A15293C}"/>
              </a:ext>
            </a:extLst>
          </p:cNvPr>
          <p:cNvCxnSpPr/>
          <p:nvPr/>
        </p:nvCxnSpPr>
        <p:spPr>
          <a:xfrm rot="5400000" flipH="1" flipV="1">
            <a:off x="3662653" y="1960466"/>
            <a:ext cx="357984" cy="794"/>
          </a:xfrm>
          <a:prstGeom prst="straightConnector1">
            <a:avLst/>
          </a:prstGeom>
          <a:noFill/>
          <a:ln w="28575" cap="flat" cmpd="sng" algn="ctr">
            <a:solidFill>
              <a:srgbClr val="FF00FF"/>
            </a:solidFill>
            <a:prstDash val="solid"/>
            <a:tailEnd type="arrow"/>
          </a:ln>
          <a:effectLst/>
        </p:spPr>
      </p:cxnSp>
      <p:sp>
        <p:nvSpPr>
          <p:cNvPr id="30" name="矩形 29">
            <a:extLst>
              <a:ext uri="{FF2B5EF4-FFF2-40B4-BE49-F238E27FC236}">
                <a16:creationId xmlns:a16="http://schemas.microsoft.com/office/drawing/2014/main" id="{80E1D9D5-F715-4F7E-BD1F-6F94434E117A}"/>
              </a:ext>
            </a:extLst>
          </p:cNvPr>
          <p:cNvSpPr/>
          <p:nvPr/>
        </p:nvSpPr>
        <p:spPr>
          <a:xfrm>
            <a:off x="2542664" y="3413039"/>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1" name="直接箭头连接符 30">
            <a:extLst>
              <a:ext uri="{FF2B5EF4-FFF2-40B4-BE49-F238E27FC236}">
                <a16:creationId xmlns:a16="http://schemas.microsoft.com/office/drawing/2014/main" id="{870D05CC-C589-41CB-A500-4831AB21DE19}"/>
              </a:ext>
            </a:extLst>
          </p:cNvPr>
          <p:cNvCxnSpPr/>
          <p:nvPr/>
        </p:nvCxnSpPr>
        <p:spPr>
          <a:xfrm rot="10800000" flipV="1">
            <a:off x="1233764" y="3757529"/>
            <a:ext cx="1464479" cy="785818"/>
          </a:xfrm>
          <a:prstGeom prst="straightConnector1">
            <a:avLst/>
          </a:prstGeom>
          <a:noFill/>
          <a:ln w="28575" cap="flat" cmpd="sng" algn="ctr">
            <a:solidFill>
              <a:srgbClr val="3333FF"/>
            </a:solidFill>
            <a:prstDash val="solid"/>
            <a:tailEnd type="arrow"/>
          </a:ln>
          <a:effectLst/>
        </p:spPr>
      </p:cxnSp>
      <p:cxnSp>
        <p:nvCxnSpPr>
          <p:cNvPr id="32" name="直接箭头连接符 31">
            <a:extLst>
              <a:ext uri="{FF2B5EF4-FFF2-40B4-BE49-F238E27FC236}">
                <a16:creationId xmlns:a16="http://schemas.microsoft.com/office/drawing/2014/main" id="{A88043DC-8977-4307-9EBF-F85DB7245942}"/>
              </a:ext>
            </a:extLst>
          </p:cNvPr>
          <p:cNvCxnSpPr>
            <a:endCxn id="34" idx="0"/>
          </p:cNvCxnSpPr>
          <p:nvPr/>
        </p:nvCxnSpPr>
        <p:spPr>
          <a:xfrm rot="16200000" flipH="1">
            <a:off x="2915332" y="4035740"/>
            <a:ext cx="790580" cy="250034"/>
          </a:xfrm>
          <a:prstGeom prst="straightConnector1">
            <a:avLst/>
          </a:prstGeom>
          <a:noFill/>
          <a:ln w="28575" cap="flat" cmpd="sng" algn="ctr">
            <a:solidFill>
              <a:srgbClr val="3333FF"/>
            </a:solidFill>
            <a:prstDash val="solid"/>
            <a:tailEnd type="arrow"/>
          </a:ln>
          <a:effectLst/>
        </p:spPr>
      </p:cxnSp>
      <p:sp>
        <p:nvSpPr>
          <p:cNvPr id="33" name="矩形 32">
            <a:extLst>
              <a:ext uri="{FF2B5EF4-FFF2-40B4-BE49-F238E27FC236}">
                <a16:creationId xmlns:a16="http://schemas.microsoft.com/office/drawing/2014/main" id="{74423E7D-E671-4FD8-A2C8-0F9F57974D49}"/>
              </a:ext>
            </a:extLst>
          </p:cNvPr>
          <p:cNvSpPr/>
          <p:nvPr/>
        </p:nvSpPr>
        <p:spPr>
          <a:xfrm>
            <a:off x="1828284" y="4556047"/>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4" name="矩形 33">
            <a:extLst>
              <a:ext uri="{FF2B5EF4-FFF2-40B4-BE49-F238E27FC236}">
                <a16:creationId xmlns:a16="http://schemas.microsoft.com/office/drawing/2014/main" id="{F96CD7A5-B7A0-4144-B2CB-AB9DA3B23BD7}"/>
              </a:ext>
            </a:extLst>
          </p:cNvPr>
          <p:cNvSpPr/>
          <p:nvPr/>
        </p:nvSpPr>
        <p:spPr>
          <a:xfrm>
            <a:off x="2899854" y="4556047"/>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a:t>
            </a:r>
            <a:r>
              <a:rPr kumimoji="1" lang="en-US" altLang="zh-CN" sz="20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8</a:t>
            </a: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5" name="矩形 34">
            <a:extLst>
              <a:ext uri="{FF2B5EF4-FFF2-40B4-BE49-F238E27FC236}">
                <a16:creationId xmlns:a16="http://schemas.microsoft.com/office/drawing/2014/main" id="{83ED5638-6122-4DE0-97F9-E2FEA7FC0FBB}"/>
              </a:ext>
            </a:extLst>
          </p:cNvPr>
          <p:cNvSpPr/>
          <p:nvPr/>
        </p:nvSpPr>
        <p:spPr>
          <a:xfrm>
            <a:off x="756714" y="4556047"/>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6" name="直接箭头连接符 35">
            <a:extLst>
              <a:ext uri="{FF2B5EF4-FFF2-40B4-BE49-F238E27FC236}">
                <a16:creationId xmlns:a16="http://schemas.microsoft.com/office/drawing/2014/main" id="{E6CE5316-DC6C-4509-B6CB-774A6CA1673F}"/>
              </a:ext>
            </a:extLst>
          </p:cNvPr>
          <p:cNvCxnSpPr>
            <a:endCxn id="33" idx="0"/>
          </p:cNvCxnSpPr>
          <p:nvPr/>
        </p:nvCxnSpPr>
        <p:spPr>
          <a:xfrm rot="5400000">
            <a:off x="2204925" y="3825395"/>
            <a:ext cx="782641" cy="678662"/>
          </a:xfrm>
          <a:prstGeom prst="straightConnector1">
            <a:avLst/>
          </a:prstGeom>
          <a:noFill/>
          <a:ln w="28575" cap="flat" cmpd="sng" algn="ctr">
            <a:solidFill>
              <a:srgbClr val="3333FF"/>
            </a:solidFill>
            <a:prstDash val="solid"/>
            <a:tailEnd type="arrow"/>
          </a:ln>
          <a:effectLst/>
        </p:spPr>
      </p:cxnSp>
      <p:sp>
        <p:nvSpPr>
          <p:cNvPr id="37" name="矩形 36">
            <a:extLst>
              <a:ext uri="{FF2B5EF4-FFF2-40B4-BE49-F238E27FC236}">
                <a16:creationId xmlns:a16="http://schemas.microsoft.com/office/drawing/2014/main" id="{91B02A1C-EED6-4BAA-89EE-2B4871F80641}"/>
              </a:ext>
            </a:extLst>
          </p:cNvPr>
          <p:cNvSpPr/>
          <p:nvPr/>
        </p:nvSpPr>
        <p:spPr>
          <a:xfrm>
            <a:off x="4328614" y="4556047"/>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8" name="矩形 37">
            <a:extLst>
              <a:ext uri="{FF2B5EF4-FFF2-40B4-BE49-F238E27FC236}">
                <a16:creationId xmlns:a16="http://schemas.microsoft.com/office/drawing/2014/main" id="{677C1CD1-DAFB-4947-9A14-61EF94BC4005}"/>
              </a:ext>
            </a:extLst>
          </p:cNvPr>
          <p:cNvSpPr/>
          <p:nvPr/>
        </p:nvSpPr>
        <p:spPr>
          <a:xfrm>
            <a:off x="5543060" y="4556047"/>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9" name="矩形 38">
            <a:extLst>
              <a:ext uri="{FF2B5EF4-FFF2-40B4-BE49-F238E27FC236}">
                <a16:creationId xmlns:a16="http://schemas.microsoft.com/office/drawing/2014/main" id="{8F722F45-0D2D-4FD2-A9C3-1B5518591E23}"/>
              </a:ext>
            </a:extLst>
          </p:cNvPr>
          <p:cNvSpPr/>
          <p:nvPr/>
        </p:nvSpPr>
        <p:spPr>
          <a:xfrm>
            <a:off x="6757506" y="4556047"/>
            <a:ext cx="164307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17 18 19 20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40" name="矩形 39">
            <a:extLst>
              <a:ext uri="{FF2B5EF4-FFF2-40B4-BE49-F238E27FC236}">
                <a16:creationId xmlns:a16="http://schemas.microsoft.com/office/drawing/2014/main" id="{74DEB748-6933-4D38-9A49-14ECEF5B32B5}"/>
              </a:ext>
            </a:extLst>
          </p:cNvPr>
          <p:cNvSpPr/>
          <p:nvPr/>
        </p:nvSpPr>
        <p:spPr>
          <a:xfrm>
            <a:off x="3971424" y="2484345"/>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41" name="矩形 40">
            <a:extLst>
              <a:ext uri="{FF2B5EF4-FFF2-40B4-BE49-F238E27FC236}">
                <a16:creationId xmlns:a16="http://schemas.microsoft.com/office/drawing/2014/main" id="{BDE90F9D-1EE5-41F5-83F3-372B6E33E829}"/>
              </a:ext>
            </a:extLst>
          </p:cNvPr>
          <p:cNvSpPr/>
          <p:nvPr/>
        </p:nvSpPr>
        <p:spPr>
          <a:xfrm>
            <a:off x="5257308" y="3413039"/>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13  16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42" name="直接箭头连接符 41">
            <a:extLst>
              <a:ext uri="{FF2B5EF4-FFF2-40B4-BE49-F238E27FC236}">
                <a16:creationId xmlns:a16="http://schemas.microsoft.com/office/drawing/2014/main" id="{795E6E3D-9A8C-450C-ABBB-5366F4ED9FFB}"/>
              </a:ext>
            </a:extLst>
          </p:cNvPr>
          <p:cNvCxnSpPr/>
          <p:nvPr/>
        </p:nvCxnSpPr>
        <p:spPr>
          <a:xfrm rot="5400000">
            <a:off x="4739414" y="3844477"/>
            <a:ext cx="785818" cy="637322"/>
          </a:xfrm>
          <a:prstGeom prst="straightConnector1">
            <a:avLst/>
          </a:prstGeom>
          <a:noFill/>
          <a:ln w="28575" cap="flat" cmpd="sng" algn="ctr">
            <a:solidFill>
              <a:srgbClr val="3333FF"/>
            </a:solidFill>
            <a:prstDash val="solid"/>
            <a:tailEnd type="arrow"/>
          </a:ln>
          <a:effectLst/>
        </p:spPr>
      </p:cxnSp>
      <p:cxnSp>
        <p:nvCxnSpPr>
          <p:cNvPr id="43" name="直接箭头连接符 42">
            <a:extLst>
              <a:ext uri="{FF2B5EF4-FFF2-40B4-BE49-F238E27FC236}">
                <a16:creationId xmlns:a16="http://schemas.microsoft.com/office/drawing/2014/main" id="{7CF709FF-CEA3-4C78-855A-97E792C1E4FD}"/>
              </a:ext>
            </a:extLst>
          </p:cNvPr>
          <p:cNvCxnSpPr>
            <a:endCxn id="38" idx="0"/>
          </p:cNvCxnSpPr>
          <p:nvPr/>
        </p:nvCxnSpPr>
        <p:spPr>
          <a:xfrm rot="16200000" flipH="1">
            <a:off x="5499800" y="4048440"/>
            <a:ext cx="785818" cy="229396"/>
          </a:xfrm>
          <a:prstGeom prst="straightConnector1">
            <a:avLst/>
          </a:prstGeom>
          <a:noFill/>
          <a:ln w="28575" cap="flat" cmpd="sng" algn="ctr">
            <a:solidFill>
              <a:srgbClr val="3333FF"/>
            </a:solidFill>
            <a:prstDash val="solid"/>
            <a:tailEnd type="arrow"/>
          </a:ln>
          <a:effectLst/>
        </p:spPr>
      </p:cxnSp>
      <p:cxnSp>
        <p:nvCxnSpPr>
          <p:cNvPr id="44" name="直接箭头连接符 43">
            <a:extLst>
              <a:ext uri="{FF2B5EF4-FFF2-40B4-BE49-F238E27FC236}">
                <a16:creationId xmlns:a16="http://schemas.microsoft.com/office/drawing/2014/main" id="{BAACB09F-4A46-4482-BF3F-B4468F36935E}"/>
              </a:ext>
            </a:extLst>
          </p:cNvPr>
          <p:cNvCxnSpPr>
            <a:endCxn id="39" idx="0"/>
          </p:cNvCxnSpPr>
          <p:nvPr/>
        </p:nvCxnSpPr>
        <p:spPr>
          <a:xfrm>
            <a:off x="6114566" y="3770229"/>
            <a:ext cx="1464479" cy="785818"/>
          </a:xfrm>
          <a:prstGeom prst="straightConnector1">
            <a:avLst/>
          </a:prstGeom>
          <a:noFill/>
          <a:ln w="28575" cap="flat" cmpd="sng" algn="ctr">
            <a:solidFill>
              <a:srgbClr val="3333FF"/>
            </a:solidFill>
            <a:prstDash val="solid"/>
            <a:tailEnd type="arrow"/>
          </a:ln>
          <a:effectLst/>
        </p:spPr>
      </p:cxnSp>
      <p:cxnSp>
        <p:nvCxnSpPr>
          <p:cNvPr id="45" name="直接箭头连接符 44">
            <a:extLst>
              <a:ext uri="{FF2B5EF4-FFF2-40B4-BE49-F238E27FC236}">
                <a16:creationId xmlns:a16="http://schemas.microsoft.com/office/drawing/2014/main" id="{27D9692C-569E-40DE-9CF9-9476F78E164F}"/>
              </a:ext>
            </a:extLst>
          </p:cNvPr>
          <p:cNvCxnSpPr>
            <a:endCxn id="30" idx="0"/>
          </p:cNvCxnSpPr>
          <p:nvPr/>
        </p:nvCxnSpPr>
        <p:spPr>
          <a:xfrm rot="10800000" flipV="1">
            <a:off x="2935576" y="2841535"/>
            <a:ext cx="1178727" cy="571504"/>
          </a:xfrm>
          <a:prstGeom prst="straightConnector1">
            <a:avLst/>
          </a:prstGeom>
          <a:noFill/>
          <a:ln w="28575" cap="flat" cmpd="sng" algn="ctr">
            <a:solidFill>
              <a:srgbClr val="3333FF"/>
            </a:solidFill>
            <a:prstDash val="solid"/>
            <a:tailEnd type="arrow"/>
          </a:ln>
          <a:effectLst/>
        </p:spPr>
      </p:cxnSp>
      <p:cxnSp>
        <p:nvCxnSpPr>
          <p:cNvPr id="46" name="直接箭头连接符 45">
            <a:extLst>
              <a:ext uri="{FF2B5EF4-FFF2-40B4-BE49-F238E27FC236}">
                <a16:creationId xmlns:a16="http://schemas.microsoft.com/office/drawing/2014/main" id="{D4D116E5-5A14-4217-91F0-B645E0E54EA7}"/>
              </a:ext>
            </a:extLst>
          </p:cNvPr>
          <p:cNvCxnSpPr>
            <a:endCxn id="41" idx="0"/>
          </p:cNvCxnSpPr>
          <p:nvPr/>
        </p:nvCxnSpPr>
        <p:spPr>
          <a:xfrm>
            <a:off x="4622306" y="2820897"/>
            <a:ext cx="1170789" cy="592142"/>
          </a:xfrm>
          <a:prstGeom prst="straightConnector1">
            <a:avLst/>
          </a:prstGeom>
          <a:noFill/>
          <a:ln w="28575" cap="flat" cmpd="sng" algn="ctr">
            <a:solidFill>
              <a:srgbClr val="3333FF"/>
            </a:solidFill>
            <a:prstDash val="solid"/>
            <a:tailEnd type="arrow"/>
          </a:ln>
          <a:effectLst/>
        </p:spPr>
      </p:cxnSp>
      <p:sp>
        <p:nvSpPr>
          <p:cNvPr id="47" name="矩形 46">
            <a:extLst>
              <a:ext uri="{FF2B5EF4-FFF2-40B4-BE49-F238E27FC236}">
                <a16:creationId xmlns:a16="http://schemas.microsoft.com/office/drawing/2014/main" id="{BC8CCF70-787A-418D-8E89-40E6A741143F}"/>
              </a:ext>
            </a:extLst>
          </p:cNvPr>
          <p:cNvSpPr/>
          <p:nvPr/>
        </p:nvSpPr>
        <p:spPr>
          <a:xfrm>
            <a:off x="2899854" y="4556047"/>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Tree>
    <p:extLst>
      <p:ext uri="{BB962C8B-B14F-4D97-AF65-F5344CB8AC3E}">
        <p14:creationId xmlns:p14="http://schemas.microsoft.com/office/powerpoint/2010/main" val="308394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34"/>
                                        </p:tgtEl>
                                      </p:cBhvr>
                                    </p:animEffect>
                                    <p:animScale>
                                      <p:cBhvr>
                                        <p:cTn id="13" dur="250" autoRev="1" fill="hold"/>
                                        <p:tgtEl>
                                          <p:spTgt spid="34"/>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4" grpId="0" animBg="1"/>
      <p:bldP spid="4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8">
            <a:extLst>
              <a:ext uri="{FF2B5EF4-FFF2-40B4-BE49-F238E27FC236}">
                <a16:creationId xmlns:a16="http://schemas.microsoft.com/office/drawing/2014/main" id="{60E21757-9500-4D9F-87CE-9E7CD2CE8E58}"/>
              </a:ext>
            </a:extLst>
          </p:cNvPr>
          <p:cNvSpPr txBox="1">
            <a:spLocks noChangeArrowheads="1"/>
          </p:cNvSpPr>
          <p:nvPr/>
        </p:nvSpPr>
        <p:spPr bwMode="auto">
          <a:xfrm>
            <a:off x="481796" y="1211003"/>
            <a:ext cx="1152525"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kumimoji="1"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p>
        </p:txBody>
      </p:sp>
      <p:sp>
        <p:nvSpPr>
          <p:cNvPr id="5" name="TextBox 67">
            <a:extLst>
              <a:ext uri="{FF2B5EF4-FFF2-40B4-BE49-F238E27FC236}">
                <a16:creationId xmlns:a16="http://schemas.microsoft.com/office/drawing/2014/main" id="{33666602-BAA4-4C6A-B8A1-C04D4BFB0C3F}"/>
              </a:ext>
            </a:extLst>
          </p:cNvPr>
          <p:cNvSpPr txBox="1"/>
          <p:nvPr/>
        </p:nvSpPr>
        <p:spPr>
          <a:xfrm>
            <a:off x="2124868" y="1198860"/>
            <a:ext cx="1143008" cy="400110"/>
          </a:xfrm>
          <a:prstGeom prst="rect">
            <a:avLst/>
          </a:prstGeom>
          <a:noFill/>
        </p:spPr>
        <p:txBody>
          <a:bodyPr wrap="square" rtlCol="0">
            <a:spAutoFit/>
          </a:bodyPr>
          <a:lstStyle/>
          <a:p>
            <a:pPr fontAlgn="base">
              <a:spcBef>
                <a:spcPct val="0"/>
              </a:spcBef>
              <a:spcAft>
                <a:spcPct val="0"/>
              </a:spcAft>
            </a:pPr>
            <a:r>
              <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p>
        </p:txBody>
      </p:sp>
      <p:sp>
        <p:nvSpPr>
          <p:cNvPr id="6" name="TextBox 68">
            <a:extLst>
              <a:ext uri="{FF2B5EF4-FFF2-40B4-BE49-F238E27FC236}">
                <a16:creationId xmlns:a16="http://schemas.microsoft.com/office/drawing/2014/main" id="{E5BDD70C-D128-49BB-93CA-24E19E51574D}"/>
              </a:ext>
            </a:extLst>
          </p:cNvPr>
          <p:cNvSpPr txBox="1"/>
          <p:nvPr/>
        </p:nvSpPr>
        <p:spPr>
          <a:xfrm>
            <a:off x="3196438" y="1210209"/>
            <a:ext cx="428628" cy="43088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800" b="1" dirty="0">
                <a:solidFill>
                  <a:srgbClr val="3333FF"/>
                </a:solidFill>
                <a:latin typeface="Consolas" panose="020B0609020204030204" pitchFamily="49" charset="0"/>
                <a:ea typeface="宋体" panose="02010600030101010101" pitchFamily="2" charset="-122"/>
                <a:cs typeface="Consolas" panose="020B0609020204030204" pitchFamily="49" charset="0"/>
              </a:rPr>
              <a:t>16</a:t>
            </a:r>
            <a:endParaRPr kumimoji="1" lang="zh-CN" altLang="en-US" sz="28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7" name="直接箭头连接符 6">
            <a:extLst>
              <a:ext uri="{FF2B5EF4-FFF2-40B4-BE49-F238E27FC236}">
                <a16:creationId xmlns:a16="http://schemas.microsoft.com/office/drawing/2014/main" id="{FB00016C-8536-46B1-BBE9-39B23F7AA7D6}"/>
              </a:ext>
            </a:extLst>
          </p:cNvPr>
          <p:cNvCxnSpPr/>
          <p:nvPr/>
        </p:nvCxnSpPr>
        <p:spPr>
          <a:xfrm rot="5400000" flipH="1" flipV="1">
            <a:off x="3244857" y="1758693"/>
            <a:ext cx="357984" cy="794"/>
          </a:xfrm>
          <a:prstGeom prst="straightConnector1">
            <a:avLst/>
          </a:prstGeom>
          <a:noFill/>
          <a:ln w="28575" cap="flat" cmpd="sng" algn="ctr">
            <a:solidFill>
              <a:srgbClr val="FF00FF"/>
            </a:solidFill>
            <a:prstDash val="solid"/>
            <a:tailEnd type="arrow"/>
          </a:ln>
          <a:effectLst/>
        </p:spPr>
      </p:cxnSp>
      <p:sp>
        <p:nvSpPr>
          <p:cNvPr id="8" name="矩形 7">
            <a:extLst>
              <a:ext uri="{FF2B5EF4-FFF2-40B4-BE49-F238E27FC236}">
                <a16:creationId xmlns:a16="http://schemas.microsoft.com/office/drawing/2014/main" id="{9B508228-6AB2-4E42-B221-CF64705942AF}"/>
              </a:ext>
            </a:extLst>
          </p:cNvPr>
          <p:cNvSpPr/>
          <p:nvPr/>
        </p:nvSpPr>
        <p:spPr>
          <a:xfrm>
            <a:off x="2267744" y="2996952"/>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9" name="直接箭头连接符 8">
            <a:extLst>
              <a:ext uri="{FF2B5EF4-FFF2-40B4-BE49-F238E27FC236}">
                <a16:creationId xmlns:a16="http://schemas.microsoft.com/office/drawing/2014/main" id="{90B71DB8-6885-4205-8ED0-61D8FCE44E35}"/>
              </a:ext>
            </a:extLst>
          </p:cNvPr>
          <p:cNvCxnSpPr/>
          <p:nvPr/>
        </p:nvCxnSpPr>
        <p:spPr>
          <a:xfrm rot="10800000" flipV="1">
            <a:off x="958846" y="3354142"/>
            <a:ext cx="1380339" cy="773118"/>
          </a:xfrm>
          <a:prstGeom prst="straightConnector1">
            <a:avLst/>
          </a:prstGeom>
          <a:noFill/>
          <a:ln w="28575" cap="flat" cmpd="sng" algn="ctr">
            <a:solidFill>
              <a:srgbClr val="3333FF"/>
            </a:solidFill>
            <a:prstDash val="solid"/>
            <a:tailEnd type="arrow"/>
          </a:ln>
          <a:effectLst/>
        </p:spPr>
      </p:cxnSp>
      <p:cxnSp>
        <p:nvCxnSpPr>
          <p:cNvPr id="10" name="直接箭头连接符 9">
            <a:extLst>
              <a:ext uri="{FF2B5EF4-FFF2-40B4-BE49-F238E27FC236}">
                <a16:creationId xmlns:a16="http://schemas.microsoft.com/office/drawing/2014/main" id="{E191B1B2-BDCA-4EF9-AE29-2A894F9382FA}"/>
              </a:ext>
            </a:extLst>
          </p:cNvPr>
          <p:cNvCxnSpPr/>
          <p:nvPr/>
        </p:nvCxnSpPr>
        <p:spPr>
          <a:xfrm rot="16200000" flipH="1">
            <a:off x="2640412" y="3619653"/>
            <a:ext cx="790580" cy="250034"/>
          </a:xfrm>
          <a:prstGeom prst="straightConnector1">
            <a:avLst/>
          </a:prstGeom>
          <a:noFill/>
          <a:ln w="28575" cap="flat" cmpd="sng" algn="ctr">
            <a:solidFill>
              <a:srgbClr val="3333FF"/>
            </a:solidFill>
            <a:prstDash val="solid"/>
            <a:tailEnd type="arrow"/>
          </a:ln>
          <a:effectLst/>
        </p:spPr>
      </p:cxnSp>
      <p:sp>
        <p:nvSpPr>
          <p:cNvPr id="11" name="矩形 10">
            <a:extLst>
              <a:ext uri="{FF2B5EF4-FFF2-40B4-BE49-F238E27FC236}">
                <a16:creationId xmlns:a16="http://schemas.microsoft.com/office/drawing/2014/main" id="{4F18D619-BBF6-44E6-B02E-0AD719319E31}"/>
              </a:ext>
            </a:extLst>
          </p:cNvPr>
          <p:cNvSpPr/>
          <p:nvPr/>
        </p:nvSpPr>
        <p:spPr>
          <a:xfrm>
            <a:off x="1553364" y="4139960"/>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矩形 11">
            <a:extLst>
              <a:ext uri="{FF2B5EF4-FFF2-40B4-BE49-F238E27FC236}">
                <a16:creationId xmlns:a16="http://schemas.microsoft.com/office/drawing/2014/main" id="{F7BD4780-0A40-476E-BE25-C1AF9DB122DA}"/>
              </a:ext>
            </a:extLst>
          </p:cNvPr>
          <p:cNvSpPr/>
          <p:nvPr/>
        </p:nvSpPr>
        <p:spPr>
          <a:xfrm>
            <a:off x="481794" y="4139960"/>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93F52BC0-324D-4D67-9C06-482EA1683510}"/>
              </a:ext>
            </a:extLst>
          </p:cNvPr>
          <p:cNvCxnSpPr>
            <a:endCxn id="11" idx="0"/>
          </p:cNvCxnSpPr>
          <p:nvPr/>
        </p:nvCxnSpPr>
        <p:spPr>
          <a:xfrm rot="5400000">
            <a:off x="1930003" y="3409310"/>
            <a:ext cx="782642" cy="678663"/>
          </a:xfrm>
          <a:prstGeom prst="straightConnector1">
            <a:avLst/>
          </a:prstGeom>
          <a:noFill/>
          <a:ln w="28575" cap="flat" cmpd="sng" algn="ctr">
            <a:solidFill>
              <a:srgbClr val="3333FF"/>
            </a:solidFill>
            <a:prstDash val="solid"/>
            <a:tailEnd type="arrow"/>
          </a:ln>
          <a:effectLst/>
        </p:spPr>
      </p:cxnSp>
      <p:sp>
        <p:nvSpPr>
          <p:cNvPr id="14" name="矩形 13">
            <a:extLst>
              <a:ext uri="{FF2B5EF4-FFF2-40B4-BE49-F238E27FC236}">
                <a16:creationId xmlns:a16="http://schemas.microsoft.com/office/drawing/2014/main" id="{F13F1B2D-5036-4218-9644-9012DB9E8018}"/>
              </a:ext>
            </a:extLst>
          </p:cNvPr>
          <p:cNvSpPr/>
          <p:nvPr/>
        </p:nvSpPr>
        <p:spPr>
          <a:xfrm>
            <a:off x="4053694" y="4139960"/>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64A8436D-4496-4EE8-9525-6E3346632B61}"/>
              </a:ext>
            </a:extLst>
          </p:cNvPr>
          <p:cNvSpPr/>
          <p:nvPr/>
        </p:nvSpPr>
        <p:spPr>
          <a:xfrm>
            <a:off x="5268140" y="4139960"/>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矩形 15">
            <a:extLst>
              <a:ext uri="{FF2B5EF4-FFF2-40B4-BE49-F238E27FC236}">
                <a16:creationId xmlns:a16="http://schemas.microsoft.com/office/drawing/2014/main" id="{E9BCB295-8593-4BFF-964D-81E99E680B1C}"/>
              </a:ext>
            </a:extLst>
          </p:cNvPr>
          <p:cNvSpPr/>
          <p:nvPr/>
        </p:nvSpPr>
        <p:spPr>
          <a:xfrm>
            <a:off x="6482586" y="4139960"/>
            <a:ext cx="192882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18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19 20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7" name="矩形 16">
            <a:extLst>
              <a:ext uri="{FF2B5EF4-FFF2-40B4-BE49-F238E27FC236}">
                <a16:creationId xmlns:a16="http://schemas.microsoft.com/office/drawing/2014/main" id="{C8C38718-7B27-48C8-B419-E339C526E10C}"/>
              </a:ext>
            </a:extLst>
          </p:cNvPr>
          <p:cNvSpPr/>
          <p:nvPr/>
        </p:nvSpPr>
        <p:spPr>
          <a:xfrm>
            <a:off x="3696504" y="2068258"/>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8" name="矩形 17">
            <a:extLst>
              <a:ext uri="{FF2B5EF4-FFF2-40B4-BE49-F238E27FC236}">
                <a16:creationId xmlns:a16="http://schemas.microsoft.com/office/drawing/2014/main" id="{D8737D02-42D5-4109-93BF-63A8BFFFCC80}"/>
              </a:ext>
            </a:extLst>
          </p:cNvPr>
          <p:cNvSpPr/>
          <p:nvPr/>
        </p:nvSpPr>
        <p:spPr>
          <a:xfrm>
            <a:off x="4982388" y="2996952"/>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  </a:t>
            </a: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FA8E9E0F-C503-4D1D-BE91-E4C59854090A}"/>
              </a:ext>
            </a:extLst>
          </p:cNvPr>
          <p:cNvCxnSpPr>
            <a:endCxn id="8" idx="0"/>
          </p:cNvCxnSpPr>
          <p:nvPr/>
        </p:nvCxnSpPr>
        <p:spPr>
          <a:xfrm rot="10800000" flipV="1">
            <a:off x="2660656" y="2425448"/>
            <a:ext cx="1178727" cy="571504"/>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78FF7B17-622E-4D31-AECA-77DD882CDF5C}"/>
              </a:ext>
            </a:extLst>
          </p:cNvPr>
          <p:cNvCxnSpPr>
            <a:endCxn id="18" idx="0"/>
          </p:cNvCxnSpPr>
          <p:nvPr/>
        </p:nvCxnSpPr>
        <p:spPr>
          <a:xfrm>
            <a:off x="4347386" y="2404810"/>
            <a:ext cx="1170789" cy="592142"/>
          </a:xfrm>
          <a:prstGeom prst="straightConnector1">
            <a:avLst/>
          </a:prstGeom>
          <a:noFill/>
          <a:ln w="28575" cap="flat" cmpd="sng" algn="ctr">
            <a:solidFill>
              <a:srgbClr val="3333FF"/>
            </a:solidFill>
            <a:prstDash val="solid"/>
            <a:tailEnd type="arrow"/>
          </a:ln>
          <a:effectLst/>
        </p:spPr>
      </p:cxnSp>
      <p:sp>
        <p:nvSpPr>
          <p:cNvPr id="21" name="矩形 20">
            <a:extLst>
              <a:ext uri="{FF2B5EF4-FFF2-40B4-BE49-F238E27FC236}">
                <a16:creationId xmlns:a16="http://schemas.microsoft.com/office/drawing/2014/main" id="{DEFA557E-DBC7-4689-A82D-6A8DABFC2790}"/>
              </a:ext>
            </a:extLst>
          </p:cNvPr>
          <p:cNvSpPr/>
          <p:nvPr/>
        </p:nvSpPr>
        <p:spPr>
          <a:xfrm>
            <a:off x="2624934" y="4139960"/>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2" name="TextBox 41">
            <a:extLst>
              <a:ext uri="{FF2B5EF4-FFF2-40B4-BE49-F238E27FC236}">
                <a16:creationId xmlns:a16="http://schemas.microsoft.com/office/drawing/2014/main" id="{2DEB8356-E21F-4628-BBD6-10C72234FDF3}"/>
              </a:ext>
            </a:extLst>
          </p:cNvPr>
          <p:cNvSpPr txBox="1"/>
          <p:nvPr/>
        </p:nvSpPr>
        <p:spPr>
          <a:xfrm>
            <a:off x="6495286" y="4201816"/>
            <a:ext cx="468000" cy="40011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noFill/>
            <a:prstDash val="solid"/>
          </a:ln>
          <a:effectLst/>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23" name="矩形 22">
            <a:extLst>
              <a:ext uri="{FF2B5EF4-FFF2-40B4-BE49-F238E27FC236}">
                <a16:creationId xmlns:a16="http://schemas.microsoft.com/office/drawing/2014/main" id="{79055CFC-D622-4C2F-9DF7-BB59757F8B9D}"/>
              </a:ext>
            </a:extLst>
          </p:cNvPr>
          <p:cNvSpPr/>
          <p:nvPr/>
        </p:nvSpPr>
        <p:spPr>
          <a:xfrm>
            <a:off x="4982388" y="2996952"/>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  </a:t>
            </a:r>
            <a:r>
              <a:rPr kumimoji="1" lang="en-US" altLang="zh-CN" sz="2000" b="1"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17</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nvGrpSpPr>
          <p:cNvPr id="24" name="组合 44">
            <a:extLst>
              <a:ext uri="{FF2B5EF4-FFF2-40B4-BE49-F238E27FC236}">
                <a16:creationId xmlns:a16="http://schemas.microsoft.com/office/drawing/2014/main" id="{9887A2F6-2130-4C98-A2F1-53205E1623B2}"/>
              </a:ext>
            </a:extLst>
          </p:cNvPr>
          <p:cNvGrpSpPr/>
          <p:nvPr/>
        </p:nvGrpSpPr>
        <p:grpSpPr>
          <a:xfrm>
            <a:off x="6339710" y="3639896"/>
            <a:ext cx="2214578" cy="2295899"/>
            <a:chOff x="6429388" y="1000108"/>
            <a:chExt cx="2214578" cy="2295899"/>
          </a:xfrm>
        </p:grpSpPr>
        <p:sp>
          <p:nvSpPr>
            <p:cNvPr id="25" name="椭圆 24">
              <a:extLst>
                <a:ext uri="{FF2B5EF4-FFF2-40B4-BE49-F238E27FC236}">
                  <a16:creationId xmlns:a16="http://schemas.microsoft.com/office/drawing/2014/main" id="{6B481CD8-7A45-4D66-8029-C56A3499F6F8}"/>
                </a:ext>
              </a:extLst>
            </p:cNvPr>
            <p:cNvSpPr/>
            <p:nvPr/>
          </p:nvSpPr>
          <p:spPr>
            <a:xfrm>
              <a:off x="6429388" y="1000108"/>
              <a:ext cx="2214578" cy="1571636"/>
            </a:xfrm>
            <a:prstGeom prst="ellipse">
              <a:avLst/>
            </a:prstGeom>
            <a:solidFill>
              <a:srgbClr val="4F81BD">
                <a:alpha val="0"/>
              </a:srgbClr>
            </a:solidFill>
            <a:ln w="25400" cap="flat" cmpd="sng" algn="ctr">
              <a:solidFill>
                <a:srgbClr val="C00000"/>
              </a:solidFill>
              <a:prstDash val="dashDot"/>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6" name="TextBox 43">
              <a:extLst>
                <a:ext uri="{FF2B5EF4-FFF2-40B4-BE49-F238E27FC236}">
                  <a16:creationId xmlns:a16="http://schemas.microsoft.com/office/drawing/2014/main" id="{147232DA-5B5C-41F4-9B54-18C4D4454AB1}"/>
                </a:ext>
              </a:extLst>
            </p:cNvPr>
            <p:cNvSpPr txBox="1"/>
            <p:nvPr/>
          </p:nvSpPr>
          <p:spPr>
            <a:xfrm>
              <a:off x="6715140" y="2649676"/>
              <a:ext cx="1785950" cy="646331"/>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a:ln>
                    <a:noFill/>
                  </a:ln>
                  <a:solidFill>
                    <a:srgbClr val="3333FF"/>
                  </a:solidFill>
                  <a:effectLst/>
                  <a:uLnTx/>
                  <a:uFillTx/>
                  <a:latin typeface="Consolas" panose="020B0609020204030204" pitchFamily="49" charset="0"/>
                  <a:ea typeface="仿宋" panose="02010609060101010101" pitchFamily="49" charset="-122"/>
                  <a:cs typeface="Consolas" panose="020B0609020204030204" pitchFamily="49" charset="0"/>
                </a:rPr>
                <a:t>右边子树找最小关键字</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仿宋" panose="02010609060101010101" pitchFamily="49" charset="-122"/>
                <a:cs typeface="Consolas" panose="020B0609020204030204" pitchFamily="49" charset="0"/>
              </a:endParaRPr>
            </a:p>
          </p:txBody>
        </p:sp>
      </p:grpSp>
      <p:cxnSp>
        <p:nvCxnSpPr>
          <p:cNvPr id="27" name="直接箭头连接符 26">
            <a:extLst>
              <a:ext uri="{FF2B5EF4-FFF2-40B4-BE49-F238E27FC236}">
                <a16:creationId xmlns:a16="http://schemas.microsoft.com/office/drawing/2014/main" id="{D36DEBFC-A9C3-47E6-9042-BEAEEE9435EF}"/>
              </a:ext>
            </a:extLst>
          </p:cNvPr>
          <p:cNvCxnSpPr>
            <a:endCxn id="15" idx="0"/>
          </p:cNvCxnSpPr>
          <p:nvPr/>
        </p:nvCxnSpPr>
        <p:spPr>
          <a:xfrm rot="16200000" flipH="1">
            <a:off x="5224880" y="3632353"/>
            <a:ext cx="785818" cy="229396"/>
          </a:xfrm>
          <a:prstGeom prst="straightConnector1">
            <a:avLst/>
          </a:prstGeom>
          <a:noFill/>
          <a:ln w="28575" cap="flat" cmpd="sng" algn="ctr">
            <a:solidFill>
              <a:srgbClr val="3333FF"/>
            </a:solidFill>
            <a:prstDash val="solid"/>
            <a:tailEnd type="arrow"/>
          </a:ln>
          <a:effectLst/>
        </p:spPr>
      </p:cxnSp>
      <p:cxnSp>
        <p:nvCxnSpPr>
          <p:cNvPr id="28" name="直接箭头连接符 27">
            <a:extLst>
              <a:ext uri="{FF2B5EF4-FFF2-40B4-BE49-F238E27FC236}">
                <a16:creationId xmlns:a16="http://schemas.microsoft.com/office/drawing/2014/main" id="{8300AA8A-498D-4B51-8D4E-E15EA55DFBE8}"/>
              </a:ext>
            </a:extLst>
          </p:cNvPr>
          <p:cNvCxnSpPr/>
          <p:nvPr/>
        </p:nvCxnSpPr>
        <p:spPr>
          <a:xfrm rot="5400000">
            <a:off x="4403375" y="3489509"/>
            <a:ext cx="785818" cy="515084"/>
          </a:xfrm>
          <a:prstGeom prst="straightConnector1">
            <a:avLst/>
          </a:prstGeom>
          <a:noFill/>
          <a:ln w="28575" cap="flat" cmpd="sng" algn="ctr">
            <a:solidFill>
              <a:srgbClr val="3333FF"/>
            </a:solidFill>
            <a:prstDash val="solid"/>
            <a:tailEnd type="arrow"/>
          </a:ln>
          <a:effectLst/>
        </p:spPr>
      </p:cxnSp>
      <p:cxnSp>
        <p:nvCxnSpPr>
          <p:cNvPr id="29" name="直接箭头连接符 28">
            <a:extLst>
              <a:ext uri="{FF2B5EF4-FFF2-40B4-BE49-F238E27FC236}">
                <a16:creationId xmlns:a16="http://schemas.microsoft.com/office/drawing/2014/main" id="{A527EF35-5A0C-4430-B33D-6F7731EC24B9}"/>
              </a:ext>
            </a:extLst>
          </p:cNvPr>
          <p:cNvCxnSpPr>
            <a:endCxn id="16" idx="0"/>
          </p:cNvCxnSpPr>
          <p:nvPr/>
        </p:nvCxnSpPr>
        <p:spPr>
          <a:xfrm>
            <a:off x="5911084" y="3354142"/>
            <a:ext cx="1535917" cy="785818"/>
          </a:xfrm>
          <a:prstGeom prst="straightConnector1">
            <a:avLst/>
          </a:prstGeom>
          <a:noFill/>
          <a:ln w="28575" cap="flat" cmpd="sng" algn="ctr">
            <a:solidFill>
              <a:srgbClr val="3333FF"/>
            </a:solidFill>
            <a:prstDash val="solid"/>
            <a:tailEnd type="arrow"/>
          </a:ln>
          <a:effectLst/>
        </p:spPr>
      </p:cxnSp>
    </p:spTree>
    <p:extLst>
      <p:ext uri="{BB962C8B-B14F-4D97-AF65-F5344CB8AC3E}">
        <p14:creationId xmlns:p14="http://schemas.microsoft.com/office/powerpoint/2010/main" val="108551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18"/>
                                        </p:tgtEl>
                                      </p:cBhvr>
                                    </p:animEffect>
                                    <p:animScale>
                                      <p:cBhvr>
                                        <p:cTn id="13" dur="250" autoRev="1" fill="hold"/>
                                        <p:tgtEl>
                                          <p:spTgt spid="18"/>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22"/>
                                        </p:tgtEl>
                                      </p:cBhvr>
                                    </p:animEffect>
                                    <p:animScale>
                                      <p:cBhvr>
                                        <p:cTn id="22" dur="250" autoRev="1" fill="hold"/>
                                        <p:tgtEl>
                                          <p:spTgt spid="22"/>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1" nodeType="clickEffect">
                                  <p:stCondLst>
                                    <p:cond delay="0"/>
                                  </p:stCondLst>
                                  <p:childTnLst>
                                    <p:animEffect transition="out" filter="wipe(down)">
                                      <p:cBhvr>
                                        <p:cTn id="26" dur="500"/>
                                        <p:tgtEl>
                                          <p:spTgt spid="22"/>
                                        </p:tgtEl>
                                      </p:cBhvr>
                                    </p:animEffect>
                                    <p:set>
                                      <p:cBhvr>
                                        <p:cTn id="27" dur="1" fill="hold">
                                          <p:stCondLst>
                                            <p:cond delay="499"/>
                                          </p:stCondLst>
                                        </p:cTn>
                                        <p:tgtEl>
                                          <p:spTgt spid="2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animBg="1"/>
      <p:bldP spid="22" grpId="0" animBg="1"/>
      <p:bldP spid="22" grpId="1" animBg="1"/>
      <p:bldP spid="23"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8">
            <a:extLst>
              <a:ext uri="{FF2B5EF4-FFF2-40B4-BE49-F238E27FC236}">
                <a16:creationId xmlns:a16="http://schemas.microsoft.com/office/drawing/2014/main" id="{001424C2-796E-4E09-B284-8939F6B0D24B}"/>
              </a:ext>
            </a:extLst>
          </p:cNvPr>
          <p:cNvSpPr txBox="1">
            <a:spLocks noChangeArrowheads="1"/>
          </p:cNvSpPr>
          <p:nvPr/>
        </p:nvSpPr>
        <p:spPr bwMode="auto">
          <a:xfrm>
            <a:off x="694400" y="1648751"/>
            <a:ext cx="1152525"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kumimoji="1"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p>
        </p:txBody>
      </p:sp>
      <p:sp>
        <p:nvSpPr>
          <p:cNvPr id="5" name="TextBox 67">
            <a:extLst>
              <a:ext uri="{FF2B5EF4-FFF2-40B4-BE49-F238E27FC236}">
                <a16:creationId xmlns:a16="http://schemas.microsoft.com/office/drawing/2014/main" id="{30612B91-4341-4CDA-8433-21D0F2908F25}"/>
              </a:ext>
            </a:extLst>
          </p:cNvPr>
          <p:cNvSpPr txBox="1"/>
          <p:nvPr/>
        </p:nvSpPr>
        <p:spPr>
          <a:xfrm>
            <a:off x="2346803" y="1658081"/>
            <a:ext cx="857256" cy="400110"/>
          </a:xfrm>
          <a:prstGeom prst="rect">
            <a:avLst/>
          </a:prstGeom>
          <a:noFill/>
        </p:spPr>
        <p:txBody>
          <a:bodyPr wrap="square" rtlCol="0">
            <a:spAutoFit/>
          </a:bodyPr>
          <a:lstStyle/>
          <a:p>
            <a:pPr fontAlgn="base">
              <a:spcBef>
                <a:spcPct val="0"/>
              </a:spcBef>
              <a:spcAft>
                <a:spcPct val="0"/>
              </a:spcAft>
            </a:pPr>
            <a:r>
              <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p>
        </p:txBody>
      </p:sp>
      <p:sp>
        <p:nvSpPr>
          <p:cNvPr id="6" name="TextBox 68">
            <a:extLst>
              <a:ext uri="{FF2B5EF4-FFF2-40B4-BE49-F238E27FC236}">
                <a16:creationId xmlns:a16="http://schemas.microsoft.com/office/drawing/2014/main" id="{0B8D6A2E-C79A-48C7-9E14-41AA589714CE}"/>
              </a:ext>
            </a:extLst>
          </p:cNvPr>
          <p:cNvSpPr txBox="1"/>
          <p:nvPr/>
        </p:nvSpPr>
        <p:spPr>
          <a:xfrm>
            <a:off x="3409042" y="1647957"/>
            <a:ext cx="428628" cy="43088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800" b="1" dirty="0">
                <a:solidFill>
                  <a:srgbClr val="3333FF"/>
                </a:solidFill>
                <a:latin typeface="Consolas" panose="020B0609020204030204" pitchFamily="49" charset="0"/>
                <a:ea typeface="宋体" panose="02010600030101010101" pitchFamily="2" charset="-122"/>
                <a:cs typeface="Consolas" panose="020B0609020204030204" pitchFamily="49" charset="0"/>
              </a:rPr>
              <a:t>15</a:t>
            </a:r>
            <a:endParaRPr kumimoji="1" lang="zh-CN" altLang="en-US" sz="28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7" name="直接箭头连接符 6">
            <a:extLst>
              <a:ext uri="{FF2B5EF4-FFF2-40B4-BE49-F238E27FC236}">
                <a16:creationId xmlns:a16="http://schemas.microsoft.com/office/drawing/2014/main" id="{784A6AA1-4122-466D-9604-08651E644EAE}"/>
              </a:ext>
            </a:extLst>
          </p:cNvPr>
          <p:cNvCxnSpPr/>
          <p:nvPr/>
        </p:nvCxnSpPr>
        <p:spPr>
          <a:xfrm rot="5400000" flipH="1" flipV="1">
            <a:off x="3457461" y="2196441"/>
            <a:ext cx="357984" cy="794"/>
          </a:xfrm>
          <a:prstGeom prst="straightConnector1">
            <a:avLst/>
          </a:prstGeom>
          <a:noFill/>
          <a:ln w="28575" cap="flat" cmpd="sng" algn="ctr">
            <a:solidFill>
              <a:srgbClr val="FF00FF"/>
            </a:solidFill>
            <a:prstDash val="solid"/>
            <a:tailEnd type="arrow"/>
          </a:ln>
          <a:effectLst/>
        </p:spPr>
      </p:cxnSp>
      <p:sp>
        <p:nvSpPr>
          <p:cNvPr id="8" name="矩形 7">
            <a:extLst>
              <a:ext uri="{FF2B5EF4-FFF2-40B4-BE49-F238E27FC236}">
                <a16:creationId xmlns:a16="http://schemas.microsoft.com/office/drawing/2014/main" id="{082CBBDB-5C44-43E5-B035-2507992F19B6}"/>
              </a:ext>
            </a:extLst>
          </p:cNvPr>
          <p:cNvSpPr/>
          <p:nvPr/>
        </p:nvSpPr>
        <p:spPr>
          <a:xfrm>
            <a:off x="2766100" y="3006072"/>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9" name="直接箭头连接符 8">
            <a:extLst>
              <a:ext uri="{FF2B5EF4-FFF2-40B4-BE49-F238E27FC236}">
                <a16:creationId xmlns:a16="http://schemas.microsoft.com/office/drawing/2014/main" id="{221D5FDC-AEC8-4668-ABC7-83D21BAEA17E}"/>
              </a:ext>
            </a:extLst>
          </p:cNvPr>
          <p:cNvCxnSpPr/>
          <p:nvPr/>
        </p:nvCxnSpPr>
        <p:spPr>
          <a:xfrm rot="10800000" flipV="1">
            <a:off x="1457200" y="3350562"/>
            <a:ext cx="1464479" cy="785818"/>
          </a:xfrm>
          <a:prstGeom prst="straightConnector1">
            <a:avLst/>
          </a:prstGeom>
          <a:noFill/>
          <a:ln w="28575" cap="flat" cmpd="sng" algn="ctr">
            <a:solidFill>
              <a:srgbClr val="3333FF"/>
            </a:solidFill>
            <a:prstDash val="solid"/>
            <a:tailEnd type="arrow"/>
          </a:ln>
          <a:effectLst/>
        </p:spPr>
      </p:cxnSp>
      <p:cxnSp>
        <p:nvCxnSpPr>
          <p:cNvPr id="10" name="直接箭头连接符 9">
            <a:extLst>
              <a:ext uri="{FF2B5EF4-FFF2-40B4-BE49-F238E27FC236}">
                <a16:creationId xmlns:a16="http://schemas.microsoft.com/office/drawing/2014/main" id="{DCAB2BD3-AF78-4CD7-B10D-258B2586A421}"/>
              </a:ext>
            </a:extLst>
          </p:cNvPr>
          <p:cNvCxnSpPr/>
          <p:nvPr/>
        </p:nvCxnSpPr>
        <p:spPr>
          <a:xfrm rot="16200000" flipH="1">
            <a:off x="3138768" y="3628773"/>
            <a:ext cx="790580" cy="250034"/>
          </a:xfrm>
          <a:prstGeom prst="straightConnector1">
            <a:avLst/>
          </a:prstGeom>
          <a:noFill/>
          <a:ln w="28575" cap="flat" cmpd="sng" algn="ctr">
            <a:solidFill>
              <a:srgbClr val="3333FF"/>
            </a:solidFill>
            <a:prstDash val="solid"/>
            <a:tailEnd type="arrow"/>
          </a:ln>
          <a:effectLst/>
        </p:spPr>
      </p:cxnSp>
      <p:sp>
        <p:nvSpPr>
          <p:cNvPr id="11" name="矩形 10">
            <a:extLst>
              <a:ext uri="{FF2B5EF4-FFF2-40B4-BE49-F238E27FC236}">
                <a16:creationId xmlns:a16="http://schemas.microsoft.com/office/drawing/2014/main" id="{40483A84-3108-4E80-848A-DCDD2F64CCDB}"/>
              </a:ext>
            </a:extLst>
          </p:cNvPr>
          <p:cNvSpPr/>
          <p:nvPr/>
        </p:nvSpPr>
        <p:spPr>
          <a:xfrm>
            <a:off x="2051720" y="4149080"/>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4  5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矩形 11">
            <a:extLst>
              <a:ext uri="{FF2B5EF4-FFF2-40B4-BE49-F238E27FC236}">
                <a16:creationId xmlns:a16="http://schemas.microsoft.com/office/drawing/2014/main" id="{F0F4FA3D-1C06-4FCD-A08E-A18005CA8177}"/>
              </a:ext>
            </a:extLst>
          </p:cNvPr>
          <p:cNvSpPr/>
          <p:nvPr/>
        </p:nvSpPr>
        <p:spPr>
          <a:xfrm>
            <a:off x="980150" y="4149080"/>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42349870-30AF-467B-B024-E365293711D2}"/>
              </a:ext>
            </a:extLst>
          </p:cNvPr>
          <p:cNvCxnSpPr>
            <a:endCxn id="11" idx="0"/>
          </p:cNvCxnSpPr>
          <p:nvPr/>
        </p:nvCxnSpPr>
        <p:spPr>
          <a:xfrm rot="5400000">
            <a:off x="2428359" y="3418430"/>
            <a:ext cx="782642" cy="678663"/>
          </a:xfrm>
          <a:prstGeom prst="straightConnector1">
            <a:avLst/>
          </a:prstGeom>
          <a:noFill/>
          <a:ln w="28575" cap="flat" cmpd="sng" algn="ctr">
            <a:solidFill>
              <a:srgbClr val="3333FF"/>
            </a:solidFill>
            <a:prstDash val="solid"/>
            <a:tailEnd type="arrow"/>
          </a:ln>
          <a:effectLst/>
        </p:spPr>
      </p:cxnSp>
      <p:sp>
        <p:nvSpPr>
          <p:cNvPr id="14" name="矩形 13">
            <a:extLst>
              <a:ext uri="{FF2B5EF4-FFF2-40B4-BE49-F238E27FC236}">
                <a16:creationId xmlns:a16="http://schemas.microsoft.com/office/drawing/2014/main" id="{F15ACDDA-ABA9-4856-8ACF-76381F644F8D}"/>
              </a:ext>
            </a:extLst>
          </p:cNvPr>
          <p:cNvSpPr/>
          <p:nvPr/>
        </p:nvSpPr>
        <p:spPr>
          <a:xfrm>
            <a:off x="4552050" y="4149080"/>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D6B6648F-AD81-4158-9537-78062C526BD8}"/>
              </a:ext>
            </a:extLst>
          </p:cNvPr>
          <p:cNvSpPr/>
          <p:nvPr/>
        </p:nvSpPr>
        <p:spPr>
          <a:xfrm>
            <a:off x="5670006" y="4149080"/>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a:t>
            </a: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15</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矩形 15">
            <a:extLst>
              <a:ext uri="{FF2B5EF4-FFF2-40B4-BE49-F238E27FC236}">
                <a16:creationId xmlns:a16="http://schemas.microsoft.com/office/drawing/2014/main" id="{339BBB39-6480-4FCF-95B8-D959A0D414CA}"/>
              </a:ext>
            </a:extLst>
          </p:cNvPr>
          <p:cNvSpPr/>
          <p:nvPr/>
        </p:nvSpPr>
        <p:spPr>
          <a:xfrm>
            <a:off x="6980942" y="4149080"/>
            <a:ext cx="157163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19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7" name="矩形 16">
            <a:extLst>
              <a:ext uri="{FF2B5EF4-FFF2-40B4-BE49-F238E27FC236}">
                <a16:creationId xmlns:a16="http://schemas.microsoft.com/office/drawing/2014/main" id="{B2C99B36-1CBB-4E72-ABEA-37049FCF8B97}"/>
              </a:ext>
            </a:extLst>
          </p:cNvPr>
          <p:cNvSpPr/>
          <p:nvPr/>
        </p:nvSpPr>
        <p:spPr>
          <a:xfrm>
            <a:off x="4194860" y="2077378"/>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8" name="矩形 17">
            <a:extLst>
              <a:ext uri="{FF2B5EF4-FFF2-40B4-BE49-F238E27FC236}">
                <a16:creationId xmlns:a16="http://schemas.microsoft.com/office/drawing/2014/main" id="{A6CBE081-B8E7-4A97-8E75-05416F4C4FD6}"/>
              </a:ext>
            </a:extLst>
          </p:cNvPr>
          <p:cNvSpPr/>
          <p:nvPr/>
        </p:nvSpPr>
        <p:spPr>
          <a:xfrm>
            <a:off x="5480744" y="3006072"/>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13</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0AB24CC5-1FF7-48CF-A061-0B2A1922799E}"/>
              </a:ext>
            </a:extLst>
          </p:cNvPr>
          <p:cNvCxnSpPr/>
          <p:nvPr/>
        </p:nvCxnSpPr>
        <p:spPr>
          <a:xfrm rot="5400000">
            <a:off x="4962850" y="3437510"/>
            <a:ext cx="785818" cy="637322"/>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938E50B3-FB04-46A9-8A40-063DC8BFD5DD}"/>
              </a:ext>
            </a:extLst>
          </p:cNvPr>
          <p:cNvCxnSpPr>
            <a:endCxn id="15" idx="0"/>
          </p:cNvCxnSpPr>
          <p:nvPr/>
        </p:nvCxnSpPr>
        <p:spPr>
          <a:xfrm rot="16200000" flipH="1">
            <a:off x="5698183" y="3641472"/>
            <a:ext cx="785818" cy="229398"/>
          </a:xfrm>
          <a:prstGeom prst="straightConnector1">
            <a:avLst/>
          </a:prstGeom>
          <a:noFill/>
          <a:ln w="28575" cap="flat" cmpd="sng" algn="ctr">
            <a:solidFill>
              <a:srgbClr val="3333FF"/>
            </a:solidFill>
            <a:prstDash val="solid"/>
            <a:tailEnd type="arrow"/>
          </a:ln>
          <a:effectLst/>
        </p:spPr>
      </p:cxnSp>
      <p:cxnSp>
        <p:nvCxnSpPr>
          <p:cNvPr id="21" name="直接箭头连接符 20">
            <a:extLst>
              <a:ext uri="{FF2B5EF4-FFF2-40B4-BE49-F238E27FC236}">
                <a16:creationId xmlns:a16="http://schemas.microsoft.com/office/drawing/2014/main" id="{25606661-DE21-4974-ABA5-944EA61ED26E}"/>
              </a:ext>
            </a:extLst>
          </p:cNvPr>
          <p:cNvCxnSpPr>
            <a:endCxn id="16" idx="0"/>
          </p:cNvCxnSpPr>
          <p:nvPr/>
        </p:nvCxnSpPr>
        <p:spPr>
          <a:xfrm>
            <a:off x="6480876" y="3363262"/>
            <a:ext cx="1285884" cy="785818"/>
          </a:xfrm>
          <a:prstGeom prst="straightConnector1">
            <a:avLst/>
          </a:prstGeom>
          <a:noFill/>
          <a:ln w="28575" cap="flat" cmpd="sng" algn="ctr">
            <a:solidFill>
              <a:srgbClr val="3333FF"/>
            </a:solidFill>
            <a:prstDash val="solid"/>
            <a:tailEnd type="arrow"/>
          </a:ln>
          <a:effectLst/>
        </p:spPr>
      </p:cxnSp>
      <p:cxnSp>
        <p:nvCxnSpPr>
          <p:cNvPr id="22" name="直接箭头连接符 21">
            <a:extLst>
              <a:ext uri="{FF2B5EF4-FFF2-40B4-BE49-F238E27FC236}">
                <a16:creationId xmlns:a16="http://schemas.microsoft.com/office/drawing/2014/main" id="{7316279F-47BC-4E5E-BB96-B5C3DE74BB64}"/>
              </a:ext>
            </a:extLst>
          </p:cNvPr>
          <p:cNvCxnSpPr>
            <a:endCxn id="8" idx="0"/>
          </p:cNvCxnSpPr>
          <p:nvPr/>
        </p:nvCxnSpPr>
        <p:spPr>
          <a:xfrm rot="10800000" flipV="1">
            <a:off x="3159012" y="2434568"/>
            <a:ext cx="1178727" cy="571504"/>
          </a:xfrm>
          <a:prstGeom prst="straightConnector1">
            <a:avLst/>
          </a:prstGeom>
          <a:noFill/>
          <a:ln w="28575" cap="flat" cmpd="sng" algn="ctr">
            <a:solidFill>
              <a:srgbClr val="3333FF"/>
            </a:solidFill>
            <a:prstDash val="solid"/>
            <a:tailEnd type="arrow"/>
          </a:ln>
          <a:effectLst/>
        </p:spPr>
      </p:cxnSp>
      <p:cxnSp>
        <p:nvCxnSpPr>
          <p:cNvPr id="23" name="直接箭头连接符 22">
            <a:extLst>
              <a:ext uri="{FF2B5EF4-FFF2-40B4-BE49-F238E27FC236}">
                <a16:creationId xmlns:a16="http://schemas.microsoft.com/office/drawing/2014/main" id="{1E7905D6-6A76-46FC-98E2-F2A5FCA1C671}"/>
              </a:ext>
            </a:extLst>
          </p:cNvPr>
          <p:cNvCxnSpPr>
            <a:endCxn id="18" idx="0"/>
          </p:cNvCxnSpPr>
          <p:nvPr/>
        </p:nvCxnSpPr>
        <p:spPr>
          <a:xfrm>
            <a:off x="4845742" y="2413930"/>
            <a:ext cx="1170789" cy="592142"/>
          </a:xfrm>
          <a:prstGeom prst="straightConnector1">
            <a:avLst/>
          </a:prstGeom>
          <a:noFill/>
          <a:ln w="28575" cap="flat" cmpd="sng" algn="ctr">
            <a:solidFill>
              <a:srgbClr val="3333FF"/>
            </a:solidFill>
            <a:prstDash val="solid"/>
            <a:tailEnd type="arrow"/>
          </a:ln>
          <a:effectLst/>
        </p:spPr>
      </p:cxnSp>
      <p:sp>
        <p:nvSpPr>
          <p:cNvPr id="24" name="矩形 23">
            <a:extLst>
              <a:ext uri="{FF2B5EF4-FFF2-40B4-BE49-F238E27FC236}">
                <a16:creationId xmlns:a16="http://schemas.microsoft.com/office/drawing/2014/main" id="{AE418A34-7498-4C82-A3B5-F8E50FCB95F2}"/>
              </a:ext>
            </a:extLst>
          </p:cNvPr>
          <p:cNvSpPr/>
          <p:nvPr/>
        </p:nvSpPr>
        <p:spPr>
          <a:xfrm>
            <a:off x="3123290" y="4149080"/>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5" name="TextBox 27">
            <a:extLst>
              <a:ext uri="{FF2B5EF4-FFF2-40B4-BE49-F238E27FC236}">
                <a16:creationId xmlns:a16="http://schemas.microsoft.com/office/drawing/2014/main" id="{75E148D7-BFB0-4E50-B8D4-30348FC2A289}"/>
              </a:ext>
            </a:extLst>
          </p:cNvPr>
          <p:cNvSpPr txBox="1"/>
          <p:nvPr/>
        </p:nvSpPr>
        <p:spPr>
          <a:xfrm>
            <a:off x="7025708" y="4202998"/>
            <a:ext cx="468000" cy="400110"/>
          </a:xfrm>
          <a:prstGeom prst="rect">
            <a:avLst/>
          </a:prstGeom>
          <a:noFill/>
          <a:ln w="9525" cap="flat" cmpd="sng" algn="ctr">
            <a:noFill/>
            <a:prstDash val="solid"/>
          </a:ln>
          <a:effectLst>
            <a:outerShdw blurRad="40000" dist="20000" dir="5400000" rotWithShape="0">
              <a:srgbClr val="000000">
                <a:alpha val="38000"/>
              </a:srgbClr>
            </a:outerShdw>
          </a:effectLst>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18</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26" name="TextBox 42">
            <a:extLst>
              <a:ext uri="{FF2B5EF4-FFF2-40B4-BE49-F238E27FC236}">
                <a16:creationId xmlns:a16="http://schemas.microsoft.com/office/drawing/2014/main" id="{E2B4A034-48CE-49B0-9C2C-F77306757465}"/>
              </a:ext>
            </a:extLst>
          </p:cNvPr>
          <p:cNvSpPr txBox="1"/>
          <p:nvPr/>
        </p:nvSpPr>
        <p:spPr>
          <a:xfrm>
            <a:off x="6058914" y="3059990"/>
            <a:ext cx="468000" cy="400110"/>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noFill/>
            <a:prstDash val="solid"/>
          </a:ln>
          <a:effectLst/>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92591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15"/>
                                        </p:tgtEl>
                                      </p:cBhvr>
                                    </p:animEffect>
                                    <p:animScale>
                                      <p:cBhvr>
                                        <p:cTn id="13" dur="250" autoRev="1" fill="hold"/>
                                        <p:tgtEl>
                                          <p:spTgt spid="15"/>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0" nodeType="clickEffect">
                                  <p:stCondLst>
                                    <p:cond delay="0"/>
                                  </p:stCondLst>
                                  <p:childTnLst>
                                    <p:animMotion origin="layout" path="M -0.00382 -0.00995 C -0.00347 -0.00625 -0.00538 -0.01481 -0.00139 0.01482 C 0.00261 0.04444 0.01545 0.13588 0.01979 0.16782 " pathEditMode="relative" rAng="0" ptsTypes="aaa">
                                      <p:cBhvr>
                                        <p:cTn id="17" dur="2000" fill="hold"/>
                                        <p:tgtEl>
                                          <p:spTgt spid="26"/>
                                        </p:tgtEl>
                                        <p:attrNameLst>
                                          <p:attrName>ppt_x</p:attrName>
                                          <p:attrName>ppt_y</p:attrName>
                                        </p:attrNameLst>
                                      </p:cBhvr>
                                      <p:rCtr x="1100" y="8600"/>
                                    </p:animMotion>
                                  </p:childTnLst>
                                </p:cTn>
                              </p:par>
                            </p:childTnLst>
                          </p:cTn>
                        </p:par>
                      </p:childTnLst>
                    </p:cTn>
                  </p:par>
                  <p:par>
                    <p:cTn id="18" fill="hold">
                      <p:stCondLst>
                        <p:cond delay="indefinite"/>
                      </p:stCondLst>
                      <p:childTnLst>
                        <p:par>
                          <p:cTn id="19" fill="hold">
                            <p:stCondLst>
                              <p:cond delay="0"/>
                            </p:stCondLst>
                            <p:childTnLst>
                              <p:par>
                                <p:cTn id="20" presetID="0" presetClass="path" presetSubtype="0" accel="50000" decel="50000" fill="hold" grpId="0" nodeType="clickEffect">
                                  <p:stCondLst>
                                    <p:cond delay="0"/>
                                  </p:stCondLst>
                                  <p:childTnLst>
                                    <p:animMotion origin="layout" path="M -0.00712 -0.01343 C -0.01059 -0.03727 -0.01406 -0.06065 -0.0309 -0.0875 C -0.04809 -0.11505 -0.09375 -0.15857 -0.10955 -0.17662 " pathEditMode="relative" rAng="0" ptsTypes="AAA">
                                      <p:cBhvr>
                                        <p:cTn id="21" dur="2000" fill="hold"/>
                                        <p:tgtEl>
                                          <p:spTgt spid="25"/>
                                        </p:tgtEl>
                                        <p:attrNameLst>
                                          <p:attrName>ppt_x</p:attrName>
                                          <p:attrName>ppt_y</p:attrName>
                                        </p:attrNameLst>
                                      </p:cBhvr>
                                      <p:rCtr x="-5122" y="-81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25" grpId="0"/>
      <p:bldP spid="2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8">
            <a:extLst>
              <a:ext uri="{FF2B5EF4-FFF2-40B4-BE49-F238E27FC236}">
                <a16:creationId xmlns:a16="http://schemas.microsoft.com/office/drawing/2014/main" id="{2BF4D21D-66B0-49F6-B1FC-B6C0F882A17D}"/>
              </a:ext>
            </a:extLst>
          </p:cNvPr>
          <p:cNvSpPr txBox="1">
            <a:spLocks noChangeArrowheads="1"/>
          </p:cNvSpPr>
          <p:nvPr/>
        </p:nvSpPr>
        <p:spPr bwMode="auto">
          <a:xfrm>
            <a:off x="609852" y="7597"/>
            <a:ext cx="1152525" cy="369332"/>
          </a:xfrm>
          <a:prstGeom prst="rect">
            <a:avLst/>
          </a:prstGeom>
          <a:noFill/>
          <a:ln w="28575" algn="ctr">
            <a:noFill/>
            <a:miter lim="800000"/>
          </a:ln>
        </p:spPr>
        <p:txBody>
          <a:bodyPr lIns="0" tIns="0" rIns="0" bIns="0">
            <a:spAutoFit/>
          </a:bodyPr>
          <a:lstStyle/>
          <a:p>
            <a:pPr algn="ctr" fontAlgn="base">
              <a:spcBef>
                <a:spcPct val="50000"/>
              </a:spcBef>
              <a:spcAft>
                <a:spcPct val="0"/>
              </a:spcAft>
            </a:pPr>
            <a:r>
              <a:rPr kumimoji="1"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p>
        </p:txBody>
      </p:sp>
      <p:sp>
        <p:nvSpPr>
          <p:cNvPr id="5" name="TextBox 67">
            <a:extLst>
              <a:ext uri="{FF2B5EF4-FFF2-40B4-BE49-F238E27FC236}">
                <a16:creationId xmlns:a16="http://schemas.microsoft.com/office/drawing/2014/main" id="{AA42CCDD-53B7-4A34-866C-C1DBA9EC39B1}"/>
              </a:ext>
            </a:extLst>
          </p:cNvPr>
          <p:cNvSpPr txBox="1"/>
          <p:nvPr/>
        </p:nvSpPr>
        <p:spPr>
          <a:xfrm>
            <a:off x="2324362" y="7596"/>
            <a:ext cx="928694" cy="400110"/>
          </a:xfrm>
          <a:prstGeom prst="rect">
            <a:avLst/>
          </a:prstGeom>
          <a:noFill/>
        </p:spPr>
        <p:txBody>
          <a:bodyPr wrap="square" rtlCol="0">
            <a:spAutoFit/>
          </a:bodyPr>
          <a:lstStyle/>
          <a:p>
            <a:pPr fontAlgn="base">
              <a:spcBef>
                <a:spcPct val="0"/>
              </a:spcBef>
              <a:spcAft>
                <a:spcPct val="0"/>
              </a:spcAft>
            </a:pPr>
            <a:r>
              <a:rPr kumimoji="1"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p>
        </p:txBody>
      </p:sp>
      <p:sp>
        <p:nvSpPr>
          <p:cNvPr id="6" name="TextBox 68">
            <a:extLst>
              <a:ext uri="{FF2B5EF4-FFF2-40B4-BE49-F238E27FC236}">
                <a16:creationId xmlns:a16="http://schemas.microsoft.com/office/drawing/2014/main" id="{953BCA78-4A59-4266-A095-35B574BABD10}"/>
              </a:ext>
            </a:extLst>
          </p:cNvPr>
          <p:cNvSpPr txBox="1"/>
          <p:nvPr/>
        </p:nvSpPr>
        <p:spPr>
          <a:xfrm>
            <a:off x="3324494" y="6803"/>
            <a:ext cx="428628" cy="430887"/>
          </a:xfrm>
          <a:prstGeom prst="rect">
            <a:avLst/>
          </a:prstGeom>
          <a:noFill/>
        </p:spPr>
        <p:txBody>
          <a:bodyPr wrap="square" lIns="0" tIns="0" rIns="0" bIns="0" rtlCol="0">
            <a:spAutoFit/>
          </a:bodyPr>
          <a:lstStyle/>
          <a:p>
            <a:pPr algn="ctr" fontAlgn="base">
              <a:spcBef>
                <a:spcPct val="0"/>
              </a:spcBef>
              <a:spcAft>
                <a:spcPct val="0"/>
              </a:spcAft>
            </a:pPr>
            <a:r>
              <a:rPr kumimoji="1" lang="en-US" altLang="zh-CN" sz="2800" b="1" dirty="0">
                <a:solidFill>
                  <a:srgbClr val="3333FF"/>
                </a:solidFill>
                <a:latin typeface="Consolas" panose="020B0609020204030204" pitchFamily="49" charset="0"/>
                <a:ea typeface="宋体" panose="02010600030101010101" pitchFamily="2" charset="-122"/>
                <a:cs typeface="Consolas" panose="020B0609020204030204" pitchFamily="49" charset="0"/>
              </a:rPr>
              <a:t>4</a:t>
            </a:r>
            <a:endParaRPr kumimoji="1" lang="zh-CN" altLang="en-US" sz="2800" b="1" dirty="0">
              <a:solidFill>
                <a:srgbClr val="3333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7" name="直接箭头连接符 6">
            <a:extLst>
              <a:ext uri="{FF2B5EF4-FFF2-40B4-BE49-F238E27FC236}">
                <a16:creationId xmlns:a16="http://schemas.microsoft.com/office/drawing/2014/main" id="{30D02AE3-D08D-43B2-B5BA-65D1107A6426}"/>
              </a:ext>
            </a:extLst>
          </p:cNvPr>
          <p:cNvCxnSpPr/>
          <p:nvPr/>
        </p:nvCxnSpPr>
        <p:spPr>
          <a:xfrm rot="5400000" flipH="1" flipV="1">
            <a:off x="3372913" y="555287"/>
            <a:ext cx="357984" cy="794"/>
          </a:xfrm>
          <a:prstGeom prst="straightConnector1">
            <a:avLst/>
          </a:prstGeom>
          <a:noFill/>
          <a:ln w="28575" cap="flat" cmpd="sng" algn="ctr">
            <a:solidFill>
              <a:srgbClr val="FF00FF"/>
            </a:solidFill>
            <a:prstDash val="solid"/>
            <a:tailEnd type="arrow"/>
          </a:ln>
          <a:effectLst/>
        </p:spPr>
      </p:cxnSp>
      <p:sp>
        <p:nvSpPr>
          <p:cNvPr id="8" name="矩形 7">
            <a:extLst>
              <a:ext uri="{FF2B5EF4-FFF2-40B4-BE49-F238E27FC236}">
                <a16:creationId xmlns:a16="http://schemas.microsoft.com/office/drawing/2014/main" id="{5614D35C-561D-406F-8FED-1B06D2C34864}"/>
              </a:ext>
            </a:extLst>
          </p:cNvPr>
          <p:cNvSpPr/>
          <p:nvPr/>
        </p:nvSpPr>
        <p:spPr>
          <a:xfrm>
            <a:off x="2681552" y="1364918"/>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3  6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9" name="直接箭头连接符 8">
            <a:extLst>
              <a:ext uri="{FF2B5EF4-FFF2-40B4-BE49-F238E27FC236}">
                <a16:creationId xmlns:a16="http://schemas.microsoft.com/office/drawing/2014/main" id="{48931FF1-C9B2-4923-BEF3-C6FBF776FF4A}"/>
              </a:ext>
            </a:extLst>
          </p:cNvPr>
          <p:cNvCxnSpPr/>
          <p:nvPr/>
        </p:nvCxnSpPr>
        <p:spPr>
          <a:xfrm rot="10800000" flipV="1">
            <a:off x="1372652" y="1709408"/>
            <a:ext cx="1464479" cy="785818"/>
          </a:xfrm>
          <a:prstGeom prst="straightConnector1">
            <a:avLst/>
          </a:prstGeom>
          <a:noFill/>
          <a:ln w="28575" cap="flat" cmpd="sng" algn="ctr">
            <a:solidFill>
              <a:srgbClr val="3333FF"/>
            </a:solidFill>
            <a:prstDash val="solid"/>
            <a:tailEnd type="arrow"/>
          </a:ln>
          <a:effectLst/>
        </p:spPr>
      </p:cxnSp>
      <p:cxnSp>
        <p:nvCxnSpPr>
          <p:cNvPr id="10" name="直接箭头连接符 9">
            <a:extLst>
              <a:ext uri="{FF2B5EF4-FFF2-40B4-BE49-F238E27FC236}">
                <a16:creationId xmlns:a16="http://schemas.microsoft.com/office/drawing/2014/main" id="{DFC65E49-D722-42D2-A0CB-0A630C115485}"/>
              </a:ext>
            </a:extLst>
          </p:cNvPr>
          <p:cNvCxnSpPr/>
          <p:nvPr/>
        </p:nvCxnSpPr>
        <p:spPr>
          <a:xfrm rot="16200000" flipH="1">
            <a:off x="3054220" y="1987619"/>
            <a:ext cx="790580" cy="250034"/>
          </a:xfrm>
          <a:prstGeom prst="straightConnector1">
            <a:avLst/>
          </a:prstGeom>
          <a:noFill/>
          <a:ln w="28575" cap="flat" cmpd="sng" algn="ctr">
            <a:solidFill>
              <a:srgbClr val="3333FF"/>
            </a:solidFill>
            <a:prstDash val="solid"/>
            <a:tailEnd type="arrow"/>
          </a:ln>
          <a:effectLst/>
        </p:spPr>
      </p:cxnSp>
      <p:sp>
        <p:nvSpPr>
          <p:cNvPr id="11" name="矩形 10">
            <a:extLst>
              <a:ext uri="{FF2B5EF4-FFF2-40B4-BE49-F238E27FC236}">
                <a16:creationId xmlns:a16="http://schemas.microsoft.com/office/drawing/2014/main" id="{1F9CF8DD-3B2B-4E9D-BCEE-7E9AC86B2E1A}"/>
              </a:ext>
            </a:extLst>
          </p:cNvPr>
          <p:cNvSpPr/>
          <p:nvPr/>
        </p:nvSpPr>
        <p:spPr>
          <a:xfrm>
            <a:off x="1967172" y="2507926"/>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rPr>
              <a:t>4</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矩形 11">
            <a:extLst>
              <a:ext uri="{FF2B5EF4-FFF2-40B4-BE49-F238E27FC236}">
                <a16:creationId xmlns:a16="http://schemas.microsoft.com/office/drawing/2014/main" id="{439B4D85-3D61-4D51-9B08-97320518A293}"/>
              </a:ext>
            </a:extLst>
          </p:cNvPr>
          <p:cNvSpPr/>
          <p:nvPr/>
        </p:nvSpPr>
        <p:spPr>
          <a:xfrm>
            <a:off x="895602" y="250792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16D01769-487D-43D1-B679-27F845ADD934}"/>
              </a:ext>
            </a:extLst>
          </p:cNvPr>
          <p:cNvCxnSpPr>
            <a:endCxn id="11" idx="0"/>
          </p:cNvCxnSpPr>
          <p:nvPr/>
        </p:nvCxnSpPr>
        <p:spPr>
          <a:xfrm rot="5400000">
            <a:off x="2343811" y="1777276"/>
            <a:ext cx="782642" cy="678663"/>
          </a:xfrm>
          <a:prstGeom prst="straightConnector1">
            <a:avLst/>
          </a:prstGeom>
          <a:noFill/>
          <a:ln w="28575" cap="flat" cmpd="sng" algn="ctr">
            <a:solidFill>
              <a:srgbClr val="3333FF"/>
            </a:solidFill>
            <a:prstDash val="solid"/>
            <a:tailEnd type="arrow"/>
          </a:ln>
          <a:effectLst/>
        </p:spPr>
      </p:cxnSp>
      <p:sp>
        <p:nvSpPr>
          <p:cNvPr id="14" name="矩形 13">
            <a:extLst>
              <a:ext uri="{FF2B5EF4-FFF2-40B4-BE49-F238E27FC236}">
                <a16:creationId xmlns:a16="http://schemas.microsoft.com/office/drawing/2014/main" id="{D20DD8F3-CFCB-48F1-8135-374727B34D5B}"/>
              </a:ext>
            </a:extLst>
          </p:cNvPr>
          <p:cNvSpPr/>
          <p:nvPr/>
        </p:nvSpPr>
        <p:spPr>
          <a:xfrm>
            <a:off x="4467502" y="250792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5" name="矩形 14">
            <a:extLst>
              <a:ext uri="{FF2B5EF4-FFF2-40B4-BE49-F238E27FC236}">
                <a16:creationId xmlns:a16="http://schemas.microsoft.com/office/drawing/2014/main" id="{6A69CEE0-723C-4FE0-AB4F-909DCF089CFC}"/>
              </a:ext>
            </a:extLst>
          </p:cNvPr>
          <p:cNvSpPr/>
          <p:nvPr/>
        </p:nvSpPr>
        <p:spPr>
          <a:xfrm>
            <a:off x="5681948" y="250792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6" name="矩形 15">
            <a:extLst>
              <a:ext uri="{FF2B5EF4-FFF2-40B4-BE49-F238E27FC236}">
                <a16:creationId xmlns:a16="http://schemas.microsoft.com/office/drawing/2014/main" id="{8A169532-1051-4CD7-BAF9-8334435D0B9B}"/>
              </a:ext>
            </a:extLst>
          </p:cNvPr>
          <p:cNvSpPr/>
          <p:nvPr/>
        </p:nvSpPr>
        <p:spPr>
          <a:xfrm>
            <a:off x="6967832" y="2507926"/>
            <a:ext cx="12144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19 20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7" name="矩形 16">
            <a:extLst>
              <a:ext uri="{FF2B5EF4-FFF2-40B4-BE49-F238E27FC236}">
                <a16:creationId xmlns:a16="http://schemas.microsoft.com/office/drawing/2014/main" id="{1D4AC08D-3328-43E0-8DB7-0A39B1A5F9F2}"/>
              </a:ext>
            </a:extLst>
          </p:cNvPr>
          <p:cNvSpPr/>
          <p:nvPr/>
        </p:nvSpPr>
        <p:spPr>
          <a:xfrm>
            <a:off x="4110312" y="436224"/>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8" name="矩形 17">
            <a:extLst>
              <a:ext uri="{FF2B5EF4-FFF2-40B4-BE49-F238E27FC236}">
                <a16:creationId xmlns:a16="http://schemas.microsoft.com/office/drawing/2014/main" id="{058803BE-2993-4D29-8129-0DAD89D5B0F5}"/>
              </a:ext>
            </a:extLst>
          </p:cNvPr>
          <p:cNvSpPr/>
          <p:nvPr/>
        </p:nvSpPr>
        <p:spPr>
          <a:xfrm>
            <a:off x="5396196" y="1364918"/>
            <a:ext cx="114300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13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18</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箭头连接符 18">
            <a:extLst>
              <a:ext uri="{FF2B5EF4-FFF2-40B4-BE49-F238E27FC236}">
                <a16:creationId xmlns:a16="http://schemas.microsoft.com/office/drawing/2014/main" id="{0D89C2AF-20C9-4D45-861B-F15479995317}"/>
              </a:ext>
            </a:extLst>
          </p:cNvPr>
          <p:cNvCxnSpPr/>
          <p:nvPr/>
        </p:nvCxnSpPr>
        <p:spPr>
          <a:xfrm rot="5400000">
            <a:off x="4878302" y="1796356"/>
            <a:ext cx="785818" cy="637322"/>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422A7882-2B77-40AA-AF2D-5F170AF25127}"/>
              </a:ext>
            </a:extLst>
          </p:cNvPr>
          <p:cNvCxnSpPr/>
          <p:nvPr/>
        </p:nvCxnSpPr>
        <p:spPr>
          <a:xfrm rot="16200000" flipH="1">
            <a:off x="5701318" y="2000319"/>
            <a:ext cx="785818" cy="229396"/>
          </a:xfrm>
          <a:prstGeom prst="straightConnector1">
            <a:avLst/>
          </a:prstGeom>
          <a:noFill/>
          <a:ln w="28575" cap="flat" cmpd="sng" algn="ctr">
            <a:solidFill>
              <a:srgbClr val="3333FF"/>
            </a:solidFill>
            <a:prstDash val="solid"/>
            <a:tailEnd type="arrow"/>
          </a:ln>
          <a:effectLst/>
        </p:spPr>
      </p:cxnSp>
      <p:cxnSp>
        <p:nvCxnSpPr>
          <p:cNvPr id="21" name="直接箭头连接符 20">
            <a:extLst>
              <a:ext uri="{FF2B5EF4-FFF2-40B4-BE49-F238E27FC236}">
                <a16:creationId xmlns:a16="http://schemas.microsoft.com/office/drawing/2014/main" id="{E6B9EC0A-504B-43C3-A2B7-F08012D1C00E}"/>
              </a:ext>
            </a:extLst>
          </p:cNvPr>
          <p:cNvCxnSpPr>
            <a:endCxn id="16" idx="0"/>
          </p:cNvCxnSpPr>
          <p:nvPr/>
        </p:nvCxnSpPr>
        <p:spPr>
          <a:xfrm>
            <a:off x="6467768" y="1722108"/>
            <a:ext cx="1107289" cy="785818"/>
          </a:xfrm>
          <a:prstGeom prst="straightConnector1">
            <a:avLst/>
          </a:prstGeom>
          <a:noFill/>
          <a:ln w="28575" cap="flat" cmpd="sng" algn="ctr">
            <a:solidFill>
              <a:srgbClr val="3333FF"/>
            </a:solidFill>
            <a:prstDash val="solid"/>
            <a:tailEnd type="arrow"/>
          </a:ln>
          <a:effectLst/>
        </p:spPr>
      </p:cxnSp>
      <p:cxnSp>
        <p:nvCxnSpPr>
          <p:cNvPr id="22" name="直接箭头连接符 21">
            <a:extLst>
              <a:ext uri="{FF2B5EF4-FFF2-40B4-BE49-F238E27FC236}">
                <a16:creationId xmlns:a16="http://schemas.microsoft.com/office/drawing/2014/main" id="{22BB2CEE-EA17-4301-821B-88DA1E0515CF}"/>
              </a:ext>
            </a:extLst>
          </p:cNvPr>
          <p:cNvCxnSpPr>
            <a:endCxn id="8" idx="0"/>
          </p:cNvCxnSpPr>
          <p:nvPr/>
        </p:nvCxnSpPr>
        <p:spPr>
          <a:xfrm rot="10800000" flipV="1">
            <a:off x="3074464" y="793414"/>
            <a:ext cx="1178727" cy="571504"/>
          </a:xfrm>
          <a:prstGeom prst="straightConnector1">
            <a:avLst/>
          </a:prstGeom>
          <a:noFill/>
          <a:ln w="28575" cap="flat" cmpd="sng" algn="ctr">
            <a:solidFill>
              <a:srgbClr val="3333FF"/>
            </a:solidFill>
            <a:prstDash val="solid"/>
            <a:tailEnd type="arrow"/>
          </a:ln>
          <a:effectLst/>
        </p:spPr>
      </p:cxnSp>
      <p:cxnSp>
        <p:nvCxnSpPr>
          <p:cNvPr id="23" name="直接箭头连接符 22">
            <a:extLst>
              <a:ext uri="{FF2B5EF4-FFF2-40B4-BE49-F238E27FC236}">
                <a16:creationId xmlns:a16="http://schemas.microsoft.com/office/drawing/2014/main" id="{A9BAF326-4727-4021-96C3-2B5805D0E8A0}"/>
              </a:ext>
            </a:extLst>
          </p:cNvPr>
          <p:cNvCxnSpPr>
            <a:endCxn id="18" idx="0"/>
          </p:cNvCxnSpPr>
          <p:nvPr/>
        </p:nvCxnSpPr>
        <p:spPr>
          <a:xfrm>
            <a:off x="4761192" y="772776"/>
            <a:ext cx="1206508" cy="592142"/>
          </a:xfrm>
          <a:prstGeom prst="straightConnector1">
            <a:avLst/>
          </a:prstGeom>
          <a:noFill/>
          <a:ln w="28575" cap="flat" cmpd="sng" algn="ctr">
            <a:solidFill>
              <a:srgbClr val="3333FF"/>
            </a:solidFill>
            <a:prstDash val="solid"/>
            <a:tailEnd type="arrow"/>
          </a:ln>
          <a:effectLst/>
        </p:spPr>
      </p:cxnSp>
      <p:sp>
        <p:nvSpPr>
          <p:cNvPr id="24" name="矩形 23">
            <a:extLst>
              <a:ext uri="{FF2B5EF4-FFF2-40B4-BE49-F238E27FC236}">
                <a16:creationId xmlns:a16="http://schemas.microsoft.com/office/drawing/2014/main" id="{A40674A4-2CED-4FCF-93EC-1CFA076A1096}"/>
              </a:ext>
            </a:extLst>
          </p:cNvPr>
          <p:cNvSpPr/>
          <p:nvPr/>
        </p:nvSpPr>
        <p:spPr>
          <a:xfrm>
            <a:off x="3038742" y="250792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nvGrpSpPr>
          <p:cNvPr id="25" name="组合 45">
            <a:extLst>
              <a:ext uri="{FF2B5EF4-FFF2-40B4-BE49-F238E27FC236}">
                <a16:creationId xmlns:a16="http://schemas.microsoft.com/office/drawing/2014/main" id="{D337E665-3478-483B-A9D3-5D1A348AFA21}"/>
              </a:ext>
            </a:extLst>
          </p:cNvPr>
          <p:cNvGrpSpPr/>
          <p:nvPr/>
        </p:nvGrpSpPr>
        <p:grpSpPr>
          <a:xfrm>
            <a:off x="395536" y="1293480"/>
            <a:ext cx="3435368" cy="2357454"/>
            <a:chOff x="357158" y="1571612"/>
            <a:chExt cx="3435368" cy="2357454"/>
          </a:xfrm>
        </p:grpSpPr>
        <p:sp>
          <p:nvSpPr>
            <p:cNvPr id="26" name="任意多边形 41">
              <a:extLst>
                <a:ext uri="{FF2B5EF4-FFF2-40B4-BE49-F238E27FC236}">
                  <a16:creationId xmlns:a16="http://schemas.microsoft.com/office/drawing/2014/main" id="{FA1E9AB9-408D-414F-8E73-2C8B9FFDF15D}"/>
                </a:ext>
              </a:extLst>
            </p:cNvPr>
            <p:cNvSpPr/>
            <p:nvPr/>
          </p:nvSpPr>
          <p:spPr>
            <a:xfrm>
              <a:off x="357158" y="1571612"/>
              <a:ext cx="2719916" cy="2048934"/>
            </a:xfrm>
            <a:custGeom>
              <a:avLst/>
              <a:gdLst>
                <a:gd name="connsiteX0" fmla="*/ 1693333 w 2719916"/>
                <a:gd name="connsiteY0" fmla="*/ 294217 h 2048934"/>
                <a:gd name="connsiteX1" fmla="*/ 1883833 w 2719916"/>
                <a:gd name="connsiteY1" fmla="*/ 205317 h 2048934"/>
                <a:gd name="connsiteX2" fmla="*/ 2531533 w 2719916"/>
                <a:gd name="connsiteY2" fmla="*/ 40217 h 2048934"/>
                <a:gd name="connsiteX3" fmla="*/ 2633133 w 2719916"/>
                <a:gd name="connsiteY3" fmla="*/ 446617 h 2048934"/>
                <a:gd name="connsiteX4" fmla="*/ 2429933 w 2719916"/>
                <a:gd name="connsiteY4" fmla="*/ 1221317 h 2048934"/>
                <a:gd name="connsiteX5" fmla="*/ 2468033 w 2719916"/>
                <a:gd name="connsiteY5" fmla="*/ 1919817 h 2048934"/>
                <a:gd name="connsiteX6" fmla="*/ 918633 w 2719916"/>
                <a:gd name="connsiteY6" fmla="*/ 1996017 h 2048934"/>
                <a:gd name="connsiteX7" fmla="*/ 105833 w 2719916"/>
                <a:gd name="connsiteY7" fmla="*/ 1869017 h 2048934"/>
                <a:gd name="connsiteX8" fmla="*/ 283633 w 2719916"/>
                <a:gd name="connsiteY8" fmla="*/ 1107017 h 2048934"/>
                <a:gd name="connsiteX9" fmla="*/ 1693333 w 2719916"/>
                <a:gd name="connsiteY9" fmla="*/ 294217 h 204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9916" h="2048934">
                  <a:moveTo>
                    <a:pt x="1693333" y="294217"/>
                  </a:moveTo>
                  <a:cubicBezTo>
                    <a:pt x="1960033" y="143934"/>
                    <a:pt x="1744133" y="247650"/>
                    <a:pt x="1883833" y="205317"/>
                  </a:cubicBezTo>
                  <a:cubicBezTo>
                    <a:pt x="2023533" y="162984"/>
                    <a:pt x="2406650" y="0"/>
                    <a:pt x="2531533" y="40217"/>
                  </a:cubicBezTo>
                  <a:cubicBezTo>
                    <a:pt x="2656416" y="80434"/>
                    <a:pt x="2650066" y="249767"/>
                    <a:pt x="2633133" y="446617"/>
                  </a:cubicBezTo>
                  <a:cubicBezTo>
                    <a:pt x="2616200" y="643467"/>
                    <a:pt x="2457450" y="975784"/>
                    <a:pt x="2429933" y="1221317"/>
                  </a:cubicBezTo>
                  <a:cubicBezTo>
                    <a:pt x="2402416" y="1466850"/>
                    <a:pt x="2719916" y="1790700"/>
                    <a:pt x="2468033" y="1919817"/>
                  </a:cubicBezTo>
                  <a:cubicBezTo>
                    <a:pt x="2216150" y="2048934"/>
                    <a:pt x="1312333" y="2004484"/>
                    <a:pt x="918633" y="1996017"/>
                  </a:cubicBezTo>
                  <a:cubicBezTo>
                    <a:pt x="524933" y="1987550"/>
                    <a:pt x="211666" y="2017184"/>
                    <a:pt x="105833" y="1869017"/>
                  </a:cubicBezTo>
                  <a:cubicBezTo>
                    <a:pt x="0" y="1720850"/>
                    <a:pt x="19050" y="1371600"/>
                    <a:pt x="283633" y="1107017"/>
                  </a:cubicBezTo>
                  <a:cubicBezTo>
                    <a:pt x="548216" y="842434"/>
                    <a:pt x="1426633" y="444500"/>
                    <a:pt x="1693333" y="294217"/>
                  </a:cubicBezTo>
                  <a:close/>
                </a:path>
              </a:pathLst>
            </a:custGeom>
            <a:solidFill>
              <a:srgbClr val="4F81BD">
                <a:alpha val="0"/>
              </a:srgbClr>
            </a:solidFill>
            <a:ln w="25400" cap="flat" cmpd="sng" algn="ctr">
              <a:solidFill>
                <a:srgbClr val="C00000"/>
              </a:solidFill>
              <a:prstDash val="dash"/>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7" name="Line 41">
              <a:extLst>
                <a:ext uri="{FF2B5EF4-FFF2-40B4-BE49-F238E27FC236}">
                  <a16:creationId xmlns:a16="http://schemas.microsoft.com/office/drawing/2014/main" id="{7A09F141-6396-4E54-988B-2D83EF1BFE4E}"/>
                </a:ext>
              </a:extLst>
            </p:cNvPr>
            <p:cNvSpPr>
              <a:spLocks noChangeShapeType="1"/>
            </p:cNvSpPr>
            <p:nvPr/>
          </p:nvSpPr>
          <p:spPr bwMode="auto">
            <a:xfrm flipH="1" flipV="1">
              <a:off x="2928926" y="3408366"/>
              <a:ext cx="287337" cy="287337"/>
            </a:xfrm>
            <a:prstGeom prst="line">
              <a:avLst/>
            </a:prstGeom>
            <a:noFill/>
            <a:ln w="28575">
              <a:solidFill>
                <a:srgbClr val="1F497D"/>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8" name="Text Box 42">
              <a:extLst>
                <a:ext uri="{FF2B5EF4-FFF2-40B4-BE49-F238E27FC236}">
                  <a16:creationId xmlns:a16="http://schemas.microsoft.com/office/drawing/2014/main" id="{D0EFB185-EFCB-4C1B-8891-E2FE48626E83}"/>
                </a:ext>
              </a:extLst>
            </p:cNvPr>
            <p:cNvSpPr txBox="1">
              <a:spLocks noChangeArrowheads="1"/>
            </p:cNvSpPr>
            <p:nvPr/>
          </p:nvSpPr>
          <p:spPr bwMode="auto">
            <a:xfrm>
              <a:off x="3000363" y="3624266"/>
              <a:ext cx="792163" cy="304800"/>
            </a:xfrm>
            <a:prstGeom prst="rect">
              <a:avLst/>
            </a:prstGeom>
            <a:noFill/>
            <a:ln w="28575" algn="ctr">
              <a:noFill/>
              <a:miter lim="800000"/>
            </a:ln>
          </p:spPr>
          <p:txBody>
            <a:bodyPr lIns="0" tIns="0" rIns="0" bIns="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合并</a:t>
              </a:r>
            </a:p>
          </p:txBody>
        </p:sp>
      </p:grpSp>
      <p:sp>
        <p:nvSpPr>
          <p:cNvPr id="29" name="矩形 28">
            <a:extLst>
              <a:ext uri="{FF2B5EF4-FFF2-40B4-BE49-F238E27FC236}">
                <a16:creationId xmlns:a16="http://schemas.microsoft.com/office/drawing/2014/main" id="{114A7DD3-27E7-4CA2-A023-156BF31B1AFD}"/>
              </a:ext>
            </a:extLst>
          </p:cNvPr>
          <p:cNvSpPr/>
          <p:nvPr/>
        </p:nvSpPr>
        <p:spPr>
          <a:xfrm>
            <a:off x="3038742" y="4579628"/>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0" name="直接箭头连接符 29">
            <a:extLst>
              <a:ext uri="{FF2B5EF4-FFF2-40B4-BE49-F238E27FC236}">
                <a16:creationId xmlns:a16="http://schemas.microsoft.com/office/drawing/2014/main" id="{4AE756B2-A519-4952-819F-B59A0D2D0AD8}"/>
              </a:ext>
            </a:extLst>
          </p:cNvPr>
          <p:cNvCxnSpPr/>
          <p:nvPr/>
        </p:nvCxnSpPr>
        <p:spPr>
          <a:xfrm rot="16200000" flipH="1">
            <a:off x="3411410" y="5202329"/>
            <a:ext cx="790580" cy="250034"/>
          </a:xfrm>
          <a:prstGeom prst="straightConnector1">
            <a:avLst/>
          </a:prstGeom>
          <a:noFill/>
          <a:ln w="28575" cap="flat" cmpd="sng" algn="ctr">
            <a:solidFill>
              <a:srgbClr val="3333FF"/>
            </a:solidFill>
            <a:prstDash val="solid"/>
            <a:tailEnd type="arrow"/>
          </a:ln>
          <a:effectLst/>
        </p:spPr>
      </p:cxnSp>
      <p:sp>
        <p:nvSpPr>
          <p:cNvPr id="31" name="矩形 30">
            <a:extLst>
              <a:ext uri="{FF2B5EF4-FFF2-40B4-BE49-F238E27FC236}">
                <a16:creationId xmlns:a16="http://schemas.microsoft.com/office/drawing/2014/main" id="{4F35D755-668F-4020-829B-2BFB78F76F00}"/>
              </a:ext>
            </a:extLst>
          </p:cNvPr>
          <p:cNvSpPr/>
          <p:nvPr/>
        </p:nvSpPr>
        <p:spPr>
          <a:xfrm>
            <a:off x="1752858" y="5722636"/>
            <a:ext cx="142876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1 2 3  5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2" name="直接箭头连接符 31">
            <a:extLst>
              <a:ext uri="{FF2B5EF4-FFF2-40B4-BE49-F238E27FC236}">
                <a16:creationId xmlns:a16="http://schemas.microsoft.com/office/drawing/2014/main" id="{2C090003-7811-4EC0-AC63-B75AA183A083}"/>
              </a:ext>
            </a:extLst>
          </p:cNvPr>
          <p:cNvCxnSpPr/>
          <p:nvPr/>
        </p:nvCxnSpPr>
        <p:spPr>
          <a:xfrm rot="5400000">
            <a:off x="2558125" y="4991986"/>
            <a:ext cx="782642" cy="678663"/>
          </a:xfrm>
          <a:prstGeom prst="straightConnector1">
            <a:avLst/>
          </a:prstGeom>
          <a:noFill/>
          <a:ln w="28575" cap="flat" cmpd="sng" algn="ctr">
            <a:solidFill>
              <a:srgbClr val="3333FF"/>
            </a:solidFill>
            <a:prstDash val="solid"/>
            <a:tailEnd type="arrow"/>
          </a:ln>
          <a:effectLst/>
        </p:spPr>
      </p:cxnSp>
      <p:sp>
        <p:nvSpPr>
          <p:cNvPr id="33" name="矩形 32">
            <a:extLst>
              <a:ext uri="{FF2B5EF4-FFF2-40B4-BE49-F238E27FC236}">
                <a16:creationId xmlns:a16="http://schemas.microsoft.com/office/drawing/2014/main" id="{9447D74E-9C3E-4ABD-A863-501B7645789F}"/>
              </a:ext>
            </a:extLst>
          </p:cNvPr>
          <p:cNvSpPr/>
          <p:nvPr/>
        </p:nvSpPr>
        <p:spPr>
          <a:xfrm>
            <a:off x="4824692" y="572263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4" name="矩形 33">
            <a:extLst>
              <a:ext uri="{FF2B5EF4-FFF2-40B4-BE49-F238E27FC236}">
                <a16:creationId xmlns:a16="http://schemas.microsoft.com/office/drawing/2014/main" id="{5EA92FA7-940F-47A0-A8DE-095FA8AA327A}"/>
              </a:ext>
            </a:extLst>
          </p:cNvPr>
          <p:cNvSpPr/>
          <p:nvPr/>
        </p:nvSpPr>
        <p:spPr>
          <a:xfrm>
            <a:off x="6039138" y="572263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5" name="矩形 34">
            <a:extLst>
              <a:ext uri="{FF2B5EF4-FFF2-40B4-BE49-F238E27FC236}">
                <a16:creationId xmlns:a16="http://schemas.microsoft.com/office/drawing/2014/main" id="{AFFA8397-4093-48C4-8276-02F67195B507}"/>
              </a:ext>
            </a:extLst>
          </p:cNvPr>
          <p:cNvSpPr/>
          <p:nvPr/>
        </p:nvSpPr>
        <p:spPr>
          <a:xfrm>
            <a:off x="7253584" y="5722636"/>
            <a:ext cx="12144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19 20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6" name="矩形 35">
            <a:extLst>
              <a:ext uri="{FF2B5EF4-FFF2-40B4-BE49-F238E27FC236}">
                <a16:creationId xmlns:a16="http://schemas.microsoft.com/office/drawing/2014/main" id="{1CCDF3AE-69E5-4A2F-988E-53926C9A735B}"/>
              </a:ext>
            </a:extLst>
          </p:cNvPr>
          <p:cNvSpPr/>
          <p:nvPr/>
        </p:nvSpPr>
        <p:spPr>
          <a:xfrm>
            <a:off x="4467502" y="3650934"/>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7" name="矩形 36">
            <a:extLst>
              <a:ext uri="{FF2B5EF4-FFF2-40B4-BE49-F238E27FC236}">
                <a16:creationId xmlns:a16="http://schemas.microsoft.com/office/drawing/2014/main" id="{D6C1E83C-705A-4BCD-9E2B-1C3042FAC797}"/>
              </a:ext>
            </a:extLst>
          </p:cNvPr>
          <p:cNvSpPr/>
          <p:nvPr/>
        </p:nvSpPr>
        <p:spPr>
          <a:xfrm>
            <a:off x="5753386" y="4579628"/>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13 18</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8" name="直接箭头连接符 37">
            <a:extLst>
              <a:ext uri="{FF2B5EF4-FFF2-40B4-BE49-F238E27FC236}">
                <a16:creationId xmlns:a16="http://schemas.microsoft.com/office/drawing/2014/main" id="{B1640115-1A17-480A-A230-D2AD2E66E563}"/>
              </a:ext>
            </a:extLst>
          </p:cNvPr>
          <p:cNvCxnSpPr/>
          <p:nvPr/>
        </p:nvCxnSpPr>
        <p:spPr>
          <a:xfrm rot="5400000">
            <a:off x="5235492" y="5011066"/>
            <a:ext cx="785818" cy="637322"/>
          </a:xfrm>
          <a:prstGeom prst="straightConnector1">
            <a:avLst/>
          </a:prstGeom>
          <a:noFill/>
          <a:ln w="28575" cap="flat" cmpd="sng" algn="ctr">
            <a:solidFill>
              <a:srgbClr val="3333FF"/>
            </a:solidFill>
            <a:prstDash val="solid"/>
            <a:tailEnd type="arrow"/>
          </a:ln>
          <a:effectLst/>
        </p:spPr>
      </p:cxnSp>
      <p:cxnSp>
        <p:nvCxnSpPr>
          <p:cNvPr id="39" name="直接箭头连接符 38">
            <a:extLst>
              <a:ext uri="{FF2B5EF4-FFF2-40B4-BE49-F238E27FC236}">
                <a16:creationId xmlns:a16="http://schemas.microsoft.com/office/drawing/2014/main" id="{CC4BBB98-95C0-4E93-A191-452826021781}"/>
              </a:ext>
            </a:extLst>
          </p:cNvPr>
          <p:cNvCxnSpPr>
            <a:endCxn id="34" idx="0"/>
          </p:cNvCxnSpPr>
          <p:nvPr/>
        </p:nvCxnSpPr>
        <p:spPr>
          <a:xfrm rot="16200000" flipH="1">
            <a:off x="5995878" y="5215029"/>
            <a:ext cx="785818" cy="229396"/>
          </a:xfrm>
          <a:prstGeom prst="straightConnector1">
            <a:avLst/>
          </a:prstGeom>
          <a:noFill/>
          <a:ln w="28575" cap="flat" cmpd="sng" algn="ctr">
            <a:solidFill>
              <a:srgbClr val="3333FF"/>
            </a:solidFill>
            <a:prstDash val="solid"/>
            <a:tailEnd type="arrow"/>
          </a:ln>
          <a:effectLst/>
        </p:spPr>
      </p:cxnSp>
      <p:cxnSp>
        <p:nvCxnSpPr>
          <p:cNvPr id="40" name="直接箭头连接符 39">
            <a:extLst>
              <a:ext uri="{FF2B5EF4-FFF2-40B4-BE49-F238E27FC236}">
                <a16:creationId xmlns:a16="http://schemas.microsoft.com/office/drawing/2014/main" id="{5146D741-C00E-4046-BA48-9D3E635AA754}"/>
              </a:ext>
            </a:extLst>
          </p:cNvPr>
          <p:cNvCxnSpPr>
            <a:endCxn id="35" idx="0"/>
          </p:cNvCxnSpPr>
          <p:nvPr/>
        </p:nvCxnSpPr>
        <p:spPr>
          <a:xfrm>
            <a:off x="6610644" y="4936818"/>
            <a:ext cx="1250165" cy="785818"/>
          </a:xfrm>
          <a:prstGeom prst="straightConnector1">
            <a:avLst/>
          </a:prstGeom>
          <a:noFill/>
          <a:ln w="28575" cap="flat" cmpd="sng" algn="ctr">
            <a:solidFill>
              <a:srgbClr val="3333FF"/>
            </a:solidFill>
            <a:prstDash val="solid"/>
            <a:tailEnd type="arrow"/>
          </a:ln>
          <a:effectLst/>
        </p:spPr>
      </p:cxnSp>
      <p:cxnSp>
        <p:nvCxnSpPr>
          <p:cNvPr id="41" name="直接箭头连接符 40">
            <a:extLst>
              <a:ext uri="{FF2B5EF4-FFF2-40B4-BE49-F238E27FC236}">
                <a16:creationId xmlns:a16="http://schemas.microsoft.com/office/drawing/2014/main" id="{0854749B-1B9C-458E-A934-FA85E7DC6D31}"/>
              </a:ext>
            </a:extLst>
          </p:cNvPr>
          <p:cNvCxnSpPr>
            <a:endCxn id="29" idx="0"/>
          </p:cNvCxnSpPr>
          <p:nvPr/>
        </p:nvCxnSpPr>
        <p:spPr>
          <a:xfrm rot="10800000" flipV="1">
            <a:off x="3431654" y="4008124"/>
            <a:ext cx="1178727" cy="571504"/>
          </a:xfrm>
          <a:prstGeom prst="straightConnector1">
            <a:avLst/>
          </a:prstGeom>
          <a:noFill/>
          <a:ln w="28575" cap="flat" cmpd="sng" algn="ctr">
            <a:solidFill>
              <a:srgbClr val="3333FF"/>
            </a:solidFill>
            <a:prstDash val="solid"/>
            <a:tailEnd type="arrow"/>
          </a:ln>
          <a:effectLst/>
        </p:spPr>
      </p:cxnSp>
      <p:cxnSp>
        <p:nvCxnSpPr>
          <p:cNvPr id="42" name="直接箭头连接符 41">
            <a:extLst>
              <a:ext uri="{FF2B5EF4-FFF2-40B4-BE49-F238E27FC236}">
                <a16:creationId xmlns:a16="http://schemas.microsoft.com/office/drawing/2014/main" id="{583453BB-4B78-4405-926D-851B87D09EDE}"/>
              </a:ext>
            </a:extLst>
          </p:cNvPr>
          <p:cNvCxnSpPr>
            <a:endCxn id="37" idx="0"/>
          </p:cNvCxnSpPr>
          <p:nvPr/>
        </p:nvCxnSpPr>
        <p:spPr>
          <a:xfrm>
            <a:off x="5118384" y="3987486"/>
            <a:ext cx="1170789" cy="592142"/>
          </a:xfrm>
          <a:prstGeom prst="straightConnector1">
            <a:avLst/>
          </a:prstGeom>
          <a:noFill/>
          <a:ln w="28575" cap="flat" cmpd="sng" algn="ctr">
            <a:solidFill>
              <a:srgbClr val="3333FF"/>
            </a:solidFill>
            <a:prstDash val="solid"/>
            <a:tailEnd type="arrow"/>
          </a:ln>
          <a:effectLst/>
        </p:spPr>
      </p:cxnSp>
      <p:sp>
        <p:nvSpPr>
          <p:cNvPr id="43" name="矩形 42">
            <a:extLst>
              <a:ext uri="{FF2B5EF4-FFF2-40B4-BE49-F238E27FC236}">
                <a16:creationId xmlns:a16="http://schemas.microsoft.com/office/drawing/2014/main" id="{1297B5A7-A35C-4E46-AF68-2668DE9E0C43}"/>
              </a:ext>
            </a:extLst>
          </p:cNvPr>
          <p:cNvSpPr/>
          <p:nvPr/>
        </p:nvSpPr>
        <p:spPr>
          <a:xfrm>
            <a:off x="3395932" y="572263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44" name="下箭头 72">
            <a:extLst>
              <a:ext uri="{FF2B5EF4-FFF2-40B4-BE49-F238E27FC236}">
                <a16:creationId xmlns:a16="http://schemas.microsoft.com/office/drawing/2014/main" id="{678A44D1-A862-49CE-9C61-42E730F50B86}"/>
              </a:ext>
            </a:extLst>
          </p:cNvPr>
          <p:cNvSpPr/>
          <p:nvPr/>
        </p:nvSpPr>
        <p:spPr>
          <a:xfrm>
            <a:off x="4610378" y="3150868"/>
            <a:ext cx="285752" cy="357190"/>
          </a:xfrm>
          <a:prstGeom prst="downArrow">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Tree>
    <p:extLst>
      <p:ext uri="{BB962C8B-B14F-4D97-AF65-F5344CB8AC3E}">
        <p14:creationId xmlns:p14="http://schemas.microsoft.com/office/powerpoint/2010/main" val="271610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nodeType="clickEffect">
                                  <p:stCondLst>
                                    <p:cond delay="0"/>
                                  </p:stCondLst>
                                  <p:childTnLst>
                                    <p:animEffect transition="out" filter="fade">
                                      <p:cBhvr>
                                        <p:cTn id="12" dur="500" tmFilter="0, 0; .2, .5; .8, .5; 1, 0"/>
                                        <p:tgtEl>
                                          <p:spTgt spid="11">
                                            <p:txEl>
                                              <p:pRg st="0" end="0"/>
                                            </p:txEl>
                                          </p:spTgt>
                                        </p:tgtEl>
                                      </p:cBhvr>
                                    </p:animEffect>
                                    <p:animScale>
                                      <p:cBhvr>
                                        <p:cTn id="13" dur="250" autoRev="1" fill="hold"/>
                                        <p:tgtEl>
                                          <p:spTgt spid="11">
                                            <p:txEl>
                                              <p:pRg st="0" end="0"/>
                                            </p:txEl>
                                          </p:spTgt>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par>
                          <p:cTn id="18" fill="hold">
                            <p:stCondLst>
                              <p:cond delay="0"/>
                            </p:stCondLst>
                            <p:childTnLst>
                              <p:par>
                                <p:cTn id="19" presetID="26" presetClass="emph" presetSubtype="0" fill="hold" nodeType="afterEffect">
                                  <p:stCondLst>
                                    <p:cond delay="0"/>
                                  </p:stCondLst>
                                  <p:childTnLst>
                                    <p:animEffect transition="out" filter="fade">
                                      <p:cBhvr>
                                        <p:cTn id="20" dur="500" tmFilter="0, 0; .2, .5; .8, .5; 1, 0"/>
                                        <p:tgtEl>
                                          <p:spTgt spid="25"/>
                                        </p:tgtEl>
                                      </p:cBhvr>
                                    </p:animEffect>
                                    <p:animScale>
                                      <p:cBhvr>
                                        <p:cTn id="21" dur="250" autoRev="1" fill="hold"/>
                                        <p:tgtEl>
                                          <p:spTgt spid="25"/>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par>
                                <p:cTn id="56" presetID="26" presetClass="emph" presetSubtype="0" fill="hold" grpId="1" nodeType="withEffect">
                                  <p:stCondLst>
                                    <p:cond delay="0"/>
                                  </p:stCondLst>
                                  <p:childTnLst>
                                    <p:animEffect transition="out" filter="fade">
                                      <p:cBhvr>
                                        <p:cTn id="57" dur="500" tmFilter="0, 0; .2, .5; .8, .5; 1, 0"/>
                                        <p:tgtEl>
                                          <p:spTgt spid="29"/>
                                        </p:tgtEl>
                                      </p:cBhvr>
                                    </p:animEffect>
                                    <p:animScale>
                                      <p:cBhvr>
                                        <p:cTn id="58" dur="250" autoRev="1" fill="hold"/>
                                        <p:tgtEl>
                                          <p:spTgt spid="2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9" grpId="0" animBg="1"/>
      <p:bldP spid="29" grpId="1" animBg="1"/>
      <p:bldP spid="31" grpId="0" animBg="1"/>
      <p:bldP spid="33" grpId="0" animBg="1"/>
      <p:bldP spid="34" grpId="0" animBg="1"/>
      <p:bldP spid="35" grpId="0" animBg="1"/>
      <p:bldP spid="36" grpId="0" animBg="1"/>
      <p:bldP spid="37" grpId="0" animBg="1"/>
      <p:bldP spid="43" grpId="0" animBg="1"/>
      <p:bldP spid="4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A50C529-2DFF-49B7-89F4-1062D6630A61}"/>
              </a:ext>
            </a:extLst>
          </p:cNvPr>
          <p:cNvSpPr>
            <a:spLocks noGrp="1"/>
          </p:cNvSpPr>
          <p:nvPr>
            <p:ph type="dt" sz="half" idx="10"/>
          </p:nvPr>
        </p:nvSpPr>
        <p:spPr/>
        <p:txBody>
          <a:bodyPr/>
          <a:lstStyle/>
          <a:p>
            <a:fld id="{9A6B2991-BBE5-4E69-A281-1A8B0AE9CDD7}" type="datetime1">
              <a:rPr lang="zh-CN" altLang="en-US" smtClean="0"/>
              <a:pPr/>
              <a:t>2025/12/2 Tuesday</a:t>
            </a:fld>
            <a:endParaRPr lang="zh-CN" altLang="en-US"/>
          </a:p>
        </p:txBody>
      </p:sp>
      <p:sp>
        <p:nvSpPr>
          <p:cNvPr id="3" name="矩形 2">
            <a:extLst>
              <a:ext uri="{FF2B5EF4-FFF2-40B4-BE49-F238E27FC236}">
                <a16:creationId xmlns:a16="http://schemas.microsoft.com/office/drawing/2014/main" id="{7943C4EC-98B2-4678-A7DE-2B62C58A8324}"/>
              </a:ext>
            </a:extLst>
          </p:cNvPr>
          <p:cNvSpPr/>
          <p:nvPr/>
        </p:nvSpPr>
        <p:spPr>
          <a:xfrm>
            <a:off x="2428290" y="1252505"/>
            <a:ext cx="78581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6</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4" name="直接箭头连接符 3">
            <a:extLst>
              <a:ext uri="{FF2B5EF4-FFF2-40B4-BE49-F238E27FC236}">
                <a16:creationId xmlns:a16="http://schemas.microsoft.com/office/drawing/2014/main" id="{709E5C79-D9EF-4B96-90D8-1772F00B4884}"/>
              </a:ext>
            </a:extLst>
          </p:cNvPr>
          <p:cNvCxnSpPr/>
          <p:nvPr/>
        </p:nvCxnSpPr>
        <p:spPr>
          <a:xfrm rot="16200000" flipH="1">
            <a:off x="2800958" y="1875206"/>
            <a:ext cx="790580" cy="250034"/>
          </a:xfrm>
          <a:prstGeom prst="straightConnector1">
            <a:avLst/>
          </a:prstGeom>
          <a:noFill/>
          <a:ln w="28575" cap="flat" cmpd="sng" algn="ctr">
            <a:solidFill>
              <a:srgbClr val="3333FF"/>
            </a:solidFill>
            <a:prstDash val="solid"/>
            <a:tailEnd type="arrow"/>
          </a:ln>
          <a:effectLst/>
        </p:spPr>
      </p:cxnSp>
      <p:sp>
        <p:nvSpPr>
          <p:cNvPr id="5" name="矩形 4">
            <a:extLst>
              <a:ext uri="{FF2B5EF4-FFF2-40B4-BE49-F238E27FC236}">
                <a16:creationId xmlns:a16="http://schemas.microsoft.com/office/drawing/2014/main" id="{9C086D39-DD1E-4518-9362-D0408B60AFD1}"/>
              </a:ext>
            </a:extLst>
          </p:cNvPr>
          <p:cNvSpPr/>
          <p:nvPr/>
        </p:nvSpPr>
        <p:spPr>
          <a:xfrm>
            <a:off x="1285282" y="2395513"/>
            <a:ext cx="1357322"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a:t>
            </a: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2 3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6" name="直接箭头连接符 5">
            <a:extLst>
              <a:ext uri="{FF2B5EF4-FFF2-40B4-BE49-F238E27FC236}">
                <a16:creationId xmlns:a16="http://schemas.microsoft.com/office/drawing/2014/main" id="{BEB08395-8D5D-4C09-AB08-FE3B058D6B18}"/>
              </a:ext>
            </a:extLst>
          </p:cNvPr>
          <p:cNvCxnSpPr/>
          <p:nvPr/>
        </p:nvCxnSpPr>
        <p:spPr>
          <a:xfrm rot="5400000">
            <a:off x="1947673" y="1664863"/>
            <a:ext cx="782642" cy="678663"/>
          </a:xfrm>
          <a:prstGeom prst="straightConnector1">
            <a:avLst/>
          </a:prstGeom>
          <a:noFill/>
          <a:ln w="28575" cap="flat" cmpd="sng" algn="ctr">
            <a:solidFill>
              <a:srgbClr val="3333FF"/>
            </a:solidFill>
            <a:prstDash val="solid"/>
            <a:tailEnd type="arrow"/>
          </a:ln>
          <a:effectLst/>
        </p:spPr>
      </p:cxnSp>
      <p:sp>
        <p:nvSpPr>
          <p:cNvPr id="7" name="矩形 6">
            <a:extLst>
              <a:ext uri="{FF2B5EF4-FFF2-40B4-BE49-F238E27FC236}">
                <a16:creationId xmlns:a16="http://schemas.microsoft.com/office/drawing/2014/main" id="{316F9FC4-DDC7-406A-A311-48B7C34FEBC9}"/>
              </a:ext>
            </a:extLst>
          </p:cNvPr>
          <p:cNvSpPr/>
          <p:nvPr/>
        </p:nvSpPr>
        <p:spPr>
          <a:xfrm>
            <a:off x="4214240" y="2395513"/>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8" name="矩形 7">
            <a:extLst>
              <a:ext uri="{FF2B5EF4-FFF2-40B4-BE49-F238E27FC236}">
                <a16:creationId xmlns:a16="http://schemas.microsoft.com/office/drawing/2014/main" id="{87424779-5CE1-469B-8E85-E95F01A930F9}"/>
              </a:ext>
            </a:extLst>
          </p:cNvPr>
          <p:cNvSpPr/>
          <p:nvPr/>
        </p:nvSpPr>
        <p:spPr>
          <a:xfrm>
            <a:off x="5428686" y="2395513"/>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9" name="矩形 8">
            <a:extLst>
              <a:ext uri="{FF2B5EF4-FFF2-40B4-BE49-F238E27FC236}">
                <a16:creationId xmlns:a16="http://schemas.microsoft.com/office/drawing/2014/main" id="{AF64CEB1-1CAA-4C91-8FD6-1166E202DA2B}"/>
              </a:ext>
            </a:extLst>
          </p:cNvPr>
          <p:cNvSpPr/>
          <p:nvPr/>
        </p:nvSpPr>
        <p:spPr>
          <a:xfrm>
            <a:off x="6643132" y="2395513"/>
            <a:ext cx="128588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19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0" name="矩形 9">
            <a:extLst>
              <a:ext uri="{FF2B5EF4-FFF2-40B4-BE49-F238E27FC236}">
                <a16:creationId xmlns:a16="http://schemas.microsoft.com/office/drawing/2014/main" id="{38519FB7-D491-4416-B9C7-8FF3D6F7BBAC}"/>
              </a:ext>
            </a:extLst>
          </p:cNvPr>
          <p:cNvSpPr/>
          <p:nvPr/>
        </p:nvSpPr>
        <p:spPr>
          <a:xfrm>
            <a:off x="3857050" y="323811"/>
            <a:ext cx="85725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1" name="矩形 10">
            <a:extLst>
              <a:ext uri="{FF2B5EF4-FFF2-40B4-BE49-F238E27FC236}">
                <a16:creationId xmlns:a16="http://schemas.microsoft.com/office/drawing/2014/main" id="{2C21C732-92D6-49B7-9DA3-619C83072FB5}"/>
              </a:ext>
            </a:extLst>
          </p:cNvPr>
          <p:cNvSpPr/>
          <p:nvPr/>
        </p:nvSpPr>
        <p:spPr>
          <a:xfrm>
            <a:off x="5142934" y="1252505"/>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13 18</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2" name="直接箭头连接符 11">
            <a:extLst>
              <a:ext uri="{FF2B5EF4-FFF2-40B4-BE49-F238E27FC236}">
                <a16:creationId xmlns:a16="http://schemas.microsoft.com/office/drawing/2014/main" id="{FFDAEAF3-3790-4382-8F45-1E2B546F7C03}"/>
              </a:ext>
            </a:extLst>
          </p:cNvPr>
          <p:cNvCxnSpPr/>
          <p:nvPr/>
        </p:nvCxnSpPr>
        <p:spPr>
          <a:xfrm rot="5400000">
            <a:off x="4625040" y="1683943"/>
            <a:ext cx="785818" cy="637322"/>
          </a:xfrm>
          <a:prstGeom prst="straightConnector1">
            <a:avLst/>
          </a:prstGeom>
          <a:noFill/>
          <a:ln w="28575" cap="flat" cmpd="sng" algn="ctr">
            <a:solidFill>
              <a:srgbClr val="3333FF"/>
            </a:solidFill>
            <a:prstDash val="solid"/>
            <a:tailEnd type="arrow"/>
          </a:ln>
          <a:effectLst/>
        </p:spPr>
      </p:cxnSp>
      <p:cxnSp>
        <p:nvCxnSpPr>
          <p:cNvPr id="13" name="直接箭头连接符 12">
            <a:extLst>
              <a:ext uri="{FF2B5EF4-FFF2-40B4-BE49-F238E27FC236}">
                <a16:creationId xmlns:a16="http://schemas.microsoft.com/office/drawing/2014/main" id="{966CD634-37BA-452A-99DC-F804A59FF525}"/>
              </a:ext>
            </a:extLst>
          </p:cNvPr>
          <p:cNvCxnSpPr>
            <a:endCxn id="8" idx="0"/>
          </p:cNvCxnSpPr>
          <p:nvPr/>
        </p:nvCxnSpPr>
        <p:spPr>
          <a:xfrm rot="16200000" flipH="1">
            <a:off x="5421145" y="1852187"/>
            <a:ext cx="785818" cy="300834"/>
          </a:xfrm>
          <a:prstGeom prst="straightConnector1">
            <a:avLst/>
          </a:prstGeom>
          <a:noFill/>
          <a:ln w="28575" cap="flat" cmpd="sng" algn="ctr">
            <a:solidFill>
              <a:srgbClr val="3333FF"/>
            </a:solidFill>
            <a:prstDash val="solid"/>
            <a:tailEnd type="arrow"/>
          </a:ln>
          <a:effectLst/>
        </p:spPr>
      </p:cxnSp>
      <p:cxnSp>
        <p:nvCxnSpPr>
          <p:cNvPr id="14" name="直接箭头连接符 13">
            <a:extLst>
              <a:ext uri="{FF2B5EF4-FFF2-40B4-BE49-F238E27FC236}">
                <a16:creationId xmlns:a16="http://schemas.microsoft.com/office/drawing/2014/main" id="{45D9F935-58BA-485C-986D-87B6EA892A85}"/>
              </a:ext>
            </a:extLst>
          </p:cNvPr>
          <p:cNvCxnSpPr>
            <a:endCxn id="9" idx="0"/>
          </p:cNvCxnSpPr>
          <p:nvPr/>
        </p:nvCxnSpPr>
        <p:spPr>
          <a:xfrm>
            <a:off x="6000190" y="1609695"/>
            <a:ext cx="1285884" cy="785818"/>
          </a:xfrm>
          <a:prstGeom prst="straightConnector1">
            <a:avLst/>
          </a:prstGeom>
          <a:noFill/>
          <a:ln w="28575" cap="flat" cmpd="sng" algn="ctr">
            <a:solidFill>
              <a:srgbClr val="3333FF"/>
            </a:solidFill>
            <a:prstDash val="solid"/>
            <a:tailEnd type="arrow"/>
          </a:ln>
          <a:effectLst/>
        </p:spPr>
      </p:cxnSp>
      <p:cxnSp>
        <p:nvCxnSpPr>
          <p:cNvPr id="15" name="直接箭头连接符 14">
            <a:extLst>
              <a:ext uri="{FF2B5EF4-FFF2-40B4-BE49-F238E27FC236}">
                <a16:creationId xmlns:a16="http://schemas.microsoft.com/office/drawing/2014/main" id="{47E0E265-66AB-4224-97B5-5F2E8D0DA216}"/>
              </a:ext>
            </a:extLst>
          </p:cNvPr>
          <p:cNvCxnSpPr>
            <a:endCxn id="3" idx="0"/>
          </p:cNvCxnSpPr>
          <p:nvPr/>
        </p:nvCxnSpPr>
        <p:spPr>
          <a:xfrm rot="10800000" flipV="1">
            <a:off x="2821202" y="681001"/>
            <a:ext cx="1178727" cy="571504"/>
          </a:xfrm>
          <a:prstGeom prst="straightConnector1">
            <a:avLst/>
          </a:prstGeom>
          <a:noFill/>
          <a:ln w="28575" cap="flat" cmpd="sng" algn="ctr">
            <a:solidFill>
              <a:srgbClr val="3333FF"/>
            </a:solidFill>
            <a:prstDash val="solid"/>
            <a:tailEnd type="arrow"/>
          </a:ln>
          <a:effectLst/>
        </p:spPr>
      </p:cxnSp>
      <p:cxnSp>
        <p:nvCxnSpPr>
          <p:cNvPr id="16" name="直接箭头连接符 15">
            <a:extLst>
              <a:ext uri="{FF2B5EF4-FFF2-40B4-BE49-F238E27FC236}">
                <a16:creationId xmlns:a16="http://schemas.microsoft.com/office/drawing/2014/main" id="{E005BF6A-6308-452A-87C9-E89358AB0C22}"/>
              </a:ext>
            </a:extLst>
          </p:cNvPr>
          <p:cNvCxnSpPr>
            <a:endCxn id="11" idx="0"/>
          </p:cNvCxnSpPr>
          <p:nvPr/>
        </p:nvCxnSpPr>
        <p:spPr>
          <a:xfrm>
            <a:off x="4507932" y="660363"/>
            <a:ext cx="1170789" cy="592142"/>
          </a:xfrm>
          <a:prstGeom prst="straightConnector1">
            <a:avLst/>
          </a:prstGeom>
          <a:noFill/>
          <a:ln w="28575" cap="flat" cmpd="sng" algn="ctr">
            <a:solidFill>
              <a:srgbClr val="3333FF"/>
            </a:solidFill>
            <a:prstDash val="solid"/>
            <a:tailEnd type="arrow"/>
          </a:ln>
          <a:effectLst/>
        </p:spPr>
      </p:cxnSp>
      <p:sp>
        <p:nvSpPr>
          <p:cNvPr id="17" name="矩形 16">
            <a:extLst>
              <a:ext uri="{FF2B5EF4-FFF2-40B4-BE49-F238E27FC236}">
                <a16:creationId xmlns:a16="http://schemas.microsoft.com/office/drawing/2014/main" id="{3DAD4753-0A31-4759-A559-EF1F6882B8B6}"/>
              </a:ext>
            </a:extLst>
          </p:cNvPr>
          <p:cNvSpPr/>
          <p:nvPr/>
        </p:nvSpPr>
        <p:spPr>
          <a:xfrm>
            <a:off x="2785480" y="2395513"/>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8" name="TextBox 71">
            <a:extLst>
              <a:ext uri="{FF2B5EF4-FFF2-40B4-BE49-F238E27FC236}">
                <a16:creationId xmlns:a16="http://schemas.microsoft.com/office/drawing/2014/main" id="{212334D9-450A-4B9A-99F0-B9E1C5E02C93}"/>
              </a:ext>
            </a:extLst>
          </p:cNvPr>
          <p:cNvSpPr txBox="1"/>
          <p:nvPr/>
        </p:nvSpPr>
        <p:spPr>
          <a:xfrm>
            <a:off x="323528" y="1323943"/>
            <a:ext cx="1928826" cy="400110"/>
          </a:xfrm>
          <a:prstGeom prst="rect">
            <a:avLst/>
          </a:prstGeom>
          <a:noFill/>
        </p:spPr>
        <p:txBody>
          <a:bodyPr wrap="square" rtlCol="0">
            <a:spAutoFit/>
          </a:bodyPr>
          <a:lstStyle/>
          <a:p>
            <a:pPr algn="ctr" fontAlgn="base">
              <a:spcBef>
                <a:spcPct val="0"/>
              </a:spcBef>
              <a:spcAft>
                <a:spcPct val="0"/>
              </a:spcAft>
            </a:pPr>
            <a:r>
              <a:rPr kumimoji="1" lang="zh-CN" altLang="en-US" sz="2000" b="1" dirty="0">
                <a:solidFill>
                  <a:srgbClr val="FF00FF"/>
                </a:solidFill>
                <a:latin typeface="Consolas" panose="020B0609020204030204" pitchFamily="49" charset="0"/>
                <a:ea typeface="方正启体简体" pitchFamily="65" charset="-122"/>
                <a:cs typeface="Consolas" panose="020B0609020204030204" pitchFamily="49" charset="0"/>
              </a:rPr>
              <a:t>关键字个数</a:t>
            </a:r>
            <a:r>
              <a:rPr kumimoji="1" lang="en-US" altLang="zh-CN" sz="2000" b="1" dirty="0">
                <a:solidFill>
                  <a:srgbClr val="FF00FF"/>
                </a:solidFill>
                <a:latin typeface="Consolas" panose="020B0609020204030204" pitchFamily="49" charset="0"/>
                <a:ea typeface="方正启体简体" pitchFamily="65" charset="-122"/>
                <a:cs typeface="Consolas" panose="020B0609020204030204" pitchFamily="49" charset="0"/>
              </a:rPr>
              <a:t>&lt;2</a:t>
            </a:r>
            <a:endParaRPr kumimoji="1" lang="zh-CN" altLang="en-US" sz="2000" b="1" dirty="0">
              <a:solidFill>
                <a:srgbClr val="FF00FF"/>
              </a:solidFill>
              <a:latin typeface="Consolas" panose="020B0609020204030204" pitchFamily="49" charset="0"/>
              <a:ea typeface="方正启体简体" pitchFamily="65" charset="-122"/>
              <a:cs typeface="Consolas" panose="020B0609020204030204" pitchFamily="49" charset="0"/>
            </a:endParaRPr>
          </a:p>
        </p:txBody>
      </p:sp>
      <p:grpSp>
        <p:nvGrpSpPr>
          <p:cNvPr id="19" name="组合 51">
            <a:extLst>
              <a:ext uri="{FF2B5EF4-FFF2-40B4-BE49-F238E27FC236}">
                <a16:creationId xmlns:a16="http://schemas.microsoft.com/office/drawing/2014/main" id="{09F41F19-8485-45AD-B9DF-C9656E39378B}"/>
              </a:ext>
            </a:extLst>
          </p:cNvPr>
          <p:cNvGrpSpPr/>
          <p:nvPr/>
        </p:nvGrpSpPr>
        <p:grpSpPr>
          <a:xfrm>
            <a:off x="2213976" y="109497"/>
            <a:ext cx="5054600" cy="2023534"/>
            <a:chOff x="2305050" y="-1214470"/>
            <a:chExt cx="5054600" cy="2023534"/>
          </a:xfrm>
        </p:grpSpPr>
        <p:sp>
          <p:nvSpPr>
            <p:cNvPr id="20" name="任意多边形 45">
              <a:extLst>
                <a:ext uri="{FF2B5EF4-FFF2-40B4-BE49-F238E27FC236}">
                  <a16:creationId xmlns:a16="http://schemas.microsoft.com/office/drawing/2014/main" id="{7BE5E2DB-7815-4500-9AD1-F30072F383F9}"/>
                </a:ext>
              </a:extLst>
            </p:cNvPr>
            <p:cNvSpPr/>
            <p:nvPr/>
          </p:nvSpPr>
          <p:spPr>
            <a:xfrm>
              <a:off x="2305050" y="-1214470"/>
              <a:ext cx="5054600" cy="2023534"/>
            </a:xfrm>
            <a:custGeom>
              <a:avLst/>
              <a:gdLst>
                <a:gd name="connsiteX0" fmla="*/ 1238250 w 5054600"/>
                <a:gd name="connsiteY0" fmla="*/ 249767 h 2023534"/>
                <a:gd name="connsiteX1" fmla="*/ 755650 w 5054600"/>
                <a:gd name="connsiteY1" fmla="*/ 440267 h 2023534"/>
                <a:gd name="connsiteX2" fmla="*/ 184150 w 5054600"/>
                <a:gd name="connsiteY2" fmla="*/ 922867 h 2023534"/>
                <a:gd name="connsiteX3" fmla="*/ 6350 w 5054600"/>
                <a:gd name="connsiteY3" fmla="*/ 1316567 h 2023534"/>
                <a:gd name="connsiteX4" fmla="*/ 222250 w 5054600"/>
                <a:gd name="connsiteY4" fmla="*/ 1799167 h 2023534"/>
                <a:gd name="connsiteX5" fmla="*/ 1098550 w 5054600"/>
                <a:gd name="connsiteY5" fmla="*/ 1875367 h 2023534"/>
                <a:gd name="connsiteX6" fmla="*/ 4578350 w 5054600"/>
                <a:gd name="connsiteY6" fmla="*/ 1837267 h 2023534"/>
                <a:gd name="connsiteX7" fmla="*/ 3956050 w 5054600"/>
                <a:gd name="connsiteY7" fmla="*/ 757767 h 2023534"/>
                <a:gd name="connsiteX8" fmla="*/ 2609850 w 5054600"/>
                <a:gd name="connsiteY8" fmla="*/ 84667 h 2023534"/>
                <a:gd name="connsiteX9" fmla="*/ 1238250 w 5054600"/>
                <a:gd name="connsiteY9" fmla="*/ 249767 h 202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54600" h="2023534">
                  <a:moveTo>
                    <a:pt x="1238250" y="249767"/>
                  </a:moveTo>
                  <a:cubicBezTo>
                    <a:pt x="929217" y="309034"/>
                    <a:pt x="931333" y="328084"/>
                    <a:pt x="755650" y="440267"/>
                  </a:cubicBezTo>
                  <a:cubicBezTo>
                    <a:pt x="579967" y="552450"/>
                    <a:pt x="309033" y="776817"/>
                    <a:pt x="184150" y="922867"/>
                  </a:cubicBezTo>
                  <a:cubicBezTo>
                    <a:pt x="59267" y="1068917"/>
                    <a:pt x="0" y="1170517"/>
                    <a:pt x="6350" y="1316567"/>
                  </a:cubicBezTo>
                  <a:cubicBezTo>
                    <a:pt x="12700" y="1462617"/>
                    <a:pt x="40217" y="1706034"/>
                    <a:pt x="222250" y="1799167"/>
                  </a:cubicBezTo>
                  <a:cubicBezTo>
                    <a:pt x="404283" y="1892300"/>
                    <a:pt x="1098550" y="1875367"/>
                    <a:pt x="1098550" y="1875367"/>
                  </a:cubicBezTo>
                  <a:cubicBezTo>
                    <a:pt x="1824567" y="1881717"/>
                    <a:pt x="4102100" y="2023534"/>
                    <a:pt x="4578350" y="1837267"/>
                  </a:cubicBezTo>
                  <a:cubicBezTo>
                    <a:pt x="5054600" y="1651000"/>
                    <a:pt x="4284133" y="1049867"/>
                    <a:pt x="3956050" y="757767"/>
                  </a:cubicBezTo>
                  <a:cubicBezTo>
                    <a:pt x="3627967" y="465667"/>
                    <a:pt x="3062817" y="169334"/>
                    <a:pt x="2609850" y="84667"/>
                  </a:cubicBezTo>
                  <a:cubicBezTo>
                    <a:pt x="2156883" y="0"/>
                    <a:pt x="1547283" y="190500"/>
                    <a:pt x="1238250" y="249767"/>
                  </a:cubicBezTo>
                  <a:close/>
                </a:path>
              </a:pathLst>
            </a:custGeom>
            <a:solidFill>
              <a:srgbClr val="4F81BD">
                <a:alpha val="0"/>
              </a:srgbClr>
            </a:solidFill>
            <a:ln w="25400" cap="flat" cmpd="sng" algn="ctr">
              <a:solidFill>
                <a:srgbClr val="C00000"/>
              </a:solidFill>
              <a:prstDash val="dash"/>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1" name="Line 41">
              <a:extLst>
                <a:ext uri="{FF2B5EF4-FFF2-40B4-BE49-F238E27FC236}">
                  <a16:creationId xmlns:a16="http://schemas.microsoft.com/office/drawing/2014/main" id="{607D011F-B24E-45B7-9FF8-BCCE1DDC0A32}"/>
                </a:ext>
              </a:extLst>
            </p:cNvPr>
            <p:cNvSpPr>
              <a:spLocks noChangeShapeType="1"/>
            </p:cNvSpPr>
            <p:nvPr/>
          </p:nvSpPr>
          <p:spPr bwMode="auto">
            <a:xfrm flipH="1">
              <a:off x="6591330" y="-428652"/>
              <a:ext cx="285752" cy="212729"/>
            </a:xfrm>
            <a:prstGeom prst="line">
              <a:avLst/>
            </a:prstGeom>
            <a:noFill/>
            <a:ln w="28575">
              <a:solidFill>
                <a:srgbClr val="1F497D"/>
              </a:solidFill>
              <a:round/>
              <a:tailEnd type="triangle" w="med" len="me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2" name="Text Box 42">
              <a:extLst>
                <a:ext uri="{FF2B5EF4-FFF2-40B4-BE49-F238E27FC236}">
                  <a16:creationId xmlns:a16="http://schemas.microsoft.com/office/drawing/2014/main" id="{D864BA7D-B201-4F96-8477-A8B31D92DEAC}"/>
                </a:ext>
              </a:extLst>
            </p:cNvPr>
            <p:cNvSpPr txBox="1">
              <a:spLocks noChangeArrowheads="1"/>
            </p:cNvSpPr>
            <p:nvPr/>
          </p:nvSpPr>
          <p:spPr bwMode="auto">
            <a:xfrm>
              <a:off x="6519892" y="-785842"/>
              <a:ext cx="792163" cy="304800"/>
            </a:xfrm>
            <a:prstGeom prst="rect">
              <a:avLst/>
            </a:prstGeom>
            <a:noFill/>
            <a:ln w="28575" algn="ctr">
              <a:noFill/>
              <a:miter lim="800000"/>
            </a:ln>
          </p:spPr>
          <p:txBody>
            <a:bodyPr lIns="0" tIns="0" rIns="0" bIns="0">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合并</a:t>
              </a:r>
            </a:p>
          </p:txBody>
        </p:sp>
      </p:grpSp>
      <p:grpSp>
        <p:nvGrpSpPr>
          <p:cNvPr id="23" name="组合 91">
            <a:extLst>
              <a:ext uri="{FF2B5EF4-FFF2-40B4-BE49-F238E27FC236}">
                <a16:creationId xmlns:a16="http://schemas.microsoft.com/office/drawing/2014/main" id="{FA6CC89F-C77E-4DD9-A1AF-30ACD5A58528}"/>
              </a:ext>
            </a:extLst>
          </p:cNvPr>
          <p:cNvGrpSpPr/>
          <p:nvPr/>
        </p:nvGrpSpPr>
        <p:grpSpPr>
          <a:xfrm>
            <a:off x="1213844" y="3895711"/>
            <a:ext cx="6500858" cy="2000264"/>
            <a:chOff x="1285852" y="3857628"/>
            <a:chExt cx="6500858" cy="2000264"/>
          </a:xfrm>
        </p:grpSpPr>
        <p:sp>
          <p:nvSpPr>
            <p:cNvPr id="24" name="矩形 23">
              <a:extLst>
                <a:ext uri="{FF2B5EF4-FFF2-40B4-BE49-F238E27FC236}">
                  <a16:creationId xmlns:a16="http://schemas.microsoft.com/office/drawing/2014/main" id="{B6368F2B-B784-4BEF-BCB9-10E2C04E4B9F}"/>
                </a:ext>
              </a:extLst>
            </p:cNvPr>
            <p:cNvSpPr/>
            <p:nvPr/>
          </p:nvSpPr>
          <p:spPr>
            <a:xfrm>
              <a:off x="3571868" y="3857628"/>
              <a:ext cx="2071702"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 6 10 13 18</a:t>
              </a:r>
              <a:endParaRPr kumimoji="1" lang="zh-CN" altLang="en-US" sz="2000" b="1" i="0" u="none" strike="noStrike" kern="0" cap="none" spc="0" normalizeH="0" baseline="0" noProof="0" dirty="0">
                <a:ln>
                  <a:noFill/>
                </a:ln>
                <a:solidFill>
                  <a:srgbClr val="FF0000"/>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5" name="直接箭头连接符 24">
              <a:extLst>
                <a:ext uri="{FF2B5EF4-FFF2-40B4-BE49-F238E27FC236}">
                  <a16:creationId xmlns:a16="http://schemas.microsoft.com/office/drawing/2014/main" id="{52BC8499-F4AE-4E82-B61C-42CF26D8A408}"/>
                </a:ext>
              </a:extLst>
            </p:cNvPr>
            <p:cNvCxnSpPr/>
            <p:nvPr/>
          </p:nvCxnSpPr>
          <p:spPr>
            <a:xfrm rot="5400000">
              <a:off x="3125381" y="4339835"/>
              <a:ext cx="1143008" cy="892975"/>
            </a:xfrm>
            <a:prstGeom prst="straightConnector1">
              <a:avLst/>
            </a:prstGeom>
            <a:noFill/>
            <a:ln w="28575" cap="flat" cmpd="sng" algn="ctr">
              <a:solidFill>
                <a:srgbClr val="3333FF"/>
              </a:solidFill>
              <a:prstDash val="solid"/>
              <a:tailEnd type="arrow"/>
            </a:ln>
            <a:effectLst/>
          </p:spPr>
        </p:cxnSp>
        <p:sp>
          <p:nvSpPr>
            <p:cNvPr id="26" name="矩形 25">
              <a:extLst>
                <a:ext uri="{FF2B5EF4-FFF2-40B4-BE49-F238E27FC236}">
                  <a16:creationId xmlns:a16="http://schemas.microsoft.com/office/drawing/2014/main" id="{4E5319D2-163B-4010-A39D-B0AE27BA623A}"/>
                </a:ext>
              </a:extLst>
            </p:cNvPr>
            <p:cNvSpPr/>
            <p:nvPr/>
          </p:nvSpPr>
          <p:spPr>
            <a:xfrm>
              <a:off x="1285852" y="5357826"/>
              <a:ext cx="1214446"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 </a:t>
              </a: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2 3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5</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27" name="直接箭头连接符 26">
              <a:extLst>
                <a:ext uri="{FF2B5EF4-FFF2-40B4-BE49-F238E27FC236}">
                  <a16:creationId xmlns:a16="http://schemas.microsoft.com/office/drawing/2014/main" id="{C9C07012-AE81-48AF-87F9-542F41D4BCD8}"/>
                </a:ext>
              </a:extLst>
            </p:cNvPr>
            <p:cNvCxnSpPr/>
            <p:nvPr/>
          </p:nvCxnSpPr>
          <p:spPr>
            <a:xfrm rot="10800000" flipV="1">
              <a:off x="1928796" y="4214819"/>
              <a:ext cx="1928825" cy="1143007"/>
            </a:xfrm>
            <a:prstGeom prst="straightConnector1">
              <a:avLst/>
            </a:prstGeom>
            <a:noFill/>
            <a:ln w="28575" cap="flat" cmpd="sng" algn="ctr">
              <a:solidFill>
                <a:srgbClr val="3333FF"/>
              </a:solidFill>
              <a:prstDash val="solid"/>
              <a:tailEnd type="arrow"/>
            </a:ln>
            <a:effectLst/>
          </p:spPr>
        </p:cxnSp>
        <p:sp>
          <p:nvSpPr>
            <p:cNvPr id="28" name="矩形 27">
              <a:extLst>
                <a:ext uri="{FF2B5EF4-FFF2-40B4-BE49-F238E27FC236}">
                  <a16:creationId xmlns:a16="http://schemas.microsoft.com/office/drawing/2014/main" id="{C11E4727-FCA6-4689-9547-C2D0A5F42764}"/>
                </a:ext>
              </a:extLst>
            </p:cNvPr>
            <p:cNvSpPr/>
            <p:nvPr/>
          </p:nvSpPr>
          <p:spPr>
            <a:xfrm>
              <a:off x="4143372" y="535782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11 12 </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29" name="矩形 28">
              <a:extLst>
                <a:ext uri="{FF2B5EF4-FFF2-40B4-BE49-F238E27FC236}">
                  <a16:creationId xmlns:a16="http://schemas.microsoft.com/office/drawing/2014/main" id="{8F9C466C-B084-40EC-B1DC-2A430F063DF2}"/>
                </a:ext>
              </a:extLst>
            </p:cNvPr>
            <p:cNvSpPr/>
            <p:nvPr/>
          </p:nvSpPr>
          <p:spPr>
            <a:xfrm>
              <a:off x="5357818" y="5357826"/>
              <a:ext cx="928694"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14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17</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0" name="矩形 29">
              <a:extLst>
                <a:ext uri="{FF2B5EF4-FFF2-40B4-BE49-F238E27FC236}">
                  <a16:creationId xmlns:a16="http://schemas.microsoft.com/office/drawing/2014/main" id="{9AEAC31F-ACBA-4C7D-B1BA-1C50CC93E844}"/>
                </a:ext>
              </a:extLst>
            </p:cNvPr>
            <p:cNvSpPr/>
            <p:nvPr/>
          </p:nvSpPr>
          <p:spPr>
            <a:xfrm>
              <a:off x="6643702" y="5357826"/>
              <a:ext cx="1143008"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19 20</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31" name="直接箭头连接符 30">
              <a:extLst>
                <a:ext uri="{FF2B5EF4-FFF2-40B4-BE49-F238E27FC236}">
                  <a16:creationId xmlns:a16="http://schemas.microsoft.com/office/drawing/2014/main" id="{F8D26AF5-66D4-4F2F-B9AE-8A86F0504125}"/>
                </a:ext>
              </a:extLst>
            </p:cNvPr>
            <p:cNvCxnSpPr/>
            <p:nvPr/>
          </p:nvCxnSpPr>
          <p:spPr>
            <a:xfrm rot="16200000" flipH="1">
              <a:off x="4028707" y="4758114"/>
              <a:ext cx="1143006" cy="56417"/>
            </a:xfrm>
            <a:prstGeom prst="straightConnector1">
              <a:avLst/>
            </a:prstGeom>
            <a:noFill/>
            <a:ln w="28575" cap="flat" cmpd="sng" algn="ctr">
              <a:solidFill>
                <a:srgbClr val="3333FF"/>
              </a:solidFill>
              <a:prstDash val="solid"/>
              <a:tailEnd type="arrow"/>
            </a:ln>
            <a:effectLst/>
          </p:spPr>
        </p:cxnSp>
        <p:cxnSp>
          <p:nvCxnSpPr>
            <p:cNvPr id="32" name="直接箭头连接符 31">
              <a:extLst>
                <a:ext uri="{FF2B5EF4-FFF2-40B4-BE49-F238E27FC236}">
                  <a16:creationId xmlns:a16="http://schemas.microsoft.com/office/drawing/2014/main" id="{39B6B26F-C82A-4D26-9C06-78462F94474D}"/>
                </a:ext>
              </a:extLst>
            </p:cNvPr>
            <p:cNvCxnSpPr/>
            <p:nvPr/>
          </p:nvCxnSpPr>
          <p:spPr>
            <a:xfrm rot="16200000" flipH="1">
              <a:off x="4812983" y="4386222"/>
              <a:ext cx="1143006" cy="750097"/>
            </a:xfrm>
            <a:prstGeom prst="straightConnector1">
              <a:avLst/>
            </a:prstGeom>
            <a:noFill/>
            <a:ln w="28575" cap="flat" cmpd="sng" algn="ctr">
              <a:solidFill>
                <a:srgbClr val="3333FF"/>
              </a:solidFill>
              <a:prstDash val="solid"/>
              <a:tailEnd type="arrow"/>
            </a:ln>
            <a:effectLst/>
          </p:spPr>
        </p:cxnSp>
        <p:cxnSp>
          <p:nvCxnSpPr>
            <p:cNvPr id="33" name="直接箭头连接符 32">
              <a:extLst>
                <a:ext uri="{FF2B5EF4-FFF2-40B4-BE49-F238E27FC236}">
                  <a16:creationId xmlns:a16="http://schemas.microsoft.com/office/drawing/2014/main" id="{BC56DF61-0470-4E35-9A24-1C120A380C41}"/>
                </a:ext>
              </a:extLst>
            </p:cNvPr>
            <p:cNvCxnSpPr>
              <a:endCxn id="30" idx="0"/>
            </p:cNvCxnSpPr>
            <p:nvPr/>
          </p:nvCxnSpPr>
          <p:spPr>
            <a:xfrm>
              <a:off x="5357818" y="4214818"/>
              <a:ext cx="1857388" cy="1143008"/>
            </a:xfrm>
            <a:prstGeom prst="straightConnector1">
              <a:avLst/>
            </a:prstGeom>
            <a:noFill/>
            <a:ln w="28575" cap="flat" cmpd="sng" algn="ctr">
              <a:solidFill>
                <a:srgbClr val="3333FF"/>
              </a:solidFill>
              <a:prstDash val="solid"/>
              <a:tailEnd type="arrow"/>
            </a:ln>
            <a:effectLst/>
          </p:spPr>
        </p:cxnSp>
        <p:sp>
          <p:nvSpPr>
            <p:cNvPr id="34" name="矩形 33">
              <a:extLst>
                <a:ext uri="{FF2B5EF4-FFF2-40B4-BE49-F238E27FC236}">
                  <a16:creationId xmlns:a16="http://schemas.microsoft.com/office/drawing/2014/main" id="{308B100B-6DFA-4B62-AB84-C9CB74D8EF94}"/>
                </a:ext>
              </a:extLst>
            </p:cNvPr>
            <p:cNvSpPr/>
            <p:nvPr/>
          </p:nvSpPr>
          <p:spPr>
            <a:xfrm>
              <a:off x="2714612" y="5357826"/>
              <a:ext cx="1071570" cy="500066"/>
            </a:xfrm>
            <a:prstGeom prst="rec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7  9</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grpSp>
      <p:sp>
        <p:nvSpPr>
          <p:cNvPr id="35" name="下箭头 90">
            <a:extLst>
              <a:ext uri="{FF2B5EF4-FFF2-40B4-BE49-F238E27FC236}">
                <a16:creationId xmlns:a16="http://schemas.microsoft.com/office/drawing/2014/main" id="{8A5EBADA-9B34-4A0F-B060-327BEC5E629A}"/>
              </a:ext>
            </a:extLst>
          </p:cNvPr>
          <p:cNvSpPr/>
          <p:nvPr/>
        </p:nvSpPr>
        <p:spPr>
          <a:xfrm>
            <a:off x="4285678" y="3324207"/>
            <a:ext cx="285752" cy="428628"/>
          </a:xfrm>
          <a:prstGeom prst="downArrow">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36" name="TextBox 92">
            <a:extLst>
              <a:ext uri="{FF2B5EF4-FFF2-40B4-BE49-F238E27FC236}">
                <a16:creationId xmlns:a16="http://schemas.microsoft.com/office/drawing/2014/main" id="{67E0F8C1-FC70-4DD1-9226-388F2F399A0A}"/>
              </a:ext>
            </a:extLst>
          </p:cNvPr>
          <p:cNvSpPr txBox="1"/>
          <p:nvPr/>
        </p:nvSpPr>
        <p:spPr>
          <a:xfrm>
            <a:off x="7551403" y="5895975"/>
            <a:ext cx="1605266" cy="369332"/>
          </a:xfrm>
          <a:prstGeom prst="rect">
            <a:avLst/>
          </a:prstGeom>
          <a:noFill/>
        </p:spPr>
        <p:txBody>
          <a:bodyPr wrap="square" rtlCol="0">
            <a:spAutoFit/>
          </a:bodyPr>
          <a:lstStyle/>
          <a:p>
            <a:pPr algn="ctr" fontAlgn="base">
              <a:spcBef>
                <a:spcPct val="0"/>
              </a:spcBef>
              <a:spcAft>
                <a:spcPct val="0"/>
              </a:spcAft>
            </a:pPr>
            <a:r>
              <a:rPr kumimoji="1" lang="zh-CN" altLang="en-US" b="1" dirty="0">
                <a:solidFill>
                  <a:srgbClr val="FF00FF"/>
                </a:solidFill>
                <a:latin typeface="Consolas" panose="020B0609020204030204" pitchFamily="49" charset="0"/>
                <a:ea typeface="楷体" panose="02010609060101010101" pitchFamily="49" charset="-122"/>
                <a:cs typeface="Consolas" panose="020B0609020204030204" pitchFamily="49" charset="0"/>
              </a:rPr>
              <a:t>删除完毕</a:t>
            </a:r>
          </a:p>
        </p:txBody>
      </p:sp>
    </p:spTree>
    <p:extLst>
      <p:ext uri="{BB962C8B-B14F-4D97-AF65-F5344CB8AC3E}">
        <p14:creationId xmlns:p14="http://schemas.microsoft.com/office/powerpoint/2010/main" val="226718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19"/>
                                        </p:tgtEl>
                                      </p:cBhvr>
                                    </p:animEffect>
                                    <p:animScale>
                                      <p:cBhvr>
                                        <p:cTn id="10" dur="250" autoRev="1" fill="hold"/>
                                        <p:tgtEl>
                                          <p:spTgt spid="19"/>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8.5.3 B</a:t>
            </a:r>
            <a:r>
              <a:rPr lang="en-US" altLang="zh-CN" b="1" baseline="30000" dirty="0"/>
              <a:t>+</a:t>
            </a:r>
            <a:r>
              <a:rPr lang="zh-CN" altLang="zh-CN" b="1" dirty="0"/>
              <a:t>树</a:t>
            </a:r>
            <a:endParaRPr lang="zh-CN" altLang="en-US" dirty="0"/>
          </a:p>
        </p:txBody>
      </p:sp>
      <p:sp>
        <p:nvSpPr>
          <p:cNvPr id="3" name="内容占位符 2"/>
          <p:cNvSpPr>
            <a:spLocks noGrp="1"/>
          </p:cNvSpPr>
          <p:nvPr>
            <p:ph idx="1"/>
          </p:nvPr>
        </p:nvSpPr>
        <p:spPr>
          <a:xfrm>
            <a:off x="519602" y="1641813"/>
            <a:ext cx="8136904" cy="4320480"/>
          </a:xfrm>
        </p:spPr>
        <p:txBody>
          <a:bodyPr>
            <a:normAutofit/>
          </a:bodyPr>
          <a:lstStyle/>
          <a:p>
            <a:pPr algn="just"/>
            <a:r>
              <a:rPr lang="en-US" altLang="zh-CN" b="0" dirty="0">
                <a:solidFill>
                  <a:srgbClr val="FF0000"/>
                </a:solidFill>
              </a:rPr>
              <a:t>B+</a:t>
            </a:r>
            <a:r>
              <a:rPr lang="zh-CN" altLang="en-US" b="0" dirty="0">
                <a:solidFill>
                  <a:srgbClr val="FF0000"/>
                </a:solidFill>
              </a:rPr>
              <a:t>树是</a:t>
            </a:r>
            <a:r>
              <a:rPr lang="en-US" altLang="zh-CN" b="0" dirty="0">
                <a:solidFill>
                  <a:srgbClr val="FF0000"/>
                </a:solidFill>
              </a:rPr>
              <a:t>B</a:t>
            </a:r>
            <a:r>
              <a:rPr lang="zh-CN" altLang="en-US" b="0" dirty="0">
                <a:solidFill>
                  <a:srgbClr val="FF0000"/>
                </a:solidFill>
              </a:rPr>
              <a:t>树的一种变形，</a:t>
            </a:r>
            <a:r>
              <a:rPr lang="zh-CN" altLang="zh-CN" b="0" dirty="0">
                <a:solidFill>
                  <a:srgbClr val="FF0000"/>
                </a:solidFill>
              </a:rPr>
              <a:t>一棵</a:t>
            </a:r>
            <a:r>
              <a:rPr lang="en-US" altLang="zh-CN" b="0" dirty="0">
                <a:solidFill>
                  <a:srgbClr val="FF0000"/>
                </a:solidFill>
              </a:rPr>
              <a:t>m</a:t>
            </a:r>
            <a:r>
              <a:rPr lang="zh-CN" altLang="zh-CN" b="0" dirty="0">
                <a:solidFill>
                  <a:srgbClr val="FF0000"/>
                </a:solidFill>
              </a:rPr>
              <a:t>阶</a:t>
            </a: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树可以定义如下：</a:t>
            </a:r>
          </a:p>
          <a:p>
            <a:pPr algn="just"/>
            <a:r>
              <a:rPr lang="zh-CN" altLang="zh-CN" b="0" dirty="0"/>
              <a:t>（</a:t>
            </a:r>
            <a:r>
              <a:rPr lang="en-US" altLang="zh-CN" b="0" dirty="0"/>
              <a:t>1</a:t>
            </a:r>
            <a:r>
              <a:rPr lang="zh-CN" altLang="zh-CN" b="0" dirty="0"/>
              <a:t>）每个结点</a:t>
            </a:r>
            <a:r>
              <a:rPr lang="zh-CN" altLang="zh-CN" b="0" dirty="0">
                <a:solidFill>
                  <a:srgbClr val="FF0000"/>
                </a:solidFill>
              </a:rPr>
              <a:t>至多有</a:t>
            </a:r>
            <a:r>
              <a:rPr lang="en-US" altLang="zh-CN" b="0" dirty="0">
                <a:solidFill>
                  <a:srgbClr val="FF0000"/>
                </a:solidFill>
              </a:rPr>
              <a:t>m</a:t>
            </a:r>
            <a:r>
              <a:rPr lang="zh-CN" altLang="zh-CN" b="0" dirty="0">
                <a:solidFill>
                  <a:srgbClr val="FF0000"/>
                </a:solidFill>
              </a:rPr>
              <a:t>个子结点</a:t>
            </a:r>
            <a:r>
              <a:rPr lang="zh-CN" altLang="zh-CN" b="0" dirty="0"/>
              <a:t>。</a:t>
            </a:r>
          </a:p>
          <a:p>
            <a:pPr algn="just"/>
            <a:r>
              <a:rPr lang="zh-CN" altLang="zh-CN" b="0" dirty="0"/>
              <a:t>（</a:t>
            </a:r>
            <a:r>
              <a:rPr lang="en-US" altLang="zh-CN" b="0" dirty="0"/>
              <a:t>2</a:t>
            </a:r>
            <a:r>
              <a:rPr lang="zh-CN" altLang="zh-CN" b="0" dirty="0"/>
              <a:t>）每个结点</a:t>
            </a:r>
            <a:r>
              <a:rPr lang="zh-CN" altLang="zh-CN" b="0" dirty="0">
                <a:solidFill>
                  <a:srgbClr val="FF0000"/>
                </a:solidFill>
              </a:rPr>
              <a:t>（除根结点外）至少有</a:t>
            </a:r>
            <a:r>
              <a:rPr lang="en-US" altLang="zh-CN" b="0" dirty="0">
                <a:solidFill>
                  <a:srgbClr val="FF0000"/>
                </a:solidFill>
              </a:rPr>
              <a:t>⌈m/2⌉</a:t>
            </a:r>
            <a:r>
              <a:rPr lang="zh-CN" altLang="zh-CN" b="0" dirty="0">
                <a:solidFill>
                  <a:srgbClr val="FF0000"/>
                </a:solidFill>
              </a:rPr>
              <a:t>个子结点</a:t>
            </a:r>
            <a:r>
              <a:rPr lang="zh-CN" altLang="zh-CN" b="0" dirty="0"/>
              <a:t>。</a:t>
            </a:r>
          </a:p>
          <a:p>
            <a:pPr algn="just"/>
            <a:r>
              <a:rPr lang="zh-CN" altLang="zh-CN" b="0" dirty="0"/>
              <a:t>（</a:t>
            </a:r>
            <a:r>
              <a:rPr lang="en-US" altLang="zh-CN" b="0" dirty="0"/>
              <a:t>3</a:t>
            </a:r>
            <a:r>
              <a:rPr lang="zh-CN" altLang="zh-CN" b="0" dirty="0"/>
              <a:t>）</a:t>
            </a:r>
            <a:r>
              <a:rPr lang="zh-CN" altLang="zh-CN" b="0" dirty="0">
                <a:solidFill>
                  <a:srgbClr val="FF0000"/>
                </a:solidFill>
              </a:rPr>
              <a:t>根结点至少有两个子结点</a:t>
            </a:r>
            <a:r>
              <a:rPr lang="zh-CN" altLang="zh-CN" b="0" dirty="0"/>
              <a:t>（空树或独根的情况除外）。</a:t>
            </a:r>
          </a:p>
          <a:p>
            <a:pPr algn="just"/>
            <a:r>
              <a:rPr lang="zh-CN" altLang="zh-CN" b="0" dirty="0"/>
              <a:t>（</a:t>
            </a:r>
            <a:r>
              <a:rPr lang="en-US" altLang="zh-CN" b="0" dirty="0"/>
              <a:t>4</a:t>
            </a:r>
            <a:r>
              <a:rPr lang="zh-CN" altLang="zh-CN" b="0" dirty="0"/>
              <a:t>）</a:t>
            </a:r>
            <a:r>
              <a:rPr lang="zh-CN" altLang="zh-CN" b="0" dirty="0">
                <a:solidFill>
                  <a:srgbClr val="FF0000"/>
                </a:solidFill>
              </a:rPr>
              <a:t>所有的终端结点在同一层</a:t>
            </a:r>
            <a:r>
              <a:rPr lang="zh-CN" altLang="zh-CN" b="0" dirty="0"/>
              <a:t>，可以有</a:t>
            </a:r>
            <a:r>
              <a:rPr lang="en-US" altLang="zh-CN" b="0" dirty="0"/>
              <a:t>⌈m/2⌉~m</a:t>
            </a:r>
            <a:r>
              <a:rPr lang="zh-CN" altLang="zh-CN" b="0" dirty="0"/>
              <a:t>个关键字，</a:t>
            </a:r>
            <a:r>
              <a:rPr lang="zh-CN" altLang="zh-CN" b="0" dirty="0">
                <a:solidFill>
                  <a:srgbClr val="FF0000"/>
                </a:solidFill>
              </a:rPr>
              <a:t>终端结点包含全部关键字以及相应的记录信息，终端结点之间可以用双链表顺序链接</a:t>
            </a:r>
            <a:r>
              <a:rPr lang="zh-CN" altLang="zh-CN" b="0" dirty="0"/>
              <a:t>。</a:t>
            </a:r>
          </a:p>
          <a:p>
            <a:pPr algn="just"/>
            <a:r>
              <a:rPr lang="zh-CN" altLang="zh-CN" b="0" dirty="0"/>
              <a:t>（</a:t>
            </a:r>
            <a:r>
              <a:rPr lang="en-US" altLang="zh-CN" b="0" dirty="0"/>
              <a:t>5</a:t>
            </a:r>
            <a:r>
              <a:rPr lang="zh-CN" altLang="zh-CN" b="0" dirty="0"/>
              <a:t>）</a:t>
            </a:r>
            <a:r>
              <a:rPr lang="zh-CN" altLang="zh-CN" b="0" dirty="0">
                <a:solidFill>
                  <a:srgbClr val="FF0000"/>
                </a:solidFill>
              </a:rPr>
              <a:t>有</a:t>
            </a:r>
            <a:r>
              <a:rPr lang="en-US" altLang="zh-CN" b="0" dirty="0">
                <a:solidFill>
                  <a:srgbClr val="FF0000"/>
                </a:solidFill>
              </a:rPr>
              <a:t>k</a:t>
            </a:r>
            <a:r>
              <a:rPr lang="zh-CN" altLang="zh-CN" b="0" dirty="0">
                <a:solidFill>
                  <a:srgbClr val="FF0000"/>
                </a:solidFill>
              </a:rPr>
              <a:t>个子结点的结点（分支结点）必有</a:t>
            </a:r>
            <a:r>
              <a:rPr lang="en-US" altLang="zh-CN" b="0" dirty="0">
                <a:solidFill>
                  <a:srgbClr val="FF0000"/>
                </a:solidFill>
              </a:rPr>
              <a:t>k</a:t>
            </a:r>
            <a:r>
              <a:rPr lang="zh-CN" altLang="zh-CN" b="0" dirty="0">
                <a:solidFill>
                  <a:srgbClr val="FF0000"/>
                </a:solidFill>
              </a:rPr>
              <a:t>个关键字</a:t>
            </a:r>
            <a:r>
              <a:rPr lang="zh-CN" altLang="zh-CN" b="0" dirty="0"/>
              <a:t>。</a:t>
            </a:r>
          </a:p>
        </p:txBody>
      </p:sp>
    </p:spTree>
    <p:extLst>
      <p:ext uri="{BB962C8B-B14F-4D97-AF65-F5344CB8AC3E}">
        <p14:creationId xmlns:p14="http://schemas.microsoft.com/office/powerpoint/2010/main" val="4454254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r>
              <a:rPr lang="zh-CN" altLang="zh-CN" dirty="0">
                <a:solidFill>
                  <a:srgbClr val="FF0000"/>
                </a:solidFill>
              </a:rPr>
              <a:t>一棵</a:t>
            </a:r>
            <a:r>
              <a:rPr lang="en-US" altLang="zh-CN" dirty="0">
                <a:solidFill>
                  <a:srgbClr val="FF0000"/>
                </a:solidFill>
              </a:rPr>
              <a:t>m</a:t>
            </a:r>
            <a:r>
              <a:rPr lang="zh-CN" altLang="zh-CN" dirty="0">
                <a:solidFill>
                  <a:srgbClr val="FF0000"/>
                </a:solidFill>
              </a:rPr>
              <a:t>阶的</a:t>
            </a:r>
            <a:r>
              <a:rPr lang="en-US" altLang="zh-CN" dirty="0">
                <a:solidFill>
                  <a:srgbClr val="FF0000"/>
                </a:solidFill>
              </a:rPr>
              <a:t>B</a:t>
            </a:r>
            <a:r>
              <a:rPr lang="en-US" altLang="zh-CN" baseline="30000" dirty="0">
                <a:solidFill>
                  <a:srgbClr val="FF0000"/>
                </a:solidFill>
              </a:rPr>
              <a:t>+</a:t>
            </a:r>
            <a:r>
              <a:rPr lang="zh-CN" altLang="zh-CN" dirty="0">
                <a:solidFill>
                  <a:srgbClr val="FF0000"/>
                </a:solidFill>
              </a:rPr>
              <a:t>树和</a:t>
            </a:r>
            <a:r>
              <a:rPr lang="en-US" altLang="zh-CN" dirty="0">
                <a:solidFill>
                  <a:srgbClr val="FF0000"/>
                </a:solidFill>
              </a:rPr>
              <a:t>m</a:t>
            </a:r>
            <a:r>
              <a:rPr lang="zh-CN" altLang="zh-CN" dirty="0">
                <a:solidFill>
                  <a:srgbClr val="FF0000"/>
                </a:solidFill>
              </a:rPr>
              <a:t>阶的</a:t>
            </a:r>
            <a:r>
              <a:rPr lang="en-US" altLang="zh-CN" dirty="0">
                <a:solidFill>
                  <a:srgbClr val="FF0000"/>
                </a:solidFill>
              </a:rPr>
              <a:t>B</a:t>
            </a:r>
            <a:r>
              <a:rPr lang="zh-CN" altLang="zh-CN" dirty="0">
                <a:solidFill>
                  <a:srgbClr val="FF0000"/>
                </a:solidFill>
              </a:rPr>
              <a:t>树的差异在于：</a:t>
            </a:r>
          </a:p>
          <a:p>
            <a:pPr algn="just"/>
            <a:r>
              <a:rPr lang="zh-CN" altLang="zh-CN" b="0" dirty="0"/>
              <a:t>（</a:t>
            </a:r>
            <a:r>
              <a:rPr lang="en-US" altLang="zh-CN" b="0" dirty="0"/>
              <a:t>1</a:t>
            </a:r>
            <a:r>
              <a:rPr lang="zh-CN" altLang="zh-CN" b="0" dirty="0"/>
              <a:t>）有</a:t>
            </a:r>
            <a:r>
              <a:rPr lang="en-US" altLang="zh-CN" b="0" dirty="0"/>
              <a:t>n</a:t>
            </a:r>
            <a:r>
              <a:rPr lang="zh-CN" altLang="zh-CN" b="0" dirty="0"/>
              <a:t>棵子树的结点中含有</a:t>
            </a:r>
            <a:r>
              <a:rPr lang="en-US" altLang="zh-CN" b="0" dirty="0"/>
              <a:t>n</a:t>
            </a:r>
            <a:r>
              <a:rPr lang="zh-CN" altLang="zh-CN" b="0" dirty="0"/>
              <a:t>个关键字；</a:t>
            </a:r>
          </a:p>
          <a:p>
            <a:pPr algn="just"/>
            <a:r>
              <a:rPr lang="zh-CN" altLang="zh-CN" b="0" dirty="0"/>
              <a:t>（</a:t>
            </a:r>
            <a:r>
              <a:rPr lang="en-US" altLang="zh-CN" b="0" dirty="0"/>
              <a:t>2</a:t>
            </a:r>
            <a:r>
              <a:rPr lang="zh-CN" altLang="zh-CN" b="0" dirty="0"/>
              <a:t>）</a:t>
            </a:r>
            <a:r>
              <a:rPr lang="zh-CN" altLang="zh-CN" b="0" dirty="0">
                <a:solidFill>
                  <a:srgbClr val="FF0000"/>
                </a:solidFill>
              </a:rPr>
              <a:t>所有的叶子结点中包含了全部关键字的信息</a:t>
            </a:r>
            <a:r>
              <a:rPr lang="zh-CN" altLang="zh-CN" b="0" dirty="0"/>
              <a:t>，及指向含这些关键字记录的指针，且叶子结点本身依关键字的大小自小到大顺序链接；</a:t>
            </a:r>
          </a:p>
          <a:p>
            <a:pPr algn="just"/>
            <a:r>
              <a:rPr lang="zh-CN" altLang="zh-CN" b="0" dirty="0"/>
              <a:t>（</a:t>
            </a:r>
            <a:r>
              <a:rPr lang="en-US" altLang="zh-CN" b="0" dirty="0"/>
              <a:t>3</a:t>
            </a:r>
            <a:r>
              <a:rPr lang="zh-CN" altLang="zh-CN" b="0" dirty="0"/>
              <a:t>）</a:t>
            </a:r>
            <a:r>
              <a:rPr lang="zh-CN" altLang="zh-CN" b="0" dirty="0">
                <a:solidFill>
                  <a:srgbClr val="FF0000"/>
                </a:solidFill>
              </a:rPr>
              <a:t>所有的非终结点可以看成是索引部分</a:t>
            </a:r>
            <a:r>
              <a:rPr lang="zh-CN" altLang="zh-CN" b="0" dirty="0"/>
              <a:t>，结点中仅含有其子树（根结点）中的最大（或最小）关键字。</a:t>
            </a:r>
          </a:p>
        </p:txBody>
      </p:sp>
    </p:spTree>
    <p:extLst>
      <p:ext uri="{BB962C8B-B14F-4D97-AF65-F5344CB8AC3E}">
        <p14:creationId xmlns:p14="http://schemas.microsoft.com/office/powerpoint/2010/main" val="145595092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6">
            <a:extLst>
              <a:ext uri="{FF2B5EF4-FFF2-40B4-BE49-F238E27FC236}">
                <a16:creationId xmlns:a16="http://schemas.microsoft.com/office/drawing/2014/main" id="{881D9267-00FC-40C8-A05F-6E589436AA8D}"/>
              </a:ext>
            </a:extLst>
          </p:cNvPr>
          <p:cNvGrpSpPr/>
          <p:nvPr/>
        </p:nvGrpSpPr>
        <p:grpSpPr>
          <a:xfrm>
            <a:off x="323528" y="1412776"/>
            <a:ext cx="8704421" cy="4714909"/>
            <a:chOff x="215436" y="1500173"/>
            <a:chExt cx="8774705" cy="4714909"/>
          </a:xfrm>
        </p:grpSpPr>
        <p:sp>
          <p:nvSpPr>
            <p:cNvPr id="5" name="矩形 4">
              <a:extLst>
                <a:ext uri="{FF2B5EF4-FFF2-40B4-BE49-F238E27FC236}">
                  <a16:creationId xmlns:a16="http://schemas.microsoft.com/office/drawing/2014/main" id="{8029EEE0-4603-44BA-95F6-B6E704782363}"/>
                </a:ext>
              </a:extLst>
            </p:cNvPr>
            <p:cNvSpPr/>
            <p:nvPr/>
          </p:nvSpPr>
          <p:spPr>
            <a:xfrm>
              <a:off x="3992628" y="1658331"/>
              <a:ext cx="1008000"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31 </a:t>
              </a: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52</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6" name="矩形 5">
              <a:extLst>
                <a:ext uri="{FF2B5EF4-FFF2-40B4-BE49-F238E27FC236}">
                  <a16:creationId xmlns:a16="http://schemas.microsoft.com/office/drawing/2014/main" id="{D302D386-7B5D-47B5-891E-C89722FE9A5A}"/>
                </a:ext>
              </a:extLst>
            </p:cNvPr>
            <p:cNvSpPr/>
            <p:nvPr/>
          </p:nvSpPr>
          <p:spPr>
            <a:xfrm>
              <a:off x="2143108" y="2804711"/>
              <a:ext cx="1285884"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15 22 31</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7" name="矩形 6">
              <a:extLst>
                <a:ext uri="{FF2B5EF4-FFF2-40B4-BE49-F238E27FC236}">
                  <a16:creationId xmlns:a16="http://schemas.microsoft.com/office/drawing/2014/main" id="{E192C773-DD35-4C70-8401-402104CBBE8B}"/>
                </a:ext>
              </a:extLst>
            </p:cNvPr>
            <p:cNvSpPr/>
            <p:nvPr/>
          </p:nvSpPr>
          <p:spPr>
            <a:xfrm>
              <a:off x="6000760" y="2804711"/>
              <a:ext cx="1008000"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47  52</a:t>
              </a:r>
              <a:endParaRPr kumimoji="1" lang="zh-CN" altLang="en-US" sz="20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8" name="矩形 7">
              <a:extLst>
                <a:ext uri="{FF2B5EF4-FFF2-40B4-BE49-F238E27FC236}">
                  <a16:creationId xmlns:a16="http://schemas.microsoft.com/office/drawing/2014/main" id="{4B8FE996-0A2B-491F-82F4-97961305C733}"/>
                </a:ext>
              </a:extLst>
            </p:cNvPr>
            <p:cNvSpPr/>
            <p:nvPr/>
          </p:nvSpPr>
          <p:spPr>
            <a:xfrm>
              <a:off x="714348" y="4019157"/>
              <a:ext cx="1143008"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10 12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15</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9" name="矩形 8">
              <a:extLst>
                <a:ext uri="{FF2B5EF4-FFF2-40B4-BE49-F238E27FC236}">
                  <a16:creationId xmlns:a16="http://schemas.microsoft.com/office/drawing/2014/main" id="{E5434578-04CA-497C-893C-EF5C048B509C}"/>
                </a:ext>
              </a:extLst>
            </p:cNvPr>
            <p:cNvSpPr/>
            <p:nvPr/>
          </p:nvSpPr>
          <p:spPr>
            <a:xfrm>
              <a:off x="2071670" y="4019157"/>
              <a:ext cx="1500198"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18 19 20 22</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0" name="矩形 9">
              <a:extLst>
                <a:ext uri="{FF2B5EF4-FFF2-40B4-BE49-F238E27FC236}">
                  <a16:creationId xmlns:a16="http://schemas.microsoft.com/office/drawing/2014/main" id="{FE891FCE-017F-4267-A596-9668CE9323FE}"/>
                </a:ext>
              </a:extLst>
            </p:cNvPr>
            <p:cNvSpPr/>
            <p:nvPr/>
          </p:nvSpPr>
          <p:spPr>
            <a:xfrm>
              <a:off x="3786182" y="4019157"/>
              <a:ext cx="1214446"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23 30 </a:t>
              </a:r>
              <a:r>
                <a:rPr kumimoji="1" lang="en-US" altLang="zh-CN"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31</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1" name="矩形 10">
              <a:extLst>
                <a:ext uri="{FF2B5EF4-FFF2-40B4-BE49-F238E27FC236}">
                  <a16:creationId xmlns:a16="http://schemas.microsoft.com/office/drawing/2014/main" id="{6FFDB171-7E4B-421A-978F-9D70CF98E137}"/>
                </a:ext>
              </a:extLst>
            </p:cNvPr>
            <p:cNvSpPr/>
            <p:nvPr/>
          </p:nvSpPr>
          <p:spPr>
            <a:xfrm>
              <a:off x="5214942" y="4019157"/>
              <a:ext cx="1214446"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33 45 47</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12" name="矩形 11">
              <a:extLst>
                <a:ext uri="{FF2B5EF4-FFF2-40B4-BE49-F238E27FC236}">
                  <a16:creationId xmlns:a16="http://schemas.microsoft.com/office/drawing/2014/main" id="{C6013348-AEF4-436C-A723-FED4D58241FC}"/>
                </a:ext>
              </a:extLst>
            </p:cNvPr>
            <p:cNvSpPr/>
            <p:nvPr/>
          </p:nvSpPr>
          <p:spPr>
            <a:xfrm>
              <a:off x="6643702" y="4019157"/>
              <a:ext cx="1143008" cy="432000"/>
            </a:xfrm>
            <a:prstGeom prst="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rPr>
                <a:t>48 50 52</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cxnSp>
          <p:nvCxnSpPr>
            <p:cNvPr id="13" name="直接箭头连接符 12">
              <a:extLst>
                <a:ext uri="{FF2B5EF4-FFF2-40B4-BE49-F238E27FC236}">
                  <a16:creationId xmlns:a16="http://schemas.microsoft.com/office/drawing/2014/main" id="{2D0C451E-8CCE-483E-A03C-2C81C07DE41F}"/>
                </a:ext>
              </a:extLst>
            </p:cNvPr>
            <p:cNvCxnSpPr>
              <a:stCxn id="8" idx="3"/>
              <a:endCxn id="9" idx="1"/>
            </p:cNvCxnSpPr>
            <p:nvPr/>
          </p:nvCxnSpPr>
          <p:spPr>
            <a:xfrm>
              <a:off x="1857356" y="4235157"/>
              <a:ext cx="214314" cy="1588"/>
            </a:xfrm>
            <a:prstGeom prst="straightConnector1">
              <a:avLst/>
            </a:prstGeom>
            <a:noFill/>
            <a:ln w="28575" cap="flat" cmpd="sng" algn="ctr">
              <a:solidFill>
                <a:srgbClr val="3333FF"/>
              </a:solidFill>
              <a:prstDash val="solid"/>
              <a:tailEnd type="arrow"/>
            </a:ln>
            <a:effectLst/>
          </p:spPr>
        </p:cxnSp>
        <p:cxnSp>
          <p:nvCxnSpPr>
            <p:cNvPr id="14" name="直接箭头连接符 13">
              <a:extLst>
                <a:ext uri="{FF2B5EF4-FFF2-40B4-BE49-F238E27FC236}">
                  <a16:creationId xmlns:a16="http://schemas.microsoft.com/office/drawing/2014/main" id="{BDDCBAA7-9DD3-4654-8EEF-9F1C5507310A}"/>
                </a:ext>
              </a:extLst>
            </p:cNvPr>
            <p:cNvCxnSpPr/>
            <p:nvPr/>
          </p:nvCxnSpPr>
          <p:spPr>
            <a:xfrm>
              <a:off x="3567106" y="4233471"/>
              <a:ext cx="214314" cy="1588"/>
            </a:xfrm>
            <a:prstGeom prst="straightConnector1">
              <a:avLst/>
            </a:prstGeom>
            <a:noFill/>
            <a:ln w="28575" cap="flat" cmpd="sng" algn="ctr">
              <a:solidFill>
                <a:srgbClr val="3333FF"/>
              </a:solidFill>
              <a:prstDash val="solid"/>
              <a:tailEnd type="arrow"/>
            </a:ln>
            <a:effectLst/>
          </p:spPr>
        </p:cxnSp>
        <p:cxnSp>
          <p:nvCxnSpPr>
            <p:cNvPr id="15" name="直接箭头连接符 14">
              <a:extLst>
                <a:ext uri="{FF2B5EF4-FFF2-40B4-BE49-F238E27FC236}">
                  <a16:creationId xmlns:a16="http://schemas.microsoft.com/office/drawing/2014/main" id="{ADDF2081-C3B3-4352-BB43-E0C96198F72A}"/>
                </a:ext>
              </a:extLst>
            </p:cNvPr>
            <p:cNvCxnSpPr/>
            <p:nvPr/>
          </p:nvCxnSpPr>
          <p:spPr>
            <a:xfrm>
              <a:off x="5026028" y="4233471"/>
              <a:ext cx="214314" cy="1588"/>
            </a:xfrm>
            <a:prstGeom prst="straightConnector1">
              <a:avLst/>
            </a:prstGeom>
            <a:noFill/>
            <a:ln w="28575" cap="flat" cmpd="sng" algn="ctr">
              <a:solidFill>
                <a:srgbClr val="3333FF"/>
              </a:solidFill>
              <a:prstDash val="solid"/>
              <a:tailEnd type="arrow"/>
            </a:ln>
            <a:effectLst/>
          </p:spPr>
        </p:cxnSp>
        <p:cxnSp>
          <p:nvCxnSpPr>
            <p:cNvPr id="16" name="直接箭头连接符 15">
              <a:extLst>
                <a:ext uri="{FF2B5EF4-FFF2-40B4-BE49-F238E27FC236}">
                  <a16:creationId xmlns:a16="http://schemas.microsoft.com/office/drawing/2014/main" id="{F7C0A97B-C6AB-4A73-8FD4-2753AA934B6F}"/>
                </a:ext>
              </a:extLst>
            </p:cNvPr>
            <p:cNvCxnSpPr/>
            <p:nvPr/>
          </p:nvCxnSpPr>
          <p:spPr>
            <a:xfrm>
              <a:off x="6429388" y="4233471"/>
              <a:ext cx="214314" cy="1588"/>
            </a:xfrm>
            <a:prstGeom prst="straightConnector1">
              <a:avLst/>
            </a:prstGeom>
            <a:noFill/>
            <a:ln w="28575" cap="flat" cmpd="sng" algn="ctr">
              <a:solidFill>
                <a:srgbClr val="3333FF"/>
              </a:solidFill>
              <a:prstDash val="solid"/>
              <a:tailEnd type="arrow"/>
            </a:ln>
            <a:effectLst/>
          </p:spPr>
        </p:cxnSp>
        <p:cxnSp>
          <p:nvCxnSpPr>
            <p:cNvPr id="17" name="直接箭头连接符 16">
              <a:extLst>
                <a:ext uri="{FF2B5EF4-FFF2-40B4-BE49-F238E27FC236}">
                  <a16:creationId xmlns:a16="http://schemas.microsoft.com/office/drawing/2014/main" id="{DBBFC482-EB5F-4CD4-809B-1FF3F07F72D8}"/>
                </a:ext>
              </a:extLst>
            </p:cNvPr>
            <p:cNvCxnSpPr>
              <a:endCxn id="8" idx="0"/>
            </p:cNvCxnSpPr>
            <p:nvPr/>
          </p:nvCxnSpPr>
          <p:spPr>
            <a:xfrm rot="10800000" flipV="1">
              <a:off x="1285852" y="3161901"/>
              <a:ext cx="1071570" cy="857256"/>
            </a:xfrm>
            <a:prstGeom prst="straightConnector1">
              <a:avLst/>
            </a:prstGeom>
            <a:noFill/>
            <a:ln w="28575" cap="flat" cmpd="sng" algn="ctr">
              <a:solidFill>
                <a:srgbClr val="3333FF"/>
              </a:solidFill>
              <a:prstDash val="solid"/>
              <a:tailEnd type="arrow"/>
            </a:ln>
            <a:effectLst/>
          </p:spPr>
        </p:cxnSp>
        <p:cxnSp>
          <p:nvCxnSpPr>
            <p:cNvPr id="18" name="直接箭头连接符 17">
              <a:extLst>
                <a:ext uri="{FF2B5EF4-FFF2-40B4-BE49-F238E27FC236}">
                  <a16:creationId xmlns:a16="http://schemas.microsoft.com/office/drawing/2014/main" id="{2EFBC35E-D8DE-4D4C-BCA1-9E63D9D288F0}"/>
                </a:ext>
              </a:extLst>
            </p:cNvPr>
            <p:cNvCxnSpPr/>
            <p:nvPr/>
          </p:nvCxnSpPr>
          <p:spPr>
            <a:xfrm rot="16200000" flipH="1">
              <a:off x="2366609" y="3565388"/>
              <a:ext cx="900000" cy="35719"/>
            </a:xfrm>
            <a:prstGeom prst="straightConnector1">
              <a:avLst/>
            </a:prstGeom>
            <a:noFill/>
            <a:ln w="28575" cap="flat" cmpd="sng" algn="ctr">
              <a:solidFill>
                <a:srgbClr val="3333FF"/>
              </a:solidFill>
              <a:prstDash val="solid"/>
              <a:tailEnd type="arrow"/>
            </a:ln>
            <a:effectLst/>
          </p:spPr>
        </p:cxnSp>
        <p:cxnSp>
          <p:nvCxnSpPr>
            <p:cNvPr id="19" name="直接箭头连接符 18">
              <a:extLst>
                <a:ext uri="{FF2B5EF4-FFF2-40B4-BE49-F238E27FC236}">
                  <a16:creationId xmlns:a16="http://schemas.microsoft.com/office/drawing/2014/main" id="{1C67C722-615E-4BD2-A0D1-374D5CB9D189}"/>
                </a:ext>
              </a:extLst>
            </p:cNvPr>
            <p:cNvCxnSpPr>
              <a:endCxn id="10" idx="0"/>
            </p:cNvCxnSpPr>
            <p:nvPr/>
          </p:nvCxnSpPr>
          <p:spPr>
            <a:xfrm>
              <a:off x="3143240" y="3161901"/>
              <a:ext cx="1250165" cy="857256"/>
            </a:xfrm>
            <a:prstGeom prst="straightConnector1">
              <a:avLst/>
            </a:prstGeom>
            <a:noFill/>
            <a:ln w="28575" cap="flat" cmpd="sng" algn="ctr">
              <a:solidFill>
                <a:srgbClr val="3333FF"/>
              </a:solidFill>
              <a:prstDash val="solid"/>
              <a:tailEnd type="arrow"/>
            </a:ln>
            <a:effectLst/>
          </p:spPr>
        </p:cxnSp>
        <p:cxnSp>
          <p:nvCxnSpPr>
            <p:cNvPr id="20" name="直接箭头连接符 19">
              <a:extLst>
                <a:ext uri="{FF2B5EF4-FFF2-40B4-BE49-F238E27FC236}">
                  <a16:creationId xmlns:a16="http://schemas.microsoft.com/office/drawing/2014/main" id="{05103A38-A257-47F7-A162-00092C3F0E41}"/>
                </a:ext>
              </a:extLst>
            </p:cNvPr>
            <p:cNvCxnSpPr>
              <a:endCxn id="11" idx="0"/>
            </p:cNvCxnSpPr>
            <p:nvPr/>
          </p:nvCxnSpPr>
          <p:spPr>
            <a:xfrm rot="5400000">
              <a:off x="5625712" y="3358357"/>
              <a:ext cx="857254" cy="464347"/>
            </a:xfrm>
            <a:prstGeom prst="straightConnector1">
              <a:avLst/>
            </a:prstGeom>
            <a:noFill/>
            <a:ln w="28575" cap="flat" cmpd="sng" algn="ctr">
              <a:solidFill>
                <a:srgbClr val="3333FF"/>
              </a:solidFill>
              <a:prstDash val="solid"/>
              <a:tailEnd type="arrow"/>
            </a:ln>
            <a:effectLst/>
          </p:spPr>
        </p:cxnSp>
        <p:cxnSp>
          <p:nvCxnSpPr>
            <p:cNvPr id="21" name="直接箭头连接符 20">
              <a:extLst>
                <a:ext uri="{FF2B5EF4-FFF2-40B4-BE49-F238E27FC236}">
                  <a16:creationId xmlns:a16="http://schemas.microsoft.com/office/drawing/2014/main" id="{98C5186F-CD53-4D54-8C65-D8A86D98D4F0}"/>
                </a:ext>
              </a:extLst>
            </p:cNvPr>
            <p:cNvCxnSpPr>
              <a:endCxn id="12" idx="0"/>
            </p:cNvCxnSpPr>
            <p:nvPr/>
          </p:nvCxnSpPr>
          <p:spPr>
            <a:xfrm rot="16200000" flipH="1">
              <a:off x="6536545" y="3340496"/>
              <a:ext cx="857256" cy="500066"/>
            </a:xfrm>
            <a:prstGeom prst="straightConnector1">
              <a:avLst/>
            </a:prstGeom>
            <a:noFill/>
            <a:ln w="28575" cap="flat" cmpd="sng" algn="ctr">
              <a:solidFill>
                <a:srgbClr val="3333FF"/>
              </a:solidFill>
              <a:prstDash val="solid"/>
              <a:tailEnd type="arrow"/>
            </a:ln>
            <a:effectLst/>
          </p:spPr>
        </p:cxnSp>
        <p:cxnSp>
          <p:nvCxnSpPr>
            <p:cNvPr id="22" name="直接箭头连接符 21">
              <a:extLst>
                <a:ext uri="{FF2B5EF4-FFF2-40B4-BE49-F238E27FC236}">
                  <a16:creationId xmlns:a16="http://schemas.microsoft.com/office/drawing/2014/main" id="{4F62AEB1-5953-4E9A-93C1-86B8C09D8013}"/>
                </a:ext>
              </a:extLst>
            </p:cNvPr>
            <p:cNvCxnSpPr>
              <a:endCxn id="6" idx="0"/>
            </p:cNvCxnSpPr>
            <p:nvPr/>
          </p:nvCxnSpPr>
          <p:spPr>
            <a:xfrm rot="10800000" flipV="1">
              <a:off x="2786050" y="2018893"/>
              <a:ext cx="1500198" cy="785818"/>
            </a:xfrm>
            <a:prstGeom prst="straightConnector1">
              <a:avLst/>
            </a:prstGeom>
            <a:noFill/>
            <a:ln w="28575" cap="flat" cmpd="sng" algn="ctr">
              <a:solidFill>
                <a:srgbClr val="3333FF"/>
              </a:solidFill>
              <a:prstDash val="solid"/>
              <a:tailEnd type="arrow"/>
            </a:ln>
            <a:effectLst/>
          </p:spPr>
        </p:cxnSp>
        <p:cxnSp>
          <p:nvCxnSpPr>
            <p:cNvPr id="23" name="直接箭头连接符 22">
              <a:extLst>
                <a:ext uri="{FF2B5EF4-FFF2-40B4-BE49-F238E27FC236}">
                  <a16:creationId xmlns:a16="http://schemas.microsoft.com/office/drawing/2014/main" id="{36ECAB60-4A0A-4A81-85D3-0639A610DDA7}"/>
                </a:ext>
              </a:extLst>
            </p:cNvPr>
            <p:cNvCxnSpPr>
              <a:endCxn id="7" idx="0"/>
            </p:cNvCxnSpPr>
            <p:nvPr/>
          </p:nvCxnSpPr>
          <p:spPr>
            <a:xfrm>
              <a:off x="4714876" y="2018893"/>
              <a:ext cx="1789884" cy="785818"/>
            </a:xfrm>
            <a:prstGeom prst="straightConnector1">
              <a:avLst/>
            </a:prstGeom>
            <a:noFill/>
            <a:ln w="28575" cap="flat" cmpd="sng" algn="ctr">
              <a:solidFill>
                <a:srgbClr val="3333FF"/>
              </a:solidFill>
              <a:prstDash val="solid"/>
              <a:tailEnd type="arrow"/>
            </a:ln>
            <a:effectLst/>
          </p:spPr>
        </p:cxnSp>
        <p:cxnSp>
          <p:nvCxnSpPr>
            <p:cNvPr id="24" name="直接箭头连接符 23">
              <a:extLst>
                <a:ext uri="{FF2B5EF4-FFF2-40B4-BE49-F238E27FC236}">
                  <a16:creationId xmlns:a16="http://schemas.microsoft.com/office/drawing/2014/main" id="{5B94F038-27D4-4F7F-A85A-BB56B64C8C52}"/>
                </a:ext>
              </a:extLst>
            </p:cNvPr>
            <p:cNvCxnSpPr/>
            <p:nvPr/>
          </p:nvCxnSpPr>
          <p:spPr>
            <a:xfrm rot="5400000">
              <a:off x="663548" y="4594033"/>
              <a:ext cx="428628" cy="1588"/>
            </a:xfrm>
            <a:prstGeom prst="straightConnector1">
              <a:avLst/>
            </a:prstGeom>
            <a:noFill/>
            <a:ln w="28575" cap="flat" cmpd="sng" algn="ctr">
              <a:solidFill>
                <a:srgbClr val="3333FF"/>
              </a:solidFill>
              <a:prstDash val="solid"/>
              <a:tailEnd type="arrow"/>
            </a:ln>
            <a:effectLst/>
          </p:spPr>
        </p:cxnSp>
        <p:sp>
          <p:nvSpPr>
            <p:cNvPr id="25" name="TextBox 25">
              <a:extLst>
                <a:ext uri="{FF2B5EF4-FFF2-40B4-BE49-F238E27FC236}">
                  <a16:creationId xmlns:a16="http://schemas.microsoft.com/office/drawing/2014/main" id="{2FAF5C24-8871-47EE-84A9-1218ECA265EC}"/>
                </a:ext>
              </a:extLst>
            </p:cNvPr>
            <p:cNvSpPr txBox="1"/>
            <p:nvPr/>
          </p:nvSpPr>
          <p:spPr>
            <a:xfrm>
              <a:off x="750046" y="4841685"/>
              <a:ext cx="321499"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6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rPr>
                <a:t>张三</a:t>
              </a:r>
            </a:p>
          </p:txBody>
        </p:sp>
        <p:cxnSp>
          <p:nvCxnSpPr>
            <p:cNvPr id="26" name="直接箭头连接符 25">
              <a:extLst>
                <a:ext uri="{FF2B5EF4-FFF2-40B4-BE49-F238E27FC236}">
                  <a16:creationId xmlns:a16="http://schemas.microsoft.com/office/drawing/2014/main" id="{86F8757E-0782-4136-912D-69A28398AC5B}"/>
                </a:ext>
              </a:extLst>
            </p:cNvPr>
            <p:cNvCxnSpPr/>
            <p:nvPr/>
          </p:nvCxnSpPr>
          <p:spPr>
            <a:xfrm rot="5400000">
              <a:off x="1064043" y="4593239"/>
              <a:ext cx="428628" cy="1588"/>
            </a:xfrm>
            <a:prstGeom prst="straightConnector1">
              <a:avLst/>
            </a:prstGeom>
            <a:noFill/>
            <a:ln w="28575" cap="flat" cmpd="sng" algn="ctr">
              <a:solidFill>
                <a:srgbClr val="3333FF"/>
              </a:solidFill>
              <a:prstDash val="solid"/>
              <a:tailEnd type="arrow"/>
            </a:ln>
            <a:effectLst/>
          </p:spPr>
        </p:cxnSp>
        <p:sp>
          <p:nvSpPr>
            <p:cNvPr id="27" name="TextBox 27">
              <a:extLst>
                <a:ext uri="{FF2B5EF4-FFF2-40B4-BE49-F238E27FC236}">
                  <a16:creationId xmlns:a16="http://schemas.microsoft.com/office/drawing/2014/main" id="{296C695B-8A92-4D35-9CA6-133BBF82731A}"/>
                </a:ext>
              </a:extLst>
            </p:cNvPr>
            <p:cNvSpPr txBox="1"/>
            <p:nvPr/>
          </p:nvSpPr>
          <p:spPr>
            <a:xfrm>
              <a:off x="1119515"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28" name="直接箭头连接符 27">
              <a:extLst>
                <a:ext uri="{FF2B5EF4-FFF2-40B4-BE49-F238E27FC236}">
                  <a16:creationId xmlns:a16="http://schemas.microsoft.com/office/drawing/2014/main" id="{F63C1A50-5DD2-4449-8E2C-77867E605BA1}"/>
                </a:ext>
              </a:extLst>
            </p:cNvPr>
            <p:cNvCxnSpPr/>
            <p:nvPr/>
          </p:nvCxnSpPr>
          <p:spPr>
            <a:xfrm rot="5400000">
              <a:off x="1462059" y="4593239"/>
              <a:ext cx="428628" cy="1588"/>
            </a:xfrm>
            <a:prstGeom prst="straightConnector1">
              <a:avLst/>
            </a:prstGeom>
            <a:noFill/>
            <a:ln w="28575" cap="flat" cmpd="sng" algn="ctr">
              <a:solidFill>
                <a:srgbClr val="3333FF"/>
              </a:solidFill>
              <a:prstDash val="solid"/>
              <a:tailEnd type="arrow"/>
            </a:ln>
            <a:effectLst/>
          </p:spPr>
        </p:cxnSp>
        <p:sp>
          <p:nvSpPr>
            <p:cNvPr id="29" name="TextBox 29">
              <a:extLst>
                <a:ext uri="{FF2B5EF4-FFF2-40B4-BE49-F238E27FC236}">
                  <a16:creationId xmlns:a16="http://schemas.microsoft.com/office/drawing/2014/main" id="{AB0D9705-854C-4BDA-ADE3-D46750C28A8E}"/>
                </a:ext>
              </a:extLst>
            </p:cNvPr>
            <p:cNvSpPr txBox="1"/>
            <p:nvPr/>
          </p:nvSpPr>
          <p:spPr>
            <a:xfrm>
              <a:off x="1517531"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30" name="直接箭头连接符 29">
              <a:extLst>
                <a:ext uri="{FF2B5EF4-FFF2-40B4-BE49-F238E27FC236}">
                  <a16:creationId xmlns:a16="http://schemas.microsoft.com/office/drawing/2014/main" id="{BB76566E-93A1-4193-8857-0D235303F94E}"/>
                </a:ext>
              </a:extLst>
            </p:cNvPr>
            <p:cNvCxnSpPr/>
            <p:nvPr/>
          </p:nvCxnSpPr>
          <p:spPr>
            <a:xfrm rot="5400000">
              <a:off x="3748525" y="4594033"/>
              <a:ext cx="428628" cy="1588"/>
            </a:xfrm>
            <a:prstGeom prst="straightConnector1">
              <a:avLst/>
            </a:prstGeom>
            <a:noFill/>
            <a:ln w="28575" cap="flat" cmpd="sng" algn="ctr">
              <a:solidFill>
                <a:srgbClr val="3333FF"/>
              </a:solidFill>
              <a:prstDash val="solid"/>
              <a:tailEnd type="arrow"/>
            </a:ln>
            <a:effectLst/>
          </p:spPr>
        </p:cxnSp>
        <p:sp>
          <p:nvSpPr>
            <p:cNvPr id="31" name="TextBox 31">
              <a:extLst>
                <a:ext uri="{FF2B5EF4-FFF2-40B4-BE49-F238E27FC236}">
                  <a16:creationId xmlns:a16="http://schemas.microsoft.com/office/drawing/2014/main" id="{79BDBCB1-BCA3-4B0F-9439-4D1C1E1DF27E}"/>
                </a:ext>
              </a:extLst>
            </p:cNvPr>
            <p:cNvSpPr txBox="1"/>
            <p:nvPr/>
          </p:nvSpPr>
          <p:spPr>
            <a:xfrm>
              <a:off x="3803997" y="4841685"/>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32" name="直接箭头连接符 31">
              <a:extLst>
                <a:ext uri="{FF2B5EF4-FFF2-40B4-BE49-F238E27FC236}">
                  <a16:creationId xmlns:a16="http://schemas.microsoft.com/office/drawing/2014/main" id="{18771A31-7B02-4049-AA95-3B19989C7B2D}"/>
                </a:ext>
              </a:extLst>
            </p:cNvPr>
            <p:cNvCxnSpPr/>
            <p:nvPr/>
          </p:nvCxnSpPr>
          <p:spPr>
            <a:xfrm rot="5400000">
              <a:off x="4149020" y="4593239"/>
              <a:ext cx="428628" cy="1588"/>
            </a:xfrm>
            <a:prstGeom prst="straightConnector1">
              <a:avLst/>
            </a:prstGeom>
            <a:noFill/>
            <a:ln w="28575" cap="flat" cmpd="sng" algn="ctr">
              <a:solidFill>
                <a:srgbClr val="3333FF"/>
              </a:solidFill>
              <a:prstDash val="solid"/>
              <a:tailEnd type="arrow"/>
            </a:ln>
            <a:effectLst/>
          </p:spPr>
        </p:cxnSp>
        <p:sp>
          <p:nvSpPr>
            <p:cNvPr id="33" name="TextBox 33">
              <a:extLst>
                <a:ext uri="{FF2B5EF4-FFF2-40B4-BE49-F238E27FC236}">
                  <a16:creationId xmlns:a16="http://schemas.microsoft.com/office/drawing/2014/main" id="{796C397C-B91A-4C40-A472-65A300DD6C5F}"/>
                </a:ext>
              </a:extLst>
            </p:cNvPr>
            <p:cNvSpPr txBox="1"/>
            <p:nvPr/>
          </p:nvSpPr>
          <p:spPr>
            <a:xfrm>
              <a:off x="4204492"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34" name="直接箭头连接符 33">
              <a:extLst>
                <a:ext uri="{FF2B5EF4-FFF2-40B4-BE49-F238E27FC236}">
                  <a16:creationId xmlns:a16="http://schemas.microsoft.com/office/drawing/2014/main" id="{C4DE7574-A464-4486-B161-8A59FC6D6EC3}"/>
                </a:ext>
              </a:extLst>
            </p:cNvPr>
            <p:cNvCxnSpPr/>
            <p:nvPr/>
          </p:nvCxnSpPr>
          <p:spPr>
            <a:xfrm rot="5400000">
              <a:off x="4547036" y="4593239"/>
              <a:ext cx="428628" cy="1588"/>
            </a:xfrm>
            <a:prstGeom prst="straightConnector1">
              <a:avLst/>
            </a:prstGeom>
            <a:noFill/>
            <a:ln w="28575" cap="flat" cmpd="sng" algn="ctr">
              <a:solidFill>
                <a:srgbClr val="3333FF"/>
              </a:solidFill>
              <a:prstDash val="solid"/>
              <a:tailEnd type="arrow"/>
            </a:ln>
            <a:effectLst/>
          </p:spPr>
        </p:cxnSp>
        <p:sp>
          <p:nvSpPr>
            <p:cNvPr id="35" name="TextBox 35">
              <a:extLst>
                <a:ext uri="{FF2B5EF4-FFF2-40B4-BE49-F238E27FC236}">
                  <a16:creationId xmlns:a16="http://schemas.microsoft.com/office/drawing/2014/main" id="{5B1AA03F-87AA-4531-BAEF-24A3E90A47EF}"/>
                </a:ext>
              </a:extLst>
            </p:cNvPr>
            <p:cNvSpPr txBox="1"/>
            <p:nvPr/>
          </p:nvSpPr>
          <p:spPr>
            <a:xfrm>
              <a:off x="4602508"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36" name="直接箭头连接符 35">
              <a:extLst>
                <a:ext uri="{FF2B5EF4-FFF2-40B4-BE49-F238E27FC236}">
                  <a16:creationId xmlns:a16="http://schemas.microsoft.com/office/drawing/2014/main" id="{C31C72D5-6B24-48FB-9C15-0FF98B0BB893}"/>
                </a:ext>
              </a:extLst>
            </p:cNvPr>
            <p:cNvCxnSpPr/>
            <p:nvPr/>
          </p:nvCxnSpPr>
          <p:spPr>
            <a:xfrm rot="5400000">
              <a:off x="5222880" y="4594033"/>
              <a:ext cx="428628" cy="1588"/>
            </a:xfrm>
            <a:prstGeom prst="straightConnector1">
              <a:avLst/>
            </a:prstGeom>
            <a:noFill/>
            <a:ln w="28575" cap="flat" cmpd="sng" algn="ctr">
              <a:solidFill>
                <a:srgbClr val="3333FF"/>
              </a:solidFill>
              <a:prstDash val="solid"/>
              <a:tailEnd type="arrow"/>
            </a:ln>
            <a:effectLst/>
          </p:spPr>
        </p:cxnSp>
        <p:sp>
          <p:nvSpPr>
            <p:cNvPr id="37" name="TextBox 37">
              <a:extLst>
                <a:ext uri="{FF2B5EF4-FFF2-40B4-BE49-F238E27FC236}">
                  <a16:creationId xmlns:a16="http://schemas.microsoft.com/office/drawing/2014/main" id="{AE08B612-A603-4369-8EC8-E72D74B562CA}"/>
                </a:ext>
              </a:extLst>
            </p:cNvPr>
            <p:cNvSpPr txBox="1"/>
            <p:nvPr/>
          </p:nvSpPr>
          <p:spPr>
            <a:xfrm>
              <a:off x="5278351" y="4841685"/>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38" name="直接箭头连接符 37">
              <a:extLst>
                <a:ext uri="{FF2B5EF4-FFF2-40B4-BE49-F238E27FC236}">
                  <a16:creationId xmlns:a16="http://schemas.microsoft.com/office/drawing/2014/main" id="{CB4D034B-EF4D-4CD4-90B4-42B45DE307CA}"/>
                </a:ext>
              </a:extLst>
            </p:cNvPr>
            <p:cNvCxnSpPr/>
            <p:nvPr/>
          </p:nvCxnSpPr>
          <p:spPr>
            <a:xfrm rot="5400000">
              <a:off x="5623375" y="4593239"/>
              <a:ext cx="428628" cy="1588"/>
            </a:xfrm>
            <a:prstGeom prst="straightConnector1">
              <a:avLst/>
            </a:prstGeom>
            <a:noFill/>
            <a:ln w="28575" cap="flat" cmpd="sng" algn="ctr">
              <a:solidFill>
                <a:srgbClr val="3333FF"/>
              </a:solidFill>
              <a:prstDash val="solid"/>
              <a:tailEnd type="arrow"/>
            </a:ln>
            <a:effectLst/>
          </p:spPr>
        </p:cxnSp>
        <p:sp>
          <p:nvSpPr>
            <p:cNvPr id="39" name="TextBox 39">
              <a:extLst>
                <a:ext uri="{FF2B5EF4-FFF2-40B4-BE49-F238E27FC236}">
                  <a16:creationId xmlns:a16="http://schemas.microsoft.com/office/drawing/2014/main" id="{211C057A-7DCE-408A-A427-02E0AA109E0B}"/>
                </a:ext>
              </a:extLst>
            </p:cNvPr>
            <p:cNvSpPr txBox="1"/>
            <p:nvPr/>
          </p:nvSpPr>
          <p:spPr>
            <a:xfrm>
              <a:off x="5678846"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40" name="直接箭头连接符 39">
              <a:extLst>
                <a:ext uri="{FF2B5EF4-FFF2-40B4-BE49-F238E27FC236}">
                  <a16:creationId xmlns:a16="http://schemas.microsoft.com/office/drawing/2014/main" id="{87CFF95F-B5EC-439E-BC70-DDBE87B04B27}"/>
                </a:ext>
              </a:extLst>
            </p:cNvPr>
            <p:cNvCxnSpPr/>
            <p:nvPr/>
          </p:nvCxnSpPr>
          <p:spPr>
            <a:xfrm rot="5400000">
              <a:off x="6021391" y="4593239"/>
              <a:ext cx="428628" cy="1588"/>
            </a:xfrm>
            <a:prstGeom prst="straightConnector1">
              <a:avLst/>
            </a:prstGeom>
            <a:noFill/>
            <a:ln w="28575" cap="flat" cmpd="sng" algn="ctr">
              <a:solidFill>
                <a:srgbClr val="3333FF"/>
              </a:solidFill>
              <a:prstDash val="solid"/>
              <a:tailEnd type="arrow"/>
            </a:ln>
            <a:effectLst/>
          </p:spPr>
        </p:cxnSp>
        <p:sp>
          <p:nvSpPr>
            <p:cNvPr id="41" name="TextBox 41">
              <a:extLst>
                <a:ext uri="{FF2B5EF4-FFF2-40B4-BE49-F238E27FC236}">
                  <a16:creationId xmlns:a16="http://schemas.microsoft.com/office/drawing/2014/main" id="{9E623C6F-2522-4E9F-8400-CBF9700BFEA9}"/>
                </a:ext>
              </a:extLst>
            </p:cNvPr>
            <p:cNvSpPr txBox="1"/>
            <p:nvPr/>
          </p:nvSpPr>
          <p:spPr>
            <a:xfrm>
              <a:off x="6076862"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42" name="直接箭头连接符 41">
              <a:extLst>
                <a:ext uri="{FF2B5EF4-FFF2-40B4-BE49-F238E27FC236}">
                  <a16:creationId xmlns:a16="http://schemas.microsoft.com/office/drawing/2014/main" id="{C70B38B2-740E-4A26-936D-F97E7FC96115}"/>
                </a:ext>
              </a:extLst>
            </p:cNvPr>
            <p:cNvCxnSpPr/>
            <p:nvPr/>
          </p:nvCxnSpPr>
          <p:spPr>
            <a:xfrm rot="5400000">
              <a:off x="6580202" y="4594033"/>
              <a:ext cx="428628" cy="1588"/>
            </a:xfrm>
            <a:prstGeom prst="straightConnector1">
              <a:avLst/>
            </a:prstGeom>
            <a:noFill/>
            <a:ln w="28575" cap="flat" cmpd="sng" algn="ctr">
              <a:solidFill>
                <a:srgbClr val="3333FF"/>
              </a:solidFill>
              <a:prstDash val="solid"/>
              <a:tailEnd type="arrow"/>
            </a:ln>
            <a:effectLst/>
          </p:spPr>
        </p:cxnSp>
        <p:sp>
          <p:nvSpPr>
            <p:cNvPr id="43" name="TextBox 43">
              <a:extLst>
                <a:ext uri="{FF2B5EF4-FFF2-40B4-BE49-F238E27FC236}">
                  <a16:creationId xmlns:a16="http://schemas.microsoft.com/office/drawing/2014/main" id="{3F39122E-C95D-4535-B78F-98D90EB31EB0}"/>
                </a:ext>
              </a:extLst>
            </p:cNvPr>
            <p:cNvSpPr txBox="1"/>
            <p:nvPr/>
          </p:nvSpPr>
          <p:spPr>
            <a:xfrm>
              <a:off x="6635673" y="4841685"/>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44" name="直接箭头连接符 43">
              <a:extLst>
                <a:ext uri="{FF2B5EF4-FFF2-40B4-BE49-F238E27FC236}">
                  <a16:creationId xmlns:a16="http://schemas.microsoft.com/office/drawing/2014/main" id="{687C127F-E692-442F-BFDE-097BB3B9050A}"/>
                </a:ext>
              </a:extLst>
            </p:cNvPr>
            <p:cNvCxnSpPr/>
            <p:nvPr/>
          </p:nvCxnSpPr>
          <p:spPr>
            <a:xfrm rot="5400000">
              <a:off x="6980697" y="4593239"/>
              <a:ext cx="428628" cy="1588"/>
            </a:xfrm>
            <a:prstGeom prst="straightConnector1">
              <a:avLst/>
            </a:prstGeom>
            <a:noFill/>
            <a:ln w="28575" cap="flat" cmpd="sng" algn="ctr">
              <a:solidFill>
                <a:srgbClr val="3333FF"/>
              </a:solidFill>
              <a:prstDash val="solid"/>
              <a:tailEnd type="arrow"/>
            </a:ln>
            <a:effectLst/>
          </p:spPr>
        </p:cxnSp>
        <p:sp>
          <p:nvSpPr>
            <p:cNvPr id="45" name="TextBox 45">
              <a:extLst>
                <a:ext uri="{FF2B5EF4-FFF2-40B4-BE49-F238E27FC236}">
                  <a16:creationId xmlns:a16="http://schemas.microsoft.com/office/drawing/2014/main" id="{3F159ED3-30A1-4CC8-A4F6-A5243D1C50DB}"/>
                </a:ext>
              </a:extLst>
            </p:cNvPr>
            <p:cNvSpPr txBox="1"/>
            <p:nvPr/>
          </p:nvSpPr>
          <p:spPr>
            <a:xfrm>
              <a:off x="7036168"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46" name="直接箭头连接符 45">
              <a:extLst>
                <a:ext uri="{FF2B5EF4-FFF2-40B4-BE49-F238E27FC236}">
                  <a16:creationId xmlns:a16="http://schemas.microsoft.com/office/drawing/2014/main" id="{3B0EADB2-BE8F-453D-BFE8-C9B43DFFC8D8}"/>
                </a:ext>
              </a:extLst>
            </p:cNvPr>
            <p:cNvCxnSpPr/>
            <p:nvPr/>
          </p:nvCxnSpPr>
          <p:spPr>
            <a:xfrm rot="5400000">
              <a:off x="7378713" y="4593239"/>
              <a:ext cx="428628" cy="1588"/>
            </a:xfrm>
            <a:prstGeom prst="straightConnector1">
              <a:avLst/>
            </a:prstGeom>
            <a:noFill/>
            <a:ln w="28575" cap="flat" cmpd="sng" algn="ctr">
              <a:solidFill>
                <a:srgbClr val="3333FF"/>
              </a:solidFill>
              <a:prstDash val="solid"/>
              <a:tailEnd type="arrow"/>
            </a:ln>
            <a:effectLst/>
          </p:spPr>
        </p:cxnSp>
        <p:sp>
          <p:nvSpPr>
            <p:cNvPr id="47" name="TextBox 47">
              <a:extLst>
                <a:ext uri="{FF2B5EF4-FFF2-40B4-BE49-F238E27FC236}">
                  <a16:creationId xmlns:a16="http://schemas.microsoft.com/office/drawing/2014/main" id="{9324D42F-294A-4CC9-93D5-B1256CC81534}"/>
                </a:ext>
              </a:extLst>
            </p:cNvPr>
            <p:cNvSpPr txBox="1"/>
            <p:nvPr/>
          </p:nvSpPr>
          <p:spPr>
            <a:xfrm>
              <a:off x="7434184"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48" name="直接箭头连接符 47">
              <a:extLst>
                <a:ext uri="{FF2B5EF4-FFF2-40B4-BE49-F238E27FC236}">
                  <a16:creationId xmlns:a16="http://schemas.microsoft.com/office/drawing/2014/main" id="{9AD729B7-66CD-4DFE-876C-3E91F2120879}"/>
                </a:ext>
              </a:extLst>
            </p:cNvPr>
            <p:cNvCxnSpPr/>
            <p:nvPr/>
          </p:nvCxnSpPr>
          <p:spPr>
            <a:xfrm rot="5400000">
              <a:off x="2008613" y="4594033"/>
              <a:ext cx="428628" cy="1588"/>
            </a:xfrm>
            <a:prstGeom prst="straightConnector1">
              <a:avLst/>
            </a:prstGeom>
            <a:noFill/>
            <a:ln w="28575" cap="flat" cmpd="sng" algn="ctr">
              <a:solidFill>
                <a:srgbClr val="3333FF"/>
              </a:solidFill>
              <a:prstDash val="solid"/>
              <a:tailEnd type="arrow"/>
            </a:ln>
            <a:effectLst/>
          </p:spPr>
        </p:cxnSp>
        <p:sp>
          <p:nvSpPr>
            <p:cNvPr id="49" name="TextBox 49">
              <a:extLst>
                <a:ext uri="{FF2B5EF4-FFF2-40B4-BE49-F238E27FC236}">
                  <a16:creationId xmlns:a16="http://schemas.microsoft.com/office/drawing/2014/main" id="{F7521AF7-50B9-460C-B75C-9DB456AE2C2B}"/>
                </a:ext>
              </a:extLst>
            </p:cNvPr>
            <p:cNvSpPr txBox="1"/>
            <p:nvPr/>
          </p:nvSpPr>
          <p:spPr>
            <a:xfrm>
              <a:off x="2064084" y="4841685"/>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50" name="直接箭头连接符 49">
              <a:extLst>
                <a:ext uri="{FF2B5EF4-FFF2-40B4-BE49-F238E27FC236}">
                  <a16:creationId xmlns:a16="http://schemas.microsoft.com/office/drawing/2014/main" id="{81B9FD8A-6FBC-450C-ADEB-51EE6F35EBC2}"/>
                </a:ext>
              </a:extLst>
            </p:cNvPr>
            <p:cNvCxnSpPr/>
            <p:nvPr/>
          </p:nvCxnSpPr>
          <p:spPr>
            <a:xfrm rot="5400000">
              <a:off x="2409108" y="4593239"/>
              <a:ext cx="428628" cy="1588"/>
            </a:xfrm>
            <a:prstGeom prst="straightConnector1">
              <a:avLst/>
            </a:prstGeom>
            <a:noFill/>
            <a:ln w="28575" cap="flat" cmpd="sng" algn="ctr">
              <a:solidFill>
                <a:srgbClr val="3333FF"/>
              </a:solidFill>
              <a:prstDash val="solid"/>
              <a:tailEnd type="arrow"/>
            </a:ln>
            <a:effectLst/>
          </p:spPr>
        </p:cxnSp>
        <p:sp>
          <p:nvSpPr>
            <p:cNvPr id="51" name="TextBox 51">
              <a:extLst>
                <a:ext uri="{FF2B5EF4-FFF2-40B4-BE49-F238E27FC236}">
                  <a16:creationId xmlns:a16="http://schemas.microsoft.com/office/drawing/2014/main" id="{8D6A90E4-DAF6-4ECB-9D7A-3AE7F24289AF}"/>
                </a:ext>
              </a:extLst>
            </p:cNvPr>
            <p:cNvSpPr txBox="1"/>
            <p:nvPr/>
          </p:nvSpPr>
          <p:spPr>
            <a:xfrm>
              <a:off x="2464579"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52" name="直接箭头连接符 51">
              <a:extLst>
                <a:ext uri="{FF2B5EF4-FFF2-40B4-BE49-F238E27FC236}">
                  <a16:creationId xmlns:a16="http://schemas.microsoft.com/office/drawing/2014/main" id="{CD644E0E-6368-4FA9-913C-827DBA0AB83E}"/>
                </a:ext>
              </a:extLst>
            </p:cNvPr>
            <p:cNvCxnSpPr/>
            <p:nvPr/>
          </p:nvCxnSpPr>
          <p:spPr>
            <a:xfrm rot="5400000">
              <a:off x="2807124" y="4593239"/>
              <a:ext cx="428628" cy="1588"/>
            </a:xfrm>
            <a:prstGeom prst="straightConnector1">
              <a:avLst/>
            </a:prstGeom>
            <a:noFill/>
            <a:ln w="28575" cap="flat" cmpd="sng" algn="ctr">
              <a:solidFill>
                <a:srgbClr val="3333FF"/>
              </a:solidFill>
              <a:prstDash val="solid"/>
              <a:tailEnd type="arrow"/>
            </a:ln>
            <a:effectLst/>
          </p:spPr>
        </p:cxnSp>
        <p:sp>
          <p:nvSpPr>
            <p:cNvPr id="53" name="TextBox 53">
              <a:extLst>
                <a:ext uri="{FF2B5EF4-FFF2-40B4-BE49-F238E27FC236}">
                  <a16:creationId xmlns:a16="http://schemas.microsoft.com/office/drawing/2014/main" id="{CF20B0EB-4A4E-46A6-B83F-DD147F75D34D}"/>
                </a:ext>
              </a:extLst>
            </p:cNvPr>
            <p:cNvSpPr txBox="1"/>
            <p:nvPr/>
          </p:nvSpPr>
          <p:spPr>
            <a:xfrm>
              <a:off x="2862595"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cxnSp>
          <p:nvCxnSpPr>
            <p:cNvPr id="54" name="直接箭头连接符 53">
              <a:extLst>
                <a:ext uri="{FF2B5EF4-FFF2-40B4-BE49-F238E27FC236}">
                  <a16:creationId xmlns:a16="http://schemas.microsoft.com/office/drawing/2014/main" id="{CC00EE1F-BFA4-481F-B912-10AF5CDD7B2D}"/>
                </a:ext>
              </a:extLst>
            </p:cNvPr>
            <p:cNvCxnSpPr/>
            <p:nvPr/>
          </p:nvCxnSpPr>
          <p:spPr>
            <a:xfrm rot="5400000">
              <a:off x="3189271" y="4593239"/>
              <a:ext cx="428628" cy="1588"/>
            </a:xfrm>
            <a:prstGeom prst="straightConnector1">
              <a:avLst/>
            </a:prstGeom>
            <a:noFill/>
            <a:ln w="28575" cap="flat" cmpd="sng" algn="ctr">
              <a:solidFill>
                <a:srgbClr val="3333FF"/>
              </a:solidFill>
              <a:prstDash val="solid"/>
              <a:tailEnd type="arrow"/>
            </a:ln>
            <a:effectLst/>
          </p:spPr>
        </p:cxnSp>
        <p:sp>
          <p:nvSpPr>
            <p:cNvPr id="55" name="TextBox 55">
              <a:extLst>
                <a:ext uri="{FF2B5EF4-FFF2-40B4-BE49-F238E27FC236}">
                  <a16:creationId xmlns:a16="http://schemas.microsoft.com/office/drawing/2014/main" id="{DC843D9D-7085-43C2-A2BF-4F1C243B9AAF}"/>
                </a:ext>
              </a:extLst>
            </p:cNvPr>
            <p:cNvSpPr txBox="1"/>
            <p:nvPr/>
          </p:nvSpPr>
          <p:spPr>
            <a:xfrm>
              <a:off x="3244742" y="4840891"/>
              <a:ext cx="352526" cy="720000"/>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vert="eaVert" wrap="square" lIns="36000" tIns="0" rIns="36000" bIns="0"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1800" b="1" i="0" u="none" strike="noStrike" kern="0" cap="none" spc="0" normalizeH="0" baseline="0" noProof="0" dirty="0">
                <a:ln>
                  <a:noFill/>
                </a:ln>
                <a:solidFill>
                  <a:srgbClr val="3333FF"/>
                </a:solidFill>
                <a:effectLst/>
                <a:uLnTx/>
                <a:uFillTx/>
                <a:latin typeface="楷体" panose="02010609060101010101" pitchFamily="49" charset="-122"/>
                <a:ea typeface="楷体" panose="02010609060101010101" pitchFamily="49" charset="-122"/>
                <a:cs typeface="+mn-cs"/>
              </a:endParaRPr>
            </a:p>
          </p:txBody>
        </p:sp>
        <p:sp>
          <p:nvSpPr>
            <p:cNvPr id="56" name="Line 6">
              <a:extLst>
                <a:ext uri="{FF2B5EF4-FFF2-40B4-BE49-F238E27FC236}">
                  <a16:creationId xmlns:a16="http://schemas.microsoft.com/office/drawing/2014/main" id="{5D5B8BC8-58F2-4B75-B84D-3299DA3487AF}"/>
                </a:ext>
              </a:extLst>
            </p:cNvPr>
            <p:cNvSpPr>
              <a:spLocks noChangeShapeType="1"/>
            </p:cNvSpPr>
            <p:nvPr/>
          </p:nvSpPr>
          <p:spPr bwMode="auto">
            <a:xfrm flipH="1" flipV="1">
              <a:off x="947728" y="5572140"/>
              <a:ext cx="0" cy="288925"/>
            </a:xfrm>
            <a:prstGeom prst="line">
              <a:avLst/>
            </a:prstGeom>
            <a:noFill/>
            <a:ln w="25400" cap="flat" cmpd="sng" algn="ctr">
              <a:solidFill>
                <a:srgbClr val="4BACC6"/>
              </a:solidFill>
              <a:prstDash val="solid"/>
              <a:tailEnd type="triangle" w="med" len="med"/>
            </a:ln>
            <a:effectLst>
              <a:outerShdw blurRad="40000" dist="20000" dir="5400000" rotWithShape="0">
                <a:srgbClr val="000000">
                  <a:alpha val="38000"/>
                </a:srgbClr>
              </a:outerShdw>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7" name="Text Box 7">
              <a:extLst>
                <a:ext uri="{FF2B5EF4-FFF2-40B4-BE49-F238E27FC236}">
                  <a16:creationId xmlns:a16="http://schemas.microsoft.com/office/drawing/2014/main" id="{9F51A75A-A5FC-4B3F-8ED2-7A92D78970B6}"/>
                </a:ext>
              </a:extLst>
            </p:cNvPr>
            <p:cNvSpPr txBox="1">
              <a:spLocks noChangeArrowheads="1"/>
            </p:cNvSpPr>
            <p:nvPr/>
          </p:nvSpPr>
          <p:spPr bwMode="auto">
            <a:xfrm>
              <a:off x="477828" y="5845750"/>
              <a:ext cx="2665412" cy="369332"/>
            </a:xfrm>
            <a:prstGeom prst="rect">
              <a:avLst/>
            </a:prstGeom>
            <a:noFill/>
            <a:ln w="9525">
              <a:noFill/>
              <a:miter lim="800000"/>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rPr>
                <a:t>关键字指向的记录。</a:t>
              </a:r>
            </a:p>
          </p:txBody>
        </p:sp>
        <p:grpSp>
          <p:nvGrpSpPr>
            <p:cNvPr id="58" name="组合 59">
              <a:extLst>
                <a:ext uri="{FF2B5EF4-FFF2-40B4-BE49-F238E27FC236}">
                  <a16:creationId xmlns:a16="http://schemas.microsoft.com/office/drawing/2014/main" id="{4F95DE65-9DA6-485A-AA9F-F53F75AC2724}"/>
                </a:ext>
              </a:extLst>
            </p:cNvPr>
            <p:cNvGrpSpPr/>
            <p:nvPr/>
          </p:nvGrpSpPr>
          <p:grpSpPr>
            <a:xfrm>
              <a:off x="1643042" y="1500173"/>
              <a:ext cx="6154803" cy="2001109"/>
              <a:chOff x="1857356" y="-1023027"/>
              <a:chExt cx="6154803" cy="2001109"/>
            </a:xfrm>
          </p:grpSpPr>
          <p:sp>
            <p:nvSpPr>
              <p:cNvPr id="65" name="矩形 64">
                <a:extLst>
                  <a:ext uri="{FF2B5EF4-FFF2-40B4-BE49-F238E27FC236}">
                    <a16:creationId xmlns:a16="http://schemas.microsoft.com/office/drawing/2014/main" id="{512AC135-77BC-4DF1-86DE-098521724F15}"/>
                  </a:ext>
                </a:extLst>
              </p:cNvPr>
              <p:cNvSpPr/>
              <p:nvPr/>
            </p:nvSpPr>
            <p:spPr>
              <a:xfrm>
                <a:off x="1857356" y="-1023027"/>
                <a:ext cx="5715040" cy="2001109"/>
              </a:xfrm>
              <a:prstGeom prst="rect">
                <a:avLst/>
              </a:prstGeom>
              <a:solidFill>
                <a:srgbClr val="4F81BD">
                  <a:alpha val="0"/>
                </a:srgbClr>
              </a:solidFill>
              <a:ln w="25400" cap="flat" cmpd="sng" algn="ctr">
                <a:solidFill>
                  <a:srgbClr val="FF00FF"/>
                </a:solidFill>
                <a:prstDash val="dash"/>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white"/>
                  </a:solidFill>
                  <a:effectLst/>
                  <a:uLnTx/>
                  <a:uFillTx/>
                  <a:latin typeface="Consolas" panose="020B0609020204030204" pitchFamily="49" charset="0"/>
                  <a:ea typeface="宋体" panose="02010600030101010101" pitchFamily="2" charset="-122"/>
                  <a:cs typeface="Consolas" panose="020B0609020204030204" pitchFamily="49" charset="0"/>
                </a:endParaRPr>
              </a:p>
            </p:txBody>
          </p:sp>
          <p:sp>
            <p:nvSpPr>
              <p:cNvPr id="66" name="Text Box 9">
                <a:extLst>
                  <a:ext uri="{FF2B5EF4-FFF2-40B4-BE49-F238E27FC236}">
                    <a16:creationId xmlns:a16="http://schemas.microsoft.com/office/drawing/2014/main" id="{E593B479-6379-47C1-83C4-9CDDBD53C9B1}"/>
                  </a:ext>
                </a:extLst>
              </p:cNvPr>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marL="0" marR="0" lvl="0" indent="0" defTabSz="914400" eaLnBrk="1" fontAlgn="base" latinLnBrk="0" hangingPunct="1">
                  <a:lnSpc>
                    <a:spcPts val="18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rPr>
                  <a:t>索</a:t>
                </a:r>
                <a:endParaRPr kumimoji="0" lang="en-US" altLang="zh-CN"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endParaRPr>
              </a:p>
              <a:p>
                <a:pPr marL="0" marR="0" lvl="0" indent="0" defTabSz="914400" eaLnBrk="1" fontAlgn="base" latinLnBrk="0" hangingPunct="1">
                  <a:lnSpc>
                    <a:spcPts val="18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rPr>
                  <a:t>引</a:t>
                </a:r>
                <a:endParaRPr kumimoji="0" lang="en-US" altLang="zh-CN"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endParaRPr>
              </a:p>
              <a:p>
                <a:pPr marL="0" marR="0" lvl="0" indent="0" defTabSz="914400" eaLnBrk="1" fontAlgn="base" latinLnBrk="0" hangingPunct="1">
                  <a:lnSpc>
                    <a:spcPts val="18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rPr>
                  <a:t>部</a:t>
                </a:r>
                <a:endParaRPr kumimoji="0" lang="en-US" altLang="zh-CN"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endParaRPr>
              </a:p>
              <a:p>
                <a:pPr marL="0" marR="0" lvl="0" indent="0" defTabSz="914400" eaLnBrk="1" fontAlgn="base" latinLnBrk="0" hangingPunct="1">
                  <a:lnSpc>
                    <a:spcPts val="18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rPr>
                  <a:t>分</a:t>
                </a:r>
              </a:p>
            </p:txBody>
          </p:sp>
        </p:grpSp>
        <p:cxnSp>
          <p:nvCxnSpPr>
            <p:cNvPr id="59" name="直接箭头连接符 58">
              <a:extLst>
                <a:ext uri="{FF2B5EF4-FFF2-40B4-BE49-F238E27FC236}">
                  <a16:creationId xmlns:a16="http://schemas.microsoft.com/office/drawing/2014/main" id="{9E7F5FC7-9AF0-47D7-ACD9-C6E43022A459}"/>
                </a:ext>
              </a:extLst>
            </p:cNvPr>
            <p:cNvCxnSpPr/>
            <p:nvPr/>
          </p:nvCxnSpPr>
          <p:spPr>
            <a:xfrm rot="5400000">
              <a:off x="5108628" y="1749364"/>
              <a:ext cx="0" cy="216000"/>
            </a:xfrm>
            <a:prstGeom prst="straightConnector1">
              <a:avLst/>
            </a:prstGeom>
            <a:noFill/>
            <a:ln w="28575" cap="flat" cmpd="sng" algn="ctr">
              <a:solidFill>
                <a:srgbClr val="9900FF"/>
              </a:solidFill>
              <a:prstDash val="solid"/>
              <a:tailEnd type="arrow"/>
            </a:ln>
            <a:effectLst/>
          </p:spPr>
        </p:cxnSp>
        <p:sp>
          <p:nvSpPr>
            <p:cNvPr id="60" name="TextBox 64">
              <a:extLst>
                <a:ext uri="{FF2B5EF4-FFF2-40B4-BE49-F238E27FC236}">
                  <a16:creationId xmlns:a16="http://schemas.microsoft.com/office/drawing/2014/main" id="{2E662C31-A0F0-4FB8-9FDD-301815EBB15C}"/>
                </a:ext>
              </a:extLst>
            </p:cNvPr>
            <p:cNvSpPr txBox="1"/>
            <p:nvPr/>
          </p:nvSpPr>
          <p:spPr>
            <a:xfrm>
              <a:off x="5214942" y="1643050"/>
              <a:ext cx="1071570" cy="369332"/>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a:ln>
                    <a:noFill/>
                  </a:ln>
                  <a:solidFill>
                    <a:srgbClr val="3333FF"/>
                  </a:solidFill>
                  <a:effectLst/>
                  <a:uLnTx/>
                  <a:uFillTx/>
                  <a:latin typeface="仿宋" panose="02010609060101010101" pitchFamily="49" charset="-122"/>
                  <a:ea typeface="仿宋" panose="02010609060101010101" pitchFamily="49" charset="-122"/>
                  <a:cs typeface="Times New Roman" panose="02020603050405020304" pitchFamily="18" charset="0"/>
                </a:rPr>
                <a:t>根结点</a:t>
              </a:r>
              <a:endParaRPr kumimoji="1"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cxnSp>
          <p:nvCxnSpPr>
            <p:cNvPr id="61" name="直接箭头连接符 60">
              <a:extLst>
                <a:ext uri="{FF2B5EF4-FFF2-40B4-BE49-F238E27FC236}">
                  <a16:creationId xmlns:a16="http://schemas.microsoft.com/office/drawing/2014/main" id="{F4CC8DC9-39E5-4C0B-8D95-EB1EA5397B83}"/>
                </a:ext>
              </a:extLst>
            </p:cNvPr>
            <p:cNvCxnSpPr/>
            <p:nvPr/>
          </p:nvCxnSpPr>
          <p:spPr>
            <a:xfrm>
              <a:off x="323540" y="4157271"/>
              <a:ext cx="396000" cy="1588"/>
            </a:xfrm>
            <a:prstGeom prst="straightConnector1">
              <a:avLst/>
            </a:prstGeom>
            <a:noFill/>
            <a:ln w="25400" cap="flat" cmpd="sng" algn="ctr">
              <a:solidFill>
                <a:srgbClr val="4BACC6"/>
              </a:solidFill>
              <a:prstDash val="solid"/>
              <a:tailEnd type="arrow"/>
            </a:ln>
            <a:effectLst>
              <a:outerShdw blurRad="40000" dist="20000" dir="5400000" rotWithShape="0">
                <a:srgbClr val="000000">
                  <a:alpha val="38000"/>
                </a:srgbClr>
              </a:outerShdw>
            </a:effectLst>
          </p:spPr>
        </p:cxnSp>
        <p:sp>
          <p:nvSpPr>
            <p:cNvPr id="62" name="TextBox 68">
              <a:extLst>
                <a:ext uri="{FF2B5EF4-FFF2-40B4-BE49-F238E27FC236}">
                  <a16:creationId xmlns:a16="http://schemas.microsoft.com/office/drawing/2014/main" id="{1F36F5C3-CD9F-4ED2-9C66-61D2C379E90E}"/>
                </a:ext>
              </a:extLst>
            </p:cNvPr>
            <p:cNvSpPr txBox="1"/>
            <p:nvPr/>
          </p:nvSpPr>
          <p:spPr>
            <a:xfrm>
              <a:off x="215436" y="3690485"/>
              <a:ext cx="576119" cy="369332"/>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1800" b="1" i="0" u="none" strike="noStrike" kern="0" cap="none" spc="0" normalizeH="0" baseline="0" noProof="0" dirty="0" err="1">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rPr>
                <a:t>sqt</a:t>
              </a:r>
              <a:endParaRPr kumimoji="1" lang="zh-CN" altLang="en-US" sz="1800" b="1" i="0" u="none" strike="noStrike" kern="0" cap="none" spc="0" normalizeH="0" baseline="0" noProof="0" dirty="0">
                <a:ln>
                  <a:noFill/>
                </a:ln>
                <a:solidFill>
                  <a:srgbClr val="3333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63" name="TextBox 71">
              <a:extLst>
                <a:ext uri="{FF2B5EF4-FFF2-40B4-BE49-F238E27FC236}">
                  <a16:creationId xmlns:a16="http://schemas.microsoft.com/office/drawing/2014/main" id="{529FE1F7-7ED8-4E76-9755-B1D2CC9B8620}"/>
                </a:ext>
              </a:extLst>
            </p:cNvPr>
            <p:cNvSpPr txBox="1"/>
            <p:nvPr/>
          </p:nvSpPr>
          <p:spPr>
            <a:xfrm>
              <a:off x="8001024" y="3665339"/>
              <a:ext cx="989117" cy="1192421"/>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a:ln>
                    <a:noFill/>
                  </a:ln>
                  <a:solidFill>
                    <a:srgbClr val="FF00FF"/>
                  </a:solidFill>
                  <a:effectLst/>
                  <a:uLnTx/>
                  <a:uFillTx/>
                  <a:latin typeface="仿宋" panose="02010609060101010101" pitchFamily="49" charset="-122"/>
                  <a:ea typeface="仿宋" panose="02010609060101010101" pitchFamily="49" charset="-122"/>
                  <a:cs typeface="Times New Roman" panose="02020603050405020304" pitchFamily="18" charset="0"/>
                </a:rPr>
                <a:t>叶子结点层：</a:t>
              </a:r>
              <a:r>
                <a:rPr kumimoji="1" lang="zh-CN" altLang="en-US" sz="1800" b="1" i="0" u="none" strike="noStrike" kern="0" cap="none" spc="0" normalizeH="0" baseline="0" noProof="0" dirty="0">
                  <a:ln>
                    <a:noFill/>
                  </a:ln>
                  <a:solidFill>
                    <a:srgbClr val="3333FF"/>
                  </a:solidFill>
                  <a:effectLst/>
                  <a:uLnTx/>
                  <a:uFillTx/>
                  <a:latin typeface="仿宋" panose="02010609060101010101" pitchFamily="49" charset="-122"/>
                  <a:ea typeface="仿宋" panose="02010609060101010101" pitchFamily="49" charset="-122"/>
                </a:rPr>
                <a:t>全部的关键字</a:t>
              </a:r>
            </a:p>
          </p:txBody>
        </p:sp>
        <p:sp>
          <p:nvSpPr>
            <p:cNvPr id="64" name="右大括号 63">
              <a:extLst>
                <a:ext uri="{FF2B5EF4-FFF2-40B4-BE49-F238E27FC236}">
                  <a16:creationId xmlns:a16="http://schemas.microsoft.com/office/drawing/2014/main" id="{E23E9F39-75B0-4373-B481-2C970BF96FBA}"/>
                </a:ext>
              </a:extLst>
            </p:cNvPr>
            <p:cNvSpPr/>
            <p:nvPr/>
          </p:nvSpPr>
          <p:spPr>
            <a:xfrm>
              <a:off x="7786710" y="3879653"/>
              <a:ext cx="296735" cy="714380"/>
            </a:xfrm>
            <a:prstGeom prst="rightBrace">
              <a:avLst/>
            </a:prstGeom>
            <a:noFill/>
            <a:ln w="28575" cap="flat" cmpd="sng" algn="ctr">
              <a:solidFill>
                <a:srgbClr val="FF00FF"/>
              </a:solidFill>
              <a:prstDash val="solid"/>
              <a:tailEnd type="none"/>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zh-CN" altLang="en-US" sz="2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67" name="矩形 66">
            <a:extLst>
              <a:ext uri="{FF2B5EF4-FFF2-40B4-BE49-F238E27FC236}">
                <a16:creationId xmlns:a16="http://schemas.microsoft.com/office/drawing/2014/main" id="{F9B29E28-AB86-475A-8339-B65C71840322}"/>
              </a:ext>
            </a:extLst>
          </p:cNvPr>
          <p:cNvSpPr/>
          <p:nvPr/>
        </p:nvSpPr>
        <p:spPr>
          <a:xfrm>
            <a:off x="3057950" y="785855"/>
            <a:ext cx="2860078" cy="461665"/>
          </a:xfrm>
          <a:prstGeom prst="rect">
            <a:avLst/>
          </a:prstGeom>
        </p:spPr>
        <p:txBody>
          <a:bodyPr wrap="none">
            <a:spAutoFit/>
          </a:bodyPr>
          <a:lstStyle/>
          <a:p>
            <a:r>
              <a:rPr lang="zh-CN" altLang="en-US" sz="2400" b="1" dirty="0">
                <a:latin typeface="Consolas" panose="020B0609020204030204" pitchFamily="49" charset="0"/>
                <a:ea typeface="楷体" panose="02010609060101010101" pitchFamily="49" charset="-122"/>
                <a:cs typeface="Consolas" panose="020B0609020204030204" pitchFamily="49" charset="0"/>
              </a:rPr>
              <a:t>一棵</a:t>
            </a:r>
            <a:r>
              <a:rPr lang="en-US" altLang="zh-CN" sz="2400" b="1" dirty="0">
                <a:latin typeface="Consolas" panose="020B0609020204030204" pitchFamily="49" charset="0"/>
                <a:ea typeface="楷体" panose="02010609060101010101" pitchFamily="49" charset="-122"/>
                <a:cs typeface="Consolas" panose="020B0609020204030204" pitchFamily="49" charset="0"/>
              </a:rPr>
              <a:t>4</a:t>
            </a:r>
            <a:r>
              <a:rPr lang="zh-CN" altLang="en-US" sz="2400" b="1" dirty="0">
                <a:latin typeface="Consolas" panose="020B0609020204030204" pitchFamily="49" charset="0"/>
                <a:ea typeface="楷体" panose="02010609060101010101" pitchFamily="49" charset="-122"/>
                <a:cs typeface="Consolas" panose="020B0609020204030204" pitchFamily="49" charset="0"/>
              </a:rPr>
              <a:t>阶的</a:t>
            </a:r>
            <a:r>
              <a:rPr lang="en-US" altLang="zh-CN" sz="2400" b="1" dirty="0">
                <a:latin typeface="Consolas" panose="020B0609020204030204" pitchFamily="49" charset="0"/>
                <a:ea typeface="楷体" panose="02010609060101010101" pitchFamily="49" charset="-122"/>
                <a:cs typeface="Consolas" panose="020B0609020204030204" pitchFamily="49" charset="0"/>
              </a:rPr>
              <a:t>B+</a:t>
            </a:r>
            <a:r>
              <a:rPr lang="zh-CN" altLang="en-US" sz="2400" b="1" dirty="0">
                <a:latin typeface="Consolas" panose="020B0609020204030204" pitchFamily="49" charset="0"/>
                <a:ea typeface="楷体" panose="02010609060101010101" pitchFamily="49" charset="-122"/>
                <a:cs typeface="Consolas" panose="020B0609020204030204" pitchFamily="49" charset="0"/>
              </a:rPr>
              <a:t>树示例</a:t>
            </a:r>
            <a:endParaRPr lang="zh-CN" altLang="en-US" sz="2400" dirty="0"/>
          </a:p>
        </p:txBody>
      </p:sp>
    </p:spTree>
    <p:extLst>
      <p:ext uri="{BB962C8B-B14F-4D97-AF65-F5344CB8AC3E}">
        <p14:creationId xmlns:p14="http://schemas.microsoft.com/office/powerpoint/2010/main" val="368589952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92888" cy="5400600"/>
          </a:xfrm>
        </p:spPr>
        <p:txBody>
          <a:bodyPr>
            <a:normAutofit/>
          </a:bodyPr>
          <a:lstStyle/>
          <a:p>
            <a:pPr algn="just">
              <a:buFont typeface="Wingdings" panose="05000000000000000000" pitchFamily="2" charset="2"/>
              <a:buChar char="Ø"/>
            </a:pPr>
            <a:r>
              <a:rPr lang="zh-CN" altLang="zh-CN" b="0" dirty="0">
                <a:solidFill>
                  <a:srgbClr val="FF0000"/>
                </a:solidFill>
              </a:rPr>
              <a:t>在</a:t>
            </a: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树上进行随机查找时，不管查找成功与否，每次查找都是走了一条从根到终端结点的路径。</a:t>
            </a:r>
            <a:endParaRPr lang="en-US" altLang="zh-CN" b="0" dirty="0">
              <a:solidFill>
                <a:srgbClr val="FF0000"/>
              </a:solidFill>
            </a:endParaRPr>
          </a:p>
          <a:p>
            <a:pPr algn="just">
              <a:buFont typeface="Wingdings" panose="05000000000000000000" pitchFamily="2" charset="2"/>
              <a:buChar char="Ø"/>
            </a:pP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树的插入仅在终端结点上进行</a:t>
            </a:r>
            <a:r>
              <a:rPr lang="zh-CN" altLang="zh-CN" b="0" dirty="0"/>
              <a:t>，当结点中的关键字个数大于</a:t>
            </a:r>
            <a:r>
              <a:rPr lang="en-US" altLang="zh-CN" b="0" dirty="0"/>
              <a:t>m</a:t>
            </a:r>
            <a:r>
              <a:rPr lang="zh-CN" altLang="zh-CN" b="0" dirty="0"/>
              <a:t>时要分裂成两个结点，它们所含关键字的个数分别为</a:t>
            </a:r>
            <a:r>
              <a:rPr lang="en-US" altLang="zh-CN" b="0" dirty="0"/>
              <a:t>⌈(m+1)/2⌉</a:t>
            </a:r>
            <a:r>
              <a:rPr lang="zh-CN" altLang="zh-CN" b="0" dirty="0"/>
              <a:t>和</a:t>
            </a:r>
            <a:r>
              <a:rPr lang="en-US" altLang="zh-CN" b="0" dirty="0"/>
              <a:t>⌊(m+1)/2⌋</a:t>
            </a:r>
            <a:r>
              <a:rPr lang="zh-CN" altLang="zh-CN" b="0" dirty="0"/>
              <a:t>。并且，它们的双亲结点中应同时包含这两个结点中的最大关键字。</a:t>
            </a:r>
            <a:endParaRPr lang="en-US" altLang="zh-CN" b="0" dirty="0"/>
          </a:p>
          <a:p>
            <a:pPr algn="just">
              <a:buFont typeface="Wingdings" panose="05000000000000000000" pitchFamily="2" charset="2"/>
              <a:buChar char="Ø"/>
            </a:pP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树的删除也仅在终端结点上进行</a:t>
            </a:r>
            <a:r>
              <a:rPr lang="zh-CN" altLang="zh-CN" b="0" dirty="0"/>
              <a:t>，当终端结点中的最大关键字被删除时，其在非终结点中的值可以作为一个“</a:t>
            </a:r>
            <a:r>
              <a:rPr lang="zh-CN" altLang="zh-CN" b="0" dirty="0">
                <a:solidFill>
                  <a:srgbClr val="FF0000"/>
                </a:solidFill>
              </a:rPr>
              <a:t>分界关键字</a:t>
            </a:r>
            <a:r>
              <a:rPr lang="zh-CN" altLang="zh-CN" b="0" dirty="0"/>
              <a:t>”存在。如果因删除而使得结点中的关键字个数少于</a:t>
            </a:r>
            <a:r>
              <a:rPr lang="en-US" altLang="zh-CN" b="0" dirty="0"/>
              <a:t>⌈m/2⌉</a:t>
            </a:r>
            <a:r>
              <a:rPr lang="zh-CN" altLang="zh-CN" b="0" dirty="0"/>
              <a:t>时，其和兄弟结点的合并过程也与</a:t>
            </a:r>
            <a:r>
              <a:rPr lang="en-US" altLang="zh-CN" b="0" dirty="0"/>
              <a:t>B</a:t>
            </a:r>
            <a:r>
              <a:rPr lang="zh-CN" altLang="zh-CN" b="0" dirty="0"/>
              <a:t>树类似。</a:t>
            </a:r>
            <a:endParaRPr lang="en-US" altLang="zh-CN" b="0" dirty="0"/>
          </a:p>
        </p:txBody>
      </p:sp>
    </p:spTree>
    <p:extLst>
      <p:ext uri="{BB962C8B-B14F-4D97-AF65-F5344CB8AC3E}">
        <p14:creationId xmlns:p14="http://schemas.microsoft.com/office/powerpoint/2010/main" val="556138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876300" y="2620962"/>
            <a:ext cx="73914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9pPr>
          </a:lstStyle>
          <a:p>
            <a:pPr algn="ctr">
              <a:spcBef>
                <a:spcPct val="50000"/>
              </a:spcBef>
            </a:pPr>
            <a:r>
              <a:rPr lang="zh-CN" altLang="en-US" sz="4000" dirty="0">
                <a:solidFill>
                  <a:srgbClr val="FF0000"/>
                </a:solidFill>
              </a:rPr>
              <a:t>本课程授课到此结束！</a:t>
            </a:r>
          </a:p>
          <a:p>
            <a:pPr algn="ctr">
              <a:spcBef>
                <a:spcPct val="50000"/>
              </a:spcBef>
            </a:pPr>
            <a:r>
              <a:rPr lang="zh-CN" altLang="en-US" sz="4000" dirty="0">
                <a:solidFill>
                  <a:srgbClr val="FF0000"/>
                </a:solidFill>
              </a:rPr>
              <a:t>谢谢大家！</a:t>
            </a:r>
          </a:p>
        </p:txBody>
      </p:sp>
    </p:spTree>
    <p:extLst>
      <p:ext uri="{BB962C8B-B14F-4D97-AF65-F5344CB8AC3E}">
        <p14:creationId xmlns:p14="http://schemas.microsoft.com/office/powerpoint/2010/main" val="384072828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1800</TotalTime>
  <Words>10897</Words>
  <Application>Microsoft Office PowerPoint</Application>
  <PresentationFormat>全屏显示(4:3)</PresentationFormat>
  <Paragraphs>932</Paragraphs>
  <Slides>111</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111</vt:i4>
      </vt:variant>
    </vt:vector>
  </HeadingPairs>
  <TitlesOfParts>
    <vt:vector size="129" baseType="lpstr">
      <vt:lpstr>方正舒体</vt:lpstr>
      <vt:lpstr>仿宋</vt:lpstr>
      <vt:lpstr>黑体</vt:lpstr>
      <vt:lpstr>华文行楷</vt:lpstr>
      <vt:lpstr>华文中宋</vt:lpstr>
      <vt:lpstr>楷体</vt:lpstr>
      <vt:lpstr>宋体</vt:lpstr>
      <vt:lpstr>微软雅黑</vt:lpstr>
      <vt:lpstr>Arial</vt:lpstr>
      <vt:lpstr>Calibri</vt:lpstr>
      <vt:lpstr>Cambria Math</vt:lpstr>
      <vt:lpstr>Consolas</vt:lpstr>
      <vt:lpstr>Franklin Gothic Book</vt:lpstr>
      <vt:lpstr>Franklin Gothic Medium</vt:lpstr>
      <vt:lpstr>Tahoma</vt:lpstr>
      <vt:lpstr>Times New Roman</vt:lpstr>
      <vt:lpstr>Wingdings</vt:lpstr>
      <vt:lpstr>角度</vt:lpstr>
      <vt:lpstr>第8章 查找算法</vt:lpstr>
      <vt:lpstr>8.1 查找的基本概念</vt:lpstr>
      <vt:lpstr>PowerPoint 演示文稿</vt:lpstr>
      <vt:lpstr>8.2 静态查找表</vt:lpstr>
      <vt:lpstr>PowerPoint 演示文稿</vt:lpstr>
      <vt:lpstr>8.2.1 顺序表的查找</vt:lpstr>
      <vt:lpstr>PowerPoint 演示文稿</vt:lpstr>
      <vt:lpstr>顺序表的性能分析：</vt:lpstr>
      <vt:lpstr>PowerPoint 演示文稿</vt:lpstr>
      <vt:lpstr>8.2.2 折半查找</vt:lpstr>
      <vt:lpstr>8.2.2 折半查找</vt:lpstr>
      <vt:lpstr>PowerPoint 演示文稿</vt:lpstr>
      <vt:lpstr>PowerPoint 演示文稿</vt:lpstr>
      <vt:lpstr>PowerPoint 演示文稿</vt:lpstr>
      <vt:lpstr>PowerPoint 演示文稿</vt:lpstr>
      <vt:lpstr>PowerPoint 演示文稿</vt:lpstr>
      <vt:lpstr>PowerPoint 演示文稿</vt:lpstr>
      <vt:lpstr>【例】对于给定11个数据元素的有序表：     (2，3，10，15，20，25，28，29，30，35，40) 采用二分查找，试问：   （1）若查找给定值为20的元素，将依次与表中哪些元素比较？   （2）若查找给定值为26的元素，将依次与哪些元素比较？   （3）假设查找表中每个元素的概率相同，求平均查找长度。 </vt:lpstr>
      <vt:lpstr>PowerPoint 演示文稿</vt:lpstr>
      <vt:lpstr>折半查找的优点与缺点：</vt:lpstr>
      <vt:lpstr>8.3 散列表</vt:lpstr>
      <vt:lpstr>PowerPoint 演示文稿</vt:lpstr>
      <vt:lpstr>哈希冲突：</vt:lpstr>
      <vt:lpstr>8.3.1 哈希函数的常用构建方法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8.3.2 解决冲突的办法</vt:lpstr>
      <vt:lpstr>PowerPoint 演示文稿</vt:lpstr>
      <vt:lpstr>PowerPoint 演示文稿</vt:lpstr>
      <vt:lpstr>PowerPoint 演示文稿</vt:lpstr>
      <vt:lpstr>PowerPoint 演示文稿</vt:lpstr>
      <vt:lpstr>PowerPoint 演示文稿</vt:lpstr>
      <vt:lpstr>2．封闭哈希</vt:lpstr>
      <vt:lpstr>PowerPoint 演示文稿</vt:lpstr>
      <vt:lpstr>PowerPoint 演示文稿</vt:lpstr>
      <vt:lpstr>PowerPoint 演示文稿</vt:lpstr>
      <vt:lpstr>PowerPoint 演示文稿</vt:lpstr>
      <vt:lpstr>PowerPoint 演示文稿</vt:lpstr>
      <vt:lpstr>【练习】假设哈希表长度m=13，采用除留余数法哈希函数为H(k) = k mod 13,建立如下关键字集合的哈希表：(16，74，60，43，54，90，46，31，29，88，77)。  并采用线性探测法解决冲突。 1）请画出建立的HASH表； 2）求出查找各关键字的比较次数； 3）计算在等概率情况下，查找成功的平均查找长度。</vt:lpstr>
      <vt:lpstr>PowerPoint 演示文稿</vt:lpstr>
      <vt:lpstr>PowerPoint 演示文稿</vt:lpstr>
      <vt:lpstr>PowerPoint 演示文稿</vt:lpstr>
      <vt:lpstr>8.3.3 哈希表的实现</vt:lpstr>
      <vt:lpstr>PowerPoint 演示文稿</vt:lpstr>
      <vt:lpstr>PowerPoint 演示文稿</vt:lpstr>
      <vt:lpstr>PowerPoint 演示文稿</vt:lpstr>
      <vt:lpstr>PowerPoint 演示文稿</vt:lpstr>
      <vt:lpstr>8.3.4 哈希表的性能分析</vt:lpstr>
      <vt:lpstr>PowerPoint 演示文稿</vt:lpstr>
      <vt:lpstr>8.4 线性索引</vt:lpstr>
      <vt:lpstr>PowerPoint 演示文稿</vt:lpstr>
      <vt:lpstr>PowerPoint 演示文稿</vt:lpstr>
      <vt:lpstr>PowerPoint 演示文稿</vt:lpstr>
      <vt:lpstr>PowerPoint 演示文稿</vt:lpstr>
      <vt:lpstr>8.5 树形索引</vt:lpstr>
      <vt:lpstr>8.5.1 2-3树</vt:lpstr>
      <vt:lpstr>PowerPoint 演示文稿</vt:lpstr>
      <vt:lpstr>PowerPoint 演示文稿</vt:lpstr>
      <vt:lpstr>PowerPoint 演示文稿</vt:lpstr>
      <vt:lpstr>PowerPoint 演示文稿</vt:lpstr>
      <vt:lpstr>PowerPoint 演示文稿</vt:lpstr>
      <vt:lpstr>8.5.2 B树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【例】关键字序列为： (1，2，6，7，11，4，8，13，10，5，17，9，16，20，3，12，14，18，19，15)。 创建一棵5阶B树。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【例】对于前例生成的B树，给出删除8，16，15，4，四个关键字的过程。</vt:lpstr>
      <vt:lpstr>PowerPoint 演示文稿</vt:lpstr>
      <vt:lpstr>PowerPoint 演示文稿</vt:lpstr>
      <vt:lpstr>PowerPoint 演示文稿</vt:lpstr>
      <vt:lpstr>PowerPoint 演示文稿</vt:lpstr>
      <vt:lpstr>PowerPoint 演示文稿</vt:lpstr>
      <vt:lpstr>8.5.3 B+树</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xy yang</cp:lastModifiedBy>
  <cp:revision>210</cp:revision>
  <dcterms:created xsi:type="dcterms:W3CDTF">2016-02-05T07:36:15Z</dcterms:created>
  <dcterms:modified xsi:type="dcterms:W3CDTF">2025-12-02T01:28:20Z</dcterms:modified>
</cp:coreProperties>
</file>