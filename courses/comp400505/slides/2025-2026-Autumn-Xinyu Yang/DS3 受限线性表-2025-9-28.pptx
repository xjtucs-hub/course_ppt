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1"/>
  </p:sldMasterIdLst>
  <p:notesMasterIdLst>
    <p:notesMasterId r:id="rId102"/>
  </p:notesMasterIdLst>
  <p:sldIdLst>
    <p:sldId id="256" r:id="rId2"/>
    <p:sldId id="257" r:id="rId3"/>
    <p:sldId id="258" r:id="rId4"/>
    <p:sldId id="347" r:id="rId5"/>
    <p:sldId id="348" r:id="rId6"/>
    <p:sldId id="259" r:id="rId7"/>
    <p:sldId id="260" r:id="rId8"/>
    <p:sldId id="349"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350" r:id="rId27"/>
    <p:sldId id="278" r:id="rId28"/>
    <p:sldId id="351" r:id="rId29"/>
    <p:sldId id="352" r:id="rId30"/>
    <p:sldId id="279" r:id="rId31"/>
    <p:sldId id="280" r:id="rId32"/>
    <p:sldId id="353" r:id="rId33"/>
    <p:sldId id="354" r:id="rId34"/>
    <p:sldId id="355" r:id="rId35"/>
    <p:sldId id="356" r:id="rId36"/>
    <p:sldId id="357" r:id="rId37"/>
    <p:sldId id="281" r:id="rId38"/>
    <p:sldId id="282" r:id="rId39"/>
    <p:sldId id="283" r:id="rId40"/>
    <p:sldId id="284" r:id="rId41"/>
    <p:sldId id="285" r:id="rId42"/>
    <p:sldId id="286" r:id="rId43"/>
    <p:sldId id="287" r:id="rId44"/>
    <p:sldId id="288" r:id="rId45"/>
    <p:sldId id="289" r:id="rId46"/>
    <p:sldId id="290" r:id="rId47"/>
    <p:sldId id="291" r:id="rId48"/>
    <p:sldId id="292" r:id="rId49"/>
    <p:sldId id="293" r:id="rId50"/>
    <p:sldId id="344" r:id="rId51"/>
    <p:sldId id="345" r:id="rId52"/>
    <p:sldId id="346" r:id="rId53"/>
    <p:sldId id="297" r:id="rId54"/>
    <p:sldId id="299" r:id="rId55"/>
    <p:sldId id="300" r:id="rId56"/>
    <p:sldId id="301" r:id="rId57"/>
    <p:sldId id="302" r:id="rId58"/>
    <p:sldId id="303" r:id="rId59"/>
    <p:sldId id="304" r:id="rId60"/>
    <p:sldId id="305" r:id="rId61"/>
    <p:sldId id="306" r:id="rId62"/>
    <p:sldId id="307" r:id="rId63"/>
    <p:sldId id="308" r:id="rId64"/>
    <p:sldId id="309" r:id="rId65"/>
    <p:sldId id="310" r:id="rId66"/>
    <p:sldId id="311" r:id="rId67"/>
    <p:sldId id="312" r:id="rId68"/>
    <p:sldId id="313" r:id="rId69"/>
    <p:sldId id="314" r:id="rId70"/>
    <p:sldId id="315" r:id="rId71"/>
    <p:sldId id="316" r:id="rId72"/>
    <p:sldId id="317" r:id="rId73"/>
    <p:sldId id="318" r:id="rId74"/>
    <p:sldId id="319" r:id="rId75"/>
    <p:sldId id="320" r:id="rId76"/>
    <p:sldId id="321" r:id="rId77"/>
    <p:sldId id="322" r:id="rId78"/>
    <p:sldId id="323" r:id="rId79"/>
    <p:sldId id="324" r:id="rId80"/>
    <p:sldId id="326" r:id="rId81"/>
    <p:sldId id="327" r:id="rId82"/>
    <p:sldId id="328" r:id="rId83"/>
    <p:sldId id="329" r:id="rId84"/>
    <p:sldId id="330" r:id="rId85"/>
    <p:sldId id="331" r:id="rId86"/>
    <p:sldId id="332" r:id="rId87"/>
    <p:sldId id="333" r:id="rId88"/>
    <p:sldId id="334" r:id="rId89"/>
    <p:sldId id="335" r:id="rId90"/>
    <p:sldId id="336" r:id="rId91"/>
    <p:sldId id="337" r:id="rId92"/>
    <p:sldId id="338" r:id="rId93"/>
    <p:sldId id="358" r:id="rId94"/>
    <p:sldId id="359" r:id="rId95"/>
    <p:sldId id="339" r:id="rId96"/>
    <p:sldId id="361" r:id="rId97"/>
    <p:sldId id="340" r:id="rId98"/>
    <p:sldId id="341" r:id="rId99"/>
    <p:sldId id="342" r:id="rId100"/>
    <p:sldId id="343" r:id="rId101"/>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3" autoAdjust="0"/>
    <p:restoredTop sz="94644" autoAdjust="0"/>
  </p:normalViewPr>
  <p:slideViewPr>
    <p:cSldViewPr>
      <p:cViewPr varScale="1">
        <p:scale>
          <a:sx n="135" d="100"/>
          <a:sy n="135" d="100"/>
        </p:scale>
        <p:origin x="918" y="48"/>
      </p:cViewPr>
      <p:guideLst>
        <p:guide orient="horz" pos="2160"/>
        <p:guide pos="2880"/>
      </p:guideLst>
    </p:cSldViewPr>
  </p:slideViewPr>
  <p:outlineViewPr>
    <p:cViewPr>
      <p:scale>
        <a:sx n="33" d="100"/>
        <a:sy n="33" d="100"/>
      </p:scale>
      <p:origin x="0" y="-123405"/>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9.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785A02B-D9D6-4BC7-BD1A-0C439226DE41}" type="datetimeFigureOut">
              <a:rPr lang="zh-CN" altLang="en-US" smtClean="0"/>
              <a:pPr/>
              <a:t>2025/9/28 Sunday</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58D460B-FCBF-4F68-A559-8E415D1DDEDB}" type="slidenum">
              <a:rPr lang="zh-CN" altLang="en-US" smtClean="0"/>
              <a:pPr/>
              <a:t>‹#›</a:t>
            </a:fld>
            <a:endParaRPr lang="zh-CN" altLang="en-US"/>
          </a:p>
        </p:txBody>
      </p:sp>
    </p:spTree>
    <p:extLst>
      <p:ext uri="{BB962C8B-B14F-4D97-AF65-F5344CB8AC3E}">
        <p14:creationId xmlns:p14="http://schemas.microsoft.com/office/powerpoint/2010/main" val="13890210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Right Triangle 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817112" y="1730403"/>
            <a:ext cx="5648623" cy="1204306"/>
          </a:xfrm>
        </p:spPr>
        <p:txBody>
          <a:bodyPr bIns="9144" anchor="b"/>
          <a:lstStyle>
            <a:lvl1pPr>
              <a:defRPr sz="3200"/>
            </a:lvl1pPr>
          </a:lstStyle>
          <a:p>
            <a:r>
              <a:rPr lang="zh-CN" altLang="en-US" dirty="0"/>
              <a:t>单击此处编辑母版标题样式</a:t>
            </a:r>
            <a:endParaRPr lang="en-US" dirty="0"/>
          </a:p>
        </p:txBody>
      </p:sp>
      <p:sp>
        <p:nvSpPr>
          <p:cNvPr id="3" name="Subtitle 2"/>
          <p:cNvSpPr>
            <a:spLocks noGrp="1"/>
          </p:cNvSpPr>
          <p:nvPr>
            <p:ph type="subTitle" idx="1"/>
          </p:nvPr>
        </p:nvSpPr>
        <p:spPr>
          <a:xfrm>
            <a:off x="2632869" y="5517232"/>
            <a:ext cx="6511131" cy="329259"/>
          </a:xfrm>
        </p:spPr>
        <p:txBody>
          <a:bodyPr tIns="9144">
            <a:normAutofit/>
          </a:bodyPr>
          <a:lstStyle>
            <a:lvl1pPr marL="0" indent="0" algn="l">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zh-CN" altLang="en-US" dirty="0"/>
              <a:t>单击此处编辑母版副标题样式</a:t>
            </a:r>
            <a:endParaRPr lang="en-US" dirty="0"/>
          </a:p>
        </p:txBody>
      </p:sp>
      <p:sp>
        <p:nvSpPr>
          <p:cNvPr id="4" name="Date Placeholder 3"/>
          <p:cNvSpPr>
            <a:spLocks noGrp="1"/>
          </p:cNvSpPr>
          <p:nvPr>
            <p:ph type="dt" sz="half" idx="10"/>
          </p:nvPr>
        </p:nvSpPr>
        <p:spPr/>
        <p:txBody>
          <a:bodyPr/>
          <a:lstStyle/>
          <a:p>
            <a:fld id="{79947EC6-CB47-4768-9811-6E3B54093484}" type="datetime1">
              <a:rPr lang="zh-CN" altLang="en-US" smtClean="0"/>
              <a:pPr/>
              <a:t>2025/9/28 Sunday</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827584" y="895707"/>
            <a:ext cx="7520940" cy="548640"/>
          </a:xfrm>
        </p:spPr>
        <p:txBody>
          <a:bodyPr/>
          <a:lstStyle>
            <a:lvl1pPr>
              <a:defRPr>
                <a:latin typeface="黑体" panose="02010609060101010101" pitchFamily="49" charset="-122"/>
                <a:ea typeface="黑体" panose="02010609060101010101" pitchFamily="49"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a:xfrm>
            <a:off x="827584" y="1628800"/>
            <a:ext cx="7520940" cy="3579849"/>
          </a:xfrm>
        </p:spPr>
        <p:txBody>
          <a:bodyPr>
            <a:normAutofit/>
          </a:bodyPr>
          <a:lstStyle>
            <a:lvl1pPr>
              <a:lnSpc>
                <a:spcPct val="120000"/>
              </a:lnSpc>
              <a:defRPr sz="2400">
                <a:latin typeface="Times New Roman" panose="02020603050405020304" pitchFamily="18" charset="0"/>
                <a:ea typeface="楷体" panose="02010609060101010101" pitchFamily="49" charset="-122"/>
                <a:cs typeface="Times New Roman" panose="02020603050405020304" pitchFamily="18" charset="0"/>
              </a:defRPr>
            </a:lvl1pPr>
            <a:lvl2pPr>
              <a:lnSpc>
                <a:spcPct val="120000"/>
              </a:lnSpc>
              <a:defRPr sz="2400">
                <a:latin typeface="Times New Roman" panose="02020603050405020304" pitchFamily="18" charset="0"/>
                <a:ea typeface="楷体" panose="02010609060101010101" pitchFamily="49" charset="-122"/>
                <a:cs typeface="Times New Roman" panose="02020603050405020304" pitchFamily="18" charset="0"/>
              </a:defRPr>
            </a:lvl2pPr>
            <a:lvl3pPr>
              <a:lnSpc>
                <a:spcPct val="120000"/>
              </a:lnSpc>
              <a:defRPr sz="2400">
                <a:latin typeface="Times New Roman" panose="02020603050405020304" pitchFamily="18" charset="0"/>
                <a:ea typeface="楷体" panose="02010609060101010101" pitchFamily="49" charset="-122"/>
                <a:cs typeface="Times New Roman" panose="02020603050405020304" pitchFamily="18" charset="0"/>
              </a:defRPr>
            </a:lvl3pPr>
            <a:lvl4pPr>
              <a:lnSpc>
                <a:spcPct val="120000"/>
              </a:lnSpc>
              <a:defRPr sz="2400">
                <a:latin typeface="Times New Roman" panose="02020603050405020304" pitchFamily="18" charset="0"/>
                <a:ea typeface="楷体" panose="02010609060101010101" pitchFamily="49" charset="-122"/>
                <a:cs typeface="Times New Roman" panose="02020603050405020304" pitchFamily="18" charset="0"/>
              </a:defRPr>
            </a:lvl4pPr>
            <a:lvl5pPr>
              <a:lnSpc>
                <a:spcPct val="120000"/>
              </a:lnSpc>
              <a:defRPr sz="2400">
                <a:latin typeface="Times New Roman" panose="02020603050405020304" pitchFamily="18" charset="0"/>
                <a:ea typeface="楷体" panose="02010609060101010101" pitchFamily="49" charset="-122"/>
                <a:cs typeface="Times New Roman" panose="02020603050405020304"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pic>
        <p:nvPicPr>
          <p:cNvPr id="7"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7504" y="116632"/>
            <a:ext cx="798104" cy="7991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矩形 7"/>
          <p:cNvSpPr/>
          <p:nvPr userDrawn="1"/>
        </p:nvSpPr>
        <p:spPr>
          <a:xfrm>
            <a:off x="933802" y="146299"/>
            <a:ext cx="4267944" cy="461665"/>
          </a:xfrm>
          <a:prstGeom prst="rect">
            <a:avLst/>
          </a:prstGeom>
        </p:spPr>
        <p:txBody>
          <a:bodyPr wrap="square">
            <a:spAutoFit/>
          </a:bodyPr>
          <a:lstStyle/>
          <a:p>
            <a:r>
              <a:rPr lang="zh-CN" altLang="en-US" sz="2400" cap="all" dirty="0">
                <a:solidFill>
                  <a:srgbClr val="000000"/>
                </a:solidFill>
                <a:effectLst>
                  <a:outerShdw blurRad="38100" dist="38100" dir="2700000" algn="tl">
                    <a:srgbClr val="000000">
                      <a:alpha val="43137"/>
                    </a:srgbClr>
                  </a:outerShdw>
                </a:effectLst>
                <a:latin typeface="方正舒体" panose="02010601030101010101" pitchFamily="2" charset="-122"/>
                <a:ea typeface="方正舒体" panose="02010601030101010101" pitchFamily="2" charset="-122"/>
                <a:cs typeface="+mj-cs"/>
              </a:rPr>
              <a:t>数据结构与算法</a:t>
            </a:r>
            <a:endParaRPr lang="zh-CN" altLang="en-US" sz="2400" dirty="0">
              <a:latin typeface="方正舒体" panose="02010601030101010101" pitchFamily="2" charset="-122"/>
              <a:ea typeface="方正舒体" panose="02010601030101010101" pitchFamily="2" charset="-122"/>
            </a:endParaRPr>
          </a:p>
        </p:txBody>
      </p:sp>
      <p:sp>
        <p:nvSpPr>
          <p:cNvPr id="10" name="TextBox 9"/>
          <p:cNvSpPr txBox="1"/>
          <p:nvPr userDrawn="1"/>
        </p:nvSpPr>
        <p:spPr>
          <a:xfrm>
            <a:off x="3779912" y="6453336"/>
            <a:ext cx="4104456" cy="369332"/>
          </a:xfrm>
          <a:prstGeom prst="rect">
            <a:avLst/>
          </a:prstGeom>
          <a:noFill/>
        </p:spPr>
        <p:txBody>
          <a:bodyPr wrap="square" rtlCol="0">
            <a:spAutoFit/>
          </a:bodyPr>
          <a:lstStyle/>
          <a:p>
            <a:r>
              <a:rPr lang="zh-CN" altLang="en-US" dirty="0">
                <a:solidFill>
                  <a:schemeClr val="bg1"/>
                </a:solidFill>
              </a:rPr>
              <a:t>西安交通大学计算机科学与技术学院</a:t>
            </a:r>
            <a:endParaRPr lang="en-US" altLang="zh-CN" dirty="0">
              <a:solidFill>
                <a:schemeClr val="bg1"/>
              </a:solidFill>
            </a:endParaRPr>
          </a:p>
        </p:txBody>
      </p:sp>
      <p:sp>
        <p:nvSpPr>
          <p:cNvPr id="11" name="TextBox 10"/>
          <p:cNvSpPr txBox="1"/>
          <p:nvPr userDrawn="1"/>
        </p:nvSpPr>
        <p:spPr>
          <a:xfrm>
            <a:off x="7884368" y="6441217"/>
            <a:ext cx="1152128" cy="369332"/>
          </a:xfrm>
          <a:prstGeom prst="rect">
            <a:avLst/>
          </a:prstGeom>
          <a:noFill/>
        </p:spPr>
        <p:txBody>
          <a:bodyPr wrap="square" rtlCol="0">
            <a:spAutoFit/>
          </a:bodyPr>
          <a:lstStyle/>
          <a:p>
            <a:fld id="{D6FB1EF2-4E04-428D-9A98-735957314976}" type="slidenum">
              <a:rPr lang="zh-CN" altLang="en-US" smtClean="0">
                <a:solidFill>
                  <a:schemeClr val="bg1"/>
                </a:solidFill>
              </a:rPr>
              <a:pPr/>
              <a:t>‹#›</a:t>
            </a:fld>
            <a:r>
              <a:rPr lang="en-US" altLang="zh-CN" dirty="0">
                <a:solidFill>
                  <a:schemeClr val="bg1"/>
                </a:solidFill>
              </a:rPr>
              <a:t>/100</a:t>
            </a:r>
            <a:endParaRPr lang="zh-CN" altLang="en-US" dirty="0">
              <a:solidFill>
                <a:schemeClr val="bg1"/>
              </a:solidFill>
            </a:endParaRPr>
          </a:p>
        </p:txBody>
      </p:sp>
      <p:sp>
        <p:nvSpPr>
          <p:cNvPr id="12" name="TextBox 11"/>
          <p:cNvSpPr txBox="1"/>
          <p:nvPr userDrawn="1"/>
        </p:nvSpPr>
        <p:spPr>
          <a:xfrm>
            <a:off x="179512" y="6237312"/>
            <a:ext cx="1512168" cy="369332"/>
          </a:xfrm>
          <a:prstGeom prst="rect">
            <a:avLst/>
          </a:prstGeom>
          <a:noFill/>
        </p:spPr>
        <p:txBody>
          <a:bodyPr wrap="square" rtlCol="0">
            <a:spAutoFit/>
          </a:bodyPr>
          <a:lstStyle/>
          <a:p>
            <a:fld id="{809FF817-7F91-4234-8174-F4CFFC795DF8}" type="datetime1">
              <a:rPr lang="zh-CN" altLang="en-US" smtClean="0">
                <a:solidFill>
                  <a:schemeClr val="bg1"/>
                </a:solidFill>
                <a:latin typeface="黑体" panose="02010609060101010101" pitchFamily="49" charset="-122"/>
                <a:ea typeface="黑体" panose="02010609060101010101" pitchFamily="49" charset="-122"/>
              </a:rPr>
              <a:pPr/>
              <a:t>2025/9/28 Sunday</a:t>
            </a:fld>
            <a:endParaRPr lang="zh-CN" altLang="en-US" dirty="0">
              <a:solidFill>
                <a:schemeClr val="bg1"/>
              </a:solidFill>
              <a:latin typeface="黑体" panose="02010609060101010101" pitchFamily="49" charset="-122"/>
              <a:ea typeface="黑体" panose="02010609060101010101" pitchFamily="49"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Triangle 6"/>
          <p:cNvSpPr/>
          <p:nvPr/>
        </p:nvSpPr>
        <p:spPr>
          <a:xfrm>
            <a:off x="0" y="2647950"/>
            <a:ext cx="3571875" cy="4210050"/>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819399" y="1726737"/>
            <a:ext cx="5650992" cy="1207509"/>
          </a:xfrm>
        </p:spPr>
        <p:txBody>
          <a:bodyPr bIns="9144" anchor="b"/>
          <a:lstStyle>
            <a:lvl1pPr algn="l">
              <a:defRPr kumimoji="0" lang="en-US" sz="3200" b="0" i="0" u="none" strike="noStrike" kern="1200" cap="all" spc="0" normalizeH="0" baseline="0" noProof="0" dirty="0" smtClean="0">
                <a:ln>
                  <a:noFill/>
                </a:ln>
                <a:solidFill>
                  <a:schemeClr val="tx1"/>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zh-CN" altLang="en-US"/>
              <a:t>单击此处编辑母版标题样式</a:t>
            </a:r>
            <a:endParaRPr lang="en-US" dirty="0"/>
          </a:p>
        </p:txBody>
      </p:sp>
      <p:sp>
        <p:nvSpPr>
          <p:cNvPr id="3" name="Text Placeholder 2"/>
          <p:cNvSpPr>
            <a:spLocks noGrp="1"/>
          </p:cNvSpPr>
          <p:nvPr>
            <p:ph type="body" idx="1"/>
          </p:nvPr>
        </p:nvSpPr>
        <p:spPr>
          <a:xfrm rot="19140000">
            <a:off x="1216152" y="2468304"/>
            <a:ext cx="6510528" cy="329184"/>
          </a:xfrm>
        </p:spPr>
        <p:txBody>
          <a:bodyPr anchor="t">
            <a:normAutofit/>
          </a:bodyPr>
          <a:lstStyle>
            <a:lvl1pPr marL="0" indent="0">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zh-CN" altLang="en-US"/>
              <a:t>单击此处编辑母版文本样式</a:t>
            </a:r>
          </a:p>
        </p:txBody>
      </p:sp>
      <p:sp>
        <p:nvSpPr>
          <p:cNvPr id="4" name="Date Placeholder 3"/>
          <p:cNvSpPr>
            <a:spLocks noGrp="1"/>
          </p:cNvSpPr>
          <p:nvPr>
            <p:ph type="dt" sz="half" idx="10"/>
          </p:nvPr>
        </p:nvSpPr>
        <p:spPr/>
        <p:txBody>
          <a:bodyPr/>
          <a:lstStyle/>
          <a:p>
            <a:fld id="{96FF9C47-783F-4BA3-8F44-C651CC1C7843}" type="datetime1">
              <a:rPr lang="zh-CN" altLang="en-US" smtClean="0"/>
              <a:pPr/>
              <a:t>2025/9/28 Sunday</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22960"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700016"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0A34DB96-0AE5-4520-9185-F689CCFB8160}" type="datetime1">
              <a:rPr lang="zh-CN" altLang="en-US" smtClean="0"/>
              <a:pPr/>
              <a:t>2025/9/28 Sunday</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pPr/>
              <a:t>‹#›</a:t>
            </a:fld>
            <a:endParaRPr lang="zh-CN" altLang="en-US"/>
          </a:p>
        </p:txBody>
      </p:sp>
      <p:sp>
        <p:nvSpPr>
          <p:cNvPr id="8" name="Title 7"/>
          <p:cNvSpPr>
            <a:spLocks noGrp="1"/>
          </p:cNvSpPr>
          <p:nvPr>
            <p:ph type="title"/>
          </p:nvPr>
        </p:nvSpPr>
        <p:spPr/>
        <p:txBody>
          <a:bodyPr/>
          <a:lstStyle/>
          <a:p>
            <a:r>
              <a:rPr lang="zh-CN" altLang="en-US"/>
              <a:t>单击此处编辑母版标题样式</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a:p>
        </p:txBody>
      </p:sp>
      <p:sp>
        <p:nvSpPr>
          <p:cNvPr id="3" name="Text Placeholder 2"/>
          <p:cNvSpPr>
            <a:spLocks noGrp="1"/>
          </p:cNvSpPr>
          <p:nvPr>
            <p:ph type="body" idx="1"/>
          </p:nvPr>
        </p:nvSpPr>
        <p:spPr>
          <a:xfrm>
            <a:off x="822960"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zh-CN" altLang="en-US"/>
              <a:t>单击此处编辑母版文本样式</a:t>
            </a:r>
          </a:p>
        </p:txBody>
      </p:sp>
      <p:sp>
        <p:nvSpPr>
          <p:cNvPr id="4" name="Content Placeholder 3"/>
          <p:cNvSpPr>
            <a:spLocks noGrp="1"/>
          </p:cNvSpPr>
          <p:nvPr>
            <p:ph sz="half" idx="2"/>
          </p:nvPr>
        </p:nvSpPr>
        <p:spPr>
          <a:xfrm>
            <a:off x="819150"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700016"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zh-CN" altLang="en-US"/>
              <a:t>单击此处编辑母版文本样式</a:t>
            </a:r>
          </a:p>
        </p:txBody>
      </p:sp>
      <p:sp>
        <p:nvSpPr>
          <p:cNvPr id="6" name="Content Placeholder 5"/>
          <p:cNvSpPr>
            <a:spLocks noGrp="1"/>
          </p:cNvSpPr>
          <p:nvPr>
            <p:ph sz="quarter" idx="4"/>
          </p:nvPr>
        </p:nvSpPr>
        <p:spPr>
          <a:xfrm>
            <a:off x="4700016"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B5BD1D45-E3BC-449A-A2CA-DC7EEC7FF1AB}" type="datetime1">
              <a:rPr lang="zh-CN" altLang="en-US" smtClean="0"/>
              <a:pPr/>
              <a:t>2025/9/28 Sunday</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Date Placeholder 2"/>
          <p:cNvSpPr>
            <a:spLocks noGrp="1"/>
          </p:cNvSpPr>
          <p:nvPr>
            <p:ph type="dt" sz="half" idx="10"/>
          </p:nvPr>
        </p:nvSpPr>
        <p:spPr/>
        <p:txBody>
          <a:bodyPr/>
          <a:lstStyle/>
          <a:p>
            <a:fld id="{B7996B2F-325E-4DB5-B672-90AD506B448C}" type="datetime1">
              <a:rPr lang="zh-CN" altLang="en-US" smtClean="0"/>
              <a:pPr/>
              <a:t>2025/9/28 Sunday</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6B2991-BBE5-4E69-A281-1A8B0AE9CDD7}" type="datetime1">
              <a:rPr lang="zh-CN" altLang="en-US" smtClean="0"/>
              <a:pPr/>
              <a:t>2025/9/28 Sunday</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17" name="Right Triangle 1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Triangle 17"/>
          <p:cNvSpPr/>
          <p:nvPr/>
        </p:nvSpPr>
        <p:spPr>
          <a:xfrm rot="5400000">
            <a:off x="433389" y="-433387"/>
            <a:ext cx="6858000" cy="7724778"/>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2" name="Title 1"/>
          <p:cNvSpPr>
            <a:spLocks noGrp="1"/>
          </p:cNvSpPr>
          <p:nvPr>
            <p:ph type="title"/>
          </p:nvPr>
        </p:nvSpPr>
        <p:spPr>
          <a:xfrm rot="19140000">
            <a:off x="784930" y="1576103"/>
            <a:ext cx="5212080" cy="1089427"/>
          </a:xfrm>
        </p:spPr>
        <p:txBody>
          <a:bodyPr bIns="0" anchor="b"/>
          <a:lstStyle>
            <a:lvl1pPr algn="l">
              <a:defRPr kumimoji="0" lang="en-US" sz="2800" b="0" i="0" u="none" strike="noStrike" kern="1200" cap="all" spc="0" normalizeH="0" baseline="0" noProof="0" dirty="0" smtClean="0">
                <a:ln>
                  <a:noFill/>
                </a:ln>
                <a:solidFill>
                  <a:srgbClr val="FFFFFF"/>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zh-CN" altLang="en-US"/>
              <a:t>单击此处编辑母版标题样式</a:t>
            </a:r>
            <a:endParaRPr lang="en-US" dirty="0"/>
          </a:p>
        </p:txBody>
      </p:sp>
      <p:sp>
        <p:nvSpPr>
          <p:cNvPr id="3" name="Content Placeholder 2"/>
          <p:cNvSpPr>
            <a:spLocks noGrp="1"/>
          </p:cNvSpPr>
          <p:nvPr>
            <p:ph idx="1"/>
          </p:nvPr>
        </p:nvSpPr>
        <p:spPr>
          <a:xfrm>
            <a:off x="4749552" y="2618912"/>
            <a:ext cx="3807779" cy="33246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rot="19140000">
            <a:off x="1297954" y="2253385"/>
            <a:ext cx="5794760" cy="623314"/>
          </a:xfrm>
        </p:spPr>
        <p:txBody>
          <a:bodyPr>
            <a:normAutofit/>
          </a:bodyPr>
          <a:lstStyle>
            <a:lvl1pPr marL="0" indent="0">
              <a:buNone/>
              <a:defRPr lang="en-US" sz="1400" b="1" kern="1200" dirty="0" smtClean="0">
                <a:solidFill>
                  <a:srgbClr val="FFFFFF"/>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300"/>
              </a:spcBef>
              <a:spcAft>
                <a:spcPts val="0"/>
              </a:spcAft>
              <a:buClr>
                <a:schemeClr val="accent1"/>
              </a:buClr>
              <a:buSzPct val="100000"/>
              <a:buFont typeface="Arial" pitchFamily="34" charset="0"/>
              <a:buNone/>
              <a:tabLst/>
              <a:defRPr/>
            </a:pPr>
            <a:r>
              <a:rPr lang="zh-CN" altLang="en-US"/>
              <a:t>单击此处编辑母版文本样式</a:t>
            </a:r>
          </a:p>
        </p:txBody>
      </p:sp>
      <p:sp>
        <p:nvSpPr>
          <p:cNvPr id="5" name="Date Placeholder 4"/>
          <p:cNvSpPr>
            <a:spLocks noGrp="1"/>
          </p:cNvSpPr>
          <p:nvPr>
            <p:ph type="dt" sz="half" idx="10"/>
          </p:nvPr>
        </p:nvSpPr>
        <p:spPr/>
        <p:txBody>
          <a:bodyPr/>
          <a:lstStyle/>
          <a:p>
            <a:fld id="{998D44D8-17C8-4EF3-AEA6-26CE6DA18EE0}" type="datetime1">
              <a:rPr lang="zh-CN" altLang="en-US" smtClean="0"/>
              <a:pPr/>
              <a:t>2025/9/28 Sunday</a:t>
            </a:fld>
            <a:endParaRPr lang="zh-CN" altLang="en-US"/>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zh-CN" altLang="en-US"/>
          </a:p>
        </p:txBody>
      </p:sp>
      <p:sp>
        <p:nvSpPr>
          <p:cNvPr id="7" name="Slide Number Placeholder 6"/>
          <p:cNvSpPr>
            <a:spLocks noGrp="1"/>
          </p:cNvSpPr>
          <p:nvPr>
            <p:ph type="sldNum" sz="quarter" idx="12"/>
          </p:nvPr>
        </p:nvSpPr>
        <p:spPr>
          <a:ln>
            <a:solidFill>
              <a:schemeClr val="tx2"/>
            </a:solidFill>
          </a:ln>
        </p:spPr>
        <p:txBody>
          <a:bodyPr/>
          <a:lstStyle>
            <a:lvl1pPr>
              <a:defRPr>
                <a:solidFill>
                  <a:schemeClr val="tx2"/>
                </a:solidFill>
              </a:defRPr>
            </a:lvl1pPr>
          </a:lstStyle>
          <a:p>
            <a:fld id="{0C913308-F349-4B6D-A68A-DD1791B4A57B}"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11" name="Picture Placeholder 10"/>
          <p:cNvSpPr>
            <a:spLocks noGrp="1"/>
          </p:cNvSpPr>
          <p:nvPr>
            <p:ph type="pic" sz="quarter" idx="14"/>
          </p:nvPr>
        </p:nvSpPr>
        <p:spPr>
          <a:xfrm>
            <a:off x="2028825" y="0"/>
            <a:ext cx="7115175" cy="6858000"/>
          </a:xfrm>
          <a:custGeom>
            <a:avLst/>
            <a:gdLst>
              <a:gd name="connsiteX0" fmla="*/ 0 w 7104888"/>
              <a:gd name="connsiteY0" fmla="*/ 0 h 6858000"/>
              <a:gd name="connsiteX1" fmla="*/ 7104888 w 7104888"/>
              <a:gd name="connsiteY1" fmla="*/ 0 h 6858000"/>
              <a:gd name="connsiteX2" fmla="*/ 7104888 w 7104888"/>
              <a:gd name="connsiteY2" fmla="*/ 6858000 h 6858000"/>
              <a:gd name="connsiteX3" fmla="*/ 0 w 7104888"/>
              <a:gd name="connsiteY3" fmla="*/ 6858000 h 6858000"/>
              <a:gd name="connsiteX4" fmla="*/ 0 w 7104888"/>
              <a:gd name="connsiteY4" fmla="*/ 0 h 6858000"/>
              <a:gd name="connsiteX0" fmla="*/ 0 w 7104888"/>
              <a:gd name="connsiteY0" fmla="*/ 0 h 6858000"/>
              <a:gd name="connsiteX1" fmla="*/ 5695188 w 7104888"/>
              <a:gd name="connsiteY1" fmla="*/ 0 h 6858000"/>
              <a:gd name="connsiteX2" fmla="*/ 7104888 w 7104888"/>
              <a:gd name="connsiteY2" fmla="*/ 0 h 6858000"/>
              <a:gd name="connsiteX3" fmla="*/ 7104888 w 7104888"/>
              <a:gd name="connsiteY3" fmla="*/ 6858000 h 6858000"/>
              <a:gd name="connsiteX4" fmla="*/ 0 w 7104888"/>
              <a:gd name="connsiteY4" fmla="*/ 6858000 h 6858000"/>
              <a:gd name="connsiteX5" fmla="*/ 0 w 7104888"/>
              <a:gd name="connsiteY5"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0287 w 7115175"/>
              <a:gd name="connsiteY4" fmla="*/ 6858000 h 6858000"/>
              <a:gd name="connsiteX5" fmla="*/ 0 w 7115175"/>
              <a:gd name="connsiteY5" fmla="*/ 5048250 h 6858000"/>
              <a:gd name="connsiteX6" fmla="*/ 10287 w 7115175"/>
              <a:gd name="connsiteY6"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10287 w 7115175"/>
              <a:gd name="connsiteY5" fmla="*/ 6858000 h 6858000"/>
              <a:gd name="connsiteX6" fmla="*/ 0 w 7115175"/>
              <a:gd name="connsiteY6" fmla="*/ 5048250 h 6858000"/>
              <a:gd name="connsiteX7" fmla="*/ 10287 w 7115175"/>
              <a:gd name="connsiteY7"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 name="connsiteX6" fmla="*/ 10287 w 7115175"/>
              <a:gd name="connsiteY6" fmla="*/ 0 h 6858000"/>
              <a:gd name="connsiteX0" fmla="*/ 0 w 7115175"/>
              <a:gd name="connsiteY0" fmla="*/ 504825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15175" h="6858000">
                <a:moveTo>
                  <a:pt x="0" y="5048250"/>
                </a:moveTo>
                <a:lnTo>
                  <a:pt x="5705475" y="0"/>
                </a:lnTo>
                <a:lnTo>
                  <a:pt x="7115175" y="0"/>
                </a:lnTo>
                <a:lnTo>
                  <a:pt x="7115175" y="6858000"/>
                </a:lnTo>
                <a:lnTo>
                  <a:pt x="1533526" y="6848475"/>
                </a:lnTo>
                <a:lnTo>
                  <a:pt x="0" y="5048250"/>
                </a:lnTo>
                <a:close/>
              </a:path>
            </a:pathLst>
          </a:custGeom>
          <a:solidFill>
            <a:schemeClr val="accent3">
              <a:alpha val="80000"/>
            </a:schemeClr>
          </a:solidFill>
        </p:spPr>
        <p:txBody>
          <a:bodyPr rIns="182880" anchor="ctr"/>
          <a:lstStyle>
            <a:lvl1pPr algn="r">
              <a:defRPr/>
            </a:lvl1pPr>
          </a:lstStyle>
          <a:p>
            <a:r>
              <a:rPr lang="zh-CN" altLang="en-US"/>
              <a:t>单击图标添加图片</a:t>
            </a:r>
            <a:endParaRPr lang="en-US" dirty="0"/>
          </a:p>
        </p:txBody>
      </p:sp>
      <p:sp>
        <p:nvSpPr>
          <p:cNvPr id="9" name="Right Triangle 8"/>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p:cNvSpPr/>
          <p:nvPr/>
        </p:nvSpPr>
        <p:spPr>
          <a:xfrm>
            <a:off x="0" y="5048250"/>
            <a:ext cx="3571875" cy="1809750"/>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1809750 h 1809750"/>
              <a:gd name="connsiteX1" fmla="*/ 1895475 w 3571875"/>
              <a:gd name="connsiteY1" fmla="*/ 0 h 1809750"/>
              <a:gd name="connsiteX2" fmla="*/ 3571875 w 3571875"/>
              <a:gd name="connsiteY2" fmla="*/ 1809750 h 1809750"/>
              <a:gd name="connsiteX3" fmla="*/ 0 w 3571875"/>
              <a:gd name="connsiteY3" fmla="*/ 1809750 h 1809750"/>
              <a:gd name="connsiteX0" fmla="*/ 0 w 3571875"/>
              <a:gd name="connsiteY0" fmla="*/ 1809750 h 1809750"/>
              <a:gd name="connsiteX1" fmla="*/ 2038350 w 3571875"/>
              <a:gd name="connsiteY1" fmla="*/ 0 h 1809750"/>
              <a:gd name="connsiteX2" fmla="*/ 3571875 w 3571875"/>
              <a:gd name="connsiteY2" fmla="*/ 1809750 h 1809750"/>
              <a:gd name="connsiteX3" fmla="*/ 0 w 3571875"/>
              <a:gd name="connsiteY3" fmla="*/ 1809750 h 1809750"/>
            </a:gdLst>
            <a:ahLst/>
            <a:cxnLst>
              <a:cxn ang="0">
                <a:pos x="connsiteX0" y="connsiteY0"/>
              </a:cxn>
              <a:cxn ang="0">
                <a:pos x="connsiteX1" y="connsiteY1"/>
              </a:cxn>
              <a:cxn ang="0">
                <a:pos x="connsiteX2" y="connsiteY2"/>
              </a:cxn>
              <a:cxn ang="0">
                <a:pos x="connsiteX3" y="connsiteY3"/>
              </a:cxn>
            </a:cxnLst>
            <a:rect l="l" t="t" r="r" b="b"/>
            <a:pathLst>
              <a:path w="3571875" h="1809750">
                <a:moveTo>
                  <a:pt x="0" y="1809750"/>
                </a:moveTo>
                <a:lnTo>
                  <a:pt x="2038350" y="0"/>
                </a:lnTo>
                <a:lnTo>
                  <a:pt x="3571875" y="1809750"/>
                </a:lnTo>
                <a:lnTo>
                  <a:pt x="0" y="1809750"/>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671197" y="1717501"/>
            <a:ext cx="5486400" cy="867444"/>
          </a:xfrm>
        </p:spPr>
        <p:txBody>
          <a:bodyPr anchor="b"/>
          <a:lstStyle>
            <a:lvl1pPr algn="l">
              <a:defRPr sz="2800" b="0">
                <a:latin typeface="+mj-lt"/>
              </a:defRPr>
            </a:lvl1pPr>
          </a:lstStyle>
          <a:p>
            <a:r>
              <a:rPr lang="zh-CN" altLang="en-US"/>
              <a:t>单击此处编辑母版标题样式</a:t>
            </a:r>
            <a:endParaRPr lang="en-US" dirty="0"/>
          </a:p>
        </p:txBody>
      </p:sp>
      <p:sp>
        <p:nvSpPr>
          <p:cNvPr id="4" name="Text Placeholder 3"/>
          <p:cNvSpPr>
            <a:spLocks noGrp="1"/>
          </p:cNvSpPr>
          <p:nvPr>
            <p:ph type="body" sz="half" idx="2"/>
          </p:nvPr>
        </p:nvSpPr>
        <p:spPr>
          <a:xfrm rot="19140000">
            <a:off x="1143479" y="2180529"/>
            <a:ext cx="6096545" cy="740664"/>
          </a:xfrm>
        </p:spPr>
        <p:txBody>
          <a:bodyPr/>
          <a:lstStyle>
            <a:lvl1pPr marL="0" indent="0">
              <a:buNone/>
              <a:defRPr sz="14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FB116A5A-BD99-4717-BAC1-7A32521A6EAD}" type="datetime1">
              <a:rPr lang="zh-CN" altLang="en-US" smtClean="0"/>
              <a:pPr/>
              <a:t>2025/9/28 Sunday</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p:txBody>
          <a:bodyPr/>
          <a:lstStyle/>
          <a:p>
            <a:fld id="{5D1CC93F-9B3C-4EE7-9870-3D016680E837}" type="datetime1">
              <a:rPr lang="zh-CN" altLang="en-US" smtClean="0"/>
              <a:pPr/>
              <a:t>2025/9/28 Sunday</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467836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457200" y="274639"/>
            <a:ext cx="6019800" cy="467836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p:txBody>
          <a:bodyPr/>
          <a:lstStyle/>
          <a:p>
            <a:fld id="{9D16CA2C-5ACD-411C-BC33-FE293CBE3AB9}" type="datetime1">
              <a:rPr lang="zh-CN" altLang="en-US" smtClean="0"/>
              <a:pPr/>
              <a:t>2025/9/28 Sunday</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reeform 6"/>
          <p:cNvSpPr/>
          <p:nvPr/>
        </p:nvSpPr>
        <p:spPr>
          <a:xfrm>
            <a:off x="-2382" y="6309319"/>
            <a:ext cx="3574257" cy="548681"/>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4210050 h 4210050"/>
              <a:gd name="connsiteX1" fmla="*/ 0 w 3571875"/>
              <a:gd name="connsiteY1" fmla="*/ 0 h 4210050"/>
              <a:gd name="connsiteX2" fmla="*/ 2028825 w 3571875"/>
              <a:gd name="connsiteY2" fmla="*/ 23883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050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812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76450 w 3571875"/>
              <a:gd name="connsiteY2" fmla="*/ 22740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245519 w 3571875"/>
              <a:gd name="connsiteY2" fmla="*/ 2405063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38350 w 3571875"/>
              <a:gd name="connsiteY2" fmla="*/ 2405063 h 4210050"/>
              <a:gd name="connsiteX3" fmla="*/ 3571875 w 3571875"/>
              <a:gd name="connsiteY3" fmla="*/ 4210050 h 4210050"/>
              <a:gd name="connsiteX4" fmla="*/ 0 w 3571875"/>
              <a:gd name="connsiteY4" fmla="*/ 4210050 h 4210050"/>
              <a:gd name="connsiteX0" fmla="*/ 0 w 3571875"/>
              <a:gd name="connsiteY0" fmla="*/ 2433637 h 2433637"/>
              <a:gd name="connsiteX1" fmla="*/ 257175 w 3571875"/>
              <a:gd name="connsiteY1" fmla="*/ 0 h 2433637"/>
              <a:gd name="connsiteX2" fmla="*/ 2038350 w 3571875"/>
              <a:gd name="connsiteY2" fmla="*/ 628650 h 2433637"/>
              <a:gd name="connsiteX3" fmla="*/ 3571875 w 3571875"/>
              <a:gd name="connsiteY3" fmla="*/ 2433637 h 2433637"/>
              <a:gd name="connsiteX4" fmla="*/ 0 w 3571875"/>
              <a:gd name="connsiteY4" fmla="*/ 2433637 h 2433637"/>
              <a:gd name="connsiteX0" fmla="*/ 2382 w 3574257"/>
              <a:gd name="connsiteY0" fmla="*/ 1807368 h 1807368"/>
              <a:gd name="connsiteX1" fmla="*/ 0 w 3574257"/>
              <a:gd name="connsiteY1" fmla="*/ 0 h 1807368"/>
              <a:gd name="connsiteX2" fmla="*/ 2040732 w 3574257"/>
              <a:gd name="connsiteY2" fmla="*/ 2381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24051 w 3574257"/>
              <a:gd name="connsiteY2" fmla="*/ 307181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40682 w 3574257"/>
              <a:gd name="connsiteY2" fmla="*/ 450057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57351 w 3574257"/>
              <a:gd name="connsiteY2" fmla="*/ 2309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0732 w 3574257"/>
              <a:gd name="connsiteY2" fmla="*/ 23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774032 w 3574257"/>
              <a:gd name="connsiteY2" fmla="*/ 161925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69294 w 3574257"/>
              <a:gd name="connsiteY2" fmla="*/ 2143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819275 w 3574257"/>
              <a:gd name="connsiteY2" fmla="*/ 200026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5494 w 3574257"/>
              <a:gd name="connsiteY2" fmla="*/ 1 h 1807368"/>
              <a:gd name="connsiteX3" fmla="*/ 3574257 w 3574257"/>
              <a:gd name="connsiteY3" fmla="*/ 1807368 h 1807368"/>
              <a:gd name="connsiteX4" fmla="*/ 2382 w 3574257"/>
              <a:gd name="connsiteY4" fmla="*/ 1807368 h 1807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4257" h="1807368">
                <a:moveTo>
                  <a:pt x="2382" y="1807368"/>
                </a:moveTo>
                <a:lnTo>
                  <a:pt x="0" y="0"/>
                </a:lnTo>
                <a:lnTo>
                  <a:pt x="2045494" y="1"/>
                </a:lnTo>
                <a:lnTo>
                  <a:pt x="3574257" y="1807368"/>
                </a:lnTo>
                <a:lnTo>
                  <a:pt x="2382" y="1807368"/>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6309319"/>
            <a:ext cx="9146380" cy="548682"/>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 name="connsiteX0" fmla="*/ 0 w 3352800"/>
              <a:gd name="connsiteY0" fmla="*/ 2002631 h 2002631"/>
              <a:gd name="connsiteX1" fmla="*/ 754045 w 3352800"/>
              <a:gd name="connsiteY1" fmla="*/ 146832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26618 h 526618"/>
              <a:gd name="connsiteX1" fmla="*/ 980611 w 3352800"/>
              <a:gd name="connsiteY1" fmla="*/ 9368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6888 h 526888"/>
              <a:gd name="connsiteX1" fmla="*/ 744735 w 3352800"/>
              <a:gd name="connsiteY1" fmla="*/ 0 h 526888"/>
              <a:gd name="connsiteX2" fmla="*/ 3352800 w 3352800"/>
              <a:gd name="connsiteY2" fmla="*/ 270 h 526888"/>
              <a:gd name="connsiteX3" fmla="*/ 3352800 w 3352800"/>
              <a:gd name="connsiteY3" fmla="*/ 526888 h 526888"/>
              <a:gd name="connsiteX4" fmla="*/ 0 w 3352800"/>
              <a:gd name="connsiteY4" fmla="*/ 526888 h 526888"/>
              <a:gd name="connsiteX0" fmla="*/ 0 w 3352800"/>
              <a:gd name="connsiteY0" fmla="*/ 526618 h 526618"/>
              <a:gd name="connsiteX1" fmla="*/ 811948 w 3352800"/>
              <a:gd name="connsiteY1" fmla="*/ 6092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7584 h 527584"/>
              <a:gd name="connsiteX1" fmla="*/ 751718 w 3352800"/>
              <a:gd name="connsiteY1" fmla="*/ 0 h 527584"/>
              <a:gd name="connsiteX2" fmla="*/ 3352800 w 3352800"/>
              <a:gd name="connsiteY2" fmla="*/ 966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241069 w 3352800"/>
              <a:gd name="connsiteY2" fmla="*/ 94144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 name="connsiteX0" fmla="*/ 0 w 3352800"/>
              <a:gd name="connsiteY0" fmla="*/ 527313 h 527313"/>
              <a:gd name="connsiteX1" fmla="*/ 900984 w 3352800"/>
              <a:gd name="connsiteY1" fmla="*/ 97774 h 527313"/>
              <a:gd name="connsiteX2" fmla="*/ 3352800 w 3352800"/>
              <a:gd name="connsiteY2" fmla="*/ 0 h 527313"/>
              <a:gd name="connsiteX3" fmla="*/ 3352800 w 3352800"/>
              <a:gd name="connsiteY3" fmla="*/ 527313 h 527313"/>
              <a:gd name="connsiteX4" fmla="*/ 0 w 3352800"/>
              <a:gd name="connsiteY4" fmla="*/ 527313 h 527313"/>
              <a:gd name="connsiteX0" fmla="*/ 0 w 3352800"/>
              <a:gd name="connsiteY0" fmla="*/ 527584 h 527584"/>
              <a:gd name="connsiteX1" fmla="*/ 748227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527584">
                <a:moveTo>
                  <a:pt x="0" y="527584"/>
                </a:moveTo>
                <a:lnTo>
                  <a:pt x="748227" y="0"/>
                </a:lnTo>
                <a:lnTo>
                  <a:pt x="3352800" y="271"/>
                </a:lnTo>
                <a:lnTo>
                  <a:pt x="3352800" y="527584"/>
                </a:lnTo>
                <a:lnTo>
                  <a:pt x="0" y="527584"/>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822960" y="365760"/>
            <a:ext cx="7520940" cy="548640"/>
          </a:xfrm>
          <a:prstGeom prst="rect">
            <a:avLst/>
          </a:prstGeom>
        </p:spPr>
        <p:txBody>
          <a:bodyPr vert="horz" lIns="91440" tIns="45720" rIns="91440" bIns="45720" rtlCol="0" anchor="ctr">
            <a:no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22960" y="1100628"/>
            <a:ext cx="7520940" cy="3579849"/>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251520" y="6451667"/>
            <a:ext cx="1533226" cy="263984"/>
          </a:xfrm>
          <a:prstGeom prst="rect">
            <a:avLst/>
          </a:prstGeom>
        </p:spPr>
        <p:txBody>
          <a:bodyPr vert="horz" lIns="91440" tIns="45720" rIns="91440" bIns="45720" rtlCol="0" anchor="ctr"/>
          <a:lstStyle>
            <a:lvl1pPr algn="l">
              <a:defRPr sz="1200">
                <a:solidFill>
                  <a:srgbClr val="FFFFFF"/>
                </a:solidFill>
              </a:defRPr>
            </a:lvl1pPr>
          </a:lstStyle>
          <a:p>
            <a:fld id="{42F99069-F18D-4F57-97B5-E5E224D09DA9}" type="datetime1">
              <a:rPr lang="zh-CN" altLang="en-US" smtClean="0"/>
              <a:pPr/>
              <a:t>2025/9/28 Sunday</a:t>
            </a:fld>
            <a:endParaRPr lang="zh-CN" altLang="en-US"/>
          </a:p>
        </p:txBody>
      </p:sp>
      <p:sp>
        <p:nvSpPr>
          <p:cNvPr id="5" name="Footer Placeholder 4"/>
          <p:cNvSpPr>
            <a:spLocks noGrp="1"/>
          </p:cNvSpPr>
          <p:nvPr>
            <p:ph type="ftr" sz="quarter" idx="3"/>
          </p:nvPr>
        </p:nvSpPr>
        <p:spPr>
          <a:xfrm>
            <a:off x="3561570" y="6446499"/>
            <a:ext cx="4724400" cy="274320"/>
          </a:xfrm>
          <a:prstGeom prst="rect">
            <a:avLst/>
          </a:prstGeom>
        </p:spPr>
        <p:txBody>
          <a:bodyPr vert="horz" lIns="91440" tIns="45720" rIns="91440" bIns="45720" rtlCol="0" anchor="ctr"/>
          <a:lstStyle>
            <a:lvl1pPr algn="r">
              <a:defRPr sz="1000" cap="all" spc="200" baseline="0">
                <a:solidFill>
                  <a:srgbClr val="FFFFFF"/>
                </a:solidFill>
              </a:defRPr>
            </a:lvl1pPr>
          </a:lstStyle>
          <a:p>
            <a:endParaRPr lang="zh-CN" altLang="en-US"/>
          </a:p>
        </p:txBody>
      </p:sp>
      <p:sp>
        <p:nvSpPr>
          <p:cNvPr id="6" name="Slide Number Placeholder 5"/>
          <p:cNvSpPr>
            <a:spLocks noGrp="1"/>
          </p:cNvSpPr>
          <p:nvPr>
            <p:ph type="sldNum" sz="quarter" idx="4"/>
          </p:nvPr>
        </p:nvSpPr>
        <p:spPr>
          <a:xfrm>
            <a:off x="8460432" y="6332199"/>
            <a:ext cx="502920" cy="502920"/>
          </a:xfrm>
          <a:prstGeom prst="ellipse">
            <a:avLst/>
          </a:prstGeom>
          <a:ln w="19050">
            <a:solidFill>
              <a:srgbClr val="FFFFFF"/>
            </a:solidFill>
          </a:ln>
        </p:spPr>
        <p:txBody>
          <a:bodyPr vert="horz" lIns="9144" tIns="9144" rIns="9144" bIns="9144" rtlCol="0" anchor="ctr">
            <a:normAutofit/>
          </a:bodyPr>
          <a:lstStyle>
            <a:lvl1pPr algn="ctr">
              <a:defRPr sz="1650">
                <a:solidFill>
                  <a:srgbClr val="FFFFFF"/>
                </a:solidFill>
              </a:defRPr>
            </a:lvl1pPr>
          </a:lstStyle>
          <a:p>
            <a:fld id="{0C913308-F349-4B6D-A68A-DD1791B4A57B}"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hf sldNum="0" hdr="0" ftr="0"/>
  <p:txStyles>
    <p:titleStyle>
      <a:lvl1pPr algn="l" defTabSz="914400" rtl="0" eaLnBrk="1" latinLnBrk="0" hangingPunct="1">
        <a:spcBef>
          <a:spcPct val="0"/>
        </a:spcBef>
        <a:buNone/>
        <a:defRPr sz="2800" kern="1200" cap="all" baseline="0">
          <a:solidFill>
            <a:schemeClr val="tx1"/>
          </a:solidFill>
          <a:latin typeface="+mj-lt"/>
          <a:ea typeface="+mj-ea"/>
          <a:cs typeface="+mj-cs"/>
        </a:defRPr>
      </a:lvl1pPr>
    </p:titleStyle>
    <p:bodyStyle>
      <a:lvl1pPr marL="342900" indent="-342900" algn="l" defTabSz="914400" rtl="0" eaLnBrk="1" latinLnBrk="0" hangingPunct="1">
        <a:spcBef>
          <a:spcPts val="800"/>
        </a:spcBef>
        <a:buFont typeface="Arial" pitchFamily="34" charset="0"/>
        <a:buNone/>
        <a:defRPr sz="1600" b="1" kern="1200">
          <a:solidFill>
            <a:schemeClr val="tx1"/>
          </a:solidFill>
          <a:latin typeface="+mn-lt"/>
          <a:ea typeface="+mn-ea"/>
          <a:cs typeface="+mn-cs"/>
        </a:defRPr>
      </a:lvl1pPr>
      <a:lvl2pPr marL="1737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2pPr>
      <a:lvl3pPr marL="4023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3pPr>
      <a:lvl4pPr marL="6309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4pPr>
      <a:lvl5pPr marL="8595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1.emf"/></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11.emf"/></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11.em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13.emf"/></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14.emf"/></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15.emf"/></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19.emf"/></Relationships>
</file>

<file path=ppt/slides/_rels/slide7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19.emf"/></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506556" y="1628800"/>
            <a:ext cx="5648623" cy="1204306"/>
          </a:xfrm>
        </p:spPr>
        <p:txBody>
          <a:bodyPr/>
          <a:lstStyle/>
          <a:p>
            <a:pPr algn="just"/>
            <a:r>
              <a:rPr lang="zh-CN" altLang="zh-CN" sz="4400" b="1" dirty="0"/>
              <a:t>第</a:t>
            </a:r>
            <a:r>
              <a:rPr lang="en-US" altLang="zh-CN" sz="4400" b="1" dirty="0"/>
              <a:t>3</a:t>
            </a:r>
            <a:r>
              <a:rPr lang="zh-CN" altLang="zh-CN" sz="4400" b="1" dirty="0"/>
              <a:t>章</a:t>
            </a:r>
            <a:r>
              <a:rPr lang="en-US" altLang="zh-CN" sz="4400" b="1" dirty="0"/>
              <a:t>  </a:t>
            </a:r>
            <a:r>
              <a:rPr lang="zh-CN" altLang="zh-CN" sz="4400" b="1" dirty="0"/>
              <a:t>受限线性表</a:t>
            </a:r>
            <a:r>
              <a:rPr lang="en-US" altLang="zh-CN" sz="4400" b="1" dirty="0"/>
              <a:t>——</a:t>
            </a:r>
            <a:br>
              <a:rPr lang="en-US" altLang="zh-CN" sz="4400" b="1" dirty="0"/>
            </a:br>
            <a:r>
              <a:rPr lang="en-US" altLang="zh-CN" sz="4400" b="1" dirty="0"/>
              <a:t>		</a:t>
            </a:r>
            <a:r>
              <a:rPr lang="zh-CN" altLang="en-US" sz="4400" b="1" dirty="0"/>
              <a:t>栈、队列及串</a:t>
            </a:r>
            <a:endParaRPr lang="zh-CN" altLang="zh-CN" sz="4400" dirty="0"/>
          </a:p>
        </p:txBody>
      </p:sp>
      <p:pic>
        <p:nvPicPr>
          <p:cNvPr id="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7504" y="116632"/>
            <a:ext cx="798104" cy="7991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矩形 4"/>
          <p:cNvSpPr/>
          <p:nvPr/>
        </p:nvSpPr>
        <p:spPr>
          <a:xfrm>
            <a:off x="933802" y="146299"/>
            <a:ext cx="4267944" cy="461665"/>
          </a:xfrm>
          <a:prstGeom prst="rect">
            <a:avLst/>
          </a:prstGeom>
        </p:spPr>
        <p:txBody>
          <a:bodyPr wrap="square">
            <a:spAutoFit/>
          </a:bodyPr>
          <a:lstStyle/>
          <a:p>
            <a:r>
              <a:rPr lang="zh-CN" altLang="en-US" sz="2400" cap="all" dirty="0">
                <a:solidFill>
                  <a:srgbClr val="000000"/>
                </a:solidFill>
                <a:effectLst>
                  <a:outerShdw blurRad="38100" dist="38100" dir="2700000" algn="tl">
                    <a:srgbClr val="000000">
                      <a:alpha val="43137"/>
                    </a:srgbClr>
                  </a:outerShdw>
                </a:effectLst>
                <a:latin typeface="方正舒体" panose="02010601030101010101" pitchFamily="2" charset="-122"/>
                <a:ea typeface="方正舒体" panose="02010601030101010101" pitchFamily="2" charset="-122"/>
                <a:cs typeface="+mj-cs"/>
              </a:rPr>
              <a:t>数据结构与算法</a:t>
            </a:r>
            <a:endParaRPr lang="zh-CN" altLang="en-US" sz="2400" dirty="0">
              <a:latin typeface="方正舒体" panose="02010601030101010101" pitchFamily="2" charset="-122"/>
              <a:ea typeface="方正舒体" panose="02010601030101010101" pitchFamily="2" charset="-122"/>
            </a:endParaRPr>
          </a:p>
        </p:txBody>
      </p:sp>
      <p:sp>
        <p:nvSpPr>
          <p:cNvPr id="6" name="圆角矩形 5"/>
          <p:cNvSpPr/>
          <p:nvPr/>
        </p:nvSpPr>
        <p:spPr>
          <a:xfrm>
            <a:off x="2500298" y="692696"/>
            <a:ext cx="6643702" cy="5566276"/>
          </a:xfrm>
          <a:prstGeom prst="roundRect">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nSpc>
                <a:spcPct val="120000"/>
              </a:lnSpc>
            </a:pPr>
            <a:r>
              <a:rPr lang="zh-CN" altLang="zh-CN" sz="3200" b="1" dirty="0">
                <a:effectLst>
                  <a:outerShdw blurRad="38100" dist="38100" dir="2700000" algn="tl">
                    <a:srgbClr val="000000">
                      <a:alpha val="43137"/>
                    </a:srgbClr>
                  </a:outerShdw>
                </a:effectLst>
              </a:rPr>
              <a:t>知识要点</a:t>
            </a:r>
            <a:endParaRPr lang="en-US" altLang="zh-CN" sz="2400" dirty="0"/>
          </a:p>
          <a:p>
            <a:r>
              <a:rPr lang="en-US" altLang="zh-CN" sz="2000" dirty="0"/>
              <a:t>(1) </a:t>
            </a:r>
            <a:r>
              <a:rPr lang="zh-CN" altLang="zh-CN" sz="2000" dirty="0"/>
              <a:t>熟悉操作受限线性表中栈、队列与线性表的关系，顺序栈、循环队列与顺序表的关系，链栈、链队列与链表的关系。</a:t>
            </a:r>
          </a:p>
          <a:p>
            <a:r>
              <a:rPr lang="en-US" altLang="zh-CN" sz="2000" dirty="0"/>
              <a:t>(2) </a:t>
            </a:r>
            <a:r>
              <a:rPr lang="zh-CN" altLang="zh-CN" sz="2000" dirty="0"/>
              <a:t>重点掌握栈与队列的结构特点，了解分别在什么问题中应该使用栈结构与队列结构。</a:t>
            </a:r>
          </a:p>
          <a:p>
            <a:r>
              <a:rPr lang="en-US" altLang="zh-CN" sz="2000" dirty="0"/>
              <a:t>(3) </a:t>
            </a:r>
            <a:r>
              <a:rPr lang="zh-CN" altLang="zh-CN" sz="2000" dirty="0"/>
              <a:t>熟练掌握栈的基本操作在顺序栈和链栈上的实现，特别注意顺序栈和链栈的判空条件；熟练掌握队列的基本操作在循环队列和链队列上的实现，特别注意循环队列和链队列的判空条件。</a:t>
            </a:r>
          </a:p>
          <a:p>
            <a:r>
              <a:rPr lang="en-US" altLang="zh-CN" sz="2000" dirty="0"/>
              <a:t>(4) </a:t>
            </a:r>
            <a:r>
              <a:rPr lang="zh-CN" altLang="zh-CN" sz="2000" dirty="0"/>
              <a:t>熟悉栈与队列的上溢和下溢的概念，了解顺序队列中产生假上溢的原因，以及循环队列消除假上溢的方法。</a:t>
            </a:r>
          </a:p>
          <a:p>
            <a:r>
              <a:rPr lang="en-US" altLang="zh-CN" sz="2000" dirty="0"/>
              <a:t>(5) </a:t>
            </a:r>
            <a:r>
              <a:rPr lang="zh-CN" altLang="zh-CN" sz="2000" dirty="0"/>
              <a:t>了解数据类型受限的字符串结构，初步掌握字符串匹配算法。</a:t>
            </a:r>
          </a:p>
        </p:txBody>
      </p:sp>
      <p:sp>
        <p:nvSpPr>
          <p:cNvPr id="7" name="副标题 2"/>
          <p:cNvSpPr txBox="1">
            <a:spLocks/>
          </p:cNvSpPr>
          <p:nvPr/>
        </p:nvSpPr>
        <p:spPr>
          <a:xfrm>
            <a:off x="3067774" y="6392281"/>
            <a:ext cx="5976664" cy="443001"/>
          </a:xfrm>
          <a:prstGeom prst="rect">
            <a:avLst/>
          </a:prstGeom>
        </p:spPr>
        <p:txBody>
          <a:bodyPr vert="horz" lIns="91440" tIns="9144" rIns="91440" bIns="45720" rtlCol="0">
            <a:normAutofit/>
          </a:bodyPr>
          <a:lstStyle>
            <a:lvl1pPr marL="0" indent="0" algn="l" defTabSz="914400" rtl="0" eaLnBrk="1" latinLnBrk="0" hangingPunct="1">
              <a:spcBef>
                <a:spcPts val="800"/>
              </a:spcBef>
              <a:buFont typeface="Arial" pitchFamily="34" charset="0"/>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lgn="ctr" defTabSz="914400" rtl="0" eaLnBrk="1" latinLnBrk="0" hangingPunct="1">
              <a:spcBef>
                <a:spcPts val="300"/>
              </a:spcBef>
              <a:buClr>
                <a:schemeClr val="accent2"/>
              </a:buClr>
              <a:buFont typeface="Wingdings" pitchFamily="2" charset="2"/>
              <a:buNone/>
              <a:defRPr sz="1600" kern="1200">
                <a:solidFill>
                  <a:schemeClr val="tx1">
                    <a:tint val="75000"/>
                  </a:schemeClr>
                </a:solidFill>
                <a:latin typeface="+mn-lt"/>
                <a:ea typeface="+mn-ea"/>
                <a:cs typeface="+mn-cs"/>
              </a:defRPr>
            </a:lvl2pPr>
            <a:lvl3pPr marL="914400" indent="0" algn="ctr" defTabSz="914400" rtl="0" eaLnBrk="1" latinLnBrk="0" hangingPunct="1">
              <a:spcBef>
                <a:spcPts val="300"/>
              </a:spcBef>
              <a:buClr>
                <a:schemeClr val="accent2"/>
              </a:buClr>
              <a:buFont typeface="Wingdings" pitchFamily="2" charset="2"/>
              <a:buNone/>
              <a:defRPr sz="1600" kern="1200">
                <a:solidFill>
                  <a:schemeClr val="tx1">
                    <a:tint val="75000"/>
                  </a:schemeClr>
                </a:solidFill>
                <a:latin typeface="+mn-lt"/>
                <a:ea typeface="+mn-ea"/>
                <a:cs typeface="+mn-cs"/>
              </a:defRPr>
            </a:lvl3pPr>
            <a:lvl4pPr marL="1371600" indent="0" algn="ctr" defTabSz="914400" rtl="0" eaLnBrk="1" latinLnBrk="0" hangingPunct="1">
              <a:spcBef>
                <a:spcPts val="300"/>
              </a:spcBef>
              <a:buClr>
                <a:schemeClr val="accent2"/>
              </a:buClr>
              <a:buFont typeface="Wingdings" pitchFamily="2" charset="2"/>
              <a:buNone/>
              <a:defRPr sz="1600" kern="1200">
                <a:solidFill>
                  <a:schemeClr val="tx1">
                    <a:tint val="75000"/>
                  </a:schemeClr>
                </a:solidFill>
                <a:latin typeface="+mn-lt"/>
                <a:ea typeface="+mn-ea"/>
                <a:cs typeface="+mn-cs"/>
              </a:defRPr>
            </a:lvl4pPr>
            <a:lvl5pPr marL="1828800" indent="0" algn="ctr" defTabSz="914400" rtl="0" eaLnBrk="1" latinLnBrk="0" hangingPunct="1">
              <a:spcBef>
                <a:spcPts val="300"/>
              </a:spcBef>
              <a:buClr>
                <a:schemeClr val="accent2"/>
              </a:buClr>
              <a:buFont typeface="Wingdings" pitchFamily="2" charset="2"/>
              <a:buNone/>
              <a:defRPr sz="1600" kern="1200">
                <a:solidFill>
                  <a:schemeClr val="tx1">
                    <a:tint val="75000"/>
                  </a:schemeClr>
                </a:solidFill>
                <a:latin typeface="+mn-lt"/>
                <a:ea typeface="+mn-ea"/>
                <a:cs typeface="+mn-cs"/>
              </a:defRPr>
            </a:lvl5pPr>
            <a:lvl6pPr marL="2286000" indent="0" algn="ctr" defTabSz="914400" rtl="0" eaLnBrk="1" latinLnBrk="0" hangingPunct="1">
              <a:spcBef>
                <a:spcPts val="300"/>
              </a:spcBef>
              <a:buClr>
                <a:schemeClr val="accent2"/>
              </a:buClr>
              <a:buFont typeface="Wingdings" pitchFamily="2" charset="2"/>
              <a:buNone/>
              <a:defRPr sz="1400" kern="1200">
                <a:solidFill>
                  <a:schemeClr val="tx1">
                    <a:tint val="75000"/>
                  </a:schemeClr>
                </a:solidFill>
                <a:latin typeface="+mn-lt"/>
                <a:ea typeface="+mn-ea"/>
                <a:cs typeface="+mn-cs"/>
              </a:defRPr>
            </a:lvl6pPr>
            <a:lvl7pPr marL="2743200" indent="0" algn="ctr" defTabSz="914400" rtl="0" eaLnBrk="1" latinLnBrk="0" hangingPunct="1">
              <a:spcBef>
                <a:spcPts val="300"/>
              </a:spcBef>
              <a:buClr>
                <a:schemeClr val="accent2"/>
              </a:buClr>
              <a:buFont typeface="Wingdings" pitchFamily="2" charset="2"/>
              <a:buNone/>
              <a:defRPr sz="1400" kern="1200">
                <a:solidFill>
                  <a:schemeClr val="tx1">
                    <a:tint val="75000"/>
                  </a:schemeClr>
                </a:solidFill>
                <a:latin typeface="+mn-lt"/>
                <a:ea typeface="+mn-ea"/>
                <a:cs typeface="+mn-cs"/>
              </a:defRPr>
            </a:lvl7pPr>
            <a:lvl8pPr marL="3200400" indent="0" algn="ctr" defTabSz="914400" rtl="0" eaLnBrk="1" latinLnBrk="0" hangingPunct="1">
              <a:spcBef>
                <a:spcPts val="300"/>
              </a:spcBef>
              <a:buClr>
                <a:schemeClr val="accent2"/>
              </a:buClr>
              <a:buFont typeface="Wingdings" pitchFamily="2" charset="2"/>
              <a:buNone/>
              <a:defRPr sz="1400" kern="1200">
                <a:solidFill>
                  <a:schemeClr val="tx1">
                    <a:tint val="75000"/>
                  </a:schemeClr>
                </a:solidFill>
                <a:latin typeface="+mn-lt"/>
                <a:ea typeface="+mn-ea"/>
                <a:cs typeface="+mn-cs"/>
              </a:defRPr>
            </a:lvl8pPr>
            <a:lvl9pPr marL="3657600" indent="0" algn="ctr" defTabSz="914400" rtl="0" eaLnBrk="1" latinLnBrk="0" hangingPunct="1">
              <a:spcBef>
                <a:spcPts val="300"/>
              </a:spcBef>
              <a:buClr>
                <a:schemeClr val="accent2"/>
              </a:buClr>
              <a:buFont typeface="Wingdings" pitchFamily="2" charset="2"/>
              <a:buNone/>
              <a:defRPr sz="1400" kern="1200">
                <a:solidFill>
                  <a:schemeClr val="tx1">
                    <a:tint val="75000"/>
                  </a:schemeClr>
                </a:solidFill>
                <a:latin typeface="+mn-lt"/>
                <a:ea typeface="+mn-ea"/>
                <a:cs typeface="+mn-cs"/>
              </a:defRPr>
            </a:lvl9pPr>
          </a:lstStyle>
          <a:p>
            <a:pPr algn="ctr"/>
            <a:r>
              <a:rPr lang="zh-CN" altLang="en-US" sz="1800" i="1" dirty="0">
                <a:latin typeface="华文行楷" panose="02010800040101010101" pitchFamily="2" charset="-122"/>
                <a:ea typeface="华文行楷" panose="02010800040101010101" pitchFamily="2" charset="-122"/>
              </a:rPr>
              <a:t>西安交通大学计算机科学与技术学院</a:t>
            </a:r>
          </a:p>
        </p:txBody>
      </p:sp>
      <p:sp>
        <p:nvSpPr>
          <p:cNvPr id="8" name="日期占位符 5"/>
          <p:cNvSpPr>
            <a:spLocks noGrp="1"/>
          </p:cNvSpPr>
          <p:nvPr>
            <p:ph type="dt" sz="half" idx="10"/>
          </p:nvPr>
        </p:nvSpPr>
        <p:spPr>
          <a:xfrm>
            <a:off x="-36512" y="6485577"/>
            <a:ext cx="1123132" cy="227149"/>
          </a:xfrm>
        </p:spPr>
        <p:txBody>
          <a:bodyPr/>
          <a:lstStyle/>
          <a:p>
            <a:fld id="{FE3E9456-702B-478D-AFB3-A22B853B09FE}" type="datetime1">
              <a:rPr lang="zh-CN" altLang="en-US" smtClean="0"/>
              <a:pPr/>
              <a:t>2025/9/28 Sunday</a:t>
            </a:fld>
            <a:endParaRPr lang="zh-CN" altLang="en-US" dirty="0"/>
          </a:p>
        </p:txBody>
      </p:sp>
    </p:spTree>
    <p:extLst>
      <p:ext uri="{BB962C8B-B14F-4D97-AF65-F5344CB8AC3E}">
        <p14:creationId xmlns:p14="http://schemas.microsoft.com/office/powerpoint/2010/main" val="2627410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en-US" altLang="zh-CN" b="1" dirty="0"/>
              <a:t>3.1 </a:t>
            </a:r>
            <a:r>
              <a:rPr lang="zh-CN" altLang="zh-CN" b="1" dirty="0"/>
              <a:t>操作受限线性表</a:t>
            </a:r>
            <a:r>
              <a:rPr lang="en-US" altLang="zh-CN" b="1" dirty="0"/>
              <a:t>---</a:t>
            </a:r>
            <a:r>
              <a:rPr lang="zh-CN" altLang="zh-CN" b="1" dirty="0"/>
              <a:t>栈</a:t>
            </a:r>
            <a:endParaRPr lang="zh-CN" altLang="en-US" dirty="0"/>
          </a:p>
        </p:txBody>
      </p:sp>
      <p:sp>
        <p:nvSpPr>
          <p:cNvPr id="3" name="内容占位符 2"/>
          <p:cNvSpPr>
            <a:spLocks noGrp="1"/>
          </p:cNvSpPr>
          <p:nvPr>
            <p:ph idx="1"/>
          </p:nvPr>
        </p:nvSpPr>
        <p:spPr>
          <a:xfrm>
            <a:off x="827584" y="1628800"/>
            <a:ext cx="7520940" cy="4680520"/>
          </a:xfrm>
        </p:spPr>
        <p:txBody>
          <a:bodyPr>
            <a:normAutofit lnSpcReduction="10000"/>
          </a:bodyPr>
          <a:lstStyle/>
          <a:p>
            <a:pPr algn="just">
              <a:buFont typeface="Arial" panose="020B0604020202020204" pitchFamily="34" charset="0"/>
              <a:buChar char="•"/>
            </a:pPr>
            <a:r>
              <a:rPr lang="zh-CN" altLang="zh-CN" dirty="0">
                <a:solidFill>
                  <a:srgbClr val="FF0000"/>
                </a:solidFill>
              </a:rPr>
              <a:t>栈（</a:t>
            </a:r>
            <a:r>
              <a:rPr lang="en-US" altLang="zh-CN" dirty="0">
                <a:solidFill>
                  <a:srgbClr val="FF0000"/>
                </a:solidFill>
              </a:rPr>
              <a:t>stack</a:t>
            </a:r>
            <a:r>
              <a:rPr lang="zh-CN" altLang="zh-CN" dirty="0">
                <a:solidFill>
                  <a:srgbClr val="FF0000"/>
                </a:solidFill>
              </a:rPr>
              <a:t>），</a:t>
            </a:r>
            <a:r>
              <a:rPr lang="zh-CN" altLang="zh-CN" b="0" dirty="0">
                <a:solidFill>
                  <a:srgbClr val="FF0000"/>
                </a:solidFill>
              </a:rPr>
              <a:t>又称为堆栈</a:t>
            </a:r>
            <a:r>
              <a:rPr lang="zh-CN" altLang="zh-CN" b="0" dirty="0"/>
              <a:t>，是一种被限定仅在表尾进行插入和删除操作的线性表。</a:t>
            </a:r>
            <a:endParaRPr lang="en-US" altLang="zh-CN" b="0" dirty="0"/>
          </a:p>
          <a:p>
            <a:pPr algn="just">
              <a:buFont typeface="Arial" panose="020B0604020202020204" pitchFamily="34" charset="0"/>
              <a:buChar char="•"/>
            </a:pPr>
            <a:r>
              <a:rPr lang="zh-CN" altLang="zh-CN" b="0" dirty="0"/>
              <a:t>对于栈来说，能进行插入和删除操作的一端称为</a:t>
            </a:r>
            <a:r>
              <a:rPr lang="zh-CN" altLang="zh-CN" b="0" dirty="0">
                <a:solidFill>
                  <a:srgbClr val="FF0000"/>
                </a:solidFill>
              </a:rPr>
              <a:t>栈顶</a:t>
            </a:r>
            <a:r>
              <a:rPr lang="zh-CN" altLang="zh-CN" b="0" dirty="0"/>
              <a:t>（</a:t>
            </a:r>
            <a:r>
              <a:rPr lang="en-US" altLang="zh-CN" b="0" dirty="0"/>
              <a:t>top</a:t>
            </a:r>
            <a:r>
              <a:rPr lang="zh-CN" altLang="zh-CN" b="0" dirty="0"/>
              <a:t>），另一端称为</a:t>
            </a:r>
            <a:r>
              <a:rPr lang="zh-CN" altLang="zh-CN" b="0" dirty="0">
                <a:solidFill>
                  <a:srgbClr val="FF0000"/>
                </a:solidFill>
              </a:rPr>
              <a:t>栈底</a:t>
            </a:r>
            <a:r>
              <a:rPr lang="zh-CN" altLang="zh-CN" b="0" dirty="0"/>
              <a:t>（</a:t>
            </a:r>
            <a:r>
              <a:rPr lang="en-US" altLang="zh-CN" b="0" dirty="0"/>
              <a:t>bottom</a:t>
            </a:r>
            <a:r>
              <a:rPr lang="zh-CN" altLang="zh-CN" b="0" dirty="0"/>
              <a:t>）。</a:t>
            </a:r>
            <a:endParaRPr lang="en-US" altLang="zh-CN" b="0" dirty="0"/>
          </a:p>
          <a:p>
            <a:pPr algn="just">
              <a:buFont typeface="Arial" panose="020B0604020202020204" pitchFamily="34" charset="0"/>
              <a:buChar char="•"/>
            </a:pPr>
            <a:r>
              <a:rPr lang="zh-CN" altLang="zh-CN" b="0" dirty="0"/>
              <a:t>栈顶的位置是不断变化的，需要使用一个变量将当前的栈顶位置记录下来，该变量称为</a:t>
            </a:r>
            <a:r>
              <a:rPr lang="en-US" altLang="zh-CN" b="0" dirty="0"/>
              <a:t>“</a:t>
            </a:r>
            <a:r>
              <a:rPr lang="zh-CN" altLang="zh-CN" dirty="0">
                <a:solidFill>
                  <a:srgbClr val="FF0000"/>
                </a:solidFill>
              </a:rPr>
              <a:t>栈顶指针</a:t>
            </a:r>
            <a:r>
              <a:rPr lang="en-US" altLang="zh-CN" b="0" dirty="0"/>
              <a:t>”</a:t>
            </a:r>
            <a:r>
              <a:rPr lang="zh-CN" altLang="zh-CN" b="0" dirty="0"/>
              <a:t>。</a:t>
            </a:r>
            <a:endParaRPr lang="en-US" altLang="zh-CN" b="0" dirty="0"/>
          </a:p>
          <a:p>
            <a:pPr algn="just">
              <a:buFont typeface="Arial" panose="020B0604020202020204" pitchFamily="34" charset="0"/>
              <a:buChar char="•"/>
            </a:pPr>
            <a:r>
              <a:rPr lang="zh-CN" altLang="zh-CN" b="0" dirty="0"/>
              <a:t>栈底的位置是不会变的。</a:t>
            </a:r>
            <a:endParaRPr lang="en-US" altLang="zh-CN" b="0" dirty="0"/>
          </a:p>
          <a:p>
            <a:pPr algn="just">
              <a:buFont typeface="Arial" panose="020B0604020202020204" pitchFamily="34" charset="0"/>
              <a:buChar char="•"/>
            </a:pPr>
            <a:r>
              <a:rPr lang="zh-CN" altLang="zh-CN" b="0" dirty="0"/>
              <a:t>在栈顶位置进行的插入操作称为</a:t>
            </a:r>
            <a:r>
              <a:rPr lang="zh-CN" altLang="zh-CN" dirty="0">
                <a:solidFill>
                  <a:srgbClr val="FF0000"/>
                </a:solidFill>
              </a:rPr>
              <a:t>入栈</a:t>
            </a:r>
            <a:r>
              <a:rPr lang="zh-CN" altLang="zh-CN" b="0" dirty="0"/>
              <a:t>操作，而在栈顶位置进行的删除操作称为</a:t>
            </a:r>
            <a:r>
              <a:rPr lang="zh-CN" altLang="zh-CN" dirty="0">
                <a:solidFill>
                  <a:srgbClr val="FF0000"/>
                </a:solidFill>
              </a:rPr>
              <a:t>出栈</a:t>
            </a:r>
            <a:r>
              <a:rPr lang="zh-CN" altLang="zh-CN" b="0" dirty="0"/>
              <a:t>操作。</a:t>
            </a:r>
            <a:endParaRPr lang="en-US" altLang="zh-CN" b="0" dirty="0"/>
          </a:p>
          <a:p>
            <a:pPr algn="just">
              <a:buFont typeface="Arial" panose="020B0604020202020204" pitchFamily="34" charset="0"/>
              <a:buChar char="•"/>
            </a:pPr>
            <a:r>
              <a:rPr lang="zh-CN" altLang="zh-CN" b="0" dirty="0"/>
              <a:t>若栈内不存在任何数据元素，则称为</a:t>
            </a:r>
            <a:r>
              <a:rPr lang="zh-CN" altLang="zh-CN" dirty="0">
                <a:solidFill>
                  <a:srgbClr val="FF0000"/>
                </a:solidFill>
              </a:rPr>
              <a:t>空栈</a:t>
            </a:r>
            <a:r>
              <a:rPr lang="zh-CN" altLang="zh-CN" b="0" dirty="0"/>
              <a:t>。</a:t>
            </a:r>
          </a:p>
          <a:p>
            <a:pPr algn="just"/>
            <a:endParaRPr lang="zh-CN" altLang="en-US" b="0" dirty="0"/>
          </a:p>
        </p:txBody>
      </p:sp>
    </p:spTree>
    <p:extLst>
      <p:ext uri="{BB962C8B-B14F-4D97-AF65-F5344CB8AC3E}">
        <p14:creationId xmlns:p14="http://schemas.microsoft.com/office/powerpoint/2010/main" val="7804495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635896" y="1714488"/>
            <a:ext cx="5508104" cy="2308324"/>
          </a:xfrm>
          <a:prstGeom prst="rect">
            <a:avLst/>
          </a:prstGeom>
        </p:spPr>
        <p:txBody>
          <a:bodyPr wrap="square">
            <a:spAutoFit/>
          </a:bodyPr>
          <a:lstStyle/>
          <a:p>
            <a:pPr marL="342900" indent="-342900">
              <a:lnSpc>
                <a:spcPct val="150000"/>
              </a:lnSpc>
              <a:buFont typeface="Arial" panose="020B0604020202020204" pitchFamily="34" charset="0"/>
              <a:buChar char="•"/>
            </a:pP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设定栈</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S = ( a</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1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a</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 a</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nSpc>
                <a:spcPct val="150000"/>
              </a:lnSpc>
              <a:buFont typeface="Arial" panose="020B0604020202020204" pitchFamily="34" charset="0"/>
              <a:buChar char="•"/>
            </a:pP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栈具有</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先进后出，后进先出</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的特点</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nSpc>
                <a:spcPct val="150000"/>
              </a:lnSpc>
            </a:pPr>
            <a:r>
              <a:rPr lang="en-US" altLang="zh-CN"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FILO</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(First In Last Out)</a:t>
            </a:r>
          </a:p>
          <a:p>
            <a:pPr marL="342900" indent="-342900">
              <a:lnSpc>
                <a:spcPct val="150000"/>
              </a:lnSpc>
              <a:buFont typeface="Arial" panose="020B0604020202020204" pitchFamily="34" charset="0"/>
              <a:buChar char="•"/>
            </a:pPr>
            <a:endParaRPr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2" name="Picture 2"/>
          <p:cNvPicPr>
            <a:picLocks noChangeAspect="1" noChangeArrowheads="1"/>
          </p:cNvPicPr>
          <p:nvPr/>
        </p:nvPicPr>
        <p:blipFill>
          <a:blip r:embed="rId2" cstate="print"/>
          <a:srcRect/>
          <a:stretch>
            <a:fillRect/>
          </a:stretch>
        </p:blipFill>
        <p:spPr bwMode="auto">
          <a:xfrm>
            <a:off x="254111" y="1357298"/>
            <a:ext cx="3453793" cy="3943910"/>
          </a:xfrm>
          <a:prstGeom prst="rect">
            <a:avLst/>
          </a:prstGeom>
          <a:noFill/>
          <a:ln w="9525">
            <a:noFill/>
            <a:miter lim="800000"/>
            <a:headEnd/>
            <a:tailEnd/>
          </a:ln>
          <a:effectLst/>
        </p:spPr>
      </p:pic>
    </p:spTree>
    <p:extLst>
      <p:ext uri="{BB962C8B-B14F-4D97-AF65-F5344CB8AC3E}">
        <p14:creationId xmlns:p14="http://schemas.microsoft.com/office/powerpoint/2010/main" val="23822134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672757DA-436F-43C1-B9F5-996F4F312A29}"/>
              </a:ext>
            </a:extLst>
          </p:cNvPr>
          <p:cNvSpPr txBox="1">
            <a:spLocks noChangeArrowheads="1"/>
          </p:cNvSpPr>
          <p:nvPr/>
        </p:nvSpPr>
        <p:spPr bwMode="auto">
          <a:xfrm>
            <a:off x="747714" y="980728"/>
            <a:ext cx="7648572" cy="1682512"/>
          </a:xfrm>
          <a:prstGeom prst="rect">
            <a:avLst/>
          </a:prstGeom>
          <a:noFill/>
          <a:ln w="9525">
            <a:noFill/>
            <a:miter lim="800000"/>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a:spAutoFit/>
          </a:bodyPr>
          <a:lstStyle/>
          <a:p>
            <a:pPr algn="just">
              <a:lnSpc>
                <a:spcPts val="2500"/>
              </a:lnSpc>
              <a:spcBef>
                <a:spcPct val="50000"/>
              </a:spcBef>
            </a:pPr>
            <a:r>
              <a:rPr kumimoji="1" lang="zh-CN" altLang="en-US" sz="2000" dirty="0">
                <a:latin typeface="Consolas" pitchFamily="49" charset="0"/>
                <a:ea typeface="楷体" pitchFamily="49" charset="-122"/>
                <a:cs typeface="Consolas" pitchFamily="49" charset="0"/>
              </a:rPr>
              <a:t> </a:t>
            </a:r>
            <a:r>
              <a:rPr kumimoji="1" lang="en-US" altLang="zh-CN" sz="2000" dirty="0">
                <a:solidFill>
                  <a:srgbClr val="FF0000"/>
                </a:solidFill>
                <a:latin typeface="Consolas" pitchFamily="49" charset="0"/>
                <a:ea typeface="楷体" pitchFamily="49" charset="-122"/>
                <a:cs typeface="Consolas" pitchFamily="49" charset="0"/>
              </a:rPr>
              <a:t>【</a:t>
            </a:r>
            <a:r>
              <a:rPr kumimoji="1" lang="zh-CN" altLang="en-US" sz="2000" dirty="0">
                <a:solidFill>
                  <a:srgbClr val="FF0000"/>
                </a:solidFill>
                <a:latin typeface="Consolas" pitchFamily="49" charset="0"/>
                <a:ea typeface="楷体" pitchFamily="49" charset="-122"/>
                <a:cs typeface="Consolas" pitchFamily="49" charset="0"/>
              </a:rPr>
              <a:t>例</a:t>
            </a:r>
            <a:r>
              <a:rPr kumimoji="1" lang="en-US" altLang="zh-CN" sz="2000" dirty="0">
                <a:solidFill>
                  <a:srgbClr val="FF0000"/>
                </a:solidFill>
                <a:latin typeface="Consolas" pitchFamily="49" charset="0"/>
                <a:ea typeface="楷体" pitchFamily="49" charset="-122"/>
                <a:cs typeface="Consolas" pitchFamily="49" charset="0"/>
              </a:rPr>
              <a:t>】</a:t>
            </a:r>
            <a:r>
              <a:rPr kumimoji="1" lang="zh-CN" altLang="en-US" sz="2000" dirty="0">
                <a:latin typeface="Consolas" pitchFamily="49" charset="0"/>
                <a:ea typeface="楷体" pitchFamily="49" charset="-122"/>
                <a:cs typeface="Consolas" pitchFamily="49" charset="0"/>
              </a:rPr>
              <a:t>设一个栈的输入序列为</a:t>
            </a:r>
            <a:r>
              <a:rPr kumimoji="1" lang="en-US" altLang="zh-CN" sz="2000" i="1" dirty="0">
                <a:latin typeface="Consolas" pitchFamily="49" charset="0"/>
                <a:ea typeface="楷体" pitchFamily="49" charset="-122"/>
                <a:cs typeface="Consolas" pitchFamily="49" charset="0"/>
              </a:rPr>
              <a:t>a</a:t>
            </a:r>
            <a:r>
              <a:rPr kumimoji="1" lang="zh-CN" altLang="en-US" sz="2000" dirty="0">
                <a:latin typeface="Consolas" pitchFamily="49" charset="0"/>
                <a:ea typeface="楷体" pitchFamily="49" charset="-122"/>
                <a:cs typeface="Consolas" pitchFamily="49" charset="0"/>
              </a:rPr>
              <a:t>，</a:t>
            </a:r>
            <a:r>
              <a:rPr kumimoji="1" lang="en-US" altLang="zh-CN" sz="2000" i="1" dirty="0">
                <a:latin typeface="Consolas" pitchFamily="49" charset="0"/>
                <a:ea typeface="楷体" pitchFamily="49" charset="-122"/>
                <a:cs typeface="Consolas" pitchFamily="49" charset="0"/>
              </a:rPr>
              <a:t>b</a:t>
            </a:r>
            <a:r>
              <a:rPr kumimoji="1" lang="zh-CN" altLang="en-US" sz="2000" dirty="0">
                <a:latin typeface="Consolas" pitchFamily="49" charset="0"/>
                <a:ea typeface="楷体" pitchFamily="49" charset="-122"/>
                <a:cs typeface="Consolas" pitchFamily="49" charset="0"/>
              </a:rPr>
              <a:t>，</a:t>
            </a:r>
            <a:r>
              <a:rPr kumimoji="1" lang="en-US" altLang="zh-CN" sz="2000" i="1" dirty="0">
                <a:latin typeface="Consolas" pitchFamily="49" charset="0"/>
                <a:ea typeface="楷体" pitchFamily="49" charset="-122"/>
                <a:cs typeface="Consolas" pitchFamily="49" charset="0"/>
              </a:rPr>
              <a:t>c</a:t>
            </a:r>
            <a:r>
              <a:rPr kumimoji="1" lang="zh-CN" altLang="en-US" sz="2000" dirty="0">
                <a:latin typeface="Consolas" pitchFamily="49" charset="0"/>
                <a:ea typeface="楷体" pitchFamily="49" charset="-122"/>
                <a:cs typeface="Consolas" pitchFamily="49" charset="0"/>
              </a:rPr>
              <a:t>，</a:t>
            </a:r>
            <a:r>
              <a:rPr kumimoji="1" lang="en-US" altLang="zh-CN" sz="2000" i="1" dirty="0">
                <a:latin typeface="Consolas" pitchFamily="49" charset="0"/>
                <a:ea typeface="楷体" pitchFamily="49" charset="-122"/>
                <a:cs typeface="Consolas" pitchFamily="49" charset="0"/>
              </a:rPr>
              <a:t>d</a:t>
            </a:r>
            <a:r>
              <a:rPr kumimoji="1" lang="zh-CN" altLang="en-US" sz="2000" dirty="0">
                <a:latin typeface="Consolas" pitchFamily="49" charset="0"/>
                <a:ea typeface="楷体" pitchFamily="49" charset="-122"/>
                <a:cs typeface="Consolas" pitchFamily="49" charset="0"/>
              </a:rPr>
              <a:t>，则借助一个栈所得到的输出序列不可能是（  ）。</a:t>
            </a:r>
          </a:p>
          <a:p>
            <a:pPr algn="just">
              <a:lnSpc>
                <a:spcPts val="2500"/>
              </a:lnSpc>
              <a:spcBef>
                <a:spcPct val="50000"/>
              </a:spcBef>
            </a:pPr>
            <a:r>
              <a:rPr kumimoji="1" lang="zh-CN" altLang="en-US" sz="2000" dirty="0">
                <a:latin typeface="Consolas" pitchFamily="49" charset="0"/>
                <a:ea typeface="楷体" pitchFamily="49" charset="-122"/>
                <a:cs typeface="Consolas" pitchFamily="49" charset="0"/>
              </a:rPr>
              <a:t>	</a:t>
            </a:r>
            <a:r>
              <a:rPr kumimoji="1" lang="en-US" altLang="zh-CN" sz="2000" dirty="0">
                <a:latin typeface="Consolas" pitchFamily="49" charset="0"/>
                <a:ea typeface="楷体" pitchFamily="49" charset="-122"/>
                <a:cs typeface="Consolas" pitchFamily="49" charset="0"/>
              </a:rPr>
              <a:t>A. </a:t>
            </a:r>
            <a:r>
              <a:rPr kumimoji="1" lang="en-US" altLang="zh-CN" sz="2000" i="1" dirty="0">
                <a:latin typeface="Consolas" pitchFamily="49" charset="0"/>
                <a:ea typeface="楷体" pitchFamily="49" charset="-122"/>
                <a:cs typeface="Consolas" pitchFamily="49" charset="0"/>
              </a:rPr>
              <a:t>c</a:t>
            </a:r>
            <a:r>
              <a:rPr kumimoji="1" lang="zh-CN" altLang="en-US" sz="2000" dirty="0">
                <a:latin typeface="Consolas" pitchFamily="49" charset="0"/>
                <a:ea typeface="楷体" pitchFamily="49" charset="-122"/>
                <a:cs typeface="Consolas" pitchFamily="49" charset="0"/>
              </a:rPr>
              <a:t>，</a:t>
            </a:r>
            <a:r>
              <a:rPr kumimoji="1" lang="en-US" altLang="zh-CN" sz="2000" i="1" dirty="0">
                <a:latin typeface="Consolas" pitchFamily="49" charset="0"/>
                <a:ea typeface="楷体" pitchFamily="49" charset="-122"/>
                <a:cs typeface="Consolas" pitchFamily="49" charset="0"/>
              </a:rPr>
              <a:t>d</a:t>
            </a:r>
            <a:r>
              <a:rPr kumimoji="1" lang="zh-CN" altLang="en-US" sz="2000" dirty="0">
                <a:latin typeface="Consolas" pitchFamily="49" charset="0"/>
                <a:ea typeface="楷体" pitchFamily="49" charset="-122"/>
                <a:cs typeface="Consolas" pitchFamily="49" charset="0"/>
              </a:rPr>
              <a:t>，</a:t>
            </a:r>
            <a:r>
              <a:rPr kumimoji="1" lang="en-US" altLang="zh-CN" sz="2000" i="1" dirty="0">
                <a:latin typeface="Consolas" pitchFamily="49" charset="0"/>
                <a:ea typeface="楷体" pitchFamily="49" charset="-122"/>
                <a:cs typeface="Consolas" pitchFamily="49" charset="0"/>
              </a:rPr>
              <a:t>b</a:t>
            </a:r>
            <a:r>
              <a:rPr kumimoji="1" lang="zh-CN" altLang="en-US" sz="2000" dirty="0">
                <a:latin typeface="Consolas" pitchFamily="49" charset="0"/>
                <a:ea typeface="楷体" pitchFamily="49" charset="-122"/>
                <a:cs typeface="Consolas" pitchFamily="49" charset="0"/>
              </a:rPr>
              <a:t>，</a:t>
            </a:r>
            <a:r>
              <a:rPr kumimoji="1" lang="en-US" altLang="zh-CN" sz="2000" i="1" dirty="0">
                <a:latin typeface="Consolas" pitchFamily="49" charset="0"/>
                <a:ea typeface="楷体" pitchFamily="49" charset="-122"/>
                <a:cs typeface="Consolas" pitchFamily="49" charset="0"/>
              </a:rPr>
              <a:t>a</a:t>
            </a:r>
            <a:r>
              <a:rPr kumimoji="1" lang="en-US" altLang="zh-CN" sz="2000" dirty="0">
                <a:latin typeface="Consolas" pitchFamily="49" charset="0"/>
                <a:ea typeface="楷体" pitchFamily="49" charset="-122"/>
                <a:cs typeface="Consolas" pitchFamily="49" charset="0"/>
              </a:rPr>
              <a:t>		B.</a:t>
            </a:r>
            <a:r>
              <a:rPr kumimoji="1" lang="en-US" altLang="zh-CN" sz="2000" i="1" dirty="0">
                <a:latin typeface="Consolas" pitchFamily="49" charset="0"/>
                <a:ea typeface="楷体" pitchFamily="49" charset="-122"/>
                <a:cs typeface="Consolas" pitchFamily="49" charset="0"/>
              </a:rPr>
              <a:t> d</a:t>
            </a:r>
            <a:r>
              <a:rPr kumimoji="1" lang="zh-CN" altLang="en-US" sz="2000" dirty="0">
                <a:latin typeface="Consolas" pitchFamily="49" charset="0"/>
                <a:ea typeface="楷体" pitchFamily="49" charset="-122"/>
                <a:cs typeface="Consolas" pitchFamily="49" charset="0"/>
              </a:rPr>
              <a:t>，</a:t>
            </a:r>
            <a:r>
              <a:rPr kumimoji="1" lang="en-US" altLang="zh-CN" sz="2000" i="1" dirty="0">
                <a:latin typeface="Consolas" pitchFamily="49" charset="0"/>
                <a:ea typeface="楷体" pitchFamily="49" charset="-122"/>
                <a:cs typeface="Consolas" pitchFamily="49" charset="0"/>
              </a:rPr>
              <a:t>c</a:t>
            </a:r>
            <a:r>
              <a:rPr kumimoji="1" lang="zh-CN" altLang="en-US" sz="2000" dirty="0">
                <a:latin typeface="Consolas" pitchFamily="49" charset="0"/>
                <a:ea typeface="楷体" pitchFamily="49" charset="-122"/>
                <a:cs typeface="Consolas" pitchFamily="49" charset="0"/>
              </a:rPr>
              <a:t>，</a:t>
            </a:r>
            <a:r>
              <a:rPr kumimoji="1" lang="en-US" altLang="zh-CN" sz="2000" i="1" dirty="0">
                <a:latin typeface="Consolas" pitchFamily="49" charset="0"/>
                <a:ea typeface="楷体" pitchFamily="49" charset="-122"/>
                <a:cs typeface="Consolas" pitchFamily="49" charset="0"/>
              </a:rPr>
              <a:t>b</a:t>
            </a:r>
            <a:r>
              <a:rPr kumimoji="1" lang="zh-CN" altLang="en-US" sz="2000" dirty="0">
                <a:latin typeface="Consolas" pitchFamily="49" charset="0"/>
                <a:ea typeface="楷体" pitchFamily="49" charset="-122"/>
                <a:cs typeface="Consolas" pitchFamily="49" charset="0"/>
              </a:rPr>
              <a:t>，</a:t>
            </a:r>
            <a:r>
              <a:rPr kumimoji="1" lang="en-US" altLang="zh-CN" sz="2000" i="1" dirty="0">
                <a:latin typeface="Consolas" pitchFamily="49" charset="0"/>
                <a:ea typeface="楷体" pitchFamily="49" charset="-122"/>
                <a:cs typeface="Consolas" pitchFamily="49" charset="0"/>
              </a:rPr>
              <a:t>a</a:t>
            </a:r>
            <a:r>
              <a:rPr kumimoji="1" lang="en-US" altLang="zh-CN" sz="2000" dirty="0">
                <a:latin typeface="Consolas" pitchFamily="49" charset="0"/>
                <a:ea typeface="楷体" pitchFamily="49" charset="-122"/>
                <a:cs typeface="Consolas" pitchFamily="49" charset="0"/>
              </a:rPr>
              <a:t>  </a:t>
            </a:r>
          </a:p>
          <a:p>
            <a:pPr algn="just">
              <a:lnSpc>
                <a:spcPts val="2500"/>
              </a:lnSpc>
              <a:spcBef>
                <a:spcPct val="50000"/>
              </a:spcBef>
            </a:pPr>
            <a:r>
              <a:rPr kumimoji="1" lang="en-US" altLang="zh-CN" sz="2000" dirty="0">
                <a:latin typeface="Consolas" pitchFamily="49" charset="0"/>
                <a:ea typeface="楷体" pitchFamily="49" charset="-122"/>
                <a:cs typeface="Consolas" pitchFamily="49" charset="0"/>
              </a:rPr>
              <a:t>	C. </a:t>
            </a:r>
            <a:r>
              <a:rPr kumimoji="1" lang="en-US" altLang="zh-CN" sz="2000" i="1" dirty="0">
                <a:latin typeface="Consolas" pitchFamily="49" charset="0"/>
                <a:ea typeface="楷体" pitchFamily="49" charset="-122"/>
                <a:cs typeface="Consolas" pitchFamily="49" charset="0"/>
              </a:rPr>
              <a:t>a</a:t>
            </a:r>
            <a:r>
              <a:rPr kumimoji="1" lang="zh-CN" altLang="en-US" sz="2000" dirty="0">
                <a:latin typeface="Consolas" pitchFamily="49" charset="0"/>
                <a:ea typeface="楷体" pitchFamily="49" charset="-122"/>
                <a:cs typeface="Consolas" pitchFamily="49" charset="0"/>
              </a:rPr>
              <a:t>，</a:t>
            </a:r>
            <a:r>
              <a:rPr kumimoji="1" lang="en-US" altLang="zh-CN" sz="2000" i="1" dirty="0">
                <a:latin typeface="Consolas" pitchFamily="49" charset="0"/>
                <a:ea typeface="楷体" pitchFamily="49" charset="-122"/>
                <a:cs typeface="Consolas" pitchFamily="49" charset="0"/>
              </a:rPr>
              <a:t>c</a:t>
            </a:r>
            <a:r>
              <a:rPr kumimoji="1" lang="zh-CN" altLang="en-US" sz="2000" dirty="0">
                <a:latin typeface="Consolas" pitchFamily="49" charset="0"/>
                <a:ea typeface="楷体" pitchFamily="49" charset="-122"/>
                <a:cs typeface="Consolas" pitchFamily="49" charset="0"/>
              </a:rPr>
              <a:t>，</a:t>
            </a:r>
            <a:r>
              <a:rPr kumimoji="1" lang="en-US" altLang="zh-CN" sz="2000" i="1" dirty="0">
                <a:latin typeface="Consolas" pitchFamily="49" charset="0"/>
                <a:ea typeface="楷体" pitchFamily="49" charset="-122"/>
                <a:cs typeface="Consolas" pitchFamily="49" charset="0"/>
              </a:rPr>
              <a:t>d</a:t>
            </a:r>
            <a:r>
              <a:rPr kumimoji="1" lang="zh-CN" altLang="en-US" sz="2000" dirty="0">
                <a:latin typeface="Consolas" pitchFamily="49" charset="0"/>
                <a:ea typeface="楷体" pitchFamily="49" charset="-122"/>
                <a:cs typeface="Consolas" pitchFamily="49" charset="0"/>
              </a:rPr>
              <a:t>，</a:t>
            </a:r>
            <a:r>
              <a:rPr kumimoji="1" lang="en-US" altLang="zh-CN" sz="2000" i="1" dirty="0">
                <a:latin typeface="Consolas" pitchFamily="49" charset="0"/>
                <a:ea typeface="楷体" pitchFamily="49" charset="-122"/>
                <a:cs typeface="Consolas" pitchFamily="49" charset="0"/>
              </a:rPr>
              <a:t>b</a:t>
            </a:r>
            <a:r>
              <a:rPr kumimoji="1" lang="en-US" altLang="zh-CN" sz="2000" dirty="0">
                <a:latin typeface="Consolas" pitchFamily="49" charset="0"/>
                <a:ea typeface="楷体" pitchFamily="49" charset="-122"/>
                <a:cs typeface="Consolas" pitchFamily="49" charset="0"/>
              </a:rPr>
              <a:t>		D. </a:t>
            </a:r>
            <a:r>
              <a:rPr kumimoji="1" lang="en-US" altLang="zh-CN" sz="2000" i="1" dirty="0">
                <a:latin typeface="Consolas" pitchFamily="49" charset="0"/>
                <a:ea typeface="楷体" pitchFamily="49" charset="-122"/>
                <a:cs typeface="Consolas" pitchFamily="49" charset="0"/>
              </a:rPr>
              <a:t>d</a:t>
            </a:r>
            <a:r>
              <a:rPr kumimoji="1" lang="zh-CN" altLang="en-US" sz="2000" dirty="0">
                <a:latin typeface="Consolas" pitchFamily="49" charset="0"/>
                <a:ea typeface="楷体" pitchFamily="49" charset="-122"/>
                <a:cs typeface="Consolas" pitchFamily="49" charset="0"/>
              </a:rPr>
              <a:t>，</a:t>
            </a:r>
            <a:r>
              <a:rPr kumimoji="1" lang="en-US" altLang="zh-CN" sz="2000" i="1" dirty="0">
                <a:latin typeface="Consolas" pitchFamily="49" charset="0"/>
                <a:ea typeface="楷体" pitchFamily="49" charset="-122"/>
                <a:cs typeface="Consolas" pitchFamily="49" charset="0"/>
              </a:rPr>
              <a:t>a</a:t>
            </a:r>
            <a:r>
              <a:rPr kumimoji="1" lang="zh-CN" altLang="en-US" sz="2000" dirty="0">
                <a:latin typeface="Consolas" pitchFamily="49" charset="0"/>
                <a:ea typeface="楷体" pitchFamily="49" charset="-122"/>
                <a:cs typeface="Consolas" pitchFamily="49" charset="0"/>
              </a:rPr>
              <a:t>，</a:t>
            </a:r>
            <a:r>
              <a:rPr kumimoji="1" lang="en-US" altLang="zh-CN" sz="2000" i="1" dirty="0">
                <a:latin typeface="Consolas" pitchFamily="49" charset="0"/>
                <a:ea typeface="楷体" pitchFamily="49" charset="-122"/>
                <a:cs typeface="Consolas" pitchFamily="49" charset="0"/>
              </a:rPr>
              <a:t>b</a:t>
            </a:r>
            <a:r>
              <a:rPr kumimoji="1" lang="zh-CN" altLang="en-US" sz="2000" dirty="0">
                <a:latin typeface="Consolas" pitchFamily="49" charset="0"/>
                <a:ea typeface="楷体" pitchFamily="49" charset="-122"/>
                <a:cs typeface="Consolas" pitchFamily="49" charset="0"/>
              </a:rPr>
              <a:t>，</a:t>
            </a:r>
            <a:r>
              <a:rPr kumimoji="1" lang="en-US" altLang="zh-CN" sz="2000" i="1" dirty="0">
                <a:latin typeface="Consolas" pitchFamily="49" charset="0"/>
                <a:ea typeface="楷体" pitchFamily="49" charset="-122"/>
                <a:cs typeface="Consolas" pitchFamily="49" charset="0"/>
              </a:rPr>
              <a:t>c</a:t>
            </a:r>
            <a:r>
              <a:rPr kumimoji="1" lang="en-US" altLang="zh-CN" sz="2000" dirty="0">
                <a:latin typeface="Consolas" pitchFamily="49" charset="0"/>
                <a:ea typeface="楷体" pitchFamily="49" charset="-122"/>
                <a:cs typeface="Consolas" pitchFamily="49" charset="0"/>
              </a:rPr>
              <a:t>       </a:t>
            </a:r>
          </a:p>
        </p:txBody>
      </p:sp>
      <p:sp>
        <p:nvSpPr>
          <p:cNvPr id="12" name="Text Box 11">
            <a:extLst>
              <a:ext uri="{FF2B5EF4-FFF2-40B4-BE49-F238E27FC236}">
                <a16:creationId xmlns:a16="http://schemas.microsoft.com/office/drawing/2014/main" id="{E83F5D34-C3BB-4D4F-9851-7C7EF7C14CA1}"/>
              </a:ext>
            </a:extLst>
          </p:cNvPr>
          <p:cNvSpPr txBox="1">
            <a:spLocks noChangeArrowheads="1"/>
          </p:cNvSpPr>
          <p:nvPr/>
        </p:nvSpPr>
        <p:spPr bwMode="auto">
          <a:xfrm>
            <a:off x="2665284" y="3648593"/>
            <a:ext cx="3459160" cy="400110"/>
          </a:xfrm>
          <a:prstGeom prst="rect">
            <a:avLst/>
          </a:prstGeom>
          <a:noFill/>
          <a:ln w="38100" algn="ctr">
            <a:noFill/>
            <a:miter lim="800000"/>
            <a:headEnd/>
            <a:tailEnd/>
          </a:ln>
          <a:effectLst/>
        </p:spPr>
        <p:txBody>
          <a:bodyPr wrap="square">
            <a:spAutoFit/>
          </a:bodyPr>
          <a:lstStyle/>
          <a:p>
            <a:pPr algn="l">
              <a:spcBef>
                <a:spcPct val="50000"/>
              </a:spcBef>
            </a:pPr>
            <a:r>
              <a:rPr lang="zh-CN" altLang="en-US" sz="2000" dirty="0">
                <a:latin typeface="Consolas" pitchFamily="49" charset="0"/>
                <a:ea typeface="楷体" pitchFamily="49" charset="-122"/>
                <a:cs typeface="Consolas" pitchFamily="49" charset="0"/>
              </a:rPr>
              <a:t>选项</a:t>
            </a:r>
            <a:r>
              <a:rPr lang="en-US" altLang="zh-CN" sz="2000" dirty="0">
                <a:latin typeface="Consolas" pitchFamily="49" charset="0"/>
                <a:ea typeface="楷体" pitchFamily="49" charset="-122"/>
                <a:cs typeface="Consolas" pitchFamily="49" charset="0"/>
              </a:rPr>
              <a:t>D</a:t>
            </a:r>
            <a:r>
              <a:rPr lang="zh-CN" altLang="en-US" sz="2000" dirty="0">
                <a:latin typeface="Consolas" pitchFamily="49" charset="0"/>
                <a:ea typeface="楷体" pitchFamily="49" charset="-122"/>
                <a:cs typeface="Consolas" pitchFamily="49" charset="0"/>
              </a:rPr>
              <a:t>是不可能的</a:t>
            </a:r>
            <a:endParaRPr lang="zh-CN" altLang="en-US" sz="2000" dirty="0">
              <a:solidFill>
                <a:srgbClr val="FF0000"/>
              </a:solidFill>
              <a:latin typeface="Consolas" pitchFamily="49" charset="0"/>
              <a:ea typeface="楷体" pitchFamily="49" charset="-122"/>
              <a:cs typeface="Consolas" pitchFamily="49" charset="0"/>
            </a:endParaRPr>
          </a:p>
        </p:txBody>
      </p:sp>
      <p:pic>
        <p:nvPicPr>
          <p:cNvPr id="2" name="图片 1">
            <a:extLst>
              <a:ext uri="{FF2B5EF4-FFF2-40B4-BE49-F238E27FC236}">
                <a16:creationId xmlns:a16="http://schemas.microsoft.com/office/drawing/2014/main" id="{447C1DA7-A1FE-4CE3-966B-88815EB5A227}"/>
              </a:ext>
            </a:extLst>
          </p:cNvPr>
          <p:cNvPicPr>
            <a:picLocks noChangeAspect="1"/>
          </p:cNvPicPr>
          <p:nvPr/>
        </p:nvPicPr>
        <p:blipFill>
          <a:blip r:embed="rId2"/>
          <a:stretch>
            <a:fillRect/>
          </a:stretch>
        </p:blipFill>
        <p:spPr>
          <a:xfrm>
            <a:off x="6444208" y="2996952"/>
            <a:ext cx="2304256" cy="2634017"/>
          </a:xfrm>
          <a:prstGeom prst="rect">
            <a:avLst/>
          </a:prstGeom>
        </p:spPr>
      </p:pic>
    </p:spTree>
    <p:extLst>
      <p:ext uri="{BB962C8B-B14F-4D97-AF65-F5344CB8AC3E}">
        <p14:creationId xmlns:p14="http://schemas.microsoft.com/office/powerpoint/2010/main" val="258478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1">
            <a:extLst>
              <a:ext uri="{FF2B5EF4-FFF2-40B4-BE49-F238E27FC236}">
                <a16:creationId xmlns:a16="http://schemas.microsoft.com/office/drawing/2014/main" id="{A3C9734B-C2FB-4AD4-968B-36621AC19AD4}"/>
              </a:ext>
            </a:extLst>
          </p:cNvPr>
          <p:cNvSpPr txBox="1"/>
          <p:nvPr/>
        </p:nvSpPr>
        <p:spPr>
          <a:xfrm>
            <a:off x="620110" y="885134"/>
            <a:ext cx="8001056" cy="1323439"/>
          </a:xfrm>
          <a:prstGeom prst="rect">
            <a:avLst/>
          </a:prstGeom>
          <a:noFill/>
        </p:spPr>
        <p:txBody>
          <a:bodyPr wrap="square" rtlCol="0">
            <a:spAutoFit/>
          </a:bodyPr>
          <a:lstStyle/>
          <a:p>
            <a:pPr algn="l">
              <a:lnSpc>
                <a:spcPts val="3000"/>
              </a:lnSpc>
              <a:spcBef>
                <a:spcPts val="600"/>
              </a:spcBef>
            </a:pPr>
            <a:r>
              <a:rPr kumimoji="1" lang="en-US" altLang="zh-CN" sz="2200" dirty="0">
                <a:solidFill>
                  <a:srgbClr val="FF0000"/>
                </a:solidFill>
                <a:latin typeface="Consolas" pitchFamily="49" charset="0"/>
                <a:ea typeface="楷体" pitchFamily="49" charset="-122"/>
                <a:cs typeface="Consolas" pitchFamily="49" charset="0"/>
              </a:rPr>
              <a:t>【</a:t>
            </a:r>
            <a:r>
              <a:rPr kumimoji="1" lang="zh-CN" altLang="en-US" sz="2200" dirty="0">
                <a:solidFill>
                  <a:srgbClr val="FF0000"/>
                </a:solidFill>
                <a:latin typeface="Consolas" pitchFamily="49" charset="0"/>
                <a:ea typeface="楷体" pitchFamily="49" charset="-122"/>
                <a:cs typeface="Consolas" pitchFamily="49" charset="0"/>
              </a:rPr>
              <a:t>例</a:t>
            </a:r>
            <a:r>
              <a:rPr kumimoji="1" lang="en-US" altLang="zh-CN" sz="2200" dirty="0">
                <a:solidFill>
                  <a:srgbClr val="FF0000"/>
                </a:solidFill>
                <a:latin typeface="Consolas" pitchFamily="49" charset="0"/>
                <a:ea typeface="楷体" pitchFamily="49" charset="-122"/>
                <a:cs typeface="Consolas" pitchFamily="49" charset="0"/>
              </a:rPr>
              <a:t>】</a:t>
            </a:r>
            <a:r>
              <a:rPr lang="zh-CN" altLang="en-US" sz="2200" dirty="0">
                <a:solidFill>
                  <a:srgbClr val="0000FF"/>
                </a:solidFill>
                <a:latin typeface="Consolas" pitchFamily="49" charset="0"/>
                <a:ea typeface="楷体" pitchFamily="49" charset="-122"/>
                <a:cs typeface="Consolas" pitchFamily="49" charset="0"/>
              </a:rPr>
              <a:t>一个栈的入栈序列为</a:t>
            </a:r>
            <a:r>
              <a:rPr lang="en-US" altLang="zh-CN" sz="2200" dirty="0">
                <a:solidFill>
                  <a:srgbClr val="0000FF"/>
                </a:solidFill>
                <a:latin typeface="Consolas" pitchFamily="49" charset="0"/>
                <a:ea typeface="楷体" pitchFamily="49" charset="-122"/>
                <a:cs typeface="Consolas" pitchFamily="49" charset="0"/>
              </a:rPr>
              <a:t>1</a:t>
            </a:r>
            <a:r>
              <a:rPr lang="zh-CN" altLang="en-US" sz="2200" dirty="0">
                <a:solidFill>
                  <a:srgbClr val="0000FF"/>
                </a:solidFill>
                <a:latin typeface="Consolas" pitchFamily="49" charset="0"/>
                <a:ea typeface="楷体" pitchFamily="49" charset="-122"/>
                <a:cs typeface="Consolas" pitchFamily="49" charset="0"/>
              </a:rPr>
              <a:t>，</a:t>
            </a:r>
            <a:r>
              <a:rPr lang="en-US" altLang="zh-CN" sz="2200" dirty="0">
                <a:solidFill>
                  <a:srgbClr val="0000FF"/>
                </a:solidFill>
                <a:latin typeface="Consolas" pitchFamily="49" charset="0"/>
                <a:ea typeface="楷体" pitchFamily="49" charset="-122"/>
                <a:cs typeface="Consolas" pitchFamily="49" charset="0"/>
              </a:rPr>
              <a:t>2</a:t>
            </a:r>
            <a:r>
              <a:rPr lang="zh-CN" altLang="en-US" sz="2200" dirty="0">
                <a:solidFill>
                  <a:srgbClr val="0000FF"/>
                </a:solidFill>
                <a:latin typeface="Consolas" pitchFamily="49" charset="0"/>
                <a:ea typeface="楷体" pitchFamily="49" charset="-122"/>
                <a:cs typeface="Consolas" pitchFamily="49" charset="0"/>
              </a:rPr>
              <a:t>，</a:t>
            </a:r>
            <a:r>
              <a:rPr lang="en-US" altLang="zh-CN" sz="2200" dirty="0">
                <a:solidFill>
                  <a:srgbClr val="0000FF"/>
                </a:solidFill>
                <a:latin typeface="Consolas" pitchFamily="49" charset="0"/>
                <a:ea typeface="楷体" pitchFamily="49" charset="-122"/>
                <a:cs typeface="Consolas" pitchFamily="49" charset="0"/>
              </a:rPr>
              <a:t>3</a:t>
            </a:r>
            <a:r>
              <a:rPr lang="zh-CN" altLang="en-US" sz="2200" dirty="0">
                <a:solidFill>
                  <a:srgbClr val="0000FF"/>
                </a:solidFill>
                <a:latin typeface="Consolas" pitchFamily="49" charset="0"/>
                <a:ea typeface="楷体" pitchFamily="49" charset="-122"/>
                <a:cs typeface="Consolas" pitchFamily="49" charset="0"/>
              </a:rPr>
              <a:t>，</a:t>
            </a:r>
            <a:r>
              <a:rPr lang="en-US" altLang="zh-CN" sz="2200" dirty="0">
                <a:solidFill>
                  <a:srgbClr val="0000FF"/>
                </a:solidFill>
                <a:latin typeface="宋体" pitchFamily="2" charset="-122"/>
                <a:ea typeface="宋体" pitchFamily="2" charset="-122"/>
                <a:cs typeface="Consolas" pitchFamily="49" charset="0"/>
                <a:sym typeface="Symbol"/>
              </a:rPr>
              <a:t>…</a:t>
            </a:r>
            <a:r>
              <a:rPr lang="zh-CN" altLang="en-US" sz="2200" dirty="0">
                <a:solidFill>
                  <a:srgbClr val="0000FF"/>
                </a:solidFill>
                <a:latin typeface="Consolas" pitchFamily="49" charset="0"/>
                <a:ea typeface="楷体" pitchFamily="49" charset="-122"/>
                <a:cs typeface="Consolas" pitchFamily="49" charset="0"/>
              </a:rPr>
              <a:t>，</a:t>
            </a:r>
            <a:r>
              <a:rPr lang="en-US" altLang="zh-CN" sz="2200" i="1" dirty="0">
                <a:solidFill>
                  <a:srgbClr val="0000FF"/>
                </a:solidFill>
                <a:latin typeface="Consolas" pitchFamily="49" charset="0"/>
                <a:ea typeface="楷体" pitchFamily="49" charset="-122"/>
                <a:cs typeface="Consolas" pitchFamily="49" charset="0"/>
              </a:rPr>
              <a:t>n </a:t>
            </a:r>
            <a:r>
              <a:rPr lang="zh-CN" altLang="en-US" sz="2200" dirty="0">
                <a:solidFill>
                  <a:srgbClr val="0000FF"/>
                </a:solidFill>
                <a:latin typeface="Consolas" pitchFamily="49" charset="0"/>
                <a:ea typeface="楷体" pitchFamily="49" charset="-122"/>
                <a:cs typeface="Consolas" pitchFamily="49" charset="0"/>
              </a:rPr>
              <a:t>，其出栈序列是</a:t>
            </a:r>
            <a:r>
              <a:rPr lang="en-US" altLang="zh-CN" sz="2200" i="1" dirty="0">
                <a:solidFill>
                  <a:srgbClr val="0000FF"/>
                </a:solidFill>
                <a:latin typeface="Consolas" pitchFamily="49" charset="0"/>
                <a:ea typeface="楷体" pitchFamily="49" charset="-122"/>
                <a:cs typeface="Consolas" pitchFamily="49" charset="0"/>
              </a:rPr>
              <a:t>p</a:t>
            </a:r>
            <a:r>
              <a:rPr lang="en-US" altLang="zh-CN" sz="2200" baseline="-25000" dirty="0">
                <a:solidFill>
                  <a:srgbClr val="0000FF"/>
                </a:solidFill>
                <a:latin typeface="Consolas" pitchFamily="49" charset="0"/>
                <a:ea typeface="楷体" pitchFamily="49" charset="-122"/>
                <a:cs typeface="Consolas" pitchFamily="49" charset="0"/>
              </a:rPr>
              <a:t>1</a:t>
            </a:r>
            <a:r>
              <a:rPr lang="zh-CN" altLang="en-US" sz="2200" i="1" dirty="0">
                <a:solidFill>
                  <a:srgbClr val="0000FF"/>
                </a:solidFill>
                <a:latin typeface="Consolas" pitchFamily="49" charset="0"/>
                <a:ea typeface="楷体" pitchFamily="49" charset="-122"/>
                <a:cs typeface="Consolas" pitchFamily="49" charset="0"/>
              </a:rPr>
              <a:t>，</a:t>
            </a:r>
            <a:r>
              <a:rPr lang="en-US" altLang="zh-CN" sz="2200" i="1" dirty="0">
                <a:solidFill>
                  <a:srgbClr val="0000FF"/>
                </a:solidFill>
                <a:latin typeface="Consolas" pitchFamily="49" charset="0"/>
                <a:ea typeface="楷体" pitchFamily="49" charset="-122"/>
                <a:cs typeface="Consolas" pitchFamily="49" charset="0"/>
              </a:rPr>
              <a:t>p</a:t>
            </a:r>
            <a:r>
              <a:rPr lang="en-US" altLang="zh-CN" sz="2200" baseline="-25000" dirty="0">
                <a:solidFill>
                  <a:srgbClr val="0000FF"/>
                </a:solidFill>
                <a:latin typeface="Consolas" pitchFamily="49" charset="0"/>
                <a:ea typeface="楷体" pitchFamily="49" charset="-122"/>
                <a:cs typeface="Consolas" pitchFamily="49" charset="0"/>
              </a:rPr>
              <a:t>2</a:t>
            </a:r>
            <a:r>
              <a:rPr lang="zh-CN" altLang="en-US" sz="2200" i="1" dirty="0">
                <a:solidFill>
                  <a:srgbClr val="0000FF"/>
                </a:solidFill>
                <a:latin typeface="Consolas" pitchFamily="49" charset="0"/>
                <a:ea typeface="楷体" pitchFamily="49" charset="-122"/>
                <a:cs typeface="Consolas" pitchFamily="49" charset="0"/>
              </a:rPr>
              <a:t>，</a:t>
            </a:r>
            <a:r>
              <a:rPr lang="en-US" altLang="zh-CN" sz="2200" i="1" dirty="0">
                <a:solidFill>
                  <a:srgbClr val="0000FF"/>
                </a:solidFill>
                <a:latin typeface="Consolas" pitchFamily="49" charset="0"/>
                <a:ea typeface="楷体" pitchFamily="49" charset="-122"/>
                <a:cs typeface="Consolas" pitchFamily="49" charset="0"/>
              </a:rPr>
              <a:t>p</a:t>
            </a:r>
            <a:r>
              <a:rPr lang="en-US" altLang="zh-CN" sz="2200" baseline="-25000" dirty="0">
                <a:solidFill>
                  <a:srgbClr val="0000FF"/>
                </a:solidFill>
                <a:latin typeface="Consolas" pitchFamily="49" charset="0"/>
                <a:ea typeface="楷体" pitchFamily="49" charset="-122"/>
                <a:cs typeface="Consolas" pitchFamily="49" charset="0"/>
              </a:rPr>
              <a:t>3</a:t>
            </a:r>
            <a:r>
              <a:rPr lang="zh-CN" altLang="en-US" sz="2200" i="1" dirty="0">
                <a:solidFill>
                  <a:srgbClr val="0000FF"/>
                </a:solidFill>
                <a:latin typeface="Consolas" pitchFamily="49" charset="0"/>
                <a:ea typeface="楷体" pitchFamily="49" charset="-122"/>
                <a:cs typeface="Consolas" pitchFamily="49" charset="0"/>
              </a:rPr>
              <a:t>，</a:t>
            </a:r>
            <a:r>
              <a:rPr lang="en-US" altLang="zh-CN" sz="2200" dirty="0">
                <a:solidFill>
                  <a:srgbClr val="0000FF"/>
                </a:solidFill>
                <a:latin typeface="宋体" pitchFamily="2" charset="-122"/>
                <a:ea typeface="宋体" pitchFamily="2" charset="-122"/>
                <a:cs typeface="Consolas" pitchFamily="49" charset="0"/>
                <a:sym typeface="Symbol"/>
              </a:rPr>
              <a:t>…</a:t>
            </a:r>
            <a:r>
              <a:rPr lang="zh-CN" altLang="en-US" sz="2200" dirty="0">
                <a:solidFill>
                  <a:srgbClr val="0000FF"/>
                </a:solidFill>
                <a:latin typeface="Consolas" pitchFamily="49" charset="0"/>
                <a:ea typeface="楷体" pitchFamily="49" charset="-122"/>
                <a:cs typeface="Consolas" pitchFamily="49" charset="0"/>
              </a:rPr>
              <a:t>，</a:t>
            </a:r>
            <a:r>
              <a:rPr lang="en-US" altLang="zh-CN" sz="2200" i="1" dirty="0" err="1">
                <a:solidFill>
                  <a:srgbClr val="0000FF"/>
                </a:solidFill>
                <a:latin typeface="Consolas" pitchFamily="49" charset="0"/>
                <a:ea typeface="楷体" pitchFamily="49" charset="-122"/>
                <a:cs typeface="Consolas" pitchFamily="49" charset="0"/>
              </a:rPr>
              <a:t>p</a:t>
            </a:r>
            <a:r>
              <a:rPr lang="en-US" altLang="zh-CN" sz="2200" i="1" baseline="-25000" dirty="0" err="1">
                <a:solidFill>
                  <a:srgbClr val="0000FF"/>
                </a:solidFill>
                <a:latin typeface="Consolas" pitchFamily="49" charset="0"/>
                <a:ea typeface="楷体" pitchFamily="49" charset="-122"/>
                <a:cs typeface="Consolas" pitchFamily="49" charset="0"/>
              </a:rPr>
              <a:t>n</a:t>
            </a:r>
            <a:r>
              <a:rPr lang="zh-CN" altLang="en-US" sz="2200" dirty="0">
                <a:solidFill>
                  <a:srgbClr val="0000FF"/>
                </a:solidFill>
                <a:latin typeface="Consolas" pitchFamily="49" charset="0"/>
                <a:ea typeface="楷体" pitchFamily="49" charset="-122"/>
                <a:cs typeface="Consolas" pitchFamily="49" charset="0"/>
              </a:rPr>
              <a:t>。若</a:t>
            </a:r>
            <a:r>
              <a:rPr lang="en-US" altLang="zh-CN" sz="2200" i="1" dirty="0">
                <a:solidFill>
                  <a:srgbClr val="0000FF"/>
                </a:solidFill>
                <a:latin typeface="Consolas" pitchFamily="49" charset="0"/>
                <a:ea typeface="楷体" pitchFamily="49" charset="-122"/>
                <a:cs typeface="Consolas" pitchFamily="49" charset="0"/>
              </a:rPr>
              <a:t>p</a:t>
            </a:r>
            <a:r>
              <a:rPr lang="en-US" altLang="zh-CN" sz="2200" baseline="-25000" dirty="0">
                <a:solidFill>
                  <a:srgbClr val="0000FF"/>
                </a:solidFill>
                <a:latin typeface="Consolas" pitchFamily="49" charset="0"/>
                <a:ea typeface="楷体" pitchFamily="49" charset="-122"/>
                <a:cs typeface="Consolas" pitchFamily="49" charset="0"/>
              </a:rPr>
              <a:t>1</a:t>
            </a:r>
            <a:r>
              <a:rPr lang="en-US" altLang="zh-CN" sz="2200" dirty="0">
                <a:solidFill>
                  <a:srgbClr val="0000FF"/>
                </a:solidFill>
                <a:latin typeface="Consolas" pitchFamily="49" charset="0"/>
                <a:ea typeface="楷体" pitchFamily="49" charset="-122"/>
                <a:cs typeface="Consolas" pitchFamily="49" charset="0"/>
              </a:rPr>
              <a:t>=3</a:t>
            </a:r>
            <a:r>
              <a:rPr lang="zh-CN" altLang="en-US" sz="2200" dirty="0">
                <a:solidFill>
                  <a:srgbClr val="0000FF"/>
                </a:solidFill>
                <a:latin typeface="Consolas" pitchFamily="49" charset="0"/>
                <a:ea typeface="楷体" pitchFamily="49" charset="-122"/>
                <a:cs typeface="Consolas" pitchFamily="49" charset="0"/>
              </a:rPr>
              <a:t>，则</a:t>
            </a:r>
            <a:r>
              <a:rPr lang="en-US" altLang="zh-CN" sz="2200" i="1" dirty="0">
                <a:solidFill>
                  <a:srgbClr val="0000FF"/>
                </a:solidFill>
                <a:latin typeface="Consolas" pitchFamily="49" charset="0"/>
                <a:ea typeface="楷体" pitchFamily="49" charset="-122"/>
                <a:cs typeface="Consolas" pitchFamily="49" charset="0"/>
              </a:rPr>
              <a:t>p</a:t>
            </a:r>
            <a:r>
              <a:rPr lang="en-US" altLang="zh-CN" sz="2200" baseline="-25000" dirty="0">
                <a:solidFill>
                  <a:srgbClr val="0000FF"/>
                </a:solidFill>
                <a:latin typeface="Consolas" pitchFamily="49" charset="0"/>
                <a:ea typeface="楷体" pitchFamily="49" charset="-122"/>
                <a:cs typeface="Consolas" pitchFamily="49" charset="0"/>
              </a:rPr>
              <a:t>2</a:t>
            </a:r>
            <a:r>
              <a:rPr lang="zh-CN" altLang="en-US" sz="2200" dirty="0">
                <a:solidFill>
                  <a:srgbClr val="0000FF"/>
                </a:solidFill>
                <a:latin typeface="Consolas" pitchFamily="49" charset="0"/>
                <a:ea typeface="楷体" pitchFamily="49" charset="-122"/>
                <a:cs typeface="Consolas" pitchFamily="49" charset="0"/>
              </a:rPr>
              <a:t>可能取值的个数是多少？</a:t>
            </a:r>
            <a:endParaRPr lang="en-US" altLang="zh-CN" sz="2200" dirty="0">
              <a:solidFill>
                <a:srgbClr val="0000FF"/>
              </a:solidFill>
              <a:latin typeface="Consolas" pitchFamily="49" charset="0"/>
              <a:ea typeface="楷体" pitchFamily="49" charset="-122"/>
              <a:cs typeface="Consolas" pitchFamily="49" charset="0"/>
            </a:endParaRPr>
          </a:p>
          <a:p>
            <a:pPr algn="l">
              <a:lnSpc>
                <a:spcPts val="3000"/>
              </a:lnSpc>
              <a:spcBef>
                <a:spcPts val="600"/>
              </a:spcBef>
            </a:pPr>
            <a:r>
              <a:rPr lang="en-US" altLang="zh-CN" sz="2200" dirty="0">
                <a:solidFill>
                  <a:srgbClr val="0000FF"/>
                </a:solidFill>
                <a:latin typeface="Consolas" pitchFamily="49" charset="0"/>
                <a:ea typeface="楷体" pitchFamily="49" charset="-122"/>
                <a:cs typeface="Consolas" pitchFamily="49" charset="0"/>
              </a:rPr>
              <a:t>    A.</a:t>
            </a:r>
            <a:r>
              <a:rPr lang="en-US" altLang="zh-CN" sz="2200" i="1" dirty="0">
                <a:solidFill>
                  <a:srgbClr val="0000FF"/>
                </a:solidFill>
                <a:latin typeface="Consolas" pitchFamily="49" charset="0"/>
                <a:ea typeface="楷体" pitchFamily="49" charset="-122"/>
                <a:cs typeface="Consolas" pitchFamily="49" charset="0"/>
              </a:rPr>
              <a:t>n</a:t>
            </a:r>
            <a:r>
              <a:rPr lang="en-US" altLang="zh-CN" sz="2200" dirty="0">
                <a:solidFill>
                  <a:srgbClr val="0000FF"/>
                </a:solidFill>
                <a:latin typeface="Consolas" pitchFamily="49" charset="0"/>
                <a:ea typeface="+mn-ea"/>
                <a:cs typeface="Consolas" pitchFamily="49" charset="0"/>
              </a:rPr>
              <a:t>-</a:t>
            </a:r>
            <a:r>
              <a:rPr lang="en-US" altLang="zh-CN" sz="2200" dirty="0">
                <a:solidFill>
                  <a:srgbClr val="0000FF"/>
                </a:solidFill>
                <a:latin typeface="Consolas" pitchFamily="49" charset="0"/>
                <a:ea typeface="楷体" pitchFamily="49" charset="-122"/>
                <a:cs typeface="Consolas" pitchFamily="49" charset="0"/>
              </a:rPr>
              <a:t>3        </a:t>
            </a:r>
            <a:r>
              <a:rPr lang="en-US" altLang="zh-CN" sz="2200" i="1" dirty="0">
                <a:solidFill>
                  <a:srgbClr val="0000FF"/>
                </a:solidFill>
                <a:latin typeface="Consolas" pitchFamily="49" charset="0"/>
                <a:ea typeface="楷体" pitchFamily="49" charset="-122"/>
              </a:rPr>
              <a:t>B.n-2      </a:t>
            </a:r>
            <a:r>
              <a:rPr lang="en-US" altLang="zh-CN" sz="2200" dirty="0">
                <a:solidFill>
                  <a:srgbClr val="0000FF"/>
                </a:solidFill>
                <a:latin typeface="Consolas" pitchFamily="49" charset="0"/>
                <a:ea typeface="楷体" pitchFamily="49" charset="-122"/>
                <a:cs typeface="Consolas" pitchFamily="49" charset="0"/>
              </a:rPr>
              <a:t>C.</a:t>
            </a:r>
            <a:r>
              <a:rPr lang="en-US" altLang="zh-CN" sz="2200" i="1" dirty="0">
                <a:solidFill>
                  <a:srgbClr val="0000FF"/>
                </a:solidFill>
                <a:latin typeface="Consolas" pitchFamily="49" charset="0"/>
                <a:ea typeface="楷体" pitchFamily="49" charset="-122"/>
                <a:cs typeface="Consolas" pitchFamily="49" charset="0"/>
              </a:rPr>
              <a:t>n</a:t>
            </a:r>
            <a:r>
              <a:rPr lang="en-US" altLang="zh-CN" sz="2200" dirty="0">
                <a:solidFill>
                  <a:srgbClr val="0000FF"/>
                </a:solidFill>
                <a:latin typeface="Consolas" pitchFamily="49" charset="0"/>
                <a:ea typeface="+mn-ea"/>
                <a:cs typeface="Consolas" pitchFamily="49" charset="0"/>
              </a:rPr>
              <a:t>-</a:t>
            </a:r>
            <a:r>
              <a:rPr lang="en-US" altLang="zh-CN" sz="2200" dirty="0">
                <a:solidFill>
                  <a:srgbClr val="0000FF"/>
                </a:solidFill>
                <a:latin typeface="Consolas" pitchFamily="49" charset="0"/>
                <a:ea typeface="楷体" pitchFamily="49" charset="-122"/>
                <a:cs typeface="Consolas" pitchFamily="49" charset="0"/>
              </a:rPr>
              <a:t>1       D. </a:t>
            </a:r>
            <a:r>
              <a:rPr lang="zh-CN" altLang="en-US" sz="2200" dirty="0">
                <a:solidFill>
                  <a:srgbClr val="0000FF"/>
                </a:solidFill>
                <a:latin typeface="Consolas" pitchFamily="49" charset="0"/>
                <a:ea typeface="楷体" pitchFamily="49" charset="-122"/>
                <a:cs typeface="Consolas" pitchFamily="49" charset="0"/>
              </a:rPr>
              <a:t>无法确定</a:t>
            </a:r>
          </a:p>
        </p:txBody>
      </p:sp>
      <p:grpSp>
        <p:nvGrpSpPr>
          <p:cNvPr id="5" name="组合 4">
            <a:extLst>
              <a:ext uri="{FF2B5EF4-FFF2-40B4-BE49-F238E27FC236}">
                <a16:creationId xmlns:a16="http://schemas.microsoft.com/office/drawing/2014/main" id="{8A5F1B07-BE78-4100-BADF-73F2703F232A}"/>
              </a:ext>
            </a:extLst>
          </p:cNvPr>
          <p:cNvGrpSpPr/>
          <p:nvPr/>
        </p:nvGrpSpPr>
        <p:grpSpPr>
          <a:xfrm>
            <a:off x="1691680" y="2852936"/>
            <a:ext cx="4975260" cy="3367469"/>
            <a:chOff x="2000232" y="2643182"/>
            <a:chExt cx="4975260" cy="3367469"/>
          </a:xfrm>
        </p:grpSpPr>
        <p:sp>
          <p:nvSpPr>
            <p:cNvPr id="6" name="Line 4">
              <a:extLst>
                <a:ext uri="{FF2B5EF4-FFF2-40B4-BE49-F238E27FC236}">
                  <a16:creationId xmlns:a16="http://schemas.microsoft.com/office/drawing/2014/main" id="{BF9692A0-5FEF-4F46-9D59-5F244DA7E2CE}"/>
                </a:ext>
              </a:extLst>
            </p:cNvPr>
            <p:cNvSpPr>
              <a:spLocks noChangeShapeType="1"/>
            </p:cNvSpPr>
            <p:nvPr/>
          </p:nvSpPr>
          <p:spPr bwMode="auto">
            <a:xfrm>
              <a:off x="3492500" y="3686749"/>
              <a:ext cx="0" cy="1800225"/>
            </a:xfrm>
            <a:prstGeom prst="line">
              <a:avLst/>
            </a:prstGeom>
            <a:ln>
              <a:headEnd/>
              <a:tailEnd/>
            </a:ln>
          </p:spPr>
          <p:style>
            <a:lnRef idx="2">
              <a:schemeClr val="accent5"/>
            </a:lnRef>
            <a:fillRef idx="0">
              <a:schemeClr val="accent5"/>
            </a:fillRef>
            <a:effectRef idx="1">
              <a:schemeClr val="accent5"/>
            </a:effectRef>
            <a:fontRef idx="minor">
              <a:schemeClr val="tx1"/>
            </a:fontRef>
          </p:style>
          <p:txBody>
            <a:bodyPr wrap="none"/>
            <a:lstStyle/>
            <a:p>
              <a:endParaRPr lang="zh-CN" altLang="en-US" sz="2800">
                <a:latin typeface="Consolas" pitchFamily="49" charset="0"/>
                <a:cs typeface="Consolas" pitchFamily="49" charset="0"/>
              </a:endParaRPr>
            </a:p>
          </p:txBody>
        </p:sp>
        <p:sp>
          <p:nvSpPr>
            <p:cNvPr id="7" name="Line 5">
              <a:extLst>
                <a:ext uri="{FF2B5EF4-FFF2-40B4-BE49-F238E27FC236}">
                  <a16:creationId xmlns:a16="http://schemas.microsoft.com/office/drawing/2014/main" id="{07E6965E-F991-4A9E-9DA9-88627B594A0F}"/>
                </a:ext>
              </a:extLst>
            </p:cNvPr>
            <p:cNvSpPr>
              <a:spLocks noChangeShapeType="1"/>
            </p:cNvSpPr>
            <p:nvPr/>
          </p:nvSpPr>
          <p:spPr bwMode="auto">
            <a:xfrm>
              <a:off x="4429125" y="3686749"/>
              <a:ext cx="0" cy="1800225"/>
            </a:xfrm>
            <a:prstGeom prst="line">
              <a:avLst/>
            </a:prstGeom>
            <a:ln>
              <a:headEnd/>
              <a:tailEnd/>
            </a:ln>
          </p:spPr>
          <p:style>
            <a:lnRef idx="2">
              <a:schemeClr val="accent5"/>
            </a:lnRef>
            <a:fillRef idx="0">
              <a:schemeClr val="accent5"/>
            </a:fillRef>
            <a:effectRef idx="1">
              <a:schemeClr val="accent5"/>
            </a:effectRef>
            <a:fontRef idx="minor">
              <a:schemeClr val="tx1"/>
            </a:fontRef>
          </p:style>
          <p:txBody>
            <a:bodyPr wrap="none"/>
            <a:lstStyle/>
            <a:p>
              <a:endParaRPr lang="zh-CN" altLang="en-US" sz="2800">
                <a:latin typeface="Consolas" pitchFamily="49" charset="0"/>
                <a:cs typeface="Consolas" pitchFamily="49" charset="0"/>
              </a:endParaRPr>
            </a:p>
          </p:txBody>
        </p:sp>
        <p:sp>
          <p:nvSpPr>
            <p:cNvPr id="8" name="Line 6">
              <a:extLst>
                <a:ext uri="{FF2B5EF4-FFF2-40B4-BE49-F238E27FC236}">
                  <a16:creationId xmlns:a16="http://schemas.microsoft.com/office/drawing/2014/main" id="{E3291E7A-F5E5-4FE7-9E46-C86C42255E87}"/>
                </a:ext>
              </a:extLst>
            </p:cNvPr>
            <p:cNvSpPr>
              <a:spLocks noChangeShapeType="1"/>
            </p:cNvSpPr>
            <p:nvPr/>
          </p:nvSpPr>
          <p:spPr bwMode="auto">
            <a:xfrm>
              <a:off x="3492500" y="5507611"/>
              <a:ext cx="936625" cy="0"/>
            </a:xfrm>
            <a:prstGeom prst="line">
              <a:avLst/>
            </a:prstGeom>
            <a:ln>
              <a:headEnd/>
              <a:tailEnd/>
            </a:ln>
          </p:spPr>
          <p:style>
            <a:lnRef idx="2">
              <a:schemeClr val="accent5"/>
            </a:lnRef>
            <a:fillRef idx="0">
              <a:schemeClr val="accent5"/>
            </a:fillRef>
            <a:effectRef idx="1">
              <a:schemeClr val="accent5"/>
            </a:effectRef>
            <a:fontRef idx="minor">
              <a:schemeClr val="tx1"/>
            </a:fontRef>
          </p:style>
          <p:txBody>
            <a:bodyPr wrap="none"/>
            <a:lstStyle/>
            <a:p>
              <a:endParaRPr lang="zh-CN" altLang="en-US" sz="2800">
                <a:latin typeface="Consolas" pitchFamily="49" charset="0"/>
                <a:cs typeface="Consolas" pitchFamily="49" charset="0"/>
              </a:endParaRPr>
            </a:p>
          </p:txBody>
        </p:sp>
        <p:sp>
          <p:nvSpPr>
            <p:cNvPr id="9" name="Text Box 12">
              <a:extLst>
                <a:ext uri="{FF2B5EF4-FFF2-40B4-BE49-F238E27FC236}">
                  <a16:creationId xmlns:a16="http://schemas.microsoft.com/office/drawing/2014/main" id="{873E20F4-39C8-41CF-861C-11879D387886}"/>
                </a:ext>
              </a:extLst>
            </p:cNvPr>
            <p:cNvSpPr txBox="1">
              <a:spLocks noChangeArrowheads="1"/>
            </p:cNvSpPr>
            <p:nvPr/>
          </p:nvSpPr>
          <p:spPr bwMode="auto">
            <a:xfrm>
              <a:off x="3779838" y="5702874"/>
              <a:ext cx="431800" cy="307777"/>
            </a:xfrm>
            <a:prstGeom prst="rect">
              <a:avLst/>
            </a:prstGeom>
            <a:noFill/>
            <a:ln w="38100" algn="ctr">
              <a:noFill/>
              <a:miter lim="800000"/>
              <a:headEnd/>
              <a:tailEnd/>
            </a:ln>
            <a:effectLst/>
          </p:spPr>
          <p:txBody>
            <a:bodyPr lIns="0" tIns="0" rIns="0" bIns="0">
              <a:spAutoFit/>
            </a:bodyPr>
            <a:lstStyle/>
            <a:p>
              <a:pPr>
                <a:spcBef>
                  <a:spcPct val="50000"/>
                </a:spcBef>
              </a:pPr>
              <a:r>
                <a:rPr lang="zh-CN" altLang="en-US" sz="2000" dirty="0">
                  <a:latin typeface="仿宋" pitchFamily="49" charset="-122"/>
                  <a:ea typeface="仿宋" pitchFamily="49" charset="-122"/>
                  <a:cs typeface="Consolas" pitchFamily="49" charset="0"/>
                </a:rPr>
                <a:t>栈</a:t>
              </a:r>
            </a:p>
          </p:txBody>
        </p:sp>
        <p:sp>
          <p:nvSpPr>
            <p:cNvPr id="10" name="TextBox 7">
              <a:extLst>
                <a:ext uri="{FF2B5EF4-FFF2-40B4-BE49-F238E27FC236}">
                  <a16:creationId xmlns:a16="http://schemas.microsoft.com/office/drawing/2014/main" id="{6FB7D21D-25A2-43ED-8390-BA60EFE045CF}"/>
                </a:ext>
              </a:extLst>
            </p:cNvPr>
            <p:cNvSpPr txBox="1"/>
            <p:nvPr/>
          </p:nvSpPr>
          <p:spPr>
            <a:xfrm>
              <a:off x="3746810" y="4978611"/>
              <a:ext cx="468000" cy="307777"/>
            </a:xfrm>
            <a:prstGeom prst="rect">
              <a:avLst/>
            </a:prstGeom>
            <a:noFill/>
          </p:spPr>
          <p:txBody>
            <a:bodyPr wrap="square" lIns="0" tIns="0" rIns="0" bIns="0" rtlCol="0">
              <a:spAutoFit/>
            </a:bodyPr>
            <a:lstStyle/>
            <a:p>
              <a:r>
                <a:rPr lang="en-US" altLang="zh-CN" sz="2000" dirty="0">
                  <a:latin typeface="Consolas" pitchFamily="49" charset="0"/>
                  <a:cs typeface="Consolas" pitchFamily="49" charset="0"/>
                </a:rPr>
                <a:t>1</a:t>
              </a:r>
              <a:endParaRPr lang="zh-CN" altLang="en-US" sz="2000" dirty="0">
                <a:latin typeface="Consolas" pitchFamily="49" charset="0"/>
                <a:cs typeface="Consolas" pitchFamily="49" charset="0"/>
              </a:endParaRPr>
            </a:p>
          </p:txBody>
        </p:sp>
        <p:sp>
          <p:nvSpPr>
            <p:cNvPr id="11" name="TextBox 8">
              <a:extLst>
                <a:ext uri="{FF2B5EF4-FFF2-40B4-BE49-F238E27FC236}">
                  <a16:creationId xmlns:a16="http://schemas.microsoft.com/office/drawing/2014/main" id="{BC34491B-73B2-4C79-ADA8-AEC6E0B53131}"/>
                </a:ext>
              </a:extLst>
            </p:cNvPr>
            <p:cNvSpPr txBox="1"/>
            <p:nvPr/>
          </p:nvSpPr>
          <p:spPr>
            <a:xfrm>
              <a:off x="3740144" y="4546608"/>
              <a:ext cx="468000" cy="307777"/>
            </a:xfrm>
            <a:prstGeom prst="rect">
              <a:avLst/>
            </a:prstGeom>
            <a:noFill/>
          </p:spPr>
          <p:txBody>
            <a:bodyPr wrap="square" lIns="0" tIns="0" rIns="0" bIns="0" rtlCol="0">
              <a:spAutoFit/>
            </a:bodyPr>
            <a:lstStyle/>
            <a:p>
              <a:r>
                <a:rPr lang="en-US" altLang="zh-CN" sz="2000" dirty="0">
                  <a:latin typeface="Consolas" pitchFamily="49" charset="0"/>
                  <a:cs typeface="Consolas" pitchFamily="49" charset="0"/>
                </a:rPr>
                <a:t>2</a:t>
              </a:r>
              <a:endParaRPr lang="zh-CN" altLang="en-US" sz="2000" dirty="0">
                <a:latin typeface="Consolas" pitchFamily="49" charset="0"/>
                <a:cs typeface="Consolas" pitchFamily="49" charset="0"/>
              </a:endParaRPr>
            </a:p>
          </p:txBody>
        </p:sp>
        <p:sp>
          <p:nvSpPr>
            <p:cNvPr id="12" name="TextBox 9">
              <a:extLst>
                <a:ext uri="{FF2B5EF4-FFF2-40B4-BE49-F238E27FC236}">
                  <a16:creationId xmlns:a16="http://schemas.microsoft.com/office/drawing/2014/main" id="{13EA8372-00A8-416F-A262-200C772AC9A9}"/>
                </a:ext>
              </a:extLst>
            </p:cNvPr>
            <p:cNvSpPr txBox="1"/>
            <p:nvPr/>
          </p:nvSpPr>
          <p:spPr>
            <a:xfrm>
              <a:off x="4929190" y="3264099"/>
              <a:ext cx="468000" cy="307777"/>
            </a:xfrm>
            <a:prstGeom prst="rect">
              <a:avLst/>
            </a:prstGeom>
          </p:spPr>
          <p:style>
            <a:lnRef idx="1">
              <a:schemeClr val="accent4"/>
            </a:lnRef>
            <a:fillRef idx="2">
              <a:schemeClr val="accent4"/>
            </a:fillRef>
            <a:effectRef idx="1">
              <a:schemeClr val="accent4"/>
            </a:effectRef>
            <a:fontRef idx="minor">
              <a:schemeClr val="dk1"/>
            </a:fontRef>
          </p:style>
          <p:txBody>
            <a:bodyPr wrap="square" lIns="0" tIns="0" rIns="0" bIns="0" rtlCol="0">
              <a:spAutoFit/>
            </a:bodyPr>
            <a:lstStyle/>
            <a:p>
              <a:r>
                <a:rPr lang="en-US" altLang="zh-CN" sz="2000" dirty="0">
                  <a:solidFill>
                    <a:srgbClr val="0000FF"/>
                  </a:solidFill>
                  <a:latin typeface="Consolas" pitchFamily="49" charset="0"/>
                  <a:cs typeface="Consolas" pitchFamily="49" charset="0"/>
                </a:rPr>
                <a:t>3</a:t>
              </a:r>
              <a:endParaRPr lang="zh-CN" altLang="en-US" sz="2000" dirty="0">
                <a:solidFill>
                  <a:srgbClr val="0000FF"/>
                </a:solidFill>
                <a:latin typeface="Consolas" pitchFamily="49" charset="0"/>
                <a:cs typeface="Consolas" pitchFamily="49" charset="0"/>
              </a:endParaRPr>
            </a:p>
          </p:txBody>
        </p:sp>
        <p:sp>
          <p:nvSpPr>
            <p:cNvPr id="13" name="TextBox 10">
              <a:extLst>
                <a:ext uri="{FF2B5EF4-FFF2-40B4-BE49-F238E27FC236}">
                  <a16:creationId xmlns:a16="http://schemas.microsoft.com/office/drawing/2014/main" id="{2A2CDF8E-0211-4732-B2FA-C10A1E588257}"/>
                </a:ext>
              </a:extLst>
            </p:cNvPr>
            <p:cNvSpPr txBox="1"/>
            <p:nvPr/>
          </p:nvSpPr>
          <p:spPr>
            <a:xfrm>
              <a:off x="5643570" y="3264099"/>
              <a:ext cx="468000" cy="369332"/>
            </a:xfrm>
            <a:prstGeom prst="rect">
              <a:avLst/>
            </a:prstGeom>
          </p:spPr>
          <p:style>
            <a:lnRef idx="1">
              <a:schemeClr val="accent2"/>
            </a:lnRef>
            <a:fillRef idx="2">
              <a:schemeClr val="accent2"/>
            </a:fillRef>
            <a:effectRef idx="1">
              <a:schemeClr val="accent2"/>
            </a:effectRef>
            <a:fontRef idx="minor">
              <a:schemeClr val="dk1"/>
            </a:fontRef>
          </p:style>
          <p:txBody>
            <a:bodyPr wrap="square" lIns="0" tIns="0" rIns="0" bIns="0" rtlCol="0">
              <a:spAutoFit/>
            </a:bodyPr>
            <a:lstStyle/>
            <a:p>
              <a:r>
                <a:rPr lang="en-US" altLang="zh-CN" dirty="0">
                  <a:solidFill>
                    <a:srgbClr val="0000FF"/>
                  </a:solidFill>
                  <a:latin typeface="Consolas" pitchFamily="49" charset="0"/>
                  <a:cs typeface="Consolas" pitchFamily="49" charset="0"/>
                </a:rPr>
                <a:t>?</a:t>
              </a:r>
              <a:endParaRPr lang="zh-CN" altLang="en-US" dirty="0">
                <a:solidFill>
                  <a:srgbClr val="0000FF"/>
                </a:solidFill>
                <a:latin typeface="Consolas" pitchFamily="49" charset="0"/>
                <a:cs typeface="Consolas" pitchFamily="49" charset="0"/>
              </a:endParaRPr>
            </a:p>
          </p:txBody>
        </p:sp>
        <p:sp>
          <p:nvSpPr>
            <p:cNvPr id="14" name="TextBox 11">
              <a:extLst>
                <a:ext uri="{FF2B5EF4-FFF2-40B4-BE49-F238E27FC236}">
                  <a16:creationId xmlns:a16="http://schemas.microsoft.com/office/drawing/2014/main" id="{084C2E9B-426D-4B28-8742-97923E1D3D97}"/>
                </a:ext>
              </a:extLst>
            </p:cNvPr>
            <p:cNvSpPr txBox="1"/>
            <p:nvPr/>
          </p:nvSpPr>
          <p:spPr>
            <a:xfrm>
              <a:off x="2000232" y="3357562"/>
              <a:ext cx="1500198" cy="307777"/>
            </a:xfrm>
            <a:prstGeom prst="rect">
              <a:avLst/>
            </a:prstGeom>
            <a:noFill/>
          </p:spPr>
          <p:txBody>
            <a:bodyPr wrap="square" lIns="0" tIns="0" rIns="0" bIns="0" rtlCol="0">
              <a:spAutoFit/>
            </a:bodyPr>
            <a:lstStyle/>
            <a:p>
              <a:pPr algn="l"/>
              <a:r>
                <a:rPr lang="en-US" altLang="zh-CN" sz="2000" i="1" dirty="0">
                  <a:latin typeface="Consolas" pitchFamily="49" charset="0"/>
                  <a:cs typeface="Consolas" pitchFamily="49" charset="0"/>
                  <a:sym typeface="Symbol"/>
                </a:rPr>
                <a:t>n</a:t>
              </a:r>
              <a:r>
                <a:rPr lang="en-US" altLang="zh-CN" sz="2000" dirty="0">
                  <a:latin typeface="Consolas" pitchFamily="49" charset="0"/>
                  <a:cs typeface="Consolas" pitchFamily="49" charset="0"/>
                  <a:sym typeface="Symbol"/>
                </a:rPr>
                <a:t>  </a:t>
              </a:r>
              <a:r>
                <a:rPr lang="en-US" altLang="zh-CN" sz="2000" dirty="0">
                  <a:latin typeface="宋体" pitchFamily="2" charset="-122"/>
                  <a:ea typeface="宋体" pitchFamily="2" charset="-122"/>
                  <a:cs typeface="Consolas" pitchFamily="49" charset="0"/>
                  <a:sym typeface="Symbol"/>
                </a:rPr>
                <a:t>…</a:t>
              </a:r>
              <a:r>
                <a:rPr lang="en-US" altLang="zh-CN" sz="2000" dirty="0">
                  <a:latin typeface="Consolas" pitchFamily="49" charset="0"/>
                  <a:cs typeface="Consolas" pitchFamily="49" charset="0"/>
                  <a:sym typeface="Symbol"/>
                </a:rPr>
                <a:t>   </a:t>
              </a:r>
              <a:r>
                <a:rPr lang="en-US" altLang="zh-CN" sz="2000" dirty="0">
                  <a:latin typeface="Consolas" pitchFamily="49" charset="0"/>
                  <a:cs typeface="Consolas" pitchFamily="49" charset="0"/>
                </a:rPr>
                <a:t>4</a:t>
              </a:r>
              <a:endParaRPr lang="zh-CN" altLang="en-US" sz="2000" dirty="0">
                <a:latin typeface="Consolas" pitchFamily="49" charset="0"/>
                <a:cs typeface="Consolas" pitchFamily="49" charset="0"/>
              </a:endParaRPr>
            </a:p>
          </p:txBody>
        </p:sp>
        <p:sp>
          <p:nvSpPr>
            <p:cNvPr id="15" name="TextBox 12">
              <a:extLst>
                <a:ext uri="{FF2B5EF4-FFF2-40B4-BE49-F238E27FC236}">
                  <a16:creationId xmlns:a16="http://schemas.microsoft.com/office/drawing/2014/main" id="{CABA3FBE-1B3B-48B0-AACF-EC938D721BBF}"/>
                </a:ext>
              </a:extLst>
            </p:cNvPr>
            <p:cNvSpPr txBox="1"/>
            <p:nvPr/>
          </p:nvSpPr>
          <p:spPr>
            <a:xfrm>
              <a:off x="4760914" y="3929066"/>
              <a:ext cx="2214578" cy="707886"/>
            </a:xfrm>
            <a:prstGeom prst="rect">
              <a:avLst/>
            </a:prstGeom>
            <a:noFill/>
          </p:spPr>
          <p:txBody>
            <a:bodyPr wrap="square" rtlCol="0">
              <a:spAutoFit/>
            </a:bodyPr>
            <a:lstStyle/>
            <a:p>
              <a:r>
                <a:rPr lang="zh-CN" altLang="en-US" sz="2000" dirty="0">
                  <a:solidFill>
                    <a:srgbClr val="0000FF"/>
                  </a:solidFill>
                  <a:latin typeface="Consolas" pitchFamily="49" charset="0"/>
                  <a:ea typeface="仿宋" pitchFamily="49" charset="-122"/>
                  <a:cs typeface="Consolas" pitchFamily="49" charset="0"/>
                </a:rPr>
                <a:t>不可能是</a:t>
              </a:r>
              <a:r>
                <a:rPr lang="en-US" altLang="zh-CN" sz="2000" dirty="0">
                  <a:solidFill>
                    <a:srgbClr val="0000FF"/>
                  </a:solidFill>
                  <a:latin typeface="Consolas" pitchFamily="49" charset="0"/>
                  <a:ea typeface="仿宋" pitchFamily="49" charset="-122"/>
                  <a:cs typeface="Consolas" pitchFamily="49" charset="0"/>
                </a:rPr>
                <a:t>1</a:t>
              </a:r>
              <a:r>
                <a:rPr lang="zh-CN" altLang="en-US" sz="2000">
                  <a:solidFill>
                    <a:srgbClr val="0000FF"/>
                  </a:solidFill>
                  <a:latin typeface="Consolas" pitchFamily="49" charset="0"/>
                  <a:ea typeface="仿宋" pitchFamily="49" charset="-122"/>
                  <a:cs typeface="Consolas" pitchFamily="49" charset="0"/>
                </a:rPr>
                <a:t>和</a:t>
              </a:r>
              <a:r>
                <a:rPr lang="en-US" altLang="zh-CN" sz="2000">
                  <a:solidFill>
                    <a:srgbClr val="0000FF"/>
                  </a:solidFill>
                  <a:latin typeface="Consolas" pitchFamily="49" charset="0"/>
                  <a:ea typeface="仿宋" pitchFamily="49" charset="-122"/>
                  <a:cs typeface="Consolas" pitchFamily="49" charset="0"/>
                </a:rPr>
                <a:t>3</a:t>
              </a:r>
            </a:p>
            <a:p>
              <a:r>
                <a:rPr lang="zh-CN" altLang="en-US" sz="2000">
                  <a:solidFill>
                    <a:srgbClr val="0000FF"/>
                  </a:solidFill>
                  <a:latin typeface="Consolas" pitchFamily="49" charset="0"/>
                  <a:ea typeface="仿宋" pitchFamily="49" charset="-122"/>
                  <a:cs typeface="Consolas" pitchFamily="49" charset="0"/>
                </a:rPr>
                <a:t>共有</a:t>
              </a:r>
              <a:r>
                <a:rPr lang="en-US" altLang="zh-CN" sz="2000" i="1">
                  <a:solidFill>
                    <a:srgbClr val="FF0000"/>
                  </a:solidFill>
                  <a:latin typeface="Consolas" pitchFamily="49" charset="0"/>
                  <a:ea typeface="仿宋" pitchFamily="49" charset="-122"/>
                  <a:cs typeface="Consolas" pitchFamily="49" charset="0"/>
                </a:rPr>
                <a:t>n</a:t>
              </a:r>
              <a:r>
                <a:rPr lang="en-US" altLang="zh-CN" sz="2000">
                  <a:solidFill>
                    <a:srgbClr val="FF0000"/>
                  </a:solidFill>
                  <a:latin typeface="Consolas" pitchFamily="49" charset="0"/>
                  <a:ea typeface="仿宋" pitchFamily="49" charset="-122"/>
                  <a:cs typeface="Consolas" pitchFamily="49" charset="0"/>
                </a:rPr>
                <a:t>-2</a:t>
              </a:r>
              <a:r>
                <a:rPr lang="zh-CN" altLang="en-US" sz="2000">
                  <a:solidFill>
                    <a:srgbClr val="0000FF"/>
                  </a:solidFill>
                  <a:latin typeface="Consolas" pitchFamily="49" charset="0"/>
                  <a:ea typeface="仿宋" pitchFamily="49" charset="-122"/>
                  <a:cs typeface="Consolas" pitchFamily="49" charset="0"/>
                </a:rPr>
                <a:t>可能</a:t>
              </a:r>
              <a:endParaRPr lang="zh-CN" altLang="en-US" sz="2000" dirty="0">
                <a:solidFill>
                  <a:srgbClr val="0000FF"/>
                </a:solidFill>
                <a:latin typeface="Consolas" pitchFamily="49" charset="0"/>
                <a:ea typeface="仿宋" pitchFamily="49" charset="-122"/>
                <a:cs typeface="Consolas" pitchFamily="49" charset="0"/>
              </a:endParaRPr>
            </a:p>
          </p:txBody>
        </p:sp>
        <p:cxnSp>
          <p:nvCxnSpPr>
            <p:cNvPr id="16" name="直接箭头连接符 15">
              <a:extLst>
                <a:ext uri="{FF2B5EF4-FFF2-40B4-BE49-F238E27FC236}">
                  <a16:creationId xmlns:a16="http://schemas.microsoft.com/office/drawing/2014/main" id="{72845A0A-D206-45CE-9D8B-E2461AC295B9}"/>
                </a:ext>
              </a:extLst>
            </p:cNvPr>
            <p:cNvCxnSpPr>
              <a:stCxn id="15" idx="0"/>
              <a:endCxn id="13" idx="2"/>
            </p:cNvCxnSpPr>
            <p:nvPr/>
          </p:nvCxnSpPr>
          <p:spPr>
            <a:xfrm flipV="1">
              <a:off x="5868203" y="3633431"/>
              <a:ext cx="9367" cy="295635"/>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17" name="TextBox 15">
              <a:extLst>
                <a:ext uri="{FF2B5EF4-FFF2-40B4-BE49-F238E27FC236}">
                  <a16:creationId xmlns:a16="http://schemas.microsoft.com/office/drawing/2014/main" id="{EA41C5F8-2795-4EC6-89C5-6CDD5D5219A4}"/>
                </a:ext>
              </a:extLst>
            </p:cNvPr>
            <p:cNvSpPr txBox="1"/>
            <p:nvPr/>
          </p:nvSpPr>
          <p:spPr>
            <a:xfrm>
              <a:off x="2000232" y="2643182"/>
              <a:ext cx="4000528" cy="400110"/>
            </a:xfrm>
            <a:prstGeom prst="rect">
              <a:avLst/>
            </a:prstGeom>
            <a:noFill/>
          </p:spPr>
          <p:txBody>
            <a:bodyPr wrap="square" rtlCol="0">
              <a:spAutoFit/>
            </a:bodyPr>
            <a:lstStyle/>
            <a:p>
              <a:pPr algn="l"/>
              <a:r>
                <a:rPr lang="en-US" altLang="zh-CN" sz="2000">
                  <a:latin typeface="Consolas" pitchFamily="49" charset="0"/>
                  <a:cs typeface="Consolas" pitchFamily="49" charset="0"/>
                </a:rPr>
                <a:t>1</a:t>
              </a:r>
              <a:r>
                <a:rPr lang="zh-CN" altLang="en-US" sz="2000">
                  <a:latin typeface="Consolas" pitchFamily="49" charset="0"/>
                  <a:cs typeface="Consolas" pitchFamily="49" charset="0"/>
                </a:rPr>
                <a:t>、</a:t>
              </a:r>
              <a:r>
                <a:rPr lang="en-US" altLang="zh-CN" sz="2000">
                  <a:latin typeface="Consolas" pitchFamily="49" charset="0"/>
                  <a:cs typeface="Consolas" pitchFamily="49" charset="0"/>
                </a:rPr>
                <a:t>2</a:t>
              </a:r>
              <a:r>
                <a:rPr lang="zh-CN" altLang="en-US" sz="2000">
                  <a:solidFill>
                    <a:srgbClr val="0000FF"/>
                  </a:solidFill>
                  <a:latin typeface="Consolas" pitchFamily="49" charset="0"/>
                  <a:ea typeface="楷体" pitchFamily="49" charset="-122"/>
                  <a:cs typeface="Consolas" pitchFamily="49" charset="0"/>
                </a:rPr>
                <a:t>、</a:t>
              </a:r>
              <a:r>
                <a:rPr lang="en-US" altLang="zh-CN" sz="2000">
                  <a:solidFill>
                    <a:srgbClr val="0000FF"/>
                  </a:solidFill>
                  <a:latin typeface="Consolas" pitchFamily="49" charset="0"/>
                  <a:ea typeface="楷体" pitchFamily="49" charset="-122"/>
                  <a:cs typeface="Consolas" pitchFamily="49" charset="0"/>
                </a:rPr>
                <a:t>3</a:t>
              </a:r>
              <a:r>
                <a:rPr lang="zh-CN" altLang="en-US" sz="2000">
                  <a:solidFill>
                    <a:srgbClr val="0000FF"/>
                  </a:solidFill>
                  <a:latin typeface="Consolas" pitchFamily="49" charset="0"/>
                  <a:ea typeface="楷体" pitchFamily="49" charset="-122"/>
                  <a:cs typeface="Consolas" pitchFamily="49" charset="0"/>
                </a:rPr>
                <a:t>进栈，</a:t>
              </a:r>
              <a:r>
                <a:rPr lang="en-US" altLang="zh-CN" sz="2000">
                  <a:solidFill>
                    <a:srgbClr val="0000FF"/>
                  </a:solidFill>
                  <a:latin typeface="Consolas" pitchFamily="49" charset="0"/>
                  <a:ea typeface="楷体" pitchFamily="49" charset="-122"/>
                  <a:cs typeface="Consolas" pitchFamily="49" charset="0"/>
                </a:rPr>
                <a:t> 3</a:t>
              </a:r>
              <a:r>
                <a:rPr lang="zh-CN" altLang="en-US" sz="2000">
                  <a:solidFill>
                    <a:srgbClr val="0000FF"/>
                  </a:solidFill>
                  <a:latin typeface="Consolas" pitchFamily="49" charset="0"/>
                  <a:ea typeface="楷体" pitchFamily="49" charset="-122"/>
                  <a:cs typeface="Consolas" pitchFamily="49" charset="0"/>
                </a:rPr>
                <a:t>出栈的结果：</a:t>
              </a:r>
              <a:endParaRPr lang="zh-CN" altLang="en-US" sz="2000">
                <a:latin typeface="Consolas" pitchFamily="49" charset="0"/>
                <a:cs typeface="Consolas" pitchFamily="49" charset="0"/>
              </a:endParaRPr>
            </a:p>
          </p:txBody>
        </p:sp>
      </p:grpSp>
      <p:sp>
        <p:nvSpPr>
          <p:cNvPr id="18" name="TextBox 24">
            <a:extLst>
              <a:ext uri="{FF2B5EF4-FFF2-40B4-BE49-F238E27FC236}">
                <a16:creationId xmlns:a16="http://schemas.microsoft.com/office/drawing/2014/main" id="{89E20BAC-CB21-458E-BC86-BE992A8A611C}"/>
              </a:ext>
            </a:extLst>
          </p:cNvPr>
          <p:cNvSpPr txBox="1"/>
          <p:nvPr/>
        </p:nvSpPr>
        <p:spPr>
          <a:xfrm>
            <a:off x="4977828" y="5138951"/>
            <a:ext cx="1357322" cy="461665"/>
          </a:xfrm>
          <a:prstGeom prst="rect">
            <a:avLst/>
          </a:prstGeom>
          <a:noFill/>
        </p:spPr>
        <p:txBody>
          <a:bodyPr wrap="square" rtlCol="0">
            <a:spAutoFit/>
          </a:bodyPr>
          <a:lstStyle/>
          <a:p>
            <a:r>
              <a:rPr lang="zh-CN" altLang="en-US">
                <a:latin typeface="Consolas" pitchFamily="49" charset="0"/>
                <a:ea typeface="楷体" pitchFamily="49" charset="-122"/>
                <a:cs typeface="Consolas" pitchFamily="49" charset="0"/>
              </a:rPr>
              <a:t>答案为</a:t>
            </a:r>
            <a:r>
              <a:rPr lang="en-US" altLang="zh-CN">
                <a:solidFill>
                  <a:srgbClr val="C00000"/>
                </a:solidFill>
                <a:latin typeface="Consolas" pitchFamily="49" charset="0"/>
                <a:ea typeface="楷体" pitchFamily="49" charset="-122"/>
                <a:cs typeface="Consolas" pitchFamily="49" charset="0"/>
              </a:rPr>
              <a:t>B</a:t>
            </a:r>
            <a:endParaRPr lang="zh-CN" altLang="en-US">
              <a:solidFill>
                <a:srgbClr val="C00000"/>
              </a:solidFill>
              <a:latin typeface="Consolas" pitchFamily="49" charset="0"/>
              <a:ea typeface="楷体" pitchFamily="49" charset="-122"/>
              <a:cs typeface="Consolas" pitchFamily="49" charset="0"/>
            </a:endParaRPr>
          </a:p>
        </p:txBody>
      </p:sp>
    </p:spTree>
    <p:extLst>
      <p:ext uri="{BB962C8B-B14F-4D97-AF65-F5344CB8AC3E}">
        <p14:creationId xmlns:p14="http://schemas.microsoft.com/office/powerpoint/2010/main" val="1029211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34932" y="1052736"/>
            <a:ext cx="8173572" cy="5091478"/>
          </a:xfrm>
        </p:spPr>
        <p:txBody>
          <a:bodyPr>
            <a:noAutofit/>
          </a:bodyPr>
          <a:lstStyle/>
          <a:p>
            <a:pPr algn="just">
              <a:spcBef>
                <a:spcPts val="0"/>
              </a:spcBef>
            </a:pPr>
            <a:r>
              <a:rPr lang="zh-CN" altLang="zh-CN" sz="1800" dirty="0"/>
              <a:t>算法</a:t>
            </a:r>
            <a:r>
              <a:rPr lang="en-US" altLang="zh-CN" sz="1800" dirty="0"/>
              <a:t>3.1</a:t>
            </a:r>
            <a:r>
              <a:rPr lang="zh-CN" altLang="zh-CN" sz="1800" dirty="0"/>
              <a:t>：栈的抽象数据类型</a:t>
            </a:r>
          </a:p>
          <a:p>
            <a:pPr algn="just">
              <a:spcBef>
                <a:spcPts val="0"/>
              </a:spcBef>
            </a:pPr>
            <a:r>
              <a:rPr lang="en-US" altLang="zh-CN" sz="1800" b="0" dirty="0"/>
              <a:t>ADT Stack{</a:t>
            </a:r>
            <a:endParaRPr lang="zh-CN" altLang="zh-CN" sz="1800" b="0" dirty="0"/>
          </a:p>
          <a:p>
            <a:pPr algn="just">
              <a:spcBef>
                <a:spcPts val="0"/>
              </a:spcBef>
            </a:pPr>
            <a:r>
              <a:rPr lang="zh-CN" altLang="zh-CN" sz="1800" b="0" dirty="0"/>
              <a:t>数据对象：</a:t>
            </a:r>
            <a:r>
              <a:rPr lang="en-US" altLang="zh-CN" sz="1800" b="0" dirty="0"/>
              <a:t>D={ </a:t>
            </a:r>
            <a:r>
              <a:rPr lang="en-US" altLang="zh-CN" sz="1800" b="0" dirty="0" err="1"/>
              <a:t>a</a:t>
            </a:r>
            <a:r>
              <a:rPr lang="en-US" altLang="zh-CN" sz="1800" b="0" baseline="-25000" dirty="0" err="1"/>
              <a:t>i</a:t>
            </a:r>
            <a:r>
              <a:rPr lang="en-US" altLang="zh-CN" sz="1800" b="0" dirty="0"/>
              <a:t>| </a:t>
            </a:r>
            <a:r>
              <a:rPr lang="en-US" altLang="zh-CN" sz="1800" b="0" dirty="0" err="1"/>
              <a:t>a</a:t>
            </a:r>
            <a:r>
              <a:rPr lang="en-US" altLang="zh-CN" sz="1800" b="0" baseline="-25000" dirty="0" err="1"/>
              <a:t>i</a:t>
            </a:r>
            <a:r>
              <a:rPr lang="en-US" altLang="zh-CN" sz="1800" b="0" dirty="0"/>
              <a:t> </a:t>
            </a:r>
            <a:r>
              <a:rPr lang="zh-CN" altLang="zh-CN" sz="1800" b="0" dirty="0"/>
              <a:t>∈</a:t>
            </a:r>
            <a:r>
              <a:rPr lang="en-US" altLang="zh-CN" sz="1800" b="0" dirty="0" err="1"/>
              <a:t>ElemSet,i</a:t>
            </a:r>
            <a:r>
              <a:rPr lang="en-US" altLang="zh-CN" sz="1800" b="0" dirty="0"/>
              <a:t>=1,2,3,…,n,n≥0}</a:t>
            </a:r>
            <a:endParaRPr lang="zh-CN" altLang="zh-CN" sz="1800" b="0" dirty="0"/>
          </a:p>
          <a:p>
            <a:pPr algn="just">
              <a:spcBef>
                <a:spcPts val="0"/>
              </a:spcBef>
            </a:pPr>
            <a:r>
              <a:rPr lang="zh-CN" altLang="zh-CN" sz="1800" b="0" dirty="0"/>
              <a:t>数据关系：</a:t>
            </a:r>
            <a:r>
              <a:rPr lang="en-US" altLang="zh-CN" sz="1800" b="0" dirty="0"/>
              <a:t>R={ &lt;a</a:t>
            </a:r>
            <a:r>
              <a:rPr lang="en-US" altLang="zh-CN" sz="1800" b="0" baseline="-25000" dirty="0"/>
              <a:t>i-1</a:t>
            </a:r>
            <a:r>
              <a:rPr lang="en-US" altLang="zh-CN" sz="1800" b="0" dirty="0"/>
              <a:t>,a</a:t>
            </a:r>
            <a:r>
              <a:rPr lang="en-US" altLang="zh-CN" sz="1800" b="0" baseline="-25000" dirty="0"/>
              <a:t>i</a:t>
            </a:r>
            <a:r>
              <a:rPr lang="en-US" altLang="zh-CN" sz="1800" b="0" dirty="0"/>
              <a:t>,&gt;| a</a:t>
            </a:r>
            <a:r>
              <a:rPr lang="en-US" altLang="zh-CN" sz="1800" b="0" baseline="-25000" dirty="0"/>
              <a:t>i-1</a:t>
            </a:r>
            <a:r>
              <a:rPr lang="en-US" altLang="zh-CN" sz="1800" b="0" dirty="0"/>
              <a:t>,a</a:t>
            </a:r>
            <a:r>
              <a:rPr lang="en-US" altLang="zh-CN" sz="1800" b="0" baseline="-25000" dirty="0"/>
              <a:t>i</a:t>
            </a:r>
            <a:r>
              <a:rPr lang="zh-CN" altLang="zh-CN" sz="1800" b="0" dirty="0"/>
              <a:t>∈</a:t>
            </a:r>
            <a:r>
              <a:rPr lang="en-US" altLang="zh-CN" sz="1800" b="0" dirty="0" err="1"/>
              <a:t>D,i</a:t>
            </a:r>
            <a:r>
              <a:rPr lang="en-US" altLang="zh-CN" sz="1800" b="0" dirty="0"/>
              <a:t>=1,2,3,…,n}  //a</a:t>
            </a:r>
            <a:r>
              <a:rPr lang="en-US" altLang="zh-CN" sz="1800" b="0" baseline="-25000" dirty="0"/>
              <a:t>1</a:t>
            </a:r>
            <a:r>
              <a:rPr lang="zh-CN" altLang="zh-CN" sz="1800" b="0" dirty="0"/>
              <a:t>为栈底元素，</a:t>
            </a:r>
            <a:r>
              <a:rPr lang="en-US" altLang="zh-CN" sz="1800" b="0" dirty="0"/>
              <a:t>a</a:t>
            </a:r>
            <a:r>
              <a:rPr lang="en-US" altLang="zh-CN" sz="1800" b="0" baseline="-25000" dirty="0"/>
              <a:t>n</a:t>
            </a:r>
            <a:r>
              <a:rPr lang="zh-CN" altLang="zh-CN" sz="1800" b="0" dirty="0"/>
              <a:t>为栈顶元素</a:t>
            </a:r>
          </a:p>
          <a:p>
            <a:pPr algn="just">
              <a:spcBef>
                <a:spcPts val="0"/>
              </a:spcBef>
            </a:pPr>
            <a:r>
              <a:rPr lang="zh-CN" altLang="zh-CN" sz="1800" b="0" dirty="0"/>
              <a:t>基本操作：</a:t>
            </a:r>
          </a:p>
          <a:p>
            <a:pPr algn="just">
              <a:spcBef>
                <a:spcPts val="0"/>
              </a:spcBef>
            </a:pPr>
            <a:r>
              <a:rPr lang="en-US" altLang="zh-CN" sz="1800" b="0" dirty="0"/>
              <a:t>     </a:t>
            </a:r>
            <a:r>
              <a:rPr lang="en-US" altLang="zh-CN" sz="1800" b="0" dirty="0" err="1"/>
              <a:t>StackInit</a:t>
            </a:r>
            <a:r>
              <a:rPr lang="en-US" altLang="zh-CN" sz="1800" b="0" dirty="0"/>
              <a:t>( &amp;S );     	//</a:t>
            </a:r>
            <a:r>
              <a:rPr lang="zh-CN" altLang="zh-CN" sz="1800" b="0" dirty="0"/>
              <a:t>构造一个空栈</a:t>
            </a:r>
            <a:r>
              <a:rPr lang="en-US" altLang="zh-CN" sz="1800" b="0" dirty="0"/>
              <a:t>S</a:t>
            </a:r>
            <a:endParaRPr lang="zh-CN" altLang="zh-CN" sz="1800" b="0" dirty="0"/>
          </a:p>
          <a:p>
            <a:pPr algn="just">
              <a:spcBef>
                <a:spcPts val="0"/>
              </a:spcBef>
            </a:pPr>
            <a:r>
              <a:rPr lang="en-US" altLang="zh-CN" sz="1800" b="0" dirty="0"/>
              <a:t>     </a:t>
            </a:r>
            <a:r>
              <a:rPr lang="en-US" altLang="zh-CN" sz="1800" b="0" dirty="0" err="1"/>
              <a:t>IsEmpty</a:t>
            </a:r>
            <a:r>
              <a:rPr lang="en-US" altLang="zh-CN" sz="1800" b="0" dirty="0"/>
              <a:t>( S );       	//</a:t>
            </a:r>
            <a:r>
              <a:rPr lang="zh-CN" altLang="zh-CN" sz="1800" b="0" dirty="0"/>
              <a:t>判断</a:t>
            </a:r>
            <a:r>
              <a:rPr lang="en-US" altLang="zh-CN" sz="1800" b="0" dirty="0"/>
              <a:t>S</a:t>
            </a:r>
            <a:r>
              <a:rPr lang="zh-CN" altLang="zh-CN" sz="1800" b="0" dirty="0"/>
              <a:t>是否为空栈，若是，则返回</a:t>
            </a:r>
            <a:r>
              <a:rPr lang="en-US" altLang="zh-CN" sz="1800" b="0" dirty="0"/>
              <a:t>1</a:t>
            </a:r>
            <a:r>
              <a:rPr lang="zh-CN" altLang="zh-CN" sz="1800" b="0" dirty="0"/>
              <a:t>；否则返回</a:t>
            </a:r>
            <a:r>
              <a:rPr lang="en-US" altLang="zh-CN" sz="1800" b="0" dirty="0"/>
              <a:t>0</a:t>
            </a:r>
            <a:endParaRPr lang="zh-CN" altLang="zh-CN" sz="1800" b="0" dirty="0"/>
          </a:p>
          <a:p>
            <a:pPr algn="just">
              <a:spcBef>
                <a:spcPts val="0"/>
              </a:spcBef>
            </a:pPr>
            <a:r>
              <a:rPr lang="en-US" altLang="zh-CN" sz="1800" b="0" dirty="0"/>
              <a:t>     </a:t>
            </a:r>
            <a:r>
              <a:rPr lang="en-US" altLang="zh-CN" sz="1800" b="0" dirty="0" err="1"/>
              <a:t>IsFull</a:t>
            </a:r>
            <a:r>
              <a:rPr lang="en-US" altLang="zh-CN" sz="1800" b="0" dirty="0"/>
              <a:t>( S );        	 	//</a:t>
            </a:r>
            <a:r>
              <a:rPr lang="zh-CN" altLang="zh-CN" sz="1800" b="0" dirty="0"/>
              <a:t>判断栈</a:t>
            </a:r>
            <a:r>
              <a:rPr lang="en-US" altLang="zh-CN" sz="1800" b="0" dirty="0"/>
              <a:t>S</a:t>
            </a:r>
            <a:r>
              <a:rPr lang="zh-CN" altLang="zh-CN" sz="1800" b="0" dirty="0"/>
              <a:t>是否为满栈，若满，则返回</a:t>
            </a:r>
            <a:r>
              <a:rPr lang="en-US" altLang="zh-CN" sz="1800" b="0" dirty="0"/>
              <a:t>1</a:t>
            </a:r>
            <a:r>
              <a:rPr lang="zh-CN" altLang="zh-CN" sz="1800" b="0" dirty="0"/>
              <a:t>，否则返回</a:t>
            </a:r>
            <a:r>
              <a:rPr lang="en-US" altLang="zh-CN" sz="1800" b="0" dirty="0"/>
              <a:t>0</a:t>
            </a:r>
            <a:endParaRPr lang="zh-CN" altLang="zh-CN" sz="1800" b="0" dirty="0"/>
          </a:p>
          <a:p>
            <a:pPr algn="just">
              <a:spcBef>
                <a:spcPts val="0"/>
              </a:spcBef>
            </a:pPr>
            <a:r>
              <a:rPr lang="en-US" altLang="zh-CN" sz="1800" b="0" dirty="0"/>
              <a:t>     StackClear( &amp;S );   	//</a:t>
            </a:r>
            <a:r>
              <a:rPr lang="zh-CN" altLang="zh-CN" sz="1800" b="0" dirty="0"/>
              <a:t>将栈</a:t>
            </a:r>
            <a:r>
              <a:rPr lang="en-US" altLang="zh-CN" sz="1800" b="0" dirty="0"/>
              <a:t>S</a:t>
            </a:r>
            <a:r>
              <a:rPr lang="zh-CN" altLang="zh-CN" sz="1800" b="0" dirty="0"/>
              <a:t>清空</a:t>
            </a:r>
          </a:p>
          <a:p>
            <a:pPr algn="just">
              <a:spcBef>
                <a:spcPts val="0"/>
              </a:spcBef>
            </a:pPr>
            <a:r>
              <a:rPr lang="en-US" altLang="zh-CN" sz="1800" b="0" dirty="0"/>
              <a:t>     </a:t>
            </a:r>
            <a:r>
              <a:rPr lang="en-US" altLang="zh-CN" sz="1800" b="0" dirty="0" err="1"/>
              <a:t>StackDestroy</a:t>
            </a:r>
            <a:r>
              <a:rPr lang="en-US" altLang="zh-CN" sz="1800" b="0" dirty="0"/>
              <a:t>( &amp;S );  	//</a:t>
            </a:r>
            <a:r>
              <a:rPr lang="zh-CN" altLang="zh-CN" sz="1800" b="0" dirty="0"/>
              <a:t>销毁栈</a:t>
            </a:r>
            <a:r>
              <a:rPr lang="en-US" altLang="zh-CN" sz="1800" b="0" dirty="0"/>
              <a:t>S</a:t>
            </a:r>
            <a:endParaRPr lang="zh-CN" altLang="zh-CN" sz="1800" b="0" dirty="0"/>
          </a:p>
          <a:p>
            <a:pPr algn="just">
              <a:spcBef>
                <a:spcPts val="0"/>
              </a:spcBef>
            </a:pPr>
            <a:r>
              <a:rPr lang="en-US" altLang="zh-CN" sz="1800" b="0" dirty="0"/>
              <a:t>     </a:t>
            </a:r>
            <a:r>
              <a:rPr lang="en-US" altLang="zh-CN" sz="1800" b="0" dirty="0" err="1"/>
              <a:t>StackLength</a:t>
            </a:r>
            <a:r>
              <a:rPr lang="en-US" altLang="zh-CN" sz="1800" b="0" dirty="0"/>
              <a:t>( S );   	 //</a:t>
            </a:r>
            <a:r>
              <a:rPr lang="zh-CN" altLang="zh-CN" sz="1800" b="0" dirty="0"/>
              <a:t>求栈</a:t>
            </a:r>
            <a:r>
              <a:rPr lang="en-US" altLang="zh-CN" sz="1800" b="0" dirty="0"/>
              <a:t>S</a:t>
            </a:r>
            <a:r>
              <a:rPr lang="zh-CN" altLang="zh-CN" sz="1800" b="0" dirty="0"/>
              <a:t>的长度，即栈</a:t>
            </a:r>
            <a:r>
              <a:rPr lang="en-US" altLang="zh-CN" sz="1800" b="0" dirty="0"/>
              <a:t>S</a:t>
            </a:r>
            <a:r>
              <a:rPr lang="zh-CN" altLang="zh-CN" sz="1800" b="0" dirty="0"/>
              <a:t>中的元素的个数</a:t>
            </a:r>
          </a:p>
          <a:p>
            <a:pPr algn="just">
              <a:spcBef>
                <a:spcPts val="0"/>
              </a:spcBef>
            </a:pPr>
            <a:r>
              <a:rPr lang="en-US" altLang="zh-CN" sz="1800" b="0" dirty="0"/>
              <a:t>     </a:t>
            </a:r>
            <a:r>
              <a:rPr lang="en-US" altLang="zh-CN" sz="1800" b="0" dirty="0" err="1"/>
              <a:t>GetTop</a:t>
            </a:r>
            <a:r>
              <a:rPr lang="en-US" altLang="zh-CN" sz="1800" b="0" dirty="0"/>
              <a:t>( S );       	 	//</a:t>
            </a:r>
            <a:r>
              <a:rPr lang="zh-CN" altLang="zh-CN" sz="1800" b="0" dirty="0"/>
              <a:t>返回栈</a:t>
            </a:r>
            <a:r>
              <a:rPr lang="en-US" altLang="zh-CN" sz="1800" b="0" dirty="0"/>
              <a:t>S</a:t>
            </a:r>
            <a:r>
              <a:rPr lang="zh-CN" altLang="zh-CN" sz="1800" b="0" dirty="0"/>
              <a:t>的栈顶元素</a:t>
            </a:r>
          </a:p>
          <a:p>
            <a:pPr algn="just">
              <a:spcBef>
                <a:spcPts val="0"/>
              </a:spcBef>
            </a:pPr>
            <a:r>
              <a:rPr lang="en-US" altLang="zh-CN" sz="1800" b="0" dirty="0">
                <a:solidFill>
                  <a:srgbClr val="FF0000"/>
                </a:solidFill>
              </a:rPr>
              <a:t>     Push( &amp;S, e );      	</a:t>
            </a:r>
            <a:r>
              <a:rPr lang="en-US" altLang="zh-CN" sz="1800" b="0" dirty="0"/>
              <a:t>//</a:t>
            </a:r>
            <a:r>
              <a:rPr lang="zh-CN" altLang="zh-CN" sz="1800" b="0" dirty="0"/>
              <a:t>入栈操作，将数据元素</a:t>
            </a:r>
            <a:r>
              <a:rPr lang="en-US" altLang="zh-CN" sz="1800" b="0" dirty="0"/>
              <a:t>e</a:t>
            </a:r>
            <a:r>
              <a:rPr lang="zh-CN" altLang="zh-CN" sz="1800" b="0" dirty="0"/>
              <a:t>插入栈</a:t>
            </a:r>
            <a:r>
              <a:rPr lang="en-US" altLang="zh-CN" sz="1800" b="0" dirty="0"/>
              <a:t>S</a:t>
            </a:r>
            <a:r>
              <a:rPr lang="zh-CN" altLang="zh-CN" sz="1800" b="0" dirty="0"/>
              <a:t>的当前栈顶</a:t>
            </a:r>
          </a:p>
          <a:p>
            <a:pPr algn="just">
              <a:spcBef>
                <a:spcPts val="0"/>
              </a:spcBef>
            </a:pPr>
            <a:r>
              <a:rPr lang="en-US" altLang="zh-CN" sz="1800" b="0" dirty="0">
                <a:solidFill>
                  <a:srgbClr val="FF0000"/>
                </a:solidFill>
              </a:rPr>
              <a:t>     Pop( &amp;S );         </a:t>
            </a:r>
            <a:r>
              <a:rPr lang="en-US" altLang="zh-CN" sz="1800" b="0" dirty="0"/>
              <a:t>		//</a:t>
            </a:r>
            <a:r>
              <a:rPr lang="zh-CN" altLang="zh-CN" sz="1800" b="0" dirty="0"/>
              <a:t>出栈操作，删除栈</a:t>
            </a:r>
            <a:r>
              <a:rPr lang="en-US" altLang="zh-CN" sz="1800" b="0" dirty="0"/>
              <a:t>S</a:t>
            </a:r>
            <a:r>
              <a:rPr lang="zh-CN" altLang="zh-CN" sz="1800" b="0" dirty="0"/>
              <a:t>的栈顶元素，并返回其值</a:t>
            </a:r>
          </a:p>
          <a:p>
            <a:pPr algn="just">
              <a:spcBef>
                <a:spcPts val="0"/>
              </a:spcBef>
            </a:pPr>
            <a:r>
              <a:rPr lang="en-US" altLang="zh-CN" sz="1800" b="0" dirty="0"/>
              <a:t>}ADT Stack    </a:t>
            </a:r>
            <a:endParaRPr lang="zh-CN" altLang="zh-CN" sz="1800" b="0" dirty="0"/>
          </a:p>
        </p:txBody>
      </p:sp>
    </p:spTree>
    <p:extLst>
      <p:ext uri="{BB962C8B-B14F-4D97-AF65-F5344CB8AC3E}">
        <p14:creationId xmlns:p14="http://schemas.microsoft.com/office/powerpoint/2010/main" val="38977794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en-US" altLang="zh-CN" b="1" dirty="0"/>
              <a:t>3.2 </a:t>
            </a:r>
            <a:r>
              <a:rPr lang="zh-CN" altLang="zh-CN" b="1" dirty="0"/>
              <a:t>栈的存储结构</a:t>
            </a:r>
            <a:endParaRPr lang="zh-CN" altLang="en-US" dirty="0"/>
          </a:p>
        </p:txBody>
      </p:sp>
      <p:sp>
        <p:nvSpPr>
          <p:cNvPr id="6" name="Text Box 10">
            <a:extLst>
              <a:ext uri="{FF2B5EF4-FFF2-40B4-BE49-F238E27FC236}">
                <a16:creationId xmlns:a16="http://schemas.microsoft.com/office/drawing/2014/main" id="{2CB3AA2C-62BA-4393-97DF-009B1FF24B88}"/>
              </a:ext>
            </a:extLst>
          </p:cNvPr>
          <p:cNvSpPr txBox="1">
            <a:spLocks noChangeArrowheads="1"/>
          </p:cNvSpPr>
          <p:nvPr/>
        </p:nvSpPr>
        <p:spPr bwMode="auto">
          <a:xfrm>
            <a:off x="5480792" y="2133426"/>
            <a:ext cx="1357322" cy="400110"/>
          </a:xfrm>
          <a:prstGeom prst="rect">
            <a:avLst/>
          </a:prstGeom>
          <a:noFill/>
          <a:ln w="9525">
            <a:noFill/>
            <a:miter lim="800000"/>
            <a:headEnd/>
            <a:tailEnd/>
          </a:ln>
          <a:effectLst/>
        </p:spPr>
        <p:txBody>
          <a:bodyPr wrap="square">
            <a:spAutoFit/>
          </a:bodyPr>
          <a:lstStyle/>
          <a:p>
            <a:pPr algn="l">
              <a:spcBef>
                <a:spcPct val="50000"/>
              </a:spcBef>
            </a:pPr>
            <a:r>
              <a:rPr lang="zh-CN" altLang="en-US" sz="2000" dirty="0">
                <a:solidFill>
                  <a:srgbClr val="339933"/>
                </a:solidFill>
                <a:latin typeface="华文中宋" pitchFamily="2" charset="-122"/>
                <a:ea typeface="华文中宋" pitchFamily="2" charset="-122"/>
                <a:cs typeface="Times New Roman" pitchFamily="18" charset="0"/>
              </a:rPr>
              <a:t>逻辑结构</a:t>
            </a:r>
          </a:p>
        </p:txBody>
      </p:sp>
      <p:sp>
        <p:nvSpPr>
          <p:cNvPr id="7" name="Text Box 11">
            <a:extLst>
              <a:ext uri="{FF2B5EF4-FFF2-40B4-BE49-F238E27FC236}">
                <a16:creationId xmlns:a16="http://schemas.microsoft.com/office/drawing/2014/main" id="{879855A9-F92F-435C-AAA4-CBB57D44745D}"/>
              </a:ext>
            </a:extLst>
          </p:cNvPr>
          <p:cNvSpPr txBox="1">
            <a:spLocks noChangeArrowheads="1"/>
          </p:cNvSpPr>
          <p:nvPr/>
        </p:nvSpPr>
        <p:spPr bwMode="auto">
          <a:xfrm>
            <a:off x="5507756" y="3284363"/>
            <a:ext cx="1439862" cy="400110"/>
          </a:xfrm>
          <a:prstGeom prst="rect">
            <a:avLst/>
          </a:prstGeom>
          <a:noFill/>
          <a:ln w="9525">
            <a:noFill/>
            <a:miter lim="800000"/>
            <a:headEnd/>
            <a:tailEnd/>
          </a:ln>
          <a:effectLst/>
        </p:spPr>
        <p:txBody>
          <a:bodyPr>
            <a:spAutoFit/>
          </a:bodyPr>
          <a:lstStyle/>
          <a:p>
            <a:pPr algn="l">
              <a:spcBef>
                <a:spcPct val="50000"/>
              </a:spcBef>
            </a:pPr>
            <a:r>
              <a:rPr lang="zh-CN" altLang="en-US" sz="2000">
                <a:solidFill>
                  <a:srgbClr val="339933"/>
                </a:solidFill>
                <a:latin typeface="华文中宋" pitchFamily="2" charset="-122"/>
                <a:ea typeface="华文中宋" pitchFamily="2" charset="-122"/>
                <a:cs typeface="Times New Roman" pitchFamily="18" charset="0"/>
              </a:rPr>
              <a:t>存储结构</a:t>
            </a:r>
          </a:p>
        </p:txBody>
      </p:sp>
      <p:sp>
        <p:nvSpPr>
          <p:cNvPr id="8" name="Line 12">
            <a:extLst>
              <a:ext uri="{FF2B5EF4-FFF2-40B4-BE49-F238E27FC236}">
                <a16:creationId xmlns:a16="http://schemas.microsoft.com/office/drawing/2014/main" id="{F59F97FC-482F-43B0-8B7C-E0780D4A7887}"/>
              </a:ext>
            </a:extLst>
          </p:cNvPr>
          <p:cNvSpPr>
            <a:spLocks noChangeShapeType="1"/>
          </p:cNvSpPr>
          <p:nvPr/>
        </p:nvSpPr>
        <p:spPr bwMode="auto">
          <a:xfrm>
            <a:off x="6084018" y="2565227"/>
            <a:ext cx="0" cy="719137"/>
          </a:xfrm>
          <a:prstGeom prst="line">
            <a:avLst/>
          </a:prstGeom>
          <a:noFill/>
          <a:ln w="38100">
            <a:solidFill>
              <a:srgbClr val="FF00FF"/>
            </a:solidFill>
            <a:miter lim="800000"/>
            <a:headEnd/>
            <a:tailEnd type="triangle" w="med" len="med"/>
          </a:ln>
          <a:effectLst/>
        </p:spPr>
        <p:txBody>
          <a:bodyPr wrap="none"/>
          <a:lstStyle/>
          <a:p>
            <a:endParaRPr lang="zh-CN" altLang="en-US" sz="2800"/>
          </a:p>
        </p:txBody>
      </p:sp>
      <p:sp>
        <p:nvSpPr>
          <p:cNvPr id="9" name="Text Box 5">
            <a:extLst>
              <a:ext uri="{FF2B5EF4-FFF2-40B4-BE49-F238E27FC236}">
                <a16:creationId xmlns:a16="http://schemas.microsoft.com/office/drawing/2014/main" id="{F31C9A64-BC81-4FFD-8864-15DDFDE5FC7E}"/>
              </a:ext>
            </a:extLst>
          </p:cNvPr>
          <p:cNvSpPr txBox="1">
            <a:spLocks noChangeArrowheads="1"/>
          </p:cNvSpPr>
          <p:nvPr/>
        </p:nvSpPr>
        <p:spPr bwMode="auto">
          <a:xfrm>
            <a:off x="3059832" y="2204864"/>
            <a:ext cx="1063639" cy="40011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square">
            <a:spAutoFit/>
          </a:bodyPr>
          <a:lstStyle/>
          <a:p>
            <a:pPr algn="ctr">
              <a:spcBef>
                <a:spcPct val="50000"/>
              </a:spcBef>
            </a:pPr>
            <a:r>
              <a:rPr lang="zh-CN" altLang="en-US" sz="2000">
                <a:solidFill>
                  <a:srgbClr val="0000FF"/>
                </a:solidFill>
                <a:ea typeface="楷体" pitchFamily="49" charset="-122"/>
                <a:cs typeface="Times New Roman" pitchFamily="18" charset="0"/>
              </a:rPr>
              <a:t>栈</a:t>
            </a:r>
          </a:p>
        </p:txBody>
      </p:sp>
      <p:sp>
        <p:nvSpPr>
          <p:cNvPr id="10" name="Freeform 6">
            <a:extLst>
              <a:ext uri="{FF2B5EF4-FFF2-40B4-BE49-F238E27FC236}">
                <a16:creationId xmlns:a16="http://schemas.microsoft.com/office/drawing/2014/main" id="{4C3F1275-69C6-43F1-B408-C25BAE8E1DCD}"/>
              </a:ext>
            </a:extLst>
          </p:cNvPr>
          <p:cNvSpPr>
            <a:spLocks/>
          </p:cNvSpPr>
          <p:nvPr/>
        </p:nvSpPr>
        <p:spPr bwMode="auto">
          <a:xfrm>
            <a:off x="2924894" y="2643681"/>
            <a:ext cx="484197" cy="724821"/>
          </a:xfrm>
          <a:custGeom>
            <a:avLst/>
            <a:gdLst/>
            <a:ahLst/>
            <a:cxnLst>
              <a:cxn ang="0">
                <a:pos x="267" y="0"/>
              </a:cxn>
              <a:cxn ang="0">
                <a:pos x="0" y="416"/>
              </a:cxn>
            </a:cxnLst>
            <a:rect l="0" t="0" r="r" b="b"/>
            <a:pathLst>
              <a:path w="267" h="416">
                <a:moveTo>
                  <a:pt x="267" y="0"/>
                </a:moveTo>
                <a:lnTo>
                  <a:pt x="0" y="416"/>
                </a:lnTo>
              </a:path>
            </a:pathLst>
          </a:custGeom>
          <a:ln>
            <a:headEnd type="none" w="med" len="med"/>
            <a:tailEnd type="triangle" w="med" len="med"/>
          </a:ln>
        </p:spPr>
        <p:style>
          <a:lnRef idx="2">
            <a:schemeClr val="accent2"/>
          </a:lnRef>
          <a:fillRef idx="0">
            <a:schemeClr val="accent2"/>
          </a:fillRef>
          <a:effectRef idx="1">
            <a:schemeClr val="accent2"/>
          </a:effectRef>
          <a:fontRef idx="minor">
            <a:schemeClr val="tx1"/>
          </a:fontRef>
        </p:style>
        <p:txBody>
          <a:bodyPr wrap="none"/>
          <a:lstStyle/>
          <a:p>
            <a:endParaRPr lang="zh-CN" altLang="en-US" sz="2800"/>
          </a:p>
        </p:txBody>
      </p:sp>
      <p:sp>
        <p:nvSpPr>
          <p:cNvPr id="11" name="Freeform 7">
            <a:extLst>
              <a:ext uri="{FF2B5EF4-FFF2-40B4-BE49-F238E27FC236}">
                <a16:creationId xmlns:a16="http://schemas.microsoft.com/office/drawing/2014/main" id="{6E17C5A3-ABE1-4A70-96AB-CD8749069EE1}"/>
              </a:ext>
            </a:extLst>
          </p:cNvPr>
          <p:cNvSpPr>
            <a:spLocks/>
          </p:cNvSpPr>
          <p:nvPr/>
        </p:nvSpPr>
        <p:spPr bwMode="auto">
          <a:xfrm>
            <a:off x="3837719" y="2643681"/>
            <a:ext cx="428627" cy="714379"/>
          </a:xfrm>
          <a:custGeom>
            <a:avLst/>
            <a:gdLst/>
            <a:ahLst/>
            <a:cxnLst>
              <a:cxn ang="0">
                <a:pos x="0" y="0"/>
              </a:cxn>
              <a:cxn ang="0">
                <a:pos x="256" y="368"/>
              </a:cxn>
            </a:cxnLst>
            <a:rect l="0" t="0" r="r" b="b"/>
            <a:pathLst>
              <a:path w="256" h="368">
                <a:moveTo>
                  <a:pt x="0" y="0"/>
                </a:moveTo>
                <a:lnTo>
                  <a:pt x="256" y="368"/>
                </a:lnTo>
              </a:path>
            </a:pathLst>
          </a:custGeom>
          <a:ln>
            <a:headEnd type="none" w="med" len="med"/>
            <a:tailEnd type="triangle" w="med" len="med"/>
          </a:ln>
        </p:spPr>
        <p:style>
          <a:lnRef idx="2">
            <a:schemeClr val="accent2"/>
          </a:lnRef>
          <a:fillRef idx="0">
            <a:schemeClr val="accent2"/>
          </a:fillRef>
          <a:effectRef idx="1">
            <a:schemeClr val="accent2"/>
          </a:effectRef>
          <a:fontRef idx="minor">
            <a:schemeClr val="tx1"/>
          </a:fontRef>
        </p:style>
        <p:txBody>
          <a:bodyPr wrap="none"/>
          <a:lstStyle/>
          <a:p>
            <a:endParaRPr lang="zh-CN" altLang="en-US" sz="2800"/>
          </a:p>
        </p:txBody>
      </p:sp>
      <p:sp>
        <p:nvSpPr>
          <p:cNvPr id="12" name="Text Box 8">
            <a:extLst>
              <a:ext uri="{FF2B5EF4-FFF2-40B4-BE49-F238E27FC236}">
                <a16:creationId xmlns:a16="http://schemas.microsoft.com/office/drawing/2014/main" id="{CBF61720-FC12-467F-A2AC-0D308B0CFD45}"/>
              </a:ext>
            </a:extLst>
          </p:cNvPr>
          <p:cNvSpPr txBox="1">
            <a:spLocks noChangeArrowheads="1"/>
          </p:cNvSpPr>
          <p:nvPr/>
        </p:nvSpPr>
        <p:spPr bwMode="auto">
          <a:xfrm>
            <a:off x="2123207" y="3355801"/>
            <a:ext cx="1214446" cy="400110"/>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square">
            <a:spAutoFit/>
          </a:bodyPr>
          <a:lstStyle/>
          <a:p>
            <a:pPr algn="ctr">
              <a:spcBef>
                <a:spcPct val="50000"/>
              </a:spcBef>
            </a:pPr>
            <a:r>
              <a:rPr lang="zh-CN" altLang="en-US" sz="2000">
                <a:solidFill>
                  <a:srgbClr val="0000FF"/>
                </a:solidFill>
                <a:latin typeface="方正兰亭超细黑简体" pitchFamily="2" charset="-122"/>
                <a:ea typeface="方正兰亭超细黑简体" pitchFamily="2" charset="-122"/>
                <a:cs typeface="Times New Roman" pitchFamily="18" charset="0"/>
              </a:rPr>
              <a:t>顺序表</a:t>
            </a:r>
          </a:p>
        </p:txBody>
      </p:sp>
      <p:sp>
        <p:nvSpPr>
          <p:cNvPr id="13" name="Text Box 9">
            <a:extLst>
              <a:ext uri="{FF2B5EF4-FFF2-40B4-BE49-F238E27FC236}">
                <a16:creationId xmlns:a16="http://schemas.microsoft.com/office/drawing/2014/main" id="{2096F6BF-34E2-412F-A33C-C0737327A52E}"/>
              </a:ext>
            </a:extLst>
          </p:cNvPr>
          <p:cNvSpPr txBox="1">
            <a:spLocks noChangeArrowheads="1"/>
          </p:cNvSpPr>
          <p:nvPr/>
        </p:nvSpPr>
        <p:spPr bwMode="auto">
          <a:xfrm>
            <a:off x="3994868" y="3355801"/>
            <a:ext cx="985858" cy="400110"/>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square">
            <a:spAutoFit/>
          </a:bodyPr>
          <a:lstStyle/>
          <a:p>
            <a:pPr algn="ctr">
              <a:spcBef>
                <a:spcPct val="50000"/>
              </a:spcBef>
            </a:pPr>
            <a:r>
              <a:rPr lang="zh-CN" altLang="en-US" sz="2000">
                <a:solidFill>
                  <a:srgbClr val="0000FF"/>
                </a:solidFill>
                <a:latin typeface="方正兰亭超细黑简体" pitchFamily="2" charset="-122"/>
                <a:ea typeface="方正兰亭超细黑简体" pitchFamily="2" charset="-122"/>
                <a:cs typeface="Times New Roman" pitchFamily="18" charset="0"/>
              </a:rPr>
              <a:t>链 表</a:t>
            </a:r>
          </a:p>
        </p:txBody>
      </p:sp>
      <p:sp>
        <p:nvSpPr>
          <p:cNvPr id="14" name="TextBox 20">
            <a:extLst>
              <a:ext uri="{FF2B5EF4-FFF2-40B4-BE49-F238E27FC236}">
                <a16:creationId xmlns:a16="http://schemas.microsoft.com/office/drawing/2014/main" id="{02BB304A-CB2B-42E3-A900-5C6150F5F7BC}"/>
              </a:ext>
            </a:extLst>
          </p:cNvPr>
          <p:cNvSpPr txBox="1"/>
          <p:nvPr/>
        </p:nvSpPr>
        <p:spPr>
          <a:xfrm>
            <a:off x="1980330" y="4286754"/>
            <a:ext cx="1571636" cy="400110"/>
          </a:xfrm>
          <a:prstGeom prst="rect">
            <a:avLst/>
          </a:prstGeom>
          <a:noFill/>
        </p:spPr>
        <p:txBody>
          <a:bodyPr wrap="square" rtlCol="0">
            <a:spAutoFit/>
          </a:bodyPr>
          <a:lstStyle/>
          <a:p>
            <a:pPr algn="ctr"/>
            <a:r>
              <a:rPr lang="zh-CN" altLang="en-US" sz="2000">
                <a:latin typeface="方正启体简体" pitchFamily="65" charset="-122"/>
                <a:ea typeface="方正启体简体" pitchFamily="65" charset="-122"/>
              </a:rPr>
              <a:t>顺序栈</a:t>
            </a:r>
          </a:p>
        </p:txBody>
      </p:sp>
      <p:sp>
        <p:nvSpPr>
          <p:cNvPr id="15" name="下箭头 21">
            <a:extLst>
              <a:ext uri="{FF2B5EF4-FFF2-40B4-BE49-F238E27FC236}">
                <a16:creationId xmlns:a16="http://schemas.microsoft.com/office/drawing/2014/main" id="{F9AA20A7-5F99-43BB-94E8-6EED94DEDB81}"/>
              </a:ext>
            </a:extLst>
          </p:cNvPr>
          <p:cNvSpPr/>
          <p:nvPr/>
        </p:nvSpPr>
        <p:spPr>
          <a:xfrm>
            <a:off x="2694710" y="3929564"/>
            <a:ext cx="142876" cy="285752"/>
          </a:xfrm>
          <a:prstGeom prst="downArrow">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2800"/>
          </a:p>
        </p:txBody>
      </p:sp>
      <p:sp>
        <p:nvSpPr>
          <p:cNvPr id="16" name="TextBox 22">
            <a:extLst>
              <a:ext uri="{FF2B5EF4-FFF2-40B4-BE49-F238E27FC236}">
                <a16:creationId xmlns:a16="http://schemas.microsoft.com/office/drawing/2014/main" id="{787B8BA7-F9C2-4E29-8340-BD67771C39FF}"/>
              </a:ext>
            </a:extLst>
          </p:cNvPr>
          <p:cNvSpPr txBox="1"/>
          <p:nvPr/>
        </p:nvSpPr>
        <p:spPr>
          <a:xfrm>
            <a:off x="3694842" y="4286754"/>
            <a:ext cx="1571636" cy="400110"/>
          </a:xfrm>
          <a:prstGeom prst="rect">
            <a:avLst/>
          </a:prstGeom>
          <a:noFill/>
        </p:spPr>
        <p:txBody>
          <a:bodyPr wrap="square" rtlCol="0">
            <a:spAutoFit/>
          </a:bodyPr>
          <a:lstStyle/>
          <a:p>
            <a:pPr algn="ctr"/>
            <a:r>
              <a:rPr lang="zh-CN" altLang="en-US" sz="2000" dirty="0">
                <a:latin typeface="方正启体简体" pitchFamily="65" charset="-122"/>
                <a:ea typeface="方正启体简体" pitchFamily="65" charset="-122"/>
              </a:rPr>
              <a:t>链栈</a:t>
            </a:r>
          </a:p>
        </p:txBody>
      </p:sp>
      <p:sp>
        <p:nvSpPr>
          <p:cNvPr id="17" name="下箭头 23">
            <a:extLst>
              <a:ext uri="{FF2B5EF4-FFF2-40B4-BE49-F238E27FC236}">
                <a16:creationId xmlns:a16="http://schemas.microsoft.com/office/drawing/2014/main" id="{C235355B-0875-4573-8E65-12FEC0BFC925}"/>
              </a:ext>
            </a:extLst>
          </p:cNvPr>
          <p:cNvSpPr/>
          <p:nvPr/>
        </p:nvSpPr>
        <p:spPr>
          <a:xfrm>
            <a:off x="4409222" y="3929564"/>
            <a:ext cx="142876" cy="285752"/>
          </a:xfrm>
          <a:prstGeom prst="downArrow">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2800"/>
          </a:p>
        </p:txBody>
      </p:sp>
    </p:spTree>
    <p:extLst>
      <p:ext uri="{BB962C8B-B14F-4D97-AF65-F5344CB8AC3E}">
        <p14:creationId xmlns:p14="http://schemas.microsoft.com/office/powerpoint/2010/main" val="29815730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en-US" altLang="zh-CN" b="1" dirty="0"/>
              <a:t>3.2 </a:t>
            </a:r>
            <a:r>
              <a:rPr lang="zh-CN" altLang="zh-CN" b="1" dirty="0"/>
              <a:t>栈的存储结构</a:t>
            </a:r>
            <a:endParaRPr lang="zh-CN" altLang="en-US" dirty="0"/>
          </a:p>
        </p:txBody>
      </p:sp>
      <p:sp>
        <p:nvSpPr>
          <p:cNvPr id="3" name="内容占位符 2"/>
          <p:cNvSpPr>
            <a:spLocks noGrp="1"/>
          </p:cNvSpPr>
          <p:nvPr>
            <p:ph idx="1"/>
          </p:nvPr>
        </p:nvSpPr>
        <p:spPr/>
        <p:txBody>
          <a:bodyPr>
            <a:normAutofit fontScale="92500"/>
          </a:bodyPr>
          <a:lstStyle/>
          <a:p>
            <a:pPr algn="just"/>
            <a:r>
              <a:rPr lang="en-US" altLang="zh-CN" dirty="0"/>
              <a:t>3.2.1 </a:t>
            </a:r>
            <a:r>
              <a:rPr lang="zh-CN" altLang="zh-CN" dirty="0">
                <a:solidFill>
                  <a:srgbClr val="FF0000"/>
                </a:solidFill>
              </a:rPr>
              <a:t>顺序栈的定义及实现</a:t>
            </a:r>
            <a:endParaRPr lang="en-US" altLang="zh-CN" dirty="0">
              <a:solidFill>
                <a:srgbClr val="FF0000"/>
              </a:solidFill>
            </a:endParaRPr>
          </a:p>
          <a:p>
            <a:pPr algn="just">
              <a:buFont typeface="Arial" panose="020B0604020202020204" pitchFamily="34" charset="0"/>
              <a:buChar char="•"/>
            </a:pPr>
            <a:r>
              <a:rPr lang="zh-CN" altLang="zh-CN" b="0" dirty="0"/>
              <a:t>栈的顺序存储结构称为</a:t>
            </a:r>
            <a:r>
              <a:rPr lang="zh-CN" altLang="zh-CN" dirty="0">
                <a:solidFill>
                  <a:srgbClr val="FF0000"/>
                </a:solidFill>
              </a:rPr>
              <a:t>顺序栈</a:t>
            </a:r>
            <a:r>
              <a:rPr lang="zh-CN" altLang="zh-CN" b="0" dirty="0"/>
              <a:t>（</a:t>
            </a:r>
            <a:r>
              <a:rPr lang="en-US" altLang="zh-CN" b="0" dirty="0"/>
              <a:t>sequence stack</a:t>
            </a:r>
            <a:r>
              <a:rPr lang="zh-CN" altLang="zh-CN" b="0" dirty="0"/>
              <a:t>）。</a:t>
            </a:r>
            <a:endParaRPr lang="en-US" altLang="zh-CN" b="0" dirty="0"/>
          </a:p>
          <a:p>
            <a:pPr algn="just">
              <a:buFont typeface="Arial" panose="020B0604020202020204" pitchFamily="34" charset="0"/>
              <a:buChar char="•"/>
            </a:pPr>
            <a:r>
              <a:rPr lang="zh-CN" altLang="zh-CN" b="0" dirty="0"/>
              <a:t>顺序栈也是用一组地址连续的存储空间依次存放从栈底到栈顶的所有数据元素，再定义一个指针变量来指示栈底的位置，一个指针变量来指示当前的栈顶元素的位置。</a:t>
            </a:r>
            <a:endParaRPr lang="en-US" altLang="zh-CN" b="0" dirty="0"/>
          </a:p>
          <a:p>
            <a:pPr algn="just">
              <a:buFont typeface="Arial" panose="020B0604020202020204" pitchFamily="34" charset="0"/>
              <a:buChar char="•"/>
            </a:pPr>
            <a:r>
              <a:rPr lang="zh-CN" altLang="zh-CN" dirty="0">
                <a:solidFill>
                  <a:srgbClr val="FF0000"/>
                </a:solidFill>
              </a:rPr>
              <a:t>栈的顺序存储结构</a:t>
            </a:r>
            <a:r>
              <a:rPr lang="zh-CN" altLang="zh-CN" b="0" dirty="0"/>
              <a:t>是用一个一维数组依次存放从栈底到栈顶的所有元素，从而实现顺序栈的存储。</a:t>
            </a:r>
            <a:endParaRPr lang="zh-CN" altLang="en-US" b="0" dirty="0"/>
          </a:p>
        </p:txBody>
      </p:sp>
    </p:spTree>
    <p:extLst>
      <p:ext uri="{BB962C8B-B14F-4D97-AF65-F5344CB8AC3E}">
        <p14:creationId xmlns:p14="http://schemas.microsoft.com/office/powerpoint/2010/main" val="28462302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cstate="print"/>
          <a:srcRect/>
          <a:stretch>
            <a:fillRect/>
          </a:stretch>
        </p:blipFill>
        <p:spPr bwMode="auto">
          <a:xfrm>
            <a:off x="19106" y="1916832"/>
            <a:ext cx="9123621" cy="2365383"/>
          </a:xfrm>
          <a:prstGeom prst="rect">
            <a:avLst/>
          </a:prstGeom>
          <a:noFill/>
          <a:ln w="9525">
            <a:noFill/>
            <a:miter lim="800000"/>
            <a:headEnd/>
            <a:tailEnd/>
          </a:ln>
          <a:effectLst/>
        </p:spPr>
      </p:pic>
      <p:sp>
        <p:nvSpPr>
          <p:cNvPr id="5" name="矩形 4"/>
          <p:cNvSpPr/>
          <p:nvPr/>
        </p:nvSpPr>
        <p:spPr>
          <a:xfrm>
            <a:off x="3357554" y="4786322"/>
            <a:ext cx="2454518" cy="369332"/>
          </a:xfrm>
          <a:prstGeom prst="rect">
            <a:avLst/>
          </a:prstGeom>
        </p:spPr>
        <p:txBody>
          <a:bodyPr wrap="none">
            <a:spAutoFit/>
          </a:bodyPr>
          <a:lstStyle/>
          <a:p>
            <a:r>
              <a:rPr lang="zh-CN" altLang="en-US" dirty="0">
                <a:latin typeface="Times New Roman" pitchFamily="18" charset="0"/>
                <a:ea typeface="楷体" pitchFamily="49" charset="-122"/>
                <a:cs typeface="Times New Roman" pitchFamily="18" charset="0"/>
              </a:rPr>
              <a:t>图</a:t>
            </a:r>
            <a:r>
              <a:rPr lang="en-US" dirty="0">
                <a:latin typeface="Times New Roman" pitchFamily="18" charset="0"/>
                <a:ea typeface="楷体" pitchFamily="49" charset="-122"/>
                <a:cs typeface="Times New Roman" pitchFamily="18" charset="0"/>
              </a:rPr>
              <a:t>3-2  </a:t>
            </a:r>
            <a:r>
              <a:rPr lang="zh-CN" altLang="en-US" dirty="0">
                <a:latin typeface="Times New Roman" pitchFamily="18" charset="0"/>
                <a:ea typeface="楷体" pitchFamily="49" charset="-122"/>
                <a:cs typeface="Times New Roman" pitchFamily="18" charset="0"/>
              </a:rPr>
              <a:t>顺序栈的示意图</a:t>
            </a:r>
          </a:p>
        </p:txBody>
      </p:sp>
      <p:sp>
        <p:nvSpPr>
          <p:cNvPr id="3" name="文本框 2"/>
          <p:cNvSpPr txBox="1"/>
          <p:nvPr/>
        </p:nvSpPr>
        <p:spPr>
          <a:xfrm>
            <a:off x="1763688" y="1772816"/>
            <a:ext cx="1800200" cy="2736304"/>
          </a:xfrm>
          <a:prstGeom prst="rect">
            <a:avLst/>
          </a:prstGeom>
          <a:noFill/>
        </p:spPr>
        <p:txBody>
          <a:bodyPr wrap="square" rtlCol="0">
            <a:spAutoFit/>
          </a:bodyPr>
          <a:lstStyle/>
          <a:p>
            <a:endParaRPr lang="zh-CN" altLang="en-US" dirty="0"/>
          </a:p>
        </p:txBody>
      </p:sp>
      <p:sp>
        <p:nvSpPr>
          <p:cNvPr id="6" name="文本框 5"/>
          <p:cNvSpPr txBox="1"/>
          <p:nvPr/>
        </p:nvSpPr>
        <p:spPr>
          <a:xfrm>
            <a:off x="3507804" y="1731371"/>
            <a:ext cx="1800200" cy="2736304"/>
          </a:xfrm>
          <a:prstGeom prst="rect">
            <a:avLst/>
          </a:prstGeom>
          <a:noFill/>
        </p:spPr>
        <p:txBody>
          <a:bodyPr wrap="square" rtlCol="0">
            <a:spAutoFit/>
          </a:bodyPr>
          <a:lstStyle/>
          <a:p>
            <a:endParaRPr lang="zh-CN" altLang="en-US" dirty="0"/>
          </a:p>
        </p:txBody>
      </p:sp>
      <p:sp>
        <p:nvSpPr>
          <p:cNvPr id="7" name="文本框 6"/>
          <p:cNvSpPr txBox="1"/>
          <p:nvPr/>
        </p:nvSpPr>
        <p:spPr>
          <a:xfrm>
            <a:off x="5425165" y="1731371"/>
            <a:ext cx="1800200" cy="2736304"/>
          </a:xfrm>
          <a:prstGeom prst="rect">
            <a:avLst/>
          </a:prstGeom>
          <a:noFill/>
        </p:spPr>
        <p:txBody>
          <a:bodyPr wrap="square" rtlCol="0">
            <a:spAutoFit/>
          </a:bodyPr>
          <a:lstStyle/>
          <a:p>
            <a:endParaRPr lang="zh-CN" altLang="en-US" dirty="0"/>
          </a:p>
        </p:txBody>
      </p:sp>
      <p:sp>
        <p:nvSpPr>
          <p:cNvPr id="8" name="文本框 7"/>
          <p:cNvSpPr txBox="1"/>
          <p:nvPr/>
        </p:nvSpPr>
        <p:spPr>
          <a:xfrm>
            <a:off x="7286735" y="1731371"/>
            <a:ext cx="1800200" cy="2736304"/>
          </a:xfrm>
          <a:prstGeom prst="rect">
            <a:avLst/>
          </a:prstGeom>
          <a:noFill/>
        </p:spPr>
        <p:txBody>
          <a:bodyPr wrap="square" rtlCol="0">
            <a:spAutoFit/>
          </a:bodyPr>
          <a:lstStyle/>
          <a:p>
            <a:endParaRPr lang="zh-CN" altLang="en-US" dirty="0"/>
          </a:p>
        </p:txBody>
      </p:sp>
    </p:spTree>
    <p:extLst>
      <p:ext uri="{BB962C8B-B14F-4D97-AF65-F5344CB8AC3E}">
        <p14:creationId xmlns:p14="http://schemas.microsoft.com/office/powerpoint/2010/main" val="1673584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115616" y="1484784"/>
            <a:ext cx="7520940" cy="4464496"/>
          </a:xfrm>
        </p:spPr>
        <p:txBody>
          <a:bodyPr>
            <a:normAutofit/>
          </a:bodyPr>
          <a:lstStyle/>
          <a:p>
            <a:pPr algn="just">
              <a:buFont typeface="Arial" panose="020B0604020202020204" pitchFamily="34" charset="0"/>
              <a:buChar char="•"/>
            </a:pPr>
            <a:r>
              <a:rPr lang="zh-CN" altLang="zh-CN" b="0" dirty="0"/>
              <a:t>由于栈中的元素个数动态变化，而数组的空间是固定的，所以当使用一个数组来存放数据元素时，可能会出现</a:t>
            </a:r>
            <a:r>
              <a:rPr lang="zh-CN" altLang="zh-CN" dirty="0">
                <a:solidFill>
                  <a:srgbClr val="FF0000"/>
                </a:solidFill>
              </a:rPr>
              <a:t>溢出的现象</a:t>
            </a:r>
            <a:r>
              <a:rPr lang="zh-CN" altLang="zh-CN" b="0" dirty="0"/>
              <a:t>。</a:t>
            </a:r>
            <a:endParaRPr lang="en-US" altLang="zh-CN" b="0" dirty="0"/>
          </a:p>
          <a:p>
            <a:pPr algn="just">
              <a:buFont typeface="Arial" panose="020B0604020202020204" pitchFamily="34" charset="0"/>
              <a:buChar char="•"/>
            </a:pPr>
            <a:r>
              <a:rPr lang="zh-CN" altLang="zh-CN" b="0" dirty="0"/>
              <a:t>当数组为空时，再对数组进行出栈操作会出现溢出现象，这种溢出称为</a:t>
            </a:r>
            <a:r>
              <a:rPr lang="zh-CN" altLang="zh-CN" dirty="0">
                <a:solidFill>
                  <a:srgbClr val="FF0000"/>
                </a:solidFill>
              </a:rPr>
              <a:t>下溢</a:t>
            </a:r>
            <a:r>
              <a:rPr lang="zh-CN" altLang="zh-CN" b="0" dirty="0"/>
              <a:t>。</a:t>
            </a:r>
            <a:endParaRPr lang="en-US" altLang="zh-CN" b="0" dirty="0"/>
          </a:p>
          <a:p>
            <a:pPr algn="just">
              <a:buFont typeface="Arial" panose="020B0604020202020204" pitchFamily="34" charset="0"/>
              <a:buChar char="•"/>
            </a:pPr>
            <a:r>
              <a:rPr lang="zh-CN" altLang="zh-CN" b="0" dirty="0"/>
              <a:t>若数组已满时，再对数组进行入栈操作也会出现溢出现象，这种溢出称为</a:t>
            </a:r>
            <a:r>
              <a:rPr lang="zh-CN" altLang="zh-CN" dirty="0">
                <a:solidFill>
                  <a:srgbClr val="FF0000"/>
                </a:solidFill>
              </a:rPr>
              <a:t>上溢</a:t>
            </a:r>
            <a:r>
              <a:rPr lang="zh-CN" altLang="zh-CN" b="0" dirty="0"/>
              <a:t>。</a:t>
            </a:r>
            <a:endParaRPr lang="en-US" altLang="zh-CN" b="0" dirty="0"/>
          </a:p>
          <a:p>
            <a:pPr algn="just">
              <a:buFont typeface="Arial" panose="020B0604020202020204" pitchFamily="34" charset="0"/>
              <a:buChar char="•"/>
            </a:pPr>
            <a:r>
              <a:rPr lang="zh-CN" altLang="zh-CN" b="0" dirty="0"/>
              <a:t>因此，在对栈进行入栈或出栈操作前，应该</a:t>
            </a:r>
            <a:r>
              <a:rPr lang="zh-CN" altLang="zh-CN" dirty="0">
                <a:solidFill>
                  <a:srgbClr val="FF0000"/>
                </a:solidFill>
              </a:rPr>
              <a:t>对栈当前的状态进行检查</a:t>
            </a:r>
            <a:r>
              <a:rPr lang="zh-CN" altLang="zh-CN" b="0" dirty="0"/>
              <a:t>。</a:t>
            </a:r>
          </a:p>
        </p:txBody>
      </p:sp>
    </p:spTree>
    <p:extLst>
      <p:ext uri="{BB962C8B-B14F-4D97-AF65-F5344CB8AC3E}">
        <p14:creationId xmlns:p14="http://schemas.microsoft.com/office/powerpoint/2010/main" val="16070076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08720"/>
            <a:ext cx="8030696" cy="5377800"/>
          </a:xfrm>
        </p:spPr>
        <p:txBody>
          <a:bodyPr>
            <a:noAutofit/>
          </a:bodyPr>
          <a:lstStyle/>
          <a:p>
            <a:pPr algn="just">
              <a:lnSpc>
                <a:spcPct val="110000"/>
              </a:lnSpc>
              <a:spcBef>
                <a:spcPts val="0"/>
              </a:spcBef>
            </a:pPr>
            <a:r>
              <a:rPr lang="zh-CN" altLang="zh-CN" sz="1800" dirty="0"/>
              <a:t>算法</a:t>
            </a:r>
            <a:r>
              <a:rPr lang="en-US" altLang="zh-CN" sz="1800" dirty="0"/>
              <a:t>3.2</a:t>
            </a:r>
            <a:r>
              <a:rPr lang="zh-CN" altLang="zh-CN" sz="1800" dirty="0"/>
              <a:t>：</a:t>
            </a:r>
            <a:r>
              <a:rPr lang="zh-CN" altLang="zh-CN" sz="1800" dirty="0">
                <a:solidFill>
                  <a:srgbClr val="FF0000"/>
                </a:solidFill>
              </a:rPr>
              <a:t>顺序栈的数据类型</a:t>
            </a:r>
            <a:r>
              <a:rPr lang="zh-CN" altLang="zh-CN" sz="1800" dirty="0"/>
              <a:t>定义</a:t>
            </a:r>
          </a:p>
          <a:p>
            <a:pPr algn="just">
              <a:lnSpc>
                <a:spcPct val="110000"/>
              </a:lnSpc>
              <a:spcBef>
                <a:spcPts val="0"/>
              </a:spcBef>
            </a:pPr>
            <a:r>
              <a:rPr lang="en-US" altLang="zh-CN" sz="1800" b="0" dirty="0"/>
              <a:t>class </a:t>
            </a:r>
            <a:r>
              <a:rPr lang="en-US" altLang="zh-CN" sz="1800" b="0" dirty="0" err="1"/>
              <a:t>SeqStack</a:t>
            </a:r>
            <a:r>
              <a:rPr lang="en-US" altLang="zh-CN" sz="1800" b="0" dirty="0"/>
              <a:t>{</a:t>
            </a:r>
            <a:endParaRPr lang="zh-CN" altLang="zh-CN" sz="1800" b="0" dirty="0"/>
          </a:p>
          <a:p>
            <a:pPr algn="just">
              <a:lnSpc>
                <a:spcPct val="110000"/>
              </a:lnSpc>
              <a:spcBef>
                <a:spcPts val="0"/>
              </a:spcBef>
            </a:pPr>
            <a:r>
              <a:rPr lang="en-US" altLang="zh-CN" sz="1800" b="0" dirty="0"/>
              <a:t>private:</a:t>
            </a:r>
            <a:endParaRPr lang="zh-CN" altLang="zh-CN" sz="1800" b="0" dirty="0"/>
          </a:p>
          <a:p>
            <a:pPr algn="just">
              <a:lnSpc>
                <a:spcPct val="110000"/>
              </a:lnSpc>
              <a:spcBef>
                <a:spcPts val="0"/>
              </a:spcBef>
            </a:pPr>
            <a:r>
              <a:rPr lang="en-US" altLang="zh-CN" sz="1800" b="0" dirty="0"/>
              <a:t>	Type *base</a:t>
            </a:r>
            <a:r>
              <a:rPr lang="zh-CN" altLang="zh-CN" sz="1800" b="0" dirty="0"/>
              <a:t>；</a:t>
            </a:r>
            <a:r>
              <a:rPr lang="en-US" altLang="zh-CN" sz="1800" b="0" dirty="0"/>
              <a:t>		//</a:t>
            </a:r>
            <a:r>
              <a:rPr lang="zh-CN" altLang="zh-CN" sz="1800" b="0" dirty="0"/>
              <a:t>栈底指针</a:t>
            </a:r>
            <a:endParaRPr lang="en-US" altLang="zh-CN" sz="1800" b="0" dirty="0"/>
          </a:p>
          <a:p>
            <a:pPr algn="just">
              <a:lnSpc>
                <a:spcPct val="110000"/>
              </a:lnSpc>
              <a:spcBef>
                <a:spcPts val="0"/>
              </a:spcBef>
            </a:pPr>
            <a:r>
              <a:rPr lang="en-US" altLang="zh-CN" sz="1800" b="0" dirty="0"/>
              <a:t>	int maxsize;             	//</a:t>
            </a:r>
            <a:r>
              <a:rPr lang="zh-CN" altLang="zh-CN" sz="1800" b="0" dirty="0"/>
              <a:t>顺序栈的最大空间</a:t>
            </a:r>
            <a:endParaRPr lang="en-US" altLang="zh-CN" sz="1800" b="0" dirty="0"/>
          </a:p>
          <a:p>
            <a:pPr algn="just">
              <a:lnSpc>
                <a:spcPct val="110000"/>
              </a:lnSpc>
              <a:spcBef>
                <a:spcPts val="0"/>
              </a:spcBef>
            </a:pPr>
            <a:r>
              <a:rPr lang="en-US" altLang="zh-CN" sz="1800" b="0" dirty="0"/>
              <a:t>	int top;        	 	//</a:t>
            </a:r>
            <a:r>
              <a:rPr lang="zh-CN" altLang="zh-CN" sz="1800" b="0" dirty="0"/>
              <a:t>栈顶指针</a:t>
            </a:r>
            <a:endParaRPr lang="en-US" altLang="zh-CN" sz="1800" b="0" dirty="0"/>
          </a:p>
          <a:p>
            <a:pPr algn="just">
              <a:lnSpc>
                <a:spcPct val="110000"/>
              </a:lnSpc>
              <a:spcBef>
                <a:spcPts val="0"/>
              </a:spcBef>
            </a:pPr>
            <a:r>
              <a:rPr lang="en-US" altLang="zh-CN" sz="1800" b="0" dirty="0"/>
              <a:t>public: </a:t>
            </a:r>
            <a:endParaRPr lang="zh-CN" altLang="zh-CN" sz="1800" b="0" dirty="0"/>
          </a:p>
          <a:p>
            <a:pPr algn="just">
              <a:lnSpc>
                <a:spcPct val="110000"/>
              </a:lnSpc>
              <a:spcBef>
                <a:spcPts val="0"/>
              </a:spcBef>
            </a:pPr>
            <a:r>
              <a:rPr lang="en-US" altLang="zh-CN" sz="1800" b="0" dirty="0"/>
              <a:t>    </a:t>
            </a:r>
            <a:r>
              <a:rPr lang="en-US" altLang="zh-CN" sz="1800" b="0" dirty="0" err="1"/>
              <a:t>SeqStack</a:t>
            </a:r>
            <a:r>
              <a:rPr lang="en-US" altLang="zh-CN" sz="1800" b="0" dirty="0"/>
              <a:t>(</a:t>
            </a:r>
            <a:r>
              <a:rPr lang="en-US" altLang="zh-CN" sz="1800" b="0" dirty="0" err="1"/>
              <a:t>int</a:t>
            </a:r>
            <a:r>
              <a:rPr lang="en-US" altLang="zh-CN" sz="1800" b="0" dirty="0"/>
              <a:t> size);      	//</a:t>
            </a:r>
            <a:r>
              <a:rPr lang="zh-CN" altLang="zh-CN" sz="1800" b="0" dirty="0"/>
              <a:t>构造函数</a:t>
            </a:r>
            <a:r>
              <a:rPr lang="en-US" altLang="zh-CN" sz="1800" b="0" dirty="0"/>
              <a:t>,</a:t>
            </a:r>
            <a:r>
              <a:rPr lang="zh-CN" altLang="zh-CN" sz="1800" b="0" dirty="0"/>
              <a:t>构造一个数组空间大小为</a:t>
            </a:r>
            <a:r>
              <a:rPr lang="en-US" altLang="zh-CN" sz="1800" b="0" dirty="0"/>
              <a:t>size</a:t>
            </a:r>
            <a:r>
              <a:rPr lang="zh-CN" altLang="zh-CN" sz="1800" b="0" dirty="0"/>
              <a:t>的空栈</a:t>
            </a:r>
          </a:p>
          <a:p>
            <a:pPr algn="just">
              <a:lnSpc>
                <a:spcPct val="110000"/>
              </a:lnSpc>
              <a:spcBef>
                <a:spcPts val="0"/>
              </a:spcBef>
            </a:pPr>
            <a:r>
              <a:rPr lang="en-US" altLang="zh-CN" sz="1800" b="0" dirty="0"/>
              <a:t>    ~</a:t>
            </a:r>
            <a:r>
              <a:rPr lang="en-US" altLang="zh-CN" sz="1800" b="0" dirty="0" err="1"/>
              <a:t>SeqStack</a:t>
            </a:r>
            <a:r>
              <a:rPr lang="en-US" altLang="zh-CN" sz="1800" b="0" dirty="0"/>
              <a:t>();            	//</a:t>
            </a:r>
            <a:r>
              <a:rPr lang="zh-CN" altLang="zh-CN" sz="1800" b="0" dirty="0"/>
              <a:t>析构函数，销毁栈，释放栈空间</a:t>
            </a:r>
          </a:p>
          <a:p>
            <a:pPr algn="just">
              <a:lnSpc>
                <a:spcPct val="110000"/>
              </a:lnSpc>
              <a:spcBef>
                <a:spcPts val="0"/>
              </a:spcBef>
            </a:pPr>
            <a:r>
              <a:rPr lang="en-US" altLang="zh-CN" sz="1800" b="0" dirty="0"/>
              <a:t>    </a:t>
            </a:r>
            <a:r>
              <a:rPr lang="en-US" altLang="zh-CN" sz="1800" b="0" dirty="0" err="1"/>
              <a:t>int</a:t>
            </a:r>
            <a:r>
              <a:rPr lang="en-US" altLang="zh-CN" sz="1800" b="0" dirty="0"/>
              <a:t> </a:t>
            </a:r>
            <a:r>
              <a:rPr lang="en-US" altLang="zh-CN" sz="1800" b="0" dirty="0" err="1"/>
              <a:t>IsEmpty</a:t>
            </a:r>
            <a:r>
              <a:rPr lang="en-US" altLang="zh-CN" sz="1800" b="0" dirty="0"/>
              <a:t>()const;       	//</a:t>
            </a:r>
            <a:r>
              <a:rPr lang="zh-CN" altLang="zh-CN" sz="1800" b="0" dirty="0"/>
              <a:t>判断栈是否为空栈，若是，返回</a:t>
            </a:r>
            <a:r>
              <a:rPr lang="en-US" altLang="zh-CN" sz="1800" b="0" dirty="0"/>
              <a:t>1</a:t>
            </a:r>
            <a:r>
              <a:rPr lang="zh-CN" altLang="zh-CN" sz="1800" b="0" dirty="0"/>
              <a:t>；否则返回</a:t>
            </a:r>
            <a:r>
              <a:rPr lang="en-US" altLang="zh-CN" sz="1800" b="0" dirty="0"/>
              <a:t>0</a:t>
            </a:r>
            <a:endParaRPr lang="zh-CN" altLang="zh-CN" sz="1800" b="0" dirty="0"/>
          </a:p>
          <a:p>
            <a:pPr algn="just">
              <a:lnSpc>
                <a:spcPct val="110000"/>
              </a:lnSpc>
              <a:spcBef>
                <a:spcPts val="0"/>
              </a:spcBef>
            </a:pPr>
            <a:r>
              <a:rPr lang="en-US" altLang="zh-CN" sz="1800" b="0" dirty="0"/>
              <a:t>    </a:t>
            </a:r>
            <a:r>
              <a:rPr lang="en-US" altLang="zh-CN" sz="1800" b="0" dirty="0" err="1"/>
              <a:t>int</a:t>
            </a:r>
            <a:r>
              <a:rPr lang="en-US" altLang="zh-CN" sz="1800" b="0" dirty="0"/>
              <a:t> </a:t>
            </a:r>
            <a:r>
              <a:rPr lang="en-US" altLang="zh-CN" sz="1800" b="0" dirty="0" err="1"/>
              <a:t>IsFull</a:t>
            </a:r>
            <a:r>
              <a:rPr lang="en-US" altLang="zh-CN" sz="1800" b="0" dirty="0"/>
              <a:t>();            	//</a:t>
            </a:r>
            <a:r>
              <a:rPr lang="zh-CN" altLang="zh-CN" sz="1800" b="0" dirty="0"/>
              <a:t>判断栈是否是满栈，若是，返回</a:t>
            </a:r>
            <a:r>
              <a:rPr lang="en-US" altLang="zh-CN" sz="1800" b="0" dirty="0"/>
              <a:t>1</a:t>
            </a:r>
            <a:r>
              <a:rPr lang="zh-CN" altLang="zh-CN" sz="1800" b="0" dirty="0"/>
              <a:t>；否则返回</a:t>
            </a:r>
            <a:r>
              <a:rPr lang="en-US" altLang="zh-CN" sz="1800" b="0" dirty="0"/>
              <a:t>0</a:t>
            </a:r>
            <a:endParaRPr lang="zh-CN" altLang="zh-CN" sz="1800" b="0" dirty="0"/>
          </a:p>
          <a:p>
            <a:pPr algn="just">
              <a:lnSpc>
                <a:spcPct val="110000"/>
              </a:lnSpc>
              <a:spcBef>
                <a:spcPts val="0"/>
              </a:spcBef>
            </a:pPr>
            <a:r>
              <a:rPr lang="en-US" altLang="zh-CN" sz="1800" b="0" dirty="0"/>
              <a:t>    void </a:t>
            </a:r>
            <a:r>
              <a:rPr lang="en-US" altLang="zh-CN" sz="1800" b="0" dirty="0" err="1"/>
              <a:t>SeqStackClear</a:t>
            </a:r>
            <a:r>
              <a:rPr lang="en-US" altLang="zh-CN" sz="1800" b="0" dirty="0"/>
              <a:t>();    	//</a:t>
            </a:r>
            <a:r>
              <a:rPr lang="zh-CN" altLang="zh-CN" sz="1800" b="0" dirty="0"/>
              <a:t>将栈清空</a:t>
            </a:r>
          </a:p>
          <a:p>
            <a:pPr algn="just">
              <a:lnSpc>
                <a:spcPct val="110000"/>
              </a:lnSpc>
              <a:spcBef>
                <a:spcPts val="0"/>
              </a:spcBef>
            </a:pPr>
            <a:r>
              <a:rPr lang="en-US" altLang="zh-CN" sz="1800" b="0" dirty="0"/>
              <a:t>    </a:t>
            </a:r>
            <a:r>
              <a:rPr lang="en-US" altLang="zh-CN" sz="1800" b="0" dirty="0" err="1"/>
              <a:t>int</a:t>
            </a:r>
            <a:r>
              <a:rPr lang="en-US" altLang="zh-CN" sz="1800" b="0" dirty="0"/>
              <a:t> </a:t>
            </a:r>
            <a:r>
              <a:rPr lang="en-US" altLang="zh-CN" sz="1800" b="0" dirty="0" err="1"/>
              <a:t>SeqStackLength</a:t>
            </a:r>
            <a:r>
              <a:rPr lang="en-US" altLang="zh-CN" sz="1800" b="0" dirty="0"/>
              <a:t>();    	//</a:t>
            </a:r>
            <a:r>
              <a:rPr lang="zh-CN" altLang="zh-CN" sz="1800" b="0" dirty="0"/>
              <a:t>栈的长度，即栈中元素的个数</a:t>
            </a:r>
          </a:p>
          <a:p>
            <a:pPr algn="just">
              <a:lnSpc>
                <a:spcPct val="110000"/>
              </a:lnSpc>
              <a:spcBef>
                <a:spcPts val="0"/>
              </a:spcBef>
            </a:pPr>
            <a:r>
              <a:rPr lang="en-US" altLang="zh-CN" sz="1800" b="0" dirty="0">
                <a:solidFill>
                  <a:srgbClr val="FF0000"/>
                </a:solidFill>
              </a:rPr>
              <a:t>    void Push(Type &amp;e);      </a:t>
            </a:r>
            <a:r>
              <a:rPr lang="en-US" altLang="zh-CN" sz="1800" b="0" dirty="0"/>
              <a:t>	//</a:t>
            </a:r>
            <a:r>
              <a:rPr lang="zh-CN" altLang="zh-CN" sz="1800" b="0" dirty="0"/>
              <a:t>入栈操作，将元素</a:t>
            </a:r>
            <a:r>
              <a:rPr lang="en-US" altLang="zh-CN" sz="1800" b="0" dirty="0"/>
              <a:t>e</a:t>
            </a:r>
            <a:r>
              <a:rPr lang="zh-CN" altLang="zh-CN" sz="1800" b="0" dirty="0"/>
              <a:t>插入栈顶</a:t>
            </a:r>
          </a:p>
          <a:p>
            <a:pPr algn="just">
              <a:lnSpc>
                <a:spcPct val="110000"/>
              </a:lnSpc>
              <a:spcBef>
                <a:spcPts val="0"/>
              </a:spcBef>
            </a:pPr>
            <a:r>
              <a:rPr lang="en-US" altLang="zh-CN" sz="1800" b="0" dirty="0">
                <a:solidFill>
                  <a:srgbClr val="FF0000"/>
                </a:solidFill>
              </a:rPr>
              <a:t>    Type &amp;Pop();           </a:t>
            </a:r>
            <a:r>
              <a:rPr lang="en-US" altLang="zh-CN" sz="1800" b="0" dirty="0"/>
              <a:t>	//</a:t>
            </a:r>
            <a:r>
              <a:rPr lang="zh-CN" altLang="zh-CN" sz="1800" b="0" dirty="0"/>
              <a:t>出栈操作，将当前栈顶元素删除，并返回其值</a:t>
            </a:r>
          </a:p>
          <a:p>
            <a:pPr algn="just">
              <a:lnSpc>
                <a:spcPct val="110000"/>
              </a:lnSpc>
              <a:spcBef>
                <a:spcPts val="0"/>
              </a:spcBef>
            </a:pPr>
            <a:r>
              <a:rPr lang="en-US" altLang="zh-CN" sz="1800" b="0" dirty="0">
                <a:solidFill>
                  <a:srgbClr val="FF0000"/>
                </a:solidFill>
              </a:rPr>
              <a:t>    Type &amp;</a:t>
            </a:r>
            <a:r>
              <a:rPr lang="en-US" altLang="zh-CN" sz="1800" b="0" dirty="0" err="1">
                <a:solidFill>
                  <a:srgbClr val="FF0000"/>
                </a:solidFill>
              </a:rPr>
              <a:t>GetTop</a:t>
            </a:r>
            <a:r>
              <a:rPr lang="en-US" altLang="zh-CN" sz="1800" b="0" dirty="0">
                <a:solidFill>
                  <a:srgbClr val="FF0000"/>
                </a:solidFill>
              </a:rPr>
              <a:t>();         </a:t>
            </a:r>
            <a:r>
              <a:rPr lang="en-US" altLang="zh-CN" sz="1800" b="0" dirty="0"/>
              <a:t>	//</a:t>
            </a:r>
            <a:r>
              <a:rPr lang="zh-CN" altLang="zh-CN" sz="1800" b="0" dirty="0"/>
              <a:t>返回栈顶元素</a:t>
            </a:r>
          </a:p>
          <a:p>
            <a:pPr algn="just">
              <a:lnSpc>
                <a:spcPct val="110000"/>
              </a:lnSpc>
              <a:spcBef>
                <a:spcPts val="0"/>
              </a:spcBef>
            </a:pPr>
            <a:r>
              <a:rPr lang="en-US" altLang="zh-CN" sz="1800" b="0" dirty="0"/>
              <a:t>}</a:t>
            </a:r>
            <a:endParaRPr lang="zh-CN" altLang="zh-CN" sz="1800" b="0" dirty="0"/>
          </a:p>
          <a:p>
            <a:pPr algn="just">
              <a:lnSpc>
                <a:spcPct val="110000"/>
              </a:lnSpc>
              <a:spcBef>
                <a:spcPts val="0"/>
              </a:spcBef>
            </a:pPr>
            <a:endParaRPr lang="zh-CN" altLang="en-US" sz="1800" dirty="0"/>
          </a:p>
        </p:txBody>
      </p:sp>
    </p:spTree>
    <p:extLst>
      <p:ext uri="{BB962C8B-B14F-4D97-AF65-F5344CB8AC3E}">
        <p14:creationId xmlns:p14="http://schemas.microsoft.com/office/powerpoint/2010/main" val="4055112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zh-CN" altLang="zh-CN" sz="2400" dirty="0"/>
              <a:t>顺序栈基本操作</a:t>
            </a:r>
            <a:endParaRPr lang="zh-CN" altLang="en-US" sz="2400" dirty="0"/>
          </a:p>
        </p:txBody>
      </p:sp>
      <p:sp>
        <p:nvSpPr>
          <p:cNvPr id="3" name="内容占位符 2"/>
          <p:cNvSpPr>
            <a:spLocks noGrp="1"/>
          </p:cNvSpPr>
          <p:nvPr>
            <p:ph idx="1"/>
          </p:nvPr>
        </p:nvSpPr>
        <p:spPr>
          <a:xfrm>
            <a:off x="827584" y="1628800"/>
            <a:ext cx="7992888" cy="4608512"/>
          </a:xfrm>
        </p:spPr>
        <p:txBody>
          <a:bodyPr>
            <a:normAutofit lnSpcReduction="10000"/>
          </a:bodyPr>
          <a:lstStyle/>
          <a:p>
            <a:pPr algn="just"/>
            <a:r>
              <a:rPr lang="zh-CN" altLang="zh-CN" dirty="0"/>
              <a:t>（</a:t>
            </a:r>
            <a:r>
              <a:rPr lang="en-US" altLang="zh-CN" dirty="0"/>
              <a:t>1</a:t>
            </a:r>
            <a:r>
              <a:rPr lang="zh-CN" altLang="zh-CN" dirty="0"/>
              <a:t>）</a:t>
            </a:r>
            <a:r>
              <a:rPr lang="zh-CN" altLang="zh-CN" dirty="0">
                <a:solidFill>
                  <a:srgbClr val="FF0000"/>
                </a:solidFill>
              </a:rPr>
              <a:t>顺序栈的创建操作</a:t>
            </a:r>
            <a:r>
              <a:rPr lang="zh-CN" altLang="en-US" dirty="0">
                <a:solidFill>
                  <a:srgbClr val="FF0000"/>
                </a:solidFill>
              </a:rPr>
              <a:t>：</a:t>
            </a:r>
            <a:r>
              <a:rPr lang="zh-CN" altLang="en-US" dirty="0"/>
              <a:t>使用函数</a:t>
            </a:r>
            <a:r>
              <a:rPr lang="en-US" altLang="zh-CN" b="0" dirty="0"/>
              <a:t>new()</a:t>
            </a:r>
            <a:endParaRPr lang="zh-CN" altLang="zh-CN" dirty="0"/>
          </a:p>
          <a:p>
            <a:pPr algn="just"/>
            <a:r>
              <a:rPr lang="en-US" altLang="zh-CN" b="0" dirty="0"/>
              <a:t>	</a:t>
            </a:r>
            <a:r>
              <a:rPr lang="zh-CN" altLang="zh-CN" b="0" dirty="0"/>
              <a:t>顺序栈的构造函数产生了一个空间大小为</a:t>
            </a:r>
            <a:r>
              <a:rPr lang="en-US" altLang="zh-CN" b="0" dirty="0"/>
              <a:t>size</a:t>
            </a:r>
            <a:r>
              <a:rPr lang="zh-CN" altLang="zh-CN" b="0" dirty="0"/>
              <a:t>的空栈</a:t>
            </a:r>
            <a:endParaRPr lang="en-US" altLang="zh-CN" b="0" dirty="0"/>
          </a:p>
          <a:p>
            <a:pPr algn="just"/>
            <a:endParaRPr lang="en-US" altLang="zh-CN" b="0" dirty="0"/>
          </a:p>
          <a:p>
            <a:pPr lvl="2" algn="just">
              <a:buNone/>
            </a:pPr>
            <a:r>
              <a:rPr lang="zh-CN" altLang="zh-CN" sz="2300" b="1" dirty="0"/>
              <a:t>算法</a:t>
            </a:r>
            <a:r>
              <a:rPr lang="en-US" altLang="zh-CN" sz="2300" b="1" dirty="0"/>
              <a:t>3.3</a:t>
            </a:r>
            <a:r>
              <a:rPr lang="zh-CN" altLang="zh-CN" sz="2300" b="1" dirty="0"/>
              <a:t>：</a:t>
            </a:r>
            <a:r>
              <a:rPr lang="zh-CN" altLang="zh-CN" sz="2300" b="1" dirty="0">
                <a:solidFill>
                  <a:srgbClr val="FF0000"/>
                </a:solidFill>
              </a:rPr>
              <a:t>顺序栈的</a:t>
            </a:r>
            <a:r>
              <a:rPr lang="zh-CN" altLang="en-US" sz="2300" b="1" dirty="0">
                <a:solidFill>
                  <a:srgbClr val="FF0000"/>
                </a:solidFill>
              </a:rPr>
              <a:t>构造函数</a:t>
            </a:r>
            <a:endParaRPr lang="zh-CN" altLang="zh-CN" sz="2300" b="1" dirty="0">
              <a:solidFill>
                <a:srgbClr val="FF0000"/>
              </a:solidFill>
            </a:endParaRPr>
          </a:p>
          <a:p>
            <a:pPr lvl="2" algn="just">
              <a:buNone/>
            </a:pPr>
            <a:r>
              <a:rPr lang="en-US" altLang="zh-CN" sz="2300" b="0" dirty="0"/>
              <a:t>//</a:t>
            </a:r>
            <a:r>
              <a:rPr lang="zh-CN" altLang="zh-CN" sz="2300" b="0" dirty="0"/>
              <a:t>构造容量大小为</a:t>
            </a:r>
            <a:r>
              <a:rPr lang="en-US" altLang="zh-CN" sz="2300" b="0" dirty="0"/>
              <a:t>size</a:t>
            </a:r>
            <a:r>
              <a:rPr lang="zh-CN" altLang="zh-CN" sz="2300" b="0" dirty="0"/>
              <a:t>的空栈</a:t>
            </a:r>
          </a:p>
          <a:p>
            <a:pPr lvl="2" algn="just">
              <a:buNone/>
            </a:pPr>
            <a:r>
              <a:rPr lang="en-US" altLang="zh-CN" sz="2300" b="0" dirty="0" err="1"/>
              <a:t>SeqStack</a:t>
            </a:r>
            <a:r>
              <a:rPr lang="en-US" altLang="zh-CN" sz="2300" b="0" dirty="0"/>
              <a:t>&lt;Type&gt;::</a:t>
            </a:r>
            <a:r>
              <a:rPr lang="en-US" altLang="zh-CN" sz="2300" b="0" dirty="0" err="1"/>
              <a:t>SeqStack</a:t>
            </a:r>
            <a:r>
              <a:rPr lang="en-US" altLang="zh-CN" sz="2300" b="0" dirty="0"/>
              <a:t>(</a:t>
            </a:r>
            <a:r>
              <a:rPr lang="en-US" altLang="zh-CN" sz="2300" b="0" dirty="0" err="1"/>
              <a:t>int</a:t>
            </a:r>
            <a:r>
              <a:rPr lang="en-US" altLang="zh-CN" sz="2300" b="0" dirty="0"/>
              <a:t> size):</a:t>
            </a:r>
            <a:r>
              <a:rPr lang="en-US" altLang="zh-CN" sz="2300" b="0" dirty="0" err="1"/>
              <a:t>maxsize</a:t>
            </a:r>
            <a:r>
              <a:rPr lang="en-US" altLang="zh-CN" sz="2300" b="0" dirty="0"/>
              <a:t>(size){</a:t>
            </a:r>
            <a:endParaRPr lang="zh-CN" altLang="zh-CN" sz="2300" b="0" dirty="0"/>
          </a:p>
          <a:p>
            <a:pPr lvl="2" algn="just">
              <a:buNone/>
            </a:pPr>
            <a:r>
              <a:rPr lang="en-US" altLang="zh-CN" sz="2300" b="0" dirty="0"/>
              <a:t>    base = new Type[</a:t>
            </a:r>
            <a:r>
              <a:rPr lang="en-US" altLang="zh-CN" sz="2300" b="0" dirty="0" err="1"/>
              <a:t>maxsize</a:t>
            </a:r>
            <a:r>
              <a:rPr lang="en-US" altLang="zh-CN" sz="2300" b="0" dirty="0"/>
              <a:t>];</a:t>
            </a:r>
            <a:endParaRPr lang="zh-CN" altLang="zh-CN" sz="2300" b="0" dirty="0"/>
          </a:p>
          <a:p>
            <a:pPr lvl="2" algn="just">
              <a:buNone/>
            </a:pPr>
            <a:r>
              <a:rPr lang="en-US" altLang="zh-CN" sz="2300" b="0" dirty="0"/>
              <a:t>    if(base == NULL)    { cout&lt;&lt;"</a:t>
            </a:r>
            <a:r>
              <a:rPr lang="zh-CN" altLang="zh-CN" sz="2300" b="0" dirty="0"/>
              <a:t>分配内存失败</a:t>
            </a:r>
            <a:r>
              <a:rPr lang="en-US" altLang="zh-CN" sz="2300" b="0" dirty="0"/>
              <a:t>" ; exit(0);}</a:t>
            </a:r>
            <a:endParaRPr lang="zh-CN" altLang="zh-CN" sz="2300" b="0" dirty="0"/>
          </a:p>
          <a:p>
            <a:pPr lvl="2" algn="just">
              <a:buNone/>
            </a:pPr>
            <a:r>
              <a:rPr lang="en-US" altLang="zh-CN" sz="2300" b="0" dirty="0"/>
              <a:t>    top = 0</a:t>
            </a:r>
            <a:r>
              <a:rPr lang="zh-CN" altLang="zh-CN" sz="2300" b="0" dirty="0"/>
              <a:t>；</a:t>
            </a:r>
          </a:p>
          <a:p>
            <a:pPr lvl="2" algn="just">
              <a:buNone/>
            </a:pPr>
            <a:r>
              <a:rPr lang="en-US" altLang="zh-CN" sz="2300" b="0" dirty="0"/>
              <a:t>}</a:t>
            </a:r>
            <a:endParaRPr lang="zh-CN" altLang="zh-CN" sz="2300" b="0" dirty="0"/>
          </a:p>
          <a:p>
            <a:pPr algn="just"/>
            <a:endParaRPr lang="zh-CN" altLang="en-US" b="0" dirty="0"/>
          </a:p>
        </p:txBody>
      </p:sp>
    </p:spTree>
    <p:extLst>
      <p:ext uri="{BB962C8B-B14F-4D97-AF65-F5344CB8AC3E}">
        <p14:creationId xmlns:p14="http://schemas.microsoft.com/office/powerpoint/2010/main" val="24028006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7520940" cy="4896544"/>
          </a:xfrm>
        </p:spPr>
        <p:txBody>
          <a:bodyPr>
            <a:normAutofit fontScale="92500" lnSpcReduction="10000"/>
          </a:bodyPr>
          <a:lstStyle/>
          <a:p>
            <a:pPr algn="just"/>
            <a:r>
              <a:rPr lang="zh-CN" altLang="zh-CN" dirty="0"/>
              <a:t>（</a:t>
            </a:r>
            <a:r>
              <a:rPr lang="en-US" altLang="zh-CN" dirty="0"/>
              <a:t>2</a:t>
            </a:r>
            <a:r>
              <a:rPr lang="zh-CN" altLang="zh-CN" dirty="0"/>
              <a:t>）</a:t>
            </a:r>
            <a:r>
              <a:rPr lang="zh-CN" altLang="zh-CN" dirty="0">
                <a:solidFill>
                  <a:srgbClr val="FF0000"/>
                </a:solidFill>
              </a:rPr>
              <a:t>元素的入栈和出栈操作</a:t>
            </a:r>
            <a:r>
              <a:rPr lang="zh-CN" altLang="en-US" dirty="0"/>
              <a:t>：</a:t>
            </a:r>
            <a:r>
              <a:rPr lang="zh-CN" altLang="zh-CN" dirty="0"/>
              <a:t>函数</a:t>
            </a:r>
            <a:r>
              <a:rPr lang="en-US" altLang="zh-CN" dirty="0"/>
              <a:t>Push()</a:t>
            </a:r>
            <a:endParaRPr lang="zh-CN" altLang="zh-CN" b="0" dirty="0"/>
          </a:p>
          <a:p>
            <a:pPr algn="just"/>
            <a:r>
              <a:rPr lang="zh-CN" altLang="zh-CN" dirty="0"/>
              <a:t>算法</a:t>
            </a:r>
            <a:r>
              <a:rPr lang="en-US" altLang="zh-CN" dirty="0"/>
              <a:t>3.4</a:t>
            </a:r>
            <a:r>
              <a:rPr lang="zh-CN" altLang="zh-CN" dirty="0"/>
              <a:t>：</a:t>
            </a:r>
            <a:r>
              <a:rPr lang="zh-CN" altLang="zh-CN" dirty="0">
                <a:solidFill>
                  <a:srgbClr val="FF0000"/>
                </a:solidFill>
              </a:rPr>
              <a:t>元素的入栈</a:t>
            </a:r>
          </a:p>
          <a:p>
            <a:pPr algn="just"/>
            <a:r>
              <a:rPr lang="en-US" altLang="zh-CN" b="0" dirty="0" err="1"/>
              <a:t>SeqStack</a:t>
            </a:r>
            <a:r>
              <a:rPr lang="en-US" altLang="zh-CN" b="0" dirty="0"/>
              <a:t>&lt;Type&gt;::Push(Type &amp;e){</a:t>
            </a:r>
            <a:endParaRPr lang="zh-CN" altLang="zh-CN" b="0" dirty="0"/>
          </a:p>
          <a:p>
            <a:pPr algn="just"/>
            <a:r>
              <a:rPr lang="en-US" altLang="zh-CN" b="0" dirty="0"/>
              <a:t>     if( </a:t>
            </a:r>
            <a:r>
              <a:rPr lang="en-US" altLang="zh-CN" b="0" dirty="0" err="1"/>
              <a:t>IsFull</a:t>
            </a:r>
            <a:r>
              <a:rPr lang="en-US" altLang="zh-CN" b="0" dirty="0"/>
              <a:t>() ){</a:t>
            </a:r>
            <a:endParaRPr lang="zh-CN" altLang="zh-CN" b="0" dirty="0"/>
          </a:p>
          <a:p>
            <a:pPr algn="just"/>
            <a:r>
              <a:rPr lang="en-US" altLang="zh-CN" b="0" dirty="0"/>
              <a:t>        </a:t>
            </a:r>
            <a:r>
              <a:rPr lang="en-US" altLang="zh-CN" b="0" dirty="0" err="1"/>
              <a:t>cout</a:t>
            </a:r>
            <a:r>
              <a:rPr lang="en-US" altLang="zh-CN" b="0" dirty="0"/>
              <a:t>&lt;&lt;"</a:t>
            </a:r>
            <a:r>
              <a:rPr lang="zh-CN" altLang="zh-CN" b="0" dirty="0"/>
              <a:t>栈空间已满</a:t>
            </a:r>
            <a:r>
              <a:rPr lang="en-US" altLang="zh-CN" b="0" dirty="0"/>
              <a:t>"&lt;&lt;</a:t>
            </a:r>
            <a:r>
              <a:rPr lang="en-US" altLang="zh-CN" b="0" dirty="0" err="1"/>
              <a:t>endl</a:t>
            </a:r>
            <a:r>
              <a:rPr lang="en-US" altLang="zh-CN" b="0" dirty="0"/>
              <a:t>;</a:t>
            </a:r>
            <a:endParaRPr lang="zh-CN" altLang="zh-CN" b="0" dirty="0"/>
          </a:p>
          <a:p>
            <a:pPr algn="just"/>
            <a:r>
              <a:rPr lang="en-US" altLang="zh-CN" b="0" dirty="0"/>
              <a:t>        exit(0);</a:t>
            </a:r>
            <a:endParaRPr lang="zh-CN" altLang="zh-CN" b="0" dirty="0"/>
          </a:p>
          <a:p>
            <a:pPr algn="just"/>
            <a:r>
              <a:rPr lang="en-US" altLang="zh-CN" b="0" dirty="0"/>
              <a:t>     } else {</a:t>
            </a:r>
            <a:endParaRPr lang="zh-CN" altLang="zh-CN" b="0" dirty="0"/>
          </a:p>
          <a:p>
            <a:pPr algn="just"/>
            <a:r>
              <a:rPr lang="en-US" altLang="zh-CN" b="0" dirty="0"/>
              <a:t>        base[top++] = e; </a:t>
            </a:r>
            <a:endParaRPr lang="zh-CN" altLang="zh-CN" b="0" dirty="0"/>
          </a:p>
          <a:p>
            <a:pPr algn="just"/>
            <a:r>
              <a:rPr lang="en-US" altLang="zh-CN" b="0" dirty="0"/>
              <a:t>     }</a:t>
            </a:r>
            <a:endParaRPr lang="zh-CN" altLang="zh-CN" b="0" dirty="0"/>
          </a:p>
          <a:p>
            <a:pPr algn="just"/>
            <a:r>
              <a:rPr lang="en-US" altLang="zh-CN" b="0" dirty="0"/>
              <a:t> }</a:t>
            </a:r>
            <a:endParaRPr lang="zh-CN" altLang="zh-CN" b="0" dirty="0"/>
          </a:p>
          <a:p>
            <a:pPr algn="just"/>
            <a:endParaRPr lang="zh-CN" altLang="zh-CN" dirty="0"/>
          </a:p>
          <a:p>
            <a:pPr algn="just"/>
            <a:endParaRPr lang="zh-CN" altLang="en-US" dirty="0"/>
          </a:p>
        </p:txBody>
      </p:sp>
      <p:sp>
        <p:nvSpPr>
          <p:cNvPr id="4" name="矩形 3"/>
          <p:cNvSpPr/>
          <p:nvPr/>
        </p:nvSpPr>
        <p:spPr>
          <a:xfrm>
            <a:off x="5076056" y="3092942"/>
            <a:ext cx="3960440" cy="2800767"/>
          </a:xfrm>
          <a:prstGeom prst="rect">
            <a:avLst/>
          </a:prstGeom>
          <a:ln>
            <a:solidFill>
              <a:schemeClr val="tx1"/>
            </a:solidFill>
            <a:prstDash val="dash"/>
          </a:ln>
        </p:spPr>
        <p:txBody>
          <a:bodyPr wrap="square">
            <a:spAutoFit/>
          </a:bodyPr>
          <a:lstStyle/>
          <a:p>
            <a:pPr marL="342900" indent="-342900" algn="just">
              <a:buFont typeface="Arial" panose="020B0604020202020204" pitchFamily="34" charset="0"/>
              <a:buChar char="•"/>
            </a:pPr>
            <a:r>
              <a:rPr lang="zh-CN" altLang="zh-CN" sz="2200" dirty="0">
                <a:latin typeface="Times New Roman" panose="02020603050405020304" pitchFamily="18" charset="0"/>
                <a:ea typeface="楷体" panose="02010609060101010101" pitchFamily="49" charset="-122"/>
                <a:cs typeface="Times New Roman" panose="02020603050405020304" pitchFamily="18" charset="0"/>
              </a:rPr>
              <a:t>判断栈当前状态为空或已满，使用函数</a:t>
            </a:r>
            <a:r>
              <a:rPr lang="en-US" altLang="zh-CN" sz="2200" dirty="0" err="1">
                <a:latin typeface="Times New Roman" panose="02020603050405020304" pitchFamily="18" charset="0"/>
                <a:ea typeface="楷体" panose="02010609060101010101" pitchFamily="49" charset="-122"/>
                <a:cs typeface="Times New Roman" panose="02020603050405020304" pitchFamily="18" charset="0"/>
              </a:rPr>
              <a:t>IsEmpty</a:t>
            </a:r>
            <a:r>
              <a:rPr lang="en-US" altLang="zh-CN" sz="22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200" dirty="0">
                <a:latin typeface="Times New Roman" panose="02020603050405020304" pitchFamily="18" charset="0"/>
                <a:ea typeface="楷体" panose="02010609060101010101" pitchFamily="49" charset="-122"/>
                <a:cs typeface="Times New Roman" panose="02020603050405020304" pitchFamily="18" charset="0"/>
              </a:rPr>
              <a:t>和</a:t>
            </a:r>
            <a:r>
              <a:rPr lang="en-US" altLang="zh-CN" sz="2200" dirty="0" err="1">
                <a:latin typeface="Times New Roman" panose="02020603050405020304" pitchFamily="18" charset="0"/>
                <a:ea typeface="楷体" panose="02010609060101010101" pitchFamily="49" charset="-122"/>
                <a:cs typeface="Times New Roman" panose="02020603050405020304" pitchFamily="18" charset="0"/>
              </a:rPr>
              <a:t>IsFull</a:t>
            </a:r>
            <a:r>
              <a:rPr lang="en-US" altLang="zh-CN" sz="22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200" dirty="0">
                <a:latin typeface="Times New Roman" panose="02020603050405020304" pitchFamily="18" charset="0"/>
                <a:ea typeface="楷体" panose="02010609060101010101" pitchFamily="49" charset="-122"/>
                <a:cs typeface="Times New Roman" panose="02020603050405020304" pitchFamily="18" charset="0"/>
              </a:rPr>
              <a:t>，原理都是通过判断栈顶指针指向的位置来实现。</a:t>
            </a:r>
            <a:endParaRPr lang="en-US" altLang="zh-CN" sz="2200"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gn="just">
              <a:buFont typeface="Arial" panose="020B0604020202020204" pitchFamily="34" charset="0"/>
              <a:buChar char="•"/>
            </a:pPr>
            <a:r>
              <a:rPr lang="zh-CN" altLang="zh-CN" sz="2200" dirty="0">
                <a:latin typeface="Times New Roman" panose="02020603050405020304" pitchFamily="18" charset="0"/>
                <a:ea typeface="楷体" panose="02010609060101010101" pitchFamily="49" charset="-122"/>
                <a:cs typeface="Times New Roman" panose="02020603050405020304" pitchFamily="18" charset="0"/>
              </a:rPr>
              <a:t>若栈已满，则</a:t>
            </a:r>
            <a:endParaRPr lang="en-US" altLang="zh-CN" sz="2200" dirty="0">
              <a:latin typeface="Times New Roman" panose="02020603050405020304" pitchFamily="18" charset="0"/>
              <a:ea typeface="楷体" panose="02010609060101010101" pitchFamily="49" charset="-122"/>
              <a:cs typeface="Times New Roman" panose="02020603050405020304" pitchFamily="18" charset="0"/>
            </a:endParaRPr>
          </a:p>
          <a:p>
            <a:pPr algn="just"/>
            <a:r>
              <a:rPr lang="en-US" altLang="zh-CN" sz="2200" dirty="0">
                <a:latin typeface="Times New Roman" panose="02020603050405020304" pitchFamily="18" charset="0"/>
                <a:ea typeface="楷体" panose="02010609060101010101" pitchFamily="49" charset="-122"/>
                <a:cs typeface="Times New Roman" panose="02020603050405020304" pitchFamily="18" charset="0"/>
              </a:rPr>
              <a:t>	top = </a:t>
            </a:r>
            <a:r>
              <a:rPr lang="en-US" altLang="zh-CN" sz="2200" dirty="0" err="1">
                <a:latin typeface="Times New Roman" panose="02020603050405020304" pitchFamily="18" charset="0"/>
                <a:ea typeface="楷体" panose="02010609060101010101" pitchFamily="49" charset="-122"/>
                <a:cs typeface="Times New Roman" panose="02020603050405020304" pitchFamily="18" charset="0"/>
              </a:rPr>
              <a:t>maxsize</a:t>
            </a:r>
            <a:r>
              <a:rPr lang="zh-CN" altLang="zh-CN" sz="2200"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200"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gn="just">
              <a:buFont typeface="Arial" panose="020B0604020202020204" pitchFamily="34" charset="0"/>
              <a:buChar char="•"/>
            </a:pPr>
            <a:r>
              <a:rPr lang="zh-CN" altLang="zh-CN" sz="2200" dirty="0">
                <a:latin typeface="Times New Roman" panose="02020603050405020304" pitchFamily="18" charset="0"/>
                <a:ea typeface="楷体" panose="02010609060101010101" pitchFamily="49" charset="-122"/>
                <a:cs typeface="Times New Roman" panose="02020603050405020304" pitchFamily="18" charset="0"/>
              </a:rPr>
              <a:t>若栈为空，则</a:t>
            </a:r>
            <a:endParaRPr lang="en-US" altLang="zh-CN" sz="2200" dirty="0">
              <a:latin typeface="Times New Roman" panose="02020603050405020304" pitchFamily="18" charset="0"/>
              <a:ea typeface="楷体" panose="02010609060101010101" pitchFamily="49" charset="-122"/>
              <a:cs typeface="Times New Roman" panose="02020603050405020304" pitchFamily="18" charset="0"/>
            </a:endParaRPr>
          </a:p>
          <a:p>
            <a:pPr lvl="1" algn="just"/>
            <a:r>
              <a:rPr lang="en-US" altLang="zh-CN" sz="2200" dirty="0">
                <a:latin typeface="Times New Roman" panose="02020603050405020304" pitchFamily="18" charset="0"/>
                <a:ea typeface="楷体" panose="02010609060101010101" pitchFamily="49" charset="-122"/>
                <a:cs typeface="Times New Roman" panose="02020603050405020304" pitchFamily="18" charset="0"/>
              </a:rPr>
              <a:t>	top = 0</a:t>
            </a:r>
            <a:r>
              <a:rPr lang="zh-CN" altLang="zh-CN" sz="2200" dirty="0">
                <a:latin typeface="Times New Roman" panose="02020603050405020304" pitchFamily="18" charset="0"/>
                <a:ea typeface="楷体" panose="02010609060101010101" pitchFamily="49" charset="-122"/>
                <a:cs typeface="Times New Roman" panose="02020603050405020304" pitchFamily="18" charset="0"/>
              </a:rPr>
              <a:t>；</a:t>
            </a:r>
            <a:endParaRPr lang="zh-CN" altLang="en-US" sz="2200"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5573987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08720"/>
            <a:ext cx="7520940" cy="5328592"/>
          </a:xfrm>
        </p:spPr>
        <p:txBody>
          <a:bodyPr>
            <a:normAutofit/>
          </a:bodyPr>
          <a:lstStyle/>
          <a:p>
            <a:pPr algn="just">
              <a:buFont typeface="Arial" panose="020B0604020202020204" pitchFamily="34" charset="0"/>
              <a:buChar char="•"/>
            </a:pPr>
            <a:r>
              <a:rPr lang="zh-CN" altLang="zh-CN" dirty="0">
                <a:solidFill>
                  <a:srgbClr val="FF0000"/>
                </a:solidFill>
              </a:rPr>
              <a:t>顺序栈的出栈</a:t>
            </a:r>
            <a:r>
              <a:rPr lang="zh-CN" altLang="en-US" dirty="0"/>
              <a:t>：</a:t>
            </a:r>
            <a:r>
              <a:rPr lang="zh-CN" altLang="zh-CN" dirty="0"/>
              <a:t>函数</a:t>
            </a:r>
            <a:r>
              <a:rPr lang="en-US" altLang="zh-CN" dirty="0"/>
              <a:t>Pop()</a:t>
            </a:r>
            <a:endParaRPr lang="zh-CN" altLang="zh-CN" b="0" dirty="0"/>
          </a:p>
          <a:p>
            <a:pPr marL="540000" algn="just"/>
            <a:r>
              <a:rPr lang="zh-CN" altLang="zh-CN" dirty="0"/>
              <a:t>算法</a:t>
            </a:r>
            <a:r>
              <a:rPr lang="en-US" altLang="zh-CN" dirty="0"/>
              <a:t>3.5</a:t>
            </a:r>
            <a:r>
              <a:rPr lang="zh-CN" altLang="zh-CN" dirty="0"/>
              <a:t>：</a:t>
            </a:r>
            <a:r>
              <a:rPr lang="zh-CN" altLang="zh-CN" dirty="0">
                <a:solidFill>
                  <a:srgbClr val="FF0000"/>
                </a:solidFill>
              </a:rPr>
              <a:t>元素出栈</a:t>
            </a:r>
          </a:p>
          <a:p>
            <a:pPr marL="540000" algn="just"/>
            <a:r>
              <a:rPr lang="en-US" altLang="zh-CN" b="0" dirty="0"/>
              <a:t>//</a:t>
            </a:r>
            <a:r>
              <a:rPr lang="zh-CN" altLang="zh-CN" b="0" dirty="0"/>
              <a:t>将当前栈顶元素出栈</a:t>
            </a:r>
          </a:p>
          <a:p>
            <a:pPr marL="540000" algn="just"/>
            <a:r>
              <a:rPr lang="en-US" altLang="zh-CN" b="0" dirty="0" err="1"/>
              <a:t>SeqStack</a:t>
            </a:r>
            <a:r>
              <a:rPr lang="en-US" altLang="zh-CN" b="0" dirty="0"/>
              <a:t>&lt;Type&gt;::Pop(){  </a:t>
            </a:r>
            <a:endParaRPr lang="zh-CN" altLang="zh-CN" b="0" dirty="0"/>
          </a:p>
          <a:p>
            <a:pPr marL="540000" algn="just"/>
            <a:r>
              <a:rPr lang="en-US" altLang="zh-CN" b="0" dirty="0"/>
              <a:t>    if( </a:t>
            </a:r>
            <a:r>
              <a:rPr lang="en-US" altLang="zh-CN" b="0" dirty="0" err="1"/>
              <a:t>IsEmpty</a:t>
            </a:r>
            <a:r>
              <a:rPr lang="en-US" altLang="zh-CN" b="0" dirty="0"/>
              <a:t>())</a:t>
            </a:r>
            <a:endParaRPr lang="zh-CN" altLang="zh-CN" b="0" dirty="0"/>
          </a:p>
          <a:p>
            <a:pPr marL="540000" algn="just"/>
            <a:r>
              <a:rPr lang="en-US" altLang="zh-CN" b="0" dirty="0"/>
              <a:t>    { </a:t>
            </a:r>
            <a:r>
              <a:rPr lang="en-US" altLang="zh-CN" b="0" dirty="0" err="1"/>
              <a:t>cout</a:t>
            </a:r>
            <a:r>
              <a:rPr lang="en-US" altLang="zh-CN" b="0" dirty="0"/>
              <a:t>&lt;&lt;"</a:t>
            </a:r>
            <a:r>
              <a:rPr lang="zh-CN" altLang="zh-CN" b="0" dirty="0"/>
              <a:t>栈为空</a:t>
            </a:r>
            <a:r>
              <a:rPr lang="en-US" altLang="zh-CN" b="0" dirty="0"/>
              <a:t>"&lt;&lt;</a:t>
            </a:r>
            <a:r>
              <a:rPr lang="en-US" altLang="zh-CN" b="0" dirty="0" err="1"/>
              <a:t>endl</a:t>
            </a:r>
            <a:r>
              <a:rPr lang="en-US" altLang="zh-CN" b="0" dirty="0"/>
              <a:t>; exit(0); }</a:t>
            </a:r>
            <a:endParaRPr lang="zh-CN" altLang="zh-CN" b="0" dirty="0"/>
          </a:p>
          <a:p>
            <a:pPr marL="540000" algn="just"/>
            <a:r>
              <a:rPr lang="en-US" altLang="zh-CN" b="0" dirty="0"/>
              <a:t>    else return base[--top];</a:t>
            </a:r>
            <a:endParaRPr lang="zh-CN" altLang="zh-CN" b="0" dirty="0"/>
          </a:p>
          <a:p>
            <a:pPr marL="540000" algn="just"/>
            <a:r>
              <a:rPr lang="en-US" altLang="zh-CN" b="0" dirty="0"/>
              <a:t>}</a:t>
            </a:r>
            <a:endParaRPr lang="zh-CN" altLang="zh-CN" b="0" dirty="0"/>
          </a:p>
          <a:p>
            <a:pPr algn="just"/>
            <a:endParaRPr lang="zh-CN" altLang="en-US" dirty="0"/>
          </a:p>
        </p:txBody>
      </p:sp>
    </p:spTree>
    <p:extLst>
      <p:ext uri="{BB962C8B-B14F-4D97-AF65-F5344CB8AC3E}">
        <p14:creationId xmlns:p14="http://schemas.microsoft.com/office/powerpoint/2010/main" val="28282793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85786" y="1071546"/>
            <a:ext cx="7920880" cy="5040560"/>
          </a:xfrm>
        </p:spPr>
        <p:txBody>
          <a:bodyPr>
            <a:normAutofit fontScale="92500"/>
          </a:bodyPr>
          <a:lstStyle/>
          <a:p>
            <a:pPr algn="just"/>
            <a:r>
              <a:rPr lang="zh-CN" altLang="zh-CN" sz="2600" dirty="0"/>
              <a:t>（</a:t>
            </a:r>
            <a:r>
              <a:rPr lang="en-US" altLang="zh-CN" sz="2600" dirty="0"/>
              <a:t>3</a:t>
            </a:r>
            <a:r>
              <a:rPr lang="zh-CN" altLang="zh-CN" sz="2600" dirty="0"/>
              <a:t>）</a:t>
            </a:r>
            <a:r>
              <a:rPr lang="zh-CN" altLang="zh-CN" sz="2600" dirty="0">
                <a:solidFill>
                  <a:srgbClr val="FF0000"/>
                </a:solidFill>
              </a:rPr>
              <a:t>返回当前栈顶元素值</a:t>
            </a:r>
            <a:r>
              <a:rPr lang="zh-CN" altLang="zh-CN" sz="2600" dirty="0"/>
              <a:t>的操作</a:t>
            </a:r>
            <a:r>
              <a:rPr lang="zh-CN" altLang="en-US" sz="2600" dirty="0"/>
              <a:t>：</a:t>
            </a:r>
            <a:r>
              <a:rPr lang="zh-CN" altLang="zh-CN" sz="2600" b="0" dirty="0"/>
              <a:t>函数</a:t>
            </a:r>
            <a:r>
              <a:rPr lang="en-US" altLang="zh-CN" sz="2600" b="0" dirty="0" err="1"/>
              <a:t>GetTop</a:t>
            </a:r>
            <a:r>
              <a:rPr lang="en-US" altLang="zh-CN" sz="2600" b="0" dirty="0"/>
              <a:t>()</a:t>
            </a:r>
            <a:endParaRPr lang="zh-CN" altLang="zh-CN" sz="2600" dirty="0"/>
          </a:p>
          <a:p>
            <a:pPr algn="just">
              <a:buFont typeface="Arial" panose="020B0604020202020204" pitchFamily="34" charset="0"/>
              <a:buChar char="•"/>
            </a:pPr>
            <a:r>
              <a:rPr lang="zh-CN" altLang="zh-CN" b="0" dirty="0"/>
              <a:t>需要判断栈的当前状态，在栈非空的状态下，输出当前栈顶元素的值。但是，在输出元素值后，不需要改变栈顶指针。</a:t>
            </a:r>
            <a:endParaRPr lang="en-US" altLang="zh-CN" b="0" dirty="0"/>
          </a:p>
          <a:p>
            <a:pPr algn="just">
              <a:buFont typeface="Arial" panose="020B0604020202020204" pitchFamily="34" charset="0"/>
              <a:buChar char="•"/>
            </a:pPr>
            <a:r>
              <a:rPr lang="zh-CN" altLang="zh-CN" b="0" dirty="0"/>
              <a:t>注意，栈顶指针指向的是当前栈顶</a:t>
            </a:r>
            <a:r>
              <a:rPr lang="zh-CN" altLang="en-US" b="0" dirty="0"/>
              <a:t>指针</a:t>
            </a:r>
            <a:r>
              <a:rPr lang="zh-CN" altLang="zh-CN" b="0" dirty="0"/>
              <a:t>的下一个元素空间。</a:t>
            </a:r>
            <a:endParaRPr lang="en-US" altLang="zh-CN" b="0" dirty="0"/>
          </a:p>
          <a:p>
            <a:pPr algn="just"/>
            <a:r>
              <a:rPr lang="zh-CN" altLang="zh-CN" dirty="0"/>
              <a:t>算法</a:t>
            </a:r>
            <a:r>
              <a:rPr lang="en-US" altLang="zh-CN" dirty="0"/>
              <a:t>3.6</a:t>
            </a:r>
            <a:r>
              <a:rPr lang="zh-CN" altLang="zh-CN" dirty="0"/>
              <a:t>：</a:t>
            </a:r>
            <a:r>
              <a:rPr lang="zh-CN" altLang="zh-CN" dirty="0">
                <a:solidFill>
                  <a:srgbClr val="FF0000"/>
                </a:solidFill>
              </a:rPr>
              <a:t>返回当前栈顶元素</a:t>
            </a:r>
          </a:p>
          <a:p>
            <a:pPr algn="just"/>
            <a:r>
              <a:rPr lang="en-US" altLang="zh-CN" b="0" dirty="0" err="1"/>
              <a:t>SeqStack</a:t>
            </a:r>
            <a:r>
              <a:rPr lang="en-US" altLang="zh-CN" b="0" dirty="0"/>
              <a:t>&lt;Type&gt;::</a:t>
            </a:r>
            <a:r>
              <a:rPr lang="en-US" altLang="zh-CN" b="0" dirty="0" err="1"/>
              <a:t>GetTop</a:t>
            </a:r>
            <a:r>
              <a:rPr lang="en-US" altLang="zh-CN" b="0" dirty="0"/>
              <a:t>(){   </a:t>
            </a:r>
            <a:endParaRPr lang="zh-CN" altLang="zh-CN" b="0" dirty="0"/>
          </a:p>
          <a:p>
            <a:pPr algn="just"/>
            <a:r>
              <a:rPr lang="en-US" altLang="zh-CN" b="0" dirty="0"/>
              <a:t>    if( </a:t>
            </a:r>
            <a:r>
              <a:rPr lang="en-US" altLang="zh-CN" b="0" dirty="0" err="1"/>
              <a:t>IsEmpty</a:t>
            </a:r>
            <a:r>
              <a:rPr lang="en-US" altLang="zh-CN" b="0" dirty="0"/>
              <a:t>())</a:t>
            </a:r>
            <a:endParaRPr lang="zh-CN" altLang="zh-CN" b="0" dirty="0"/>
          </a:p>
          <a:p>
            <a:pPr algn="just"/>
            <a:r>
              <a:rPr lang="en-US" altLang="zh-CN" b="0" dirty="0"/>
              <a:t>       { </a:t>
            </a:r>
            <a:r>
              <a:rPr lang="en-US" altLang="zh-CN" b="0" dirty="0" err="1"/>
              <a:t>cout</a:t>
            </a:r>
            <a:r>
              <a:rPr lang="en-US" altLang="zh-CN" b="0" dirty="0"/>
              <a:t>&lt;&lt;"</a:t>
            </a:r>
            <a:r>
              <a:rPr lang="zh-CN" altLang="zh-CN" b="0" dirty="0"/>
              <a:t>栈为空</a:t>
            </a:r>
            <a:r>
              <a:rPr lang="en-US" altLang="zh-CN" b="0" dirty="0"/>
              <a:t>"&lt;&lt;</a:t>
            </a:r>
            <a:r>
              <a:rPr lang="en-US" altLang="zh-CN" b="0" dirty="0" err="1"/>
              <a:t>endl</a:t>
            </a:r>
            <a:r>
              <a:rPr lang="en-US" altLang="zh-CN" b="0" dirty="0"/>
              <a:t>; exit(0); }</a:t>
            </a:r>
            <a:endParaRPr lang="zh-CN" altLang="zh-CN" b="0" dirty="0"/>
          </a:p>
          <a:p>
            <a:pPr algn="just"/>
            <a:r>
              <a:rPr lang="en-US" altLang="zh-CN" b="0" dirty="0"/>
              <a:t>    else  return base[top-1];</a:t>
            </a:r>
            <a:endParaRPr lang="zh-CN" altLang="zh-CN" b="0" dirty="0"/>
          </a:p>
          <a:p>
            <a:pPr algn="just"/>
            <a:r>
              <a:rPr lang="en-US" altLang="zh-CN" b="0" dirty="0"/>
              <a:t>}</a:t>
            </a:r>
            <a:endParaRPr lang="zh-CN" altLang="zh-CN" b="0" dirty="0"/>
          </a:p>
          <a:p>
            <a:pPr algn="just"/>
            <a:endParaRPr lang="zh-CN" altLang="en-US" b="0" dirty="0"/>
          </a:p>
        </p:txBody>
      </p:sp>
    </p:spTree>
    <p:extLst>
      <p:ext uri="{BB962C8B-B14F-4D97-AF65-F5344CB8AC3E}">
        <p14:creationId xmlns:p14="http://schemas.microsoft.com/office/powerpoint/2010/main" val="23999765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630979"/>
            <a:ext cx="7520940" cy="4083905"/>
          </a:xfrm>
        </p:spPr>
        <p:txBody>
          <a:bodyPr>
            <a:normAutofit fontScale="92500"/>
          </a:bodyPr>
          <a:lstStyle/>
          <a:p>
            <a:pPr algn="just">
              <a:buFont typeface="Arial" panose="020B0604020202020204" pitchFamily="34" charset="0"/>
              <a:buChar char="•"/>
            </a:pPr>
            <a:r>
              <a:rPr lang="zh-CN" altLang="zh-CN" b="0" dirty="0"/>
              <a:t>顺序栈必须预先分配存储空间，在应用中也必须考虑溢出的问题</a:t>
            </a:r>
            <a:r>
              <a:rPr lang="en-US" altLang="zh-CN" b="0" dirty="0"/>
              <a:t>;</a:t>
            </a:r>
          </a:p>
          <a:p>
            <a:pPr algn="just">
              <a:buFont typeface="Arial" panose="020B0604020202020204" pitchFamily="34" charset="0"/>
              <a:buChar char="•"/>
            </a:pPr>
            <a:r>
              <a:rPr lang="zh-CN" altLang="zh-CN" b="0" dirty="0"/>
              <a:t>当同时使用多个栈的时候，若为每个栈分配较大的空间，可能有些栈已经出现溢出的现象，而有些栈还有很多的未用空间</a:t>
            </a:r>
            <a:r>
              <a:rPr lang="en-US" altLang="zh-CN" b="0" dirty="0"/>
              <a:t>;</a:t>
            </a:r>
          </a:p>
          <a:p>
            <a:pPr algn="just">
              <a:buFont typeface="Arial" panose="020B0604020202020204" pitchFamily="34" charset="0"/>
              <a:buChar char="•"/>
            </a:pPr>
            <a:r>
              <a:rPr lang="zh-CN" altLang="zh-CN" b="0" dirty="0"/>
              <a:t>这个问题可以通过多个栈共享一个存储空间的方式来缓解。</a:t>
            </a:r>
            <a:endParaRPr lang="en-US" altLang="zh-CN" b="0" dirty="0"/>
          </a:p>
          <a:p>
            <a:pPr marL="0" indent="0" algn="just"/>
            <a:r>
              <a:rPr lang="zh-CN" altLang="zh-CN" b="0" dirty="0"/>
              <a:t>只有当整个空间被两个栈全部占满（即两个栈顶相遇）时，才发生上溢现象。因此两个栈共用一个存储空间可以有效地防止空间的浪费和降低上溢发生的概率。</a:t>
            </a:r>
            <a:endParaRPr lang="en-US" altLang="zh-CN" b="0" dirty="0"/>
          </a:p>
        </p:txBody>
      </p:sp>
      <p:grpSp>
        <p:nvGrpSpPr>
          <p:cNvPr id="2" name="组合 2243"/>
          <p:cNvGrpSpPr>
            <a:grpSpLocks/>
          </p:cNvGrpSpPr>
          <p:nvPr/>
        </p:nvGrpSpPr>
        <p:grpSpPr bwMode="auto">
          <a:xfrm>
            <a:off x="2699792" y="4725144"/>
            <a:ext cx="3786214" cy="1857388"/>
            <a:chOff x="1996" y="6547"/>
            <a:chExt cx="4282" cy="1615"/>
          </a:xfrm>
        </p:grpSpPr>
        <p:sp>
          <p:nvSpPr>
            <p:cNvPr id="2244" name="Text Box 718" descr="宽下对角线"/>
            <p:cNvSpPr txBox="1">
              <a:spLocks noChangeArrowheads="1"/>
            </p:cNvSpPr>
            <p:nvPr/>
          </p:nvSpPr>
          <p:spPr bwMode="auto">
            <a:xfrm>
              <a:off x="2244" y="7114"/>
              <a:ext cx="1502" cy="283"/>
            </a:xfrm>
            <a:prstGeom prst="rect">
              <a:avLst/>
            </a:prstGeom>
            <a:pattFill prst="wdDnDiag">
              <a:fgClr>
                <a:srgbClr val="5A5A5A"/>
              </a:fgClr>
              <a:bgClr>
                <a:srgbClr val="FFFFFF"/>
              </a:bgClr>
            </a:patt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245" name="Text Box 719"/>
            <p:cNvSpPr txBox="1">
              <a:spLocks noChangeArrowheads="1"/>
            </p:cNvSpPr>
            <p:nvPr/>
          </p:nvSpPr>
          <p:spPr bwMode="auto">
            <a:xfrm>
              <a:off x="3746" y="7114"/>
              <a:ext cx="1187" cy="283"/>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246" name="Text Box 720" descr="宽下对角线"/>
            <p:cNvSpPr txBox="1">
              <a:spLocks noChangeArrowheads="1"/>
            </p:cNvSpPr>
            <p:nvPr/>
          </p:nvSpPr>
          <p:spPr bwMode="auto">
            <a:xfrm>
              <a:off x="4936" y="7114"/>
              <a:ext cx="947" cy="283"/>
            </a:xfrm>
            <a:prstGeom prst="rect">
              <a:avLst/>
            </a:prstGeom>
            <a:pattFill prst="wdDnDiag">
              <a:fgClr>
                <a:srgbClr val="F2F2F2"/>
              </a:fgClr>
              <a:bgClr>
                <a:srgbClr val="5A5A5A"/>
              </a:bgClr>
            </a:patt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247" name="Text Box 721"/>
            <p:cNvSpPr txBox="1">
              <a:spLocks noChangeArrowheads="1"/>
            </p:cNvSpPr>
            <p:nvPr/>
          </p:nvSpPr>
          <p:spPr bwMode="auto">
            <a:xfrm>
              <a:off x="2492" y="7435"/>
              <a:ext cx="717" cy="30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en-US" sz="900" b="0" i="0" u="none" strike="noStrike" cap="none" normalizeH="0" baseline="0">
                  <a:ln>
                    <a:noFill/>
                  </a:ln>
                  <a:solidFill>
                    <a:schemeClr val="tx1"/>
                  </a:solidFill>
                  <a:effectLst/>
                  <a:latin typeface="Calibri" pitchFamily="34" charset="0"/>
                  <a:ea typeface="宋体" pitchFamily="2" charset="-122"/>
                  <a:cs typeface="宋体" pitchFamily="2" charset="-122"/>
                </a:rPr>
                <a:t>栈</a:t>
              </a:r>
              <a:r>
                <a:rPr kumimoji="0" lang="en-US" altLang="zh-CN" sz="900" b="0" i="0" u="none" strike="noStrike" cap="none" normalizeH="0" baseline="0">
                  <a:ln>
                    <a:noFill/>
                  </a:ln>
                  <a:solidFill>
                    <a:schemeClr val="tx1"/>
                  </a:solidFill>
                  <a:effectLst/>
                  <a:latin typeface="Calibri" pitchFamily="34" charset="0"/>
                  <a:ea typeface="宋体" pitchFamily="2" charset="-122"/>
                  <a:cs typeface="宋体" pitchFamily="2" charset="-122"/>
                </a:rPr>
                <a:t>S1</a:t>
              </a: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248" name="Text Box 722"/>
            <p:cNvSpPr txBox="1">
              <a:spLocks noChangeArrowheads="1"/>
            </p:cNvSpPr>
            <p:nvPr/>
          </p:nvSpPr>
          <p:spPr bwMode="auto">
            <a:xfrm>
              <a:off x="5332" y="7467"/>
              <a:ext cx="551" cy="30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en-US" sz="900" b="0" i="0" u="none" strike="noStrike" cap="none" normalizeH="0" baseline="0">
                  <a:ln>
                    <a:noFill/>
                  </a:ln>
                  <a:solidFill>
                    <a:schemeClr val="tx1"/>
                  </a:solidFill>
                  <a:effectLst/>
                  <a:latin typeface="Calibri" pitchFamily="34" charset="0"/>
                  <a:ea typeface="宋体" pitchFamily="2" charset="-122"/>
                  <a:cs typeface="宋体" pitchFamily="2" charset="-122"/>
                </a:rPr>
                <a:t>栈</a:t>
              </a:r>
              <a:r>
                <a:rPr kumimoji="0" lang="en-US" altLang="zh-CN" sz="900" b="0" i="0" u="none" strike="noStrike" cap="none" normalizeH="0" baseline="0">
                  <a:ln>
                    <a:noFill/>
                  </a:ln>
                  <a:solidFill>
                    <a:schemeClr val="tx1"/>
                  </a:solidFill>
                  <a:effectLst/>
                  <a:latin typeface="Calibri" pitchFamily="34" charset="0"/>
                  <a:ea typeface="宋体" pitchFamily="2" charset="-122"/>
                  <a:cs typeface="宋体" pitchFamily="2" charset="-122"/>
                </a:rPr>
                <a:t>S2</a:t>
              </a: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249" name="Text Box 723"/>
            <p:cNvSpPr txBox="1">
              <a:spLocks noChangeArrowheads="1"/>
            </p:cNvSpPr>
            <p:nvPr/>
          </p:nvSpPr>
          <p:spPr bwMode="auto">
            <a:xfrm>
              <a:off x="1996" y="6555"/>
              <a:ext cx="717" cy="30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a:ln>
                    <a:noFill/>
                  </a:ln>
                  <a:solidFill>
                    <a:schemeClr val="tx1"/>
                  </a:solidFill>
                  <a:effectLst/>
                  <a:latin typeface="Calibri" pitchFamily="34" charset="0"/>
                  <a:ea typeface="宋体" pitchFamily="2" charset="-122"/>
                  <a:cs typeface="宋体" pitchFamily="2" charset="-122"/>
                </a:rPr>
                <a:t>bottom1</a:t>
              </a: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250" name="Text Box 724"/>
            <p:cNvSpPr txBox="1">
              <a:spLocks noChangeArrowheads="1"/>
            </p:cNvSpPr>
            <p:nvPr/>
          </p:nvSpPr>
          <p:spPr bwMode="auto">
            <a:xfrm>
              <a:off x="5550" y="6555"/>
              <a:ext cx="728" cy="30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a:ln>
                    <a:noFill/>
                  </a:ln>
                  <a:solidFill>
                    <a:schemeClr val="tx1"/>
                  </a:solidFill>
                  <a:effectLst/>
                  <a:latin typeface="Calibri" pitchFamily="34" charset="0"/>
                  <a:ea typeface="宋体" pitchFamily="2" charset="-122"/>
                  <a:cs typeface="宋体" pitchFamily="2" charset="-122"/>
                </a:rPr>
                <a:t>bottom2</a:t>
              </a: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251" name="Text Box 725"/>
            <p:cNvSpPr txBox="1">
              <a:spLocks noChangeArrowheads="1"/>
            </p:cNvSpPr>
            <p:nvPr/>
          </p:nvSpPr>
          <p:spPr bwMode="auto">
            <a:xfrm>
              <a:off x="4680" y="6547"/>
              <a:ext cx="506" cy="30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a:ln>
                    <a:noFill/>
                  </a:ln>
                  <a:solidFill>
                    <a:schemeClr val="tx1"/>
                  </a:solidFill>
                  <a:effectLst/>
                  <a:latin typeface="Calibri" pitchFamily="34" charset="0"/>
                  <a:ea typeface="宋体" pitchFamily="2" charset="-122"/>
                  <a:cs typeface="宋体" pitchFamily="2" charset="-122"/>
                </a:rPr>
                <a:t>top2</a:t>
              </a: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252" name="Text Box 726"/>
            <p:cNvSpPr txBox="1">
              <a:spLocks noChangeArrowheads="1"/>
            </p:cNvSpPr>
            <p:nvPr/>
          </p:nvSpPr>
          <p:spPr bwMode="auto">
            <a:xfrm>
              <a:off x="3516" y="6547"/>
              <a:ext cx="431" cy="30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a:ln>
                    <a:noFill/>
                  </a:ln>
                  <a:solidFill>
                    <a:schemeClr val="tx1"/>
                  </a:solidFill>
                  <a:effectLst/>
                  <a:latin typeface="Calibri" pitchFamily="34" charset="0"/>
                  <a:ea typeface="宋体" pitchFamily="2" charset="-122"/>
                  <a:cs typeface="宋体" pitchFamily="2" charset="-122"/>
                </a:rPr>
                <a:t>top1</a:t>
              </a: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cxnSp>
          <p:nvCxnSpPr>
            <p:cNvPr id="2253" name="AutoShape 727"/>
            <p:cNvCxnSpPr>
              <a:cxnSpLocks noChangeShapeType="1"/>
            </p:cNvCxnSpPr>
            <p:nvPr/>
          </p:nvCxnSpPr>
          <p:spPr bwMode="auto">
            <a:xfrm>
              <a:off x="2283" y="6809"/>
              <a:ext cx="0" cy="305"/>
            </a:xfrm>
            <a:prstGeom prst="straightConnector1">
              <a:avLst/>
            </a:prstGeom>
            <a:noFill/>
            <a:ln w="6350">
              <a:solidFill>
                <a:srgbClr val="000000"/>
              </a:solidFill>
              <a:round/>
              <a:headEnd/>
              <a:tailEnd type="triangle" w="sm" len="sm"/>
            </a:ln>
          </p:spPr>
        </p:cxnSp>
        <p:cxnSp>
          <p:nvCxnSpPr>
            <p:cNvPr id="2254" name="AutoShape 728"/>
            <p:cNvCxnSpPr>
              <a:cxnSpLocks noChangeShapeType="1"/>
            </p:cNvCxnSpPr>
            <p:nvPr/>
          </p:nvCxnSpPr>
          <p:spPr bwMode="auto">
            <a:xfrm>
              <a:off x="3738" y="6808"/>
              <a:ext cx="0" cy="305"/>
            </a:xfrm>
            <a:prstGeom prst="straightConnector1">
              <a:avLst/>
            </a:prstGeom>
            <a:noFill/>
            <a:ln w="6350">
              <a:solidFill>
                <a:srgbClr val="000000"/>
              </a:solidFill>
              <a:round/>
              <a:headEnd/>
              <a:tailEnd type="triangle" w="sm" len="sm"/>
            </a:ln>
          </p:spPr>
        </p:cxnSp>
        <p:cxnSp>
          <p:nvCxnSpPr>
            <p:cNvPr id="2255" name="AutoShape 729"/>
            <p:cNvCxnSpPr>
              <a:cxnSpLocks noChangeShapeType="1"/>
            </p:cNvCxnSpPr>
            <p:nvPr/>
          </p:nvCxnSpPr>
          <p:spPr bwMode="auto">
            <a:xfrm>
              <a:off x="4933" y="6816"/>
              <a:ext cx="0" cy="305"/>
            </a:xfrm>
            <a:prstGeom prst="straightConnector1">
              <a:avLst/>
            </a:prstGeom>
            <a:noFill/>
            <a:ln w="6350">
              <a:solidFill>
                <a:srgbClr val="000000"/>
              </a:solidFill>
              <a:round/>
              <a:headEnd/>
              <a:tailEnd type="triangle" w="sm" len="sm"/>
            </a:ln>
          </p:spPr>
        </p:cxnSp>
        <p:cxnSp>
          <p:nvCxnSpPr>
            <p:cNvPr id="2256" name="AutoShape 730"/>
            <p:cNvCxnSpPr>
              <a:cxnSpLocks noChangeShapeType="1"/>
            </p:cNvCxnSpPr>
            <p:nvPr/>
          </p:nvCxnSpPr>
          <p:spPr bwMode="auto">
            <a:xfrm>
              <a:off x="5859" y="6809"/>
              <a:ext cx="0" cy="305"/>
            </a:xfrm>
            <a:prstGeom prst="straightConnector1">
              <a:avLst/>
            </a:prstGeom>
            <a:noFill/>
            <a:ln w="6350">
              <a:solidFill>
                <a:srgbClr val="000000"/>
              </a:solidFill>
              <a:round/>
              <a:headEnd/>
              <a:tailEnd type="triangle" w="sm" len="sm"/>
            </a:ln>
          </p:spPr>
        </p:cxnSp>
        <p:sp>
          <p:nvSpPr>
            <p:cNvPr id="2257" name="Text Box 731"/>
            <p:cNvSpPr txBox="1">
              <a:spLocks noChangeArrowheads="1"/>
            </p:cNvSpPr>
            <p:nvPr/>
          </p:nvSpPr>
          <p:spPr bwMode="auto">
            <a:xfrm>
              <a:off x="2732" y="7774"/>
              <a:ext cx="2887" cy="38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900" b="0" i="0" u="none" strike="noStrike" cap="none" normalizeH="0" baseline="0">
                  <a:ln>
                    <a:noFill/>
                  </a:ln>
                  <a:solidFill>
                    <a:schemeClr val="tx1"/>
                  </a:solidFill>
                  <a:effectLst/>
                  <a:latin typeface="Times New Roman" pitchFamily="18" charset="0"/>
                  <a:ea typeface="宋体" pitchFamily="2" charset="-122"/>
                  <a:cs typeface="宋体" pitchFamily="2" charset="-122"/>
                </a:rPr>
                <a:t>图</a:t>
              </a:r>
              <a:r>
                <a:rPr kumimoji="0" lang="en-US" altLang="zh-CN" sz="900" b="0" i="0" u="none" strike="noStrike" cap="none" normalizeH="0" baseline="0">
                  <a:ln>
                    <a:noFill/>
                  </a:ln>
                  <a:solidFill>
                    <a:schemeClr val="tx1"/>
                  </a:solidFill>
                  <a:effectLst/>
                  <a:latin typeface="Times New Roman" pitchFamily="18" charset="0"/>
                  <a:ea typeface="宋体" pitchFamily="2" charset="-122"/>
                  <a:cs typeface="宋体" pitchFamily="2" charset="-122"/>
                </a:rPr>
                <a:t>3-3 </a:t>
              </a:r>
              <a:r>
                <a:rPr kumimoji="0" lang="zh-CN" altLang="en-US" sz="900" b="0" i="0" u="none" strike="noStrike" cap="none" normalizeH="0" baseline="0">
                  <a:ln>
                    <a:noFill/>
                  </a:ln>
                  <a:solidFill>
                    <a:schemeClr val="tx1"/>
                  </a:solidFill>
                  <a:effectLst/>
                  <a:latin typeface="Times New Roman" pitchFamily="18" charset="0"/>
                  <a:ea typeface="宋体" pitchFamily="2" charset="-122"/>
                  <a:cs typeface="宋体" pitchFamily="2" charset="-122"/>
                </a:rPr>
                <a:t>两个栈共享存储空间示意图</a:t>
              </a:r>
              <a:endParaRPr kumimoji="0" 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grpSp>
    </p:spTree>
    <p:extLst>
      <p:ext uri="{BB962C8B-B14F-4D97-AF65-F5344CB8AC3E}">
        <p14:creationId xmlns:p14="http://schemas.microsoft.com/office/powerpoint/2010/main" val="2592413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en-US" altLang="zh-CN" b="1" dirty="0"/>
              <a:t>3.2.2 </a:t>
            </a:r>
            <a:r>
              <a:rPr lang="zh-CN" altLang="zh-CN" b="1" dirty="0"/>
              <a:t>链栈的定义及实现</a:t>
            </a:r>
            <a:endParaRPr lang="zh-CN" altLang="en-US" dirty="0"/>
          </a:p>
        </p:txBody>
      </p:sp>
      <p:sp>
        <p:nvSpPr>
          <p:cNvPr id="3" name="内容占位符 2"/>
          <p:cNvSpPr>
            <a:spLocks noGrp="1"/>
          </p:cNvSpPr>
          <p:nvPr>
            <p:ph idx="1"/>
          </p:nvPr>
        </p:nvSpPr>
        <p:spPr>
          <a:xfrm>
            <a:off x="467544" y="1628800"/>
            <a:ext cx="8496944" cy="4536504"/>
          </a:xfrm>
        </p:spPr>
        <p:txBody>
          <a:bodyPr>
            <a:normAutofit/>
          </a:bodyPr>
          <a:lstStyle/>
          <a:p>
            <a:pPr algn="just">
              <a:buFont typeface="Arial" panose="020B0604020202020204" pitchFamily="34" charset="0"/>
              <a:buChar char="•"/>
            </a:pPr>
            <a:r>
              <a:rPr lang="zh-CN" altLang="zh-CN" b="0" dirty="0"/>
              <a:t>为了克服因为顺序栈预先分配空间可能产生的溢出和空间浪费的问题，可以使用链式存储结构来存储栈。</a:t>
            </a:r>
            <a:endParaRPr lang="en-US" altLang="zh-CN" b="0" dirty="0"/>
          </a:p>
          <a:p>
            <a:pPr algn="just">
              <a:buFont typeface="Arial" panose="020B0604020202020204" pitchFamily="34" charset="0"/>
              <a:buChar char="•"/>
            </a:pPr>
            <a:r>
              <a:rPr lang="zh-CN" altLang="zh-CN" dirty="0">
                <a:solidFill>
                  <a:srgbClr val="FF0000"/>
                </a:solidFill>
              </a:rPr>
              <a:t>栈的链式存储结构又被称为链栈</a:t>
            </a:r>
            <a:r>
              <a:rPr lang="en-US" altLang="zh-CN" b="0" dirty="0"/>
              <a:t>(linked stack)</a:t>
            </a:r>
            <a:r>
              <a:rPr lang="zh-CN" altLang="zh-CN" b="0" dirty="0"/>
              <a:t>，它将栈的所有数据元素依次保存在一个链表内。</a:t>
            </a:r>
            <a:endParaRPr lang="en-US" altLang="zh-CN" b="0" dirty="0"/>
          </a:p>
          <a:p>
            <a:pPr algn="just">
              <a:buFont typeface="Arial" panose="020B0604020202020204" pitchFamily="34" charset="0"/>
              <a:buChar char="•"/>
            </a:pPr>
            <a:r>
              <a:rPr lang="zh-CN" altLang="zh-CN" b="0" dirty="0"/>
              <a:t>链栈的结构与单链表的结构相似，但是它的操作是受限的。</a:t>
            </a:r>
            <a:endParaRPr lang="en-US" altLang="zh-CN" b="0" dirty="0"/>
          </a:p>
          <a:p>
            <a:pPr algn="just">
              <a:buFont typeface="Arial" panose="020B0604020202020204" pitchFamily="34" charset="0"/>
              <a:buChar char="•"/>
            </a:pPr>
            <a:r>
              <a:rPr lang="zh-CN" altLang="zh-CN" b="0" dirty="0"/>
              <a:t>若将单链表的插入和删除操作限定在表头进行，则它就变成了一个链栈，此时，单链表的头指针</a:t>
            </a:r>
            <a:r>
              <a:rPr lang="en-US" altLang="zh-CN" b="0" dirty="0"/>
              <a:t>head</a:t>
            </a:r>
            <a:r>
              <a:rPr lang="zh-CN" altLang="zh-CN" b="0" dirty="0"/>
              <a:t>就是对应栈的栈顶指针</a:t>
            </a:r>
            <a:r>
              <a:rPr lang="en-US" altLang="zh-CN" b="0" dirty="0"/>
              <a:t>top</a:t>
            </a:r>
            <a:r>
              <a:rPr lang="zh-CN" altLang="zh-CN" b="0" dirty="0"/>
              <a:t>。</a:t>
            </a:r>
          </a:p>
          <a:p>
            <a:pPr algn="just"/>
            <a:endParaRPr lang="zh-CN" altLang="en-US" dirty="0"/>
          </a:p>
        </p:txBody>
      </p:sp>
    </p:spTree>
    <p:extLst>
      <p:ext uri="{BB962C8B-B14F-4D97-AF65-F5344CB8AC3E}">
        <p14:creationId xmlns:p14="http://schemas.microsoft.com/office/powerpoint/2010/main" val="8146362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7704856" cy="4227921"/>
          </a:xfrm>
        </p:spPr>
        <p:txBody>
          <a:bodyPr/>
          <a:lstStyle/>
          <a:p>
            <a:pPr algn="just">
              <a:buFont typeface="Arial" panose="020B0604020202020204" pitchFamily="34" charset="0"/>
              <a:buChar char="•"/>
            </a:pPr>
            <a:r>
              <a:rPr lang="zh-CN" altLang="zh-CN" b="0" dirty="0"/>
              <a:t>链栈可以有头结点，也可以没有头结点。</a:t>
            </a:r>
            <a:endParaRPr lang="en-US" altLang="zh-CN" b="0" dirty="0"/>
          </a:p>
          <a:p>
            <a:pPr algn="just">
              <a:buFont typeface="Arial" panose="020B0604020202020204" pitchFamily="34" charset="0"/>
              <a:buChar char="•"/>
            </a:pPr>
            <a:r>
              <a:rPr lang="zh-CN" altLang="zh-CN" b="0" dirty="0"/>
              <a:t>若是带头结点的链栈，栈顶指针始终存放头结点的地址，而栈顶元素则存放于头结点之后的第一个节点内。</a:t>
            </a:r>
            <a:endParaRPr lang="en-US" altLang="zh-CN" b="0" dirty="0"/>
          </a:p>
          <a:p>
            <a:pPr algn="just">
              <a:buFont typeface="Arial" panose="020B0604020202020204" pitchFamily="34" charset="0"/>
              <a:buChar char="•"/>
            </a:pPr>
            <a:r>
              <a:rPr lang="zh-CN" altLang="zh-CN" b="0" dirty="0"/>
              <a:t>若是不带头结点的链栈，栈顶指针始终存放栈顶元素的地址。</a:t>
            </a:r>
            <a:endParaRPr lang="zh-CN" altLang="en-US" b="0" dirty="0"/>
          </a:p>
        </p:txBody>
      </p:sp>
      <p:pic>
        <p:nvPicPr>
          <p:cNvPr id="2" name="Picture 2"/>
          <p:cNvPicPr>
            <a:picLocks noChangeAspect="1" noChangeArrowheads="1"/>
          </p:cNvPicPr>
          <p:nvPr/>
        </p:nvPicPr>
        <p:blipFill>
          <a:blip r:embed="rId2" cstate="print"/>
          <a:srcRect/>
          <a:stretch>
            <a:fillRect/>
          </a:stretch>
        </p:blipFill>
        <p:spPr bwMode="auto">
          <a:xfrm>
            <a:off x="1000100" y="3357562"/>
            <a:ext cx="7572396" cy="2893737"/>
          </a:xfrm>
          <a:prstGeom prst="rect">
            <a:avLst/>
          </a:prstGeom>
          <a:noFill/>
          <a:ln w="9525">
            <a:noFill/>
            <a:miter lim="800000"/>
            <a:headEnd/>
            <a:tailEnd/>
          </a:ln>
          <a:effectLst/>
        </p:spPr>
      </p:pic>
      <p:sp>
        <p:nvSpPr>
          <p:cNvPr id="4" name="文本框 3"/>
          <p:cNvSpPr txBox="1"/>
          <p:nvPr/>
        </p:nvSpPr>
        <p:spPr>
          <a:xfrm>
            <a:off x="1115616" y="4869160"/>
            <a:ext cx="7632848" cy="1368152"/>
          </a:xfrm>
          <a:prstGeom prst="rect">
            <a:avLst/>
          </a:prstGeom>
          <a:noFill/>
        </p:spPr>
        <p:txBody>
          <a:bodyPr wrap="square" rtlCol="0">
            <a:spAutoFit/>
          </a:bodyPr>
          <a:lstStyle/>
          <a:p>
            <a:endParaRPr lang="zh-CN" altLang="en-US" dirty="0"/>
          </a:p>
        </p:txBody>
      </p:sp>
    </p:spTree>
    <p:extLst>
      <p:ext uri="{BB962C8B-B14F-4D97-AF65-F5344CB8AC3E}">
        <p14:creationId xmlns:p14="http://schemas.microsoft.com/office/powerpoint/2010/main" val="35237254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764704"/>
            <a:ext cx="8173572" cy="5521816"/>
          </a:xfrm>
        </p:spPr>
        <p:txBody>
          <a:bodyPr>
            <a:normAutofit fontScale="77500" lnSpcReduction="20000"/>
          </a:bodyPr>
          <a:lstStyle/>
          <a:p>
            <a:pPr algn="just">
              <a:buFont typeface="Arial" panose="020B0604020202020204" pitchFamily="34" charset="0"/>
              <a:buChar char="•"/>
            </a:pPr>
            <a:r>
              <a:rPr lang="zh-CN" altLang="zh-CN" sz="2900" b="0" dirty="0"/>
              <a:t>不带头结点的链栈在插入数据元素时直接将新节点插入到头指针的位置，删除数据元素时直接删除头指针指向的节点，操作方便且比较直观，</a:t>
            </a:r>
            <a:r>
              <a:rPr lang="zh-CN" altLang="zh-CN" sz="2900" dirty="0">
                <a:solidFill>
                  <a:srgbClr val="FF0000"/>
                </a:solidFill>
              </a:rPr>
              <a:t>默认链栈不带头结点</a:t>
            </a:r>
            <a:r>
              <a:rPr lang="zh-CN" altLang="zh-CN" sz="2900" b="0" dirty="0"/>
              <a:t>。</a:t>
            </a:r>
            <a:endParaRPr lang="en-US" altLang="zh-CN" sz="2900" b="0" dirty="0"/>
          </a:p>
          <a:p>
            <a:pPr algn="just">
              <a:buFont typeface="Arial" panose="020B0604020202020204" pitchFamily="34" charset="0"/>
              <a:buChar char="•"/>
            </a:pPr>
            <a:r>
              <a:rPr lang="zh-CN" altLang="zh-CN" sz="2900" b="0" dirty="0"/>
              <a:t>链栈的数据类型定义如下：</a:t>
            </a:r>
          </a:p>
          <a:p>
            <a:pPr algn="just"/>
            <a:r>
              <a:rPr lang="zh-CN" altLang="zh-CN" dirty="0"/>
              <a:t>算法</a:t>
            </a:r>
            <a:r>
              <a:rPr lang="en-US" altLang="zh-CN" dirty="0"/>
              <a:t>3.7</a:t>
            </a:r>
            <a:r>
              <a:rPr lang="zh-CN" altLang="zh-CN" dirty="0"/>
              <a:t>：</a:t>
            </a:r>
            <a:r>
              <a:rPr lang="zh-CN" altLang="zh-CN" dirty="0">
                <a:solidFill>
                  <a:srgbClr val="FF0000"/>
                </a:solidFill>
              </a:rPr>
              <a:t>链栈的数据类型</a:t>
            </a:r>
            <a:r>
              <a:rPr lang="zh-CN" altLang="zh-CN" dirty="0"/>
              <a:t>定义</a:t>
            </a:r>
          </a:p>
          <a:p>
            <a:pPr algn="just"/>
            <a:r>
              <a:rPr lang="en-US" altLang="zh-CN" sz="2300" b="0" dirty="0"/>
              <a:t>template&lt;</a:t>
            </a:r>
            <a:r>
              <a:rPr lang="en-US" altLang="zh-CN" sz="2300" b="0" dirty="0" err="1"/>
              <a:t>typename</a:t>
            </a:r>
            <a:r>
              <a:rPr lang="en-US" altLang="zh-CN" sz="2300" b="0" dirty="0"/>
              <a:t> Type&gt; class </a:t>
            </a:r>
            <a:r>
              <a:rPr lang="en-US" altLang="zh-CN" sz="2300" b="0" dirty="0" err="1"/>
              <a:t>LinkStack</a:t>
            </a:r>
            <a:r>
              <a:rPr lang="en-US" altLang="zh-CN" sz="2300" b="0" dirty="0"/>
              <a:t>;            //</a:t>
            </a:r>
            <a:r>
              <a:rPr lang="zh-CN" altLang="zh-CN" sz="2300" b="0" dirty="0"/>
              <a:t>链栈类的前视说明</a:t>
            </a:r>
          </a:p>
          <a:p>
            <a:pPr algn="just"/>
            <a:r>
              <a:rPr lang="en-US" altLang="zh-CN" sz="2300" b="0" dirty="0"/>
              <a:t>template&lt;</a:t>
            </a:r>
            <a:r>
              <a:rPr lang="en-US" altLang="zh-CN" sz="2300" b="0" dirty="0" err="1"/>
              <a:t>typename</a:t>
            </a:r>
            <a:r>
              <a:rPr lang="en-US" altLang="zh-CN" sz="2300" b="0" dirty="0"/>
              <a:t> Type&gt; class </a:t>
            </a:r>
            <a:r>
              <a:rPr lang="en-US" altLang="zh-CN" sz="2300" b="0" dirty="0" err="1"/>
              <a:t>LinkStackNode</a:t>
            </a:r>
            <a:r>
              <a:rPr lang="en-US" altLang="zh-CN" sz="2300" b="0" dirty="0"/>
              <a:t>{   //</a:t>
            </a:r>
            <a:r>
              <a:rPr lang="zh-CN" altLang="zh-CN" sz="2300" dirty="0">
                <a:solidFill>
                  <a:srgbClr val="FF0000"/>
                </a:solidFill>
              </a:rPr>
              <a:t>结点类</a:t>
            </a:r>
            <a:r>
              <a:rPr lang="zh-CN" altLang="zh-CN" sz="2300" b="0" dirty="0"/>
              <a:t>的定义</a:t>
            </a:r>
          </a:p>
          <a:p>
            <a:pPr algn="just"/>
            <a:r>
              <a:rPr lang="en-US" altLang="zh-CN" sz="2300" b="0" dirty="0"/>
              <a:t>    	friend class </a:t>
            </a:r>
            <a:r>
              <a:rPr lang="en-US" altLang="zh-CN" sz="2300" b="0" dirty="0" err="1"/>
              <a:t>LinkStack</a:t>
            </a:r>
            <a:r>
              <a:rPr lang="en-US" altLang="zh-CN" sz="2300" b="0" dirty="0"/>
              <a:t>&lt;Type&gt;;            //</a:t>
            </a:r>
            <a:r>
              <a:rPr lang="zh-CN" altLang="zh-CN" sz="2300" b="0" dirty="0"/>
              <a:t>将链栈类说明为结点类的友元</a:t>
            </a:r>
          </a:p>
          <a:p>
            <a:pPr algn="just"/>
            <a:r>
              <a:rPr lang="en-US" altLang="zh-CN" sz="2300" b="0" dirty="0"/>
              <a:t>public:</a:t>
            </a:r>
            <a:endParaRPr lang="zh-CN" altLang="zh-CN" sz="2300" b="0" dirty="0"/>
          </a:p>
          <a:p>
            <a:pPr algn="just"/>
            <a:r>
              <a:rPr lang="en-US" altLang="zh-CN" sz="2300" b="0" dirty="0"/>
              <a:t>    	</a:t>
            </a:r>
            <a:r>
              <a:rPr lang="en-US" altLang="zh-CN" sz="2300" b="0" dirty="0" err="1"/>
              <a:t>LinkStackNode</a:t>
            </a:r>
            <a:r>
              <a:rPr lang="en-US" altLang="zh-CN" sz="2300" b="0" dirty="0"/>
              <a:t>(Type &amp;</a:t>
            </a:r>
            <a:r>
              <a:rPr lang="en-US" altLang="zh-CN" sz="2300" b="0" dirty="0" err="1"/>
              <a:t>e,LinkStackNode</a:t>
            </a:r>
            <a:r>
              <a:rPr lang="en-US" altLang="zh-CN" sz="2300" b="0" dirty="0"/>
              <a:t>&lt;Type&gt; *p= NULL):</a:t>
            </a:r>
            <a:r>
              <a:rPr lang="en-US" altLang="zh-CN" sz="2300" b="0" dirty="0" err="1"/>
              <a:t>elem</a:t>
            </a:r>
            <a:r>
              <a:rPr lang="en-US" altLang="zh-CN" sz="2300" b="0" dirty="0"/>
              <a:t> (e), next(p) {};</a:t>
            </a:r>
            <a:endParaRPr lang="zh-CN" altLang="zh-CN" sz="2300" b="0" dirty="0"/>
          </a:p>
          <a:p>
            <a:pPr algn="just"/>
            <a:r>
              <a:rPr lang="en-US" altLang="zh-CN" sz="2300" b="0" dirty="0"/>
              <a:t>private:</a:t>
            </a:r>
            <a:endParaRPr lang="zh-CN" altLang="zh-CN" sz="2300" b="0" dirty="0"/>
          </a:p>
          <a:p>
            <a:pPr algn="just"/>
            <a:r>
              <a:rPr lang="en-US" altLang="zh-CN" sz="2300" b="0" dirty="0"/>
              <a:t>    	Type </a:t>
            </a:r>
            <a:r>
              <a:rPr lang="en-US" altLang="zh-CN" sz="2300" b="0" dirty="0" err="1"/>
              <a:t>elem</a:t>
            </a:r>
            <a:r>
              <a:rPr lang="en-US" altLang="zh-CN" sz="2300" b="0" dirty="0"/>
              <a:t>;                                 	//</a:t>
            </a:r>
            <a:r>
              <a:rPr lang="zh-CN" altLang="zh-CN" sz="2300" b="0" dirty="0"/>
              <a:t>结点类的数据域</a:t>
            </a:r>
          </a:p>
          <a:p>
            <a:pPr algn="just"/>
            <a:r>
              <a:rPr lang="en-US" altLang="zh-CN" sz="2300" b="0" dirty="0"/>
              <a:t>    	</a:t>
            </a:r>
            <a:r>
              <a:rPr lang="en-US" altLang="zh-CN" sz="2300" b="0" dirty="0" err="1"/>
              <a:t>LinkStackNode</a:t>
            </a:r>
            <a:r>
              <a:rPr lang="en-US" altLang="zh-CN" sz="2300" b="0" dirty="0"/>
              <a:t>&lt;Type&gt; *next;         //</a:t>
            </a:r>
            <a:r>
              <a:rPr lang="zh-CN" altLang="zh-CN" sz="2300" b="0" dirty="0"/>
              <a:t>结点类的指针域</a:t>
            </a:r>
          </a:p>
          <a:p>
            <a:pPr algn="just"/>
            <a:r>
              <a:rPr lang="en-US" altLang="zh-CN" sz="2300" b="0" dirty="0"/>
              <a:t>};</a:t>
            </a:r>
            <a:endParaRPr lang="zh-CN" altLang="zh-CN" sz="2300" b="0" dirty="0"/>
          </a:p>
        </p:txBody>
      </p:sp>
    </p:spTree>
    <p:extLst>
      <p:ext uri="{BB962C8B-B14F-4D97-AF65-F5344CB8AC3E}">
        <p14:creationId xmlns:p14="http://schemas.microsoft.com/office/powerpoint/2010/main" val="3300449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43608" y="764704"/>
            <a:ext cx="7704856" cy="5400600"/>
          </a:xfrm>
        </p:spPr>
        <p:txBody>
          <a:bodyPr>
            <a:normAutofit fontScale="85000" lnSpcReduction="20000"/>
          </a:bodyPr>
          <a:lstStyle/>
          <a:p>
            <a:pPr algn="just"/>
            <a:r>
              <a:rPr lang="en-US" altLang="zh-CN" b="0" dirty="0"/>
              <a:t>template&lt;typename Type&gt; class LinkStack{        //</a:t>
            </a:r>
            <a:r>
              <a:rPr lang="zh-CN" altLang="zh-CN" dirty="0">
                <a:solidFill>
                  <a:srgbClr val="FF0000"/>
                </a:solidFill>
              </a:rPr>
              <a:t>链栈类</a:t>
            </a:r>
            <a:r>
              <a:rPr lang="zh-CN" altLang="en-US" b="0" dirty="0"/>
              <a:t>的</a:t>
            </a:r>
            <a:r>
              <a:rPr lang="zh-CN" altLang="zh-CN" b="0" dirty="0"/>
              <a:t>定义</a:t>
            </a:r>
          </a:p>
          <a:p>
            <a:pPr algn="just"/>
            <a:r>
              <a:rPr lang="en-US" altLang="zh-CN" b="0" dirty="0"/>
              <a:t>public:</a:t>
            </a:r>
            <a:endParaRPr lang="zh-CN" altLang="zh-CN" b="0" dirty="0"/>
          </a:p>
          <a:p>
            <a:pPr algn="just"/>
            <a:r>
              <a:rPr lang="en-US" altLang="zh-CN" b="0" dirty="0"/>
              <a:t>    LinkStack():top(NULL) {};         //</a:t>
            </a:r>
            <a:r>
              <a:rPr lang="zh-CN" altLang="zh-CN" b="0" dirty="0">
                <a:solidFill>
                  <a:srgbClr val="FF0000"/>
                </a:solidFill>
              </a:rPr>
              <a:t>构造函数</a:t>
            </a:r>
            <a:r>
              <a:rPr lang="zh-CN" altLang="zh-CN" b="0" dirty="0"/>
              <a:t>，构造了一个空的链栈</a:t>
            </a:r>
          </a:p>
          <a:p>
            <a:pPr algn="just"/>
            <a:r>
              <a:rPr lang="en-US" altLang="zh-CN" b="0" dirty="0"/>
              <a:t>    ~</a:t>
            </a:r>
            <a:r>
              <a:rPr lang="en-US" altLang="zh-CN" b="0" dirty="0" err="1"/>
              <a:t>LinkStack</a:t>
            </a:r>
            <a:r>
              <a:rPr lang="en-US" altLang="zh-CN" b="0" dirty="0"/>
              <a:t>();                               //</a:t>
            </a:r>
            <a:r>
              <a:rPr lang="zh-CN" altLang="zh-CN" b="0" dirty="0"/>
              <a:t>析构函数，销毁链栈</a:t>
            </a:r>
          </a:p>
          <a:p>
            <a:pPr algn="just"/>
            <a:r>
              <a:rPr lang="en-US" altLang="zh-CN" b="0" dirty="0"/>
              <a:t>    int IsEmpty() const  { return top == NULL; }  //</a:t>
            </a:r>
            <a:r>
              <a:rPr lang="zh-CN" altLang="zh-CN" b="0" dirty="0"/>
              <a:t>判断链栈是否为空</a:t>
            </a:r>
          </a:p>
          <a:p>
            <a:pPr algn="just"/>
            <a:r>
              <a:rPr lang="en-US" altLang="zh-CN" b="0" dirty="0"/>
              <a:t>    void LinkStackClear();                 //</a:t>
            </a:r>
            <a:r>
              <a:rPr lang="zh-CN" altLang="zh-CN" b="0" dirty="0"/>
              <a:t>清空链栈</a:t>
            </a:r>
          </a:p>
          <a:p>
            <a:pPr algn="just"/>
            <a:r>
              <a:rPr lang="en-US" altLang="zh-CN" b="0" dirty="0"/>
              <a:t>    int LinkStackLength() const ;       //</a:t>
            </a:r>
            <a:r>
              <a:rPr lang="zh-CN" altLang="zh-CN" b="0" dirty="0"/>
              <a:t>求栈的长度</a:t>
            </a:r>
          </a:p>
          <a:p>
            <a:pPr algn="just"/>
            <a:r>
              <a:rPr lang="en-US" altLang="zh-CN" b="0" dirty="0"/>
              <a:t>    Type &amp;GetTop();                           //</a:t>
            </a:r>
            <a:r>
              <a:rPr lang="zh-CN" altLang="zh-CN" b="0" dirty="0"/>
              <a:t>返回链栈栈顶元素的值</a:t>
            </a:r>
          </a:p>
          <a:p>
            <a:pPr algn="just"/>
            <a:r>
              <a:rPr lang="en-US" altLang="zh-CN" b="0" dirty="0"/>
              <a:t>    </a:t>
            </a:r>
            <a:r>
              <a:rPr lang="en-US" altLang="zh-CN" b="0" dirty="0">
                <a:solidFill>
                  <a:srgbClr val="FF0000"/>
                </a:solidFill>
              </a:rPr>
              <a:t>void Push(Type &amp;e);                     </a:t>
            </a:r>
            <a:r>
              <a:rPr lang="en-US" altLang="zh-CN" b="0" dirty="0"/>
              <a:t>//</a:t>
            </a:r>
            <a:r>
              <a:rPr lang="zh-CN" altLang="zh-CN" b="0" dirty="0"/>
              <a:t>入栈操作，将元素</a:t>
            </a:r>
            <a:r>
              <a:rPr lang="en-US" altLang="zh-CN" b="0" dirty="0"/>
              <a:t>e</a:t>
            </a:r>
            <a:r>
              <a:rPr lang="zh-CN" altLang="zh-CN" b="0" dirty="0"/>
              <a:t>加入栈顶</a:t>
            </a:r>
          </a:p>
          <a:p>
            <a:pPr algn="just"/>
            <a:r>
              <a:rPr lang="en-US" altLang="zh-CN" b="0" dirty="0"/>
              <a:t>    </a:t>
            </a:r>
            <a:r>
              <a:rPr lang="en-US" altLang="zh-CN" b="0" dirty="0">
                <a:solidFill>
                  <a:srgbClr val="FF0000"/>
                </a:solidFill>
              </a:rPr>
              <a:t>Type &amp;Pop();        </a:t>
            </a:r>
            <a:r>
              <a:rPr lang="en-US" altLang="zh-CN" b="0" dirty="0"/>
              <a:t>//</a:t>
            </a:r>
            <a:r>
              <a:rPr lang="zh-CN" altLang="zh-CN" b="0" dirty="0"/>
              <a:t>出栈操作，删除链栈的栈顶元素，并返回其值</a:t>
            </a:r>
          </a:p>
          <a:p>
            <a:pPr algn="just"/>
            <a:r>
              <a:rPr lang="en-US" altLang="zh-CN" b="0" dirty="0"/>
              <a:t>private:</a:t>
            </a:r>
            <a:endParaRPr lang="zh-CN" altLang="zh-CN" b="0" dirty="0"/>
          </a:p>
          <a:p>
            <a:pPr algn="just"/>
            <a:r>
              <a:rPr lang="en-US" altLang="zh-CN" b="0" dirty="0"/>
              <a:t>    LinkStackNode&lt;Type&gt; *top;         //</a:t>
            </a:r>
            <a:r>
              <a:rPr lang="zh-CN" altLang="zh-CN" b="0" dirty="0"/>
              <a:t>定义</a:t>
            </a:r>
            <a:r>
              <a:rPr lang="zh-CN" altLang="zh-CN" b="0" dirty="0">
                <a:solidFill>
                  <a:srgbClr val="FF0000"/>
                </a:solidFill>
              </a:rPr>
              <a:t>栈顶指针</a:t>
            </a:r>
          </a:p>
          <a:p>
            <a:pPr algn="just"/>
            <a:r>
              <a:rPr lang="en-US" altLang="zh-CN" b="0" dirty="0"/>
              <a:t>};</a:t>
            </a:r>
            <a:endParaRPr lang="zh-CN" altLang="zh-CN" b="0" dirty="0"/>
          </a:p>
          <a:p>
            <a:pPr algn="just"/>
            <a:endParaRPr lang="zh-CN" altLang="en-US" dirty="0"/>
          </a:p>
        </p:txBody>
      </p:sp>
    </p:spTree>
    <p:extLst>
      <p:ext uri="{BB962C8B-B14F-4D97-AF65-F5344CB8AC3E}">
        <p14:creationId xmlns:p14="http://schemas.microsoft.com/office/powerpoint/2010/main" val="27325838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1052736"/>
            <a:ext cx="8064896" cy="5472608"/>
          </a:xfrm>
        </p:spPr>
        <p:txBody>
          <a:bodyPr>
            <a:normAutofit lnSpcReduction="10000"/>
          </a:bodyPr>
          <a:lstStyle/>
          <a:p>
            <a:pPr algn="just"/>
            <a:r>
              <a:rPr lang="zh-CN" altLang="zh-CN" dirty="0"/>
              <a:t>（</a:t>
            </a:r>
            <a:r>
              <a:rPr lang="en-US" altLang="zh-CN" dirty="0"/>
              <a:t>1</a:t>
            </a:r>
            <a:r>
              <a:rPr lang="zh-CN" altLang="zh-CN" dirty="0"/>
              <a:t>）</a:t>
            </a:r>
            <a:r>
              <a:rPr lang="zh-CN" altLang="zh-CN" dirty="0">
                <a:solidFill>
                  <a:srgbClr val="FF0000"/>
                </a:solidFill>
              </a:rPr>
              <a:t>链栈的销毁操作</a:t>
            </a:r>
          </a:p>
          <a:p>
            <a:pPr algn="just">
              <a:buFont typeface="Arial" panose="020B0604020202020204" pitchFamily="34" charset="0"/>
              <a:buChar char="•"/>
            </a:pPr>
            <a:r>
              <a:rPr lang="zh-CN" altLang="zh-CN" b="0" dirty="0"/>
              <a:t>由于链栈是由多个结点连接而成，在销毁链栈时，需要依次释放从栈顶到栈底所有结点，最后栈顶指针指向空。</a:t>
            </a:r>
            <a:endParaRPr lang="en-US" altLang="zh-CN" b="0" dirty="0"/>
          </a:p>
          <a:p>
            <a:pPr lvl="2" algn="just">
              <a:buNone/>
            </a:pPr>
            <a:r>
              <a:rPr lang="zh-CN" altLang="zh-CN" b="1" dirty="0"/>
              <a:t>算法</a:t>
            </a:r>
            <a:r>
              <a:rPr lang="en-US" altLang="zh-CN" b="1" dirty="0"/>
              <a:t>3.8</a:t>
            </a:r>
            <a:r>
              <a:rPr lang="zh-CN" altLang="zh-CN" b="1" dirty="0"/>
              <a:t>：</a:t>
            </a:r>
            <a:r>
              <a:rPr lang="zh-CN" altLang="zh-CN" b="1" dirty="0">
                <a:solidFill>
                  <a:srgbClr val="FF0000"/>
                </a:solidFill>
              </a:rPr>
              <a:t>析构函数</a:t>
            </a:r>
            <a:r>
              <a:rPr lang="zh-CN" altLang="zh-CN" b="1" dirty="0"/>
              <a:t>，销毁链栈</a:t>
            </a:r>
          </a:p>
          <a:p>
            <a:pPr lvl="2" algn="just">
              <a:buNone/>
            </a:pPr>
            <a:r>
              <a:rPr lang="en-US" altLang="zh-CN" sz="2200" b="0" dirty="0" err="1"/>
              <a:t>LinkStack</a:t>
            </a:r>
            <a:r>
              <a:rPr lang="en-US" altLang="zh-CN" sz="2200" b="0" dirty="0"/>
              <a:t>&lt;Type&gt;::~</a:t>
            </a:r>
            <a:r>
              <a:rPr lang="en-US" altLang="zh-CN" sz="2200" b="0" dirty="0" err="1"/>
              <a:t>LinkStack</a:t>
            </a:r>
            <a:r>
              <a:rPr lang="en-US" altLang="zh-CN" sz="2200" b="0" dirty="0"/>
              <a:t>(){   </a:t>
            </a:r>
            <a:endParaRPr lang="zh-CN" altLang="zh-CN" sz="2200" b="0" dirty="0"/>
          </a:p>
          <a:p>
            <a:pPr lvl="2" algn="just">
              <a:buNone/>
            </a:pPr>
            <a:r>
              <a:rPr lang="en-US" altLang="zh-CN" sz="2200" b="0" dirty="0"/>
              <a:t>  		</a:t>
            </a:r>
            <a:r>
              <a:rPr lang="en-US" altLang="zh-CN" sz="2200" b="0" dirty="0" err="1"/>
              <a:t>LinkStackNode</a:t>
            </a:r>
            <a:r>
              <a:rPr lang="en-US" altLang="zh-CN" sz="2200" b="0" dirty="0"/>
              <a:t>&lt;Type&gt; *p;</a:t>
            </a:r>
            <a:endParaRPr lang="zh-CN" altLang="zh-CN" sz="2200" b="0" dirty="0"/>
          </a:p>
          <a:p>
            <a:pPr lvl="2" algn="just">
              <a:buNone/>
            </a:pPr>
            <a:r>
              <a:rPr lang="en-US" altLang="zh-CN" sz="2200" b="0" dirty="0"/>
              <a:t>  		while(top!=NULL){ </a:t>
            </a:r>
          </a:p>
          <a:p>
            <a:pPr lvl="2" algn="just">
              <a:buNone/>
            </a:pPr>
            <a:r>
              <a:rPr lang="en-US" altLang="zh-CN" sz="2200" dirty="0"/>
              <a:t>			</a:t>
            </a:r>
            <a:r>
              <a:rPr lang="en-US" altLang="zh-CN" sz="2200" b="0" dirty="0"/>
              <a:t>p = top; </a:t>
            </a:r>
          </a:p>
          <a:p>
            <a:pPr lvl="2" algn="just">
              <a:buNone/>
            </a:pPr>
            <a:r>
              <a:rPr lang="en-US" altLang="zh-CN" sz="2200" dirty="0"/>
              <a:t>			</a:t>
            </a:r>
            <a:r>
              <a:rPr lang="en-US" altLang="zh-CN" sz="2200" b="0" dirty="0"/>
              <a:t>top = top-&gt;next; </a:t>
            </a:r>
          </a:p>
          <a:p>
            <a:pPr lvl="2" algn="just">
              <a:buNone/>
            </a:pPr>
            <a:r>
              <a:rPr lang="en-US" altLang="zh-CN" sz="2200" dirty="0"/>
              <a:t>			</a:t>
            </a:r>
            <a:r>
              <a:rPr lang="en-US" altLang="zh-CN" sz="2200" b="0" dirty="0"/>
              <a:t>delete p; </a:t>
            </a:r>
          </a:p>
          <a:p>
            <a:pPr lvl="2" algn="just">
              <a:buNone/>
            </a:pPr>
            <a:r>
              <a:rPr lang="en-US" altLang="zh-CN" sz="2200" dirty="0"/>
              <a:t>		</a:t>
            </a:r>
            <a:r>
              <a:rPr lang="en-US" altLang="zh-CN" sz="2200" b="0" dirty="0"/>
              <a:t>}</a:t>
            </a:r>
            <a:endParaRPr lang="zh-CN" altLang="zh-CN" sz="2200" b="0" dirty="0"/>
          </a:p>
          <a:p>
            <a:pPr lvl="2" algn="just">
              <a:buNone/>
            </a:pPr>
            <a:r>
              <a:rPr lang="en-US" altLang="zh-CN" sz="2200" b="0" dirty="0"/>
              <a:t>}</a:t>
            </a:r>
            <a:endParaRPr lang="zh-CN" altLang="zh-CN" sz="2200" b="0" dirty="0"/>
          </a:p>
        </p:txBody>
      </p:sp>
    </p:spTree>
    <p:extLst>
      <p:ext uri="{BB962C8B-B14F-4D97-AF65-F5344CB8AC3E}">
        <p14:creationId xmlns:p14="http://schemas.microsoft.com/office/powerpoint/2010/main" val="19515317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9552" y="836712"/>
            <a:ext cx="8280920" cy="5616624"/>
          </a:xfrm>
        </p:spPr>
        <p:txBody>
          <a:bodyPr>
            <a:normAutofit/>
          </a:bodyPr>
          <a:lstStyle/>
          <a:p>
            <a:pPr algn="just"/>
            <a:r>
              <a:rPr lang="zh-CN" altLang="zh-CN" sz="2800" dirty="0"/>
              <a:t>（</a:t>
            </a:r>
            <a:r>
              <a:rPr lang="en-US" altLang="zh-CN" sz="2800" dirty="0"/>
              <a:t>2</a:t>
            </a:r>
            <a:r>
              <a:rPr lang="zh-CN" altLang="zh-CN" sz="2800" dirty="0"/>
              <a:t>）</a:t>
            </a:r>
            <a:r>
              <a:rPr lang="zh-CN" altLang="zh-CN" sz="2800" dirty="0">
                <a:solidFill>
                  <a:srgbClr val="FF0000"/>
                </a:solidFill>
              </a:rPr>
              <a:t>求链栈长度</a:t>
            </a:r>
            <a:r>
              <a:rPr lang="zh-CN" altLang="zh-CN" sz="2800" dirty="0"/>
              <a:t>的操作</a:t>
            </a:r>
            <a:r>
              <a:rPr lang="zh-CN" altLang="en-US" sz="2800" dirty="0"/>
              <a:t>：</a:t>
            </a:r>
            <a:r>
              <a:rPr lang="zh-CN" altLang="zh-CN" sz="2800" dirty="0"/>
              <a:t>函数</a:t>
            </a:r>
            <a:r>
              <a:rPr lang="en-US" altLang="zh-CN" sz="2800" dirty="0" err="1"/>
              <a:t>LinkStackLength</a:t>
            </a:r>
            <a:r>
              <a:rPr lang="en-US" altLang="zh-CN" sz="2800" dirty="0"/>
              <a:t>()</a:t>
            </a:r>
            <a:r>
              <a:rPr lang="zh-CN" altLang="zh-CN" sz="2800" dirty="0"/>
              <a:t> </a:t>
            </a:r>
          </a:p>
          <a:p>
            <a:pPr algn="just">
              <a:buFont typeface="Arial" panose="020B0604020202020204" pitchFamily="34" charset="0"/>
              <a:buChar char="•"/>
            </a:pPr>
            <a:r>
              <a:rPr lang="zh-CN" altLang="zh-CN" b="0" dirty="0"/>
              <a:t>返回链栈中数据元素的个数。与顺序栈不同，链栈是由多个结点连接而成，所以需要使用一个指针</a:t>
            </a:r>
            <a:r>
              <a:rPr lang="en-US" altLang="zh-CN" b="0" dirty="0"/>
              <a:t>p</a:t>
            </a:r>
            <a:r>
              <a:rPr lang="zh-CN" altLang="zh-CN" b="0" dirty="0"/>
              <a:t>从栈顶访问到栈底。</a:t>
            </a:r>
          </a:p>
          <a:p>
            <a:pPr algn="just"/>
            <a:r>
              <a:rPr lang="zh-CN" altLang="zh-CN" dirty="0"/>
              <a:t>算法</a:t>
            </a:r>
            <a:r>
              <a:rPr lang="en-US" altLang="zh-CN" dirty="0"/>
              <a:t>:3.9</a:t>
            </a:r>
            <a:r>
              <a:rPr lang="zh-CN" altLang="zh-CN" dirty="0"/>
              <a:t>：</a:t>
            </a:r>
            <a:r>
              <a:rPr lang="zh-CN" altLang="zh-CN" dirty="0">
                <a:solidFill>
                  <a:srgbClr val="FF0000"/>
                </a:solidFill>
              </a:rPr>
              <a:t>求链栈的长度</a:t>
            </a:r>
            <a:r>
              <a:rPr lang="zh-CN" altLang="zh-CN" dirty="0"/>
              <a:t>，即链栈中数据元素的个数</a:t>
            </a:r>
          </a:p>
          <a:p>
            <a:pPr lvl="2" algn="just">
              <a:buNone/>
            </a:pPr>
            <a:r>
              <a:rPr lang="en-US" altLang="zh-CN" b="0" dirty="0" err="1"/>
              <a:t>int</a:t>
            </a:r>
            <a:r>
              <a:rPr lang="en-US" altLang="zh-CN" b="0" dirty="0"/>
              <a:t> </a:t>
            </a:r>
            <a:r>
              <a:rPr lang="en-US" altLang="zh-CN" b="0" dirty="0" err="1"/>
              <a:t>LinkStack</a:t>
            </a:r>
            <a:r>
              <a:rPr lang="en-US" altLang="zh-CN" b="0" dirty="0"/>
              <a:t>&lt;Type&gt;::</a:t>
            </a:r>
            <a:r>
              <a:rPr lang="en-US" altLang="zh-CN" b="0" dirty="0" err="1"/>
              <a:t>LinkStackLength</a:t>
            </a:r>
            <a:r>
              <a:rPr lang="en-US" altLang="zh-CN" b="0" dirty="0"/>
              <a:t>()</a:t>
            </a:r>
            <a:r>
              <a:rPr lang="en-US" altLang="zh-CN" b="0" dirty="0" err="1"/>
              <a:t>const</a:t>
            </a:r>
            <a:r>
              <a:rPr lang="en-US" altLang="zh-CN" b="0" dirty="0"/>
              <a:t>{</a:t>
            </a:r>
            <a:endParaRPr lang="zh-CN" altLang="zh-CN" b="0" dirty="0"/>
          </a:p>
          <a:p>
            <a:pPr lvl="2" algn="just">
              <a:buNone/>
            </a:pPr>
            <a:r>
              <a:rPr lang="en-US" altLang="zh-CN" b="0" dirty="0"/>
              <a:t>   </a:t>
            </a:r>
            <a:r>
              <a:rPr lang="en-US" altLang="zh-CN" b="0" dirty="0" err="1"/>
              <a:t>LinkStackNode</a:t>
            </a:r>
            <a:r>
              <a:rPr lang="en-US" altLang="zh-CN" b="0" dirty="0"/>
              <a:t>&lt;Type&gt; *p = top;           </a:t>
            </a:r>
            <a:endParaRPr lang="zh-CN" altLang="zh-CN" b="0" dirty="0"/>
          </a:p>
          <a:p>
            <a:pPr lvl="2" algn="just">
              <a:buNone/>
            </a:pPr>
            <a:r>
              <a:rPr lang="en-US" altLang="zh-CN" b="0" dirty="0"/>
              <a:t>    </a:t>
            </a:r>
            <a:r>
              <a:rPr lang="en-US" altLang="zh-CN" b="0" dirty="0" err="1"/>
              <a:t>int</a:t>
            </a:r>
            <a:r>
              <a:rPr lang="en-US" altLang="zh-CN" b="0" dirty="0"/>
              <a:t> </a:t>
            </a:r>
            <a:r>
              <a:rPr lang="en-US" altLang="zh-CN" b="0" dirty="0" err="1"/>
              <a:t>i</a:t>
            </a:r>
            <a:r>
              <a:rPr lang="en-US" altLang="zh-CN" b="0" dirty="0"/>
              <a:t> = 0;          //</a:t>
            </a:r>
            <a:r>
              <a:rPr lang="zh-CN" altLang="zh-CN" b="0" dirty="0"/>
              <a:t>初始化计数器</a:t>
            </a:r>
          </a:p>
          <a:p>
            <a:pPr lvl="2" algn="just">
              <a:buNone/>
            </a:pPr>
            <a:r>
              <a:rPr lang="en-US" altLang="zh-CN" b="0" dirty="0"/>
              <a:t>    while(p) { i++; p = p-&gt;next;  }</a:t>
            </a:r>
            <a:endParaRPr lang="zh-CN" altLang="zh-CN" b="0" dirty="0"/>
          </a:p>
          <a:p>
            <a:pPr lvl="2" algn="just">
              <a:buNone/>
            </a:pPr>
            <a:r>
              <a:rPr lang="en-US" altLang="zh-CN" b="0" dirty="0"/>
              <a:t>    return </a:t>
            </a:r>
            <a:r>
              <a:rPr lang="en-US" altLang="zh-CN" b="0" dirty="0" err="1"/>
              <a:t>i</a:t>
            </a:r>
            <a:r>
              <a:rPr lang="en-US" altLang="zh-CN" b="0" dirty="0"/>
              <a:t>;</a:t>
            </a:r>
            <a:endParaRPr lang="zh-CN" altLang="zh-CN" b="0" dirty="0"/>
          </a:p>
          <a:p>
            <a:pPr lvl="2" algn="just">
              <a:buNone/>
            </a:pPr>
            <a:r>
              <a:rPr lang="en-US" altLang="zh-CN" b="0" dirty="0"/>
              <a:t>}</a:t>
            </a:r>
            <a:endParaRPr lang="zh-CN" altLang="zh-CN" b="0" dirty="0"/>
          </a:p>
          <a:p>
            <a:pPr algn="just"/>
            <a:endParaRPr lang="zh-CN" altLang="en-US" dirty="0"/>
          </a:p>
        </p:txBody>
      </p:sp>
    </p:spTree>
    <p:extLst>
      <p:ext uri="{BB962C8B-B14F-4D97-AF65-F5344CB8AC3E}">
        <p14:creationId xmlns:p14="http://schemas.microsoft.com/office/powerpoint/2010/main" val="39389490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08720"/>
            <a:ext cx="7520940" cy="5400600"/>
          </a:xfrm>
        </p:spPr>
        <p:txBody>
          <a:bodyPr>
            <a:normAutofit fontScale="92500"/>
          </a:bodyPr>
          <a:lstStyle/>
          <a:p>
            <a:pPr algn="just"/>
            <a:r>
              <a:rPr lang="zh-CN" altLang="zh-CN" sz="2800" dirty="0"/>
              <a:t>（</a:t>
            </a:r>
            <a:r>
              <a:rPr lang="en-US" altLang="zh-CN" sz="2800" dirty="0"/>
              <a:t>3</a:t>
            </a:r>
            <a:r>
              <a:rPr lang="zh-CN" altLang="zh-CN" sz="2800" dirty="0"/>
              <a:t>）</a:t>
            </a:r>
            <a:r>
              <a:rPr lang="zh-CN" altLang="zh-CN" sz="2800" dirty="0">
                <a:solidFill>
                  <a:srgbClr val="FF0000"/>
                </a:solidFill>
              </a:rPr>
              <a:t>返回栈顶元素</a:t>
            </a:r>
            <a:r>
              <a:rPr lang="zh-CN" altLang="zh-CN" sz="2800" dirty="0"/>
              <a:t>的操作</a:t>
            </a:r>
            <a:r>
              <a:rPr lang="zh-CN" altLang="en-US" sz="2800" dirty="0"/>
              <a:t>：</a:t>
            </a:r>
            <a:r>
              <a:rPr lang="zh-CN" altLang="zh-CN" b="0" dirty="0"/>
              <a:t>函数</a:t>
            </a:r>
            <a:r>
              <a:rPr lang="en-US" altLang="zh-CN" b="0" dirty="0" err="1"/>
              <a:t>GetTop</a:t>
            </a:r>
            <a:r>
              <a:rPr lang="en-US" altLang="zh-CN" b="0" dirty="0"/>
              <a:t>()</a:t>
            </a:r>
            <a:r>
              <a:rPr lang="zh-CN" altLang="zh-CN" b="0" dirty="0"/>
              <a:t> </a:t>
            </a:r>
            <a:endParaRPr lang="zh-CN" altLang="zh-CN" sz="2800" dirty="0"/>
          </a:p>
          <a:p>
            <a:pPr algn="just">
              <a:buFont typeface="Arial" panose="020B0604020202020204" pitchFamily="34" charset="0"/>
              <a:buChar char="•"/>
            </a:pPr>
            <a:r>
              <a:rPr lang="zh-CN" altLang="zh-CN" b="0" dirty="0"/>
              <a:t>返回栈顶元素的值。</a:t>
            </a:r>
            <a:endParaRPr lang="en-US" altLang="zh-CN" b="0" dirty="0"/>
          </a:p>
          <a:p>
            <a:pPr algn="just">
              <a:buFont typeface="Arial" panose="020B0604020202020204" pitchFamily="34" charset="0"/>
              <a:buChar char="•"/>
            </a:pPr>
            <a:r>
              <a:rPr lang="zh-CN" altLang="zh-CN" b="0" dirty="0"/>
              <a:t>在有头结点的情况下，空的链栈仍有一个头结点，空栈的条件是头结点的指针域存放</a:t>
            </a:r>
            <a:r>
              <a:rPr lang="en-US" altLang="zh-CN" b="0" dirty="0"/>
              <a:t>NULL</a:t>
            </a:r>
            <a:r>
              <a:rPr lang="zh-CN" altLang="zh-CN" b="0" dirty="0"/>
              <a:t>。</a:t>
            </a:r>
            <a:endParaRPr lang="en-US" altLang="zh-CN" b="0" dirty="0"/>
          </a:p>
          <a:p>
            <a:pPr algn="just">
              <a:buFont typeface="Arial" panose="020B0604020202020204" pitchFamily="34" charset="0"/>
              <a:buChar char="•"/>
            </a:pPr>
            <a:r>
              <a:rPr lang="zh-CN" altLang="zh-CN" b="0" dirty="0"/>
              <a:t>若链栈没有头结点，则头指针直接指向栈顶元素，这时空栈的条件为栈顶指针指为空。</a:t>
            </a:r>
          </a:p>
          <a:p>
            <a:pPr algn="just"/>
            <a:r>
              <a:rPr lang="zh-CN" altLang="zh-CN" dirty="0"/>
              <a:t>算法</a:t>
            </a:r>
            <a:r>
              <a:rPr lang="en-US" altLang="zh-CN" dirty="0"/>
              <a:t>:3.10</a:t>
            </a:r>
            <a:r>
              <a:rPr lang="zh-CN" altLang="zh-CN" dirty="0"/>
              <a:t>：</a:t>
            </a:r>
            <a:r>
              <a:rPr lang="zh-CN" altLang="zh-CN" dirty="0">
                <a:solidFill>
                  <a:srgbClr val="FF0000"/>
                </a:solidFill>
              </a:rPr>
              <a:t>返回栈顶元素的值</a:t>
            </a:r>
          </a:p>
          <a:p>
            <a:pPr lvl="2" algn="just">
              <a:buNone/>
            </a:pPr>
            <a:r>
              <a:rPr lang="en-US" altLang="zh-CN" b="0" dirty="0"/>
              <a:t>Type &amp;</a:t>
            </a:r>
            <a:r>
              <a:rPr lang="en-US" altLang="zh-CN" b="0" dirty="0" err="1"/>
              <a:t>LinkStack</a:t>
            </a:r>
            <a:r>
              <a:rPr lang="en-US" altLang="zh-CN" b="0" dirty="0"/>
              <a:t>&lt;Type&gt;::</a:t>
            </a:r>
            <a:r>
              <a:rPr lang="en-US" altLang="zh-CN" b="0" dirty="0" err="1"/>
              <a:t>GetTop</a:t>
            </a:r>
            <a:r>
              <a:rPr lang="en-US" altLang="zh-CN" b="0" dirty="0"/>
              <a:t>(){</a:t>
            </a:r>
            <a:endParaRPr lang="zh-CN" altLang="zh-CN" b="0" dirty="0"/>
          </a:p>
          <a:p>
            <a:pPr lvl="2" algn="just">
              <a:buNone/>
            </a:pPr>
            <a:r>
              <a:rPr lang="en-US" altLang="zh-CN" b="0" dirty="0"/>
              <a:t>    if(</a:t>
            </a:r>
            <a:r>
              <a:rPr lang="en-US" altLang="zh-CN" b="0" dirty="0" err="1"/>
              <a:t>IsEmpty</a:t>
            </a:r>
            <a:r>
              <a:rPr lang="en-US" altLang="zh-CN" b="0" dirty="0"/>
              <a:t>()) {  </a:t>
            </a:r>
            <a:r>
              <a:rPr lang="en-US" altLang="zh-CN" b="0" dirty="0" err="1"/>
              <a:t>cout</a:t>
            </a:r>
            <a:r>
              <a:rPr lang="en-US" altLang="zh-CN" b="0" dirty="0"/>
              <a:t>&lt;&lt;"</a:t>
            </a:r>
            <a:r>
              <a:rPr lang="zh-CN" altLang="zh-CN" b="0" dirty="0"/>
              <a:t>链栈为空！</a:t>
            </a:r>
            <a:r>
              <a:rPr lang="en-US" altLang="zh-CN" b="0" dirty="0"/>
              <a:t>"&lt;&lt;</a:t>
            </a:r>
            <a:r>
              <a:rPr lang="en-US" altLang="zh-CN" b="0" dirty="0" err="1"/>
              <a:t>endl</a:t>
            </a:r>
            <a:r>
              <a:rPr lang="en-US" altLang="zh-CN" b="0" dirty="0"/>
              <a:t>; 	exit(0); }</a:t>
            </a:r>
            <a:endParaRPr lang="zh-CN" altLang="zh-CN" b="0" dirty="0"/>
          </a:p>
          <a:p>
            <a:pPr lvl="2" algn="just">
              <a:buNone/>
            </a:pPr>
            <a:r>
              <a:rPr lang="en-US" altLang="zh-CN" b="0" dirty="0"/>
              <a:t>    else return top-&gt;</a:t>
            </a:r>
            <a:r>
              <a:rPr lang="en-US" altLang="zh-CN" b="0" dirty="0" err="1"/>
              <a:t>elem</a:t>
            </a:r>
            <a:r>
              <a:rPr lang="en-US" altLang="zh-CN" b="0" dirty="0"/>
              <a:t>;</a:t>
            </a:r>
            <a:endParaRPr lang="zh-CN" altLang="zh-CN" b="0" dirty="0"/>
          </a:p>
          <a:p>
            <a:pPr lvl="2" algn="just">
              <a:buNone/>
            </a:pPr>
            <a:r>
              <a:rPr lang="en-US" altLang="zh-CN" b="0" dirty="0"/>
              <a:t>}</a:t>
            </a:r>
            <a:endParaRPr lang="zh-CN" altLang="zh-CN" b="0" dirty="0"/>
          </a:p>
          <a:p>
            <a:pPr algn="just"/>
            <a:endParaRPr lang="zh-CN" altLang="en-US" dirty="0"/>
          </a:p>
        </p:txBody>
      </p:sp>
    </p:spTree>
    <p:extLst>
      <p:ext uri="{BB962C8B-B14F-4D97-AF65-F5344CB8AC3E}">
        <p14:creationId xmlns:p14="http://schemas.microsoft.com/office/powerpoint/2010/main" val="8438128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60" y="980728"/>
            <a:ext cx="8352928" cy="5256584"/>
          </a:xfrm>
        </p:spPr>
        <p:txBody>
          <a:bodyPr>
            <a:normAutofit/>
          </a:bodyPr>
          <a:lstStyle/>
          <a:p>
            <a:pPr algn="just"/>
            <a:r>
              <a:rPr lang="zh-CN" altLang="zh-CN" dirty="0"/>
              <a:t>（</a:t>
            </a:r>
            <a:r>
              <a:rPr lang="en-US" altLang="zh-CN" dirty="0"/>
              <a:t>4</a:t>
            </a:r>
            <a:r>
              <a:rPr lang="zh-CN" altLang="zh-CN" dirty="0"/>
              <a:t>）</a:t>
            </a:r>
            <a:r>
              <a:rPr lang="zh-CN" altLang="zh-CN" dirty="0">
                <a:solidFill>
                  <a:srgbClr val="FF0000"/>
                </a:solidFill>
              </a:rPr>
              <a:t>链栈的入栈和出栈操作</a:t>
            </a:r>
          </a:p>
          <a:p>
            <a:pPr algn="just">
              <a:buFont typeface="Arial" panose="020B0604020202020204" pitchFamily="34" charset="0"/>
              <a:buChar char="•"/>
            </a:pPr>
            <a:r>
              <a:rPr lang="zh-CN" altLang="zh-CN" b="0" dirty="0"/>
              <a:t>在没有头结点的链栈中，头指针直接指向栈顶节点。</a:t>
            </a:r>
            <a:r>
              <a:rPr lang="en-US" altLang="zh-CN" b="0" dirty="0"/>
              <a:t>Push()</a:t>
            </a:r>
            <a:r>
              <a:rPr lang="zh-CN" altLang="zh-CN" b="0" dirty="0"/>
              <a:t>函数实现了链栈的入栈操作</a:t>
            </a:r>
          </a:p>
          <a:p>
            <a:pPr algn="just"/>
            <a:r>
              <a:rPr lang="zh-CN" altLang="zh-CN" dirty="0"/>
              <a:t>算法</a:t>
            </a:r>
            <a:r>
              <a:rPr lang="en-US" altLang="zh-CN" dirty="0"/>
              <a:t>3.11</a:t>
            </a:r>
            <a:r>
              <a:rPr lang="zh-CN" altLang="zh-CN" dirty="0"/>
              <a:t>：</a:t>
            </a:r>
            <a:r>
              <a:rPr lang="zh-CN" altLang="zh-CN" dirty="0">
                <a:solidFill>
                  <a:srgbClr val="FF0000"/>
                </a:solidFill>
              </a:rPr>
              <a:t>入栈操作</a:t>
            </a:r>
            <a:r>
              <a:rPr lang="zh-CN" altLang="zh-CN" dirty="0"/>
              <a:t>，将元素</a:t>
            </a:r>
            <a:r>
              <a:rPr lang="en-US" altLang="zh-CN" dirty="0"/>
              <a:t>e</a:t>
            </a:r>
            <a:r>
              <a:rPr lang="zh-CN" altLang="zh-CN" dirty="0"/>
              <a:t>加入链栈栈顶</a:t>
            </a:r>
          </a:p>
          <a:p>
            <a:pPr lvl="2" algn="just">
              <a:buNone/>
            </a:pPr>
            <a:r>
              <a:rPr lang="en-US" altLang="zh-CN" b="0" dirty="0"/>
              <a:t>void LinkStack&lt;Type&gt;::Push(Type &amp;e){ </a:t>
            </a:r>
          </a:p>
          <a:p>
            <a:pPr lvl="2" algn="just">
              <a:buNone/>
            </a:pPr>
            <a:r>
              <a:rPr lang="en-US" altLang="zh-CN" dirty="0"/>
              <a:t>	  LinkStackNode&lt;Type&gt; *p;</a:t>
            </a:r>
            <a:endParaRPr lang="zh-CN" altLang="zh-CN" b="0" dirty="0"/>
          </a:p>
          <a:p>
            <a:pPr lvl="2" algn="just">
              <a:buNone/>
            </a:pPr>
            <a:r>
              <a:rPr lang="en-US" altLang="zh-CN" b="0" dirty="0"/>
              <a:t>    p = new LinkStackNode&lt;Type&gt;(e, top);</a:t>
            </a:r>
            <a:endParaRPr lang="zh-CN" altLang="zh-CN" b="0" dirty="0"/>
          </a:p>
          <a:p>
            <a:pPr lvl="2" algn="just">
              <a:buNone/>
            </a:pPr>
            <a:r>
              <a:rPr lang="en-US" altLang="zh-CN" b="0" dirty="0"/>
              <a:t>    if(p == NULL) { cout&lt;&lt;"</a:t>
            </a:r>
            <a:r>
              <a:rPr lang="zh-CN" altLang="zh-CN" b="0" dirty="0"/>
              <a:t>结点分配失败！</a:t>
            </a:r>
            <a:r>
              <a:rPr lang="en-US" altLang="zh-CN" b="0" dirty="0"/>
              <a:t>"&lt;&lt;endl; exit(0); }</a:t>
            </a:r>
          </a:p>
          <a:p>
            <a:pPr lvl="2" algn="just">
              <a:buNone/>
            </a:pPr>
            <a:r>
              <a:rPr lang="en-US" altLang="zh-CN" dirty="0"/>
              <a:t>    top=p;	 </a:t>
            </a:r>
            <a:endParaRPr lang="zh-CN" altLang="zh-CN" b="0" dirty="0"/>
          </a:p>
          <a:p>
            <a:pPr lvl="2" algn="just">
              <a:buNone/>
            </a:pPr>
            <a:r>
              <a:rPr lang="en-US" altLang="zh-CN" b="0" dirty="0"/>
              <a:t>}</a:t>
            </a:r>
            <a:endParaRPr lang="zh-CN" altLang="zh-CN" b="0" dirty="0"/>
          </a:p>
          <a:p>
            <a:pPr algn="just"/>
            <a:endParaRPr lang="zh-CN" altLang="en-US" dirty="0"/>
          </a:p>
        </p:txBody>
      </p:sp>
    </p:spTree>
    <p:extLst>
      <p:ext uri="{BB962C8B-B14F-4D97-AF65-F5344CB8AC3E}">
        <p14:creationId xmlns:p14="http://schemas.microsoft.com/office/powerpoint/2010/main" val="34551985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08720"/>
            <a:ext cx="7520940" cy="5328592"/>
          </a:xfrm>
        </p:spPr>
        <p:txBody>
          <a:bodyPr>
            <a:normAutofit/>
          </a:bodyPr>
          <a:lstStyle/>
          <a:p>
            <a:pPr algn="just">
              <a:buFont typeface="Arial" panose="020B0604020202020204" pitchFamily="34" charset="0"/>
              <a:buChar char="•"/>
            </a:pPr>
            <a:r>
              <a:rPr lang="en-US" altLang="zh-CN" b="0" dirty="0"/>
              <a:t>Pop()</a:t>
            </a:r>
            <a:r>
              <a:rPr lang="zh-CN" altLang="zh-CN" b="0" dirty="0"/>
              <a:t>函数实现了链栈的出栈操作。用一个变量记录已出栈结点数据域的值，释放已出栈结点占用的存储空间，并返回记录的数据值。</a:t>
            </a:r>
          </a:p>
          <a:p>
            <a:pPr algn="just"/>
            <a:r>
              <a:rPr lang="zh-CN" altLang="zh-CN" dirty="0"/>
              <a:t>算法</a:t>
            </a:r>
            <a:r>
              <a:rPr lang="en-US" altLang="zh-CN" dirty="0"/>
              <a:t>3.12</a:t>
            </a:r>
            <a:r>
              <a:rPr lang="zh-CN" altLang="zh-CN" dirty="0"/>
              <a:t>：</a:t>
            </a:r>
            <a:r>
              <a:rPr lang="zh-CN" altLang="zh-CN" dirty="0">
                <a:solidFill>
                  <a:srgbClr val="FF0000"/>
                </a:solidFill>
              </a:rPr>
              <a:t>出栈操作，删除栈顶元素</a:t>
            </a:r>
            <a:r>
              <a:rPr lang="zh-CN" altLang="zh-CN" dirty="0"/>
              <a:t>，并返回其值</a:t>
            </a:r>
          </a:p>
          <a:p>
            <a:pPr lvl="2" algn="just">
              <a:buNone/>
            </a:pPr>
            <a:r>
              <a:rPr lang="en-US" altLang="zh-CN" sz="2000" b="0" dirty="0"/>
              <a:t>Type &amp;</a:t>
            </a:r>
            <a:r>
              <a:rPr lang="en-US" altLang="zh-CN" sz="2000" b="0" dirty="0" err="1"/>
              <a:t>LinkStack</a:t>
            </a:r>
            <a:r>
              <a:rPr lang="en-US" altLang="zh-CN" sz="2000" b="0" dirty="0"/>
              <a:t>&lt;Type&gt;::Pop(){</a:t>
            </a:r>
            <a:endParaRPr lang="zh-CN" altLang="zh-CN" sz="2000" b="0" dirty="0"/>
          </a:p>
          <a:p>
            <a:pPr lvl="2" algn="just">
              <a:buNone/>
            </a:pPr>
            <a:r>
              <a:rPr lang="en-US" altLang="zh-CN" sz="2000" b="0" dirty="0"/>
              <a:t>   if(IsEmpty())    { cout&lt;&lt;"</a:t>
            </a:r>
            <a:r>
              <a:rPr lang="zh-CN" altLang="zh-CN" sz="2000" b="0" dirty="0"/>
              <a:t>链栈为空！</a:t>
            </a:r>
            <a:r>
              <a:rPr lang="en-US" altLang="zh-CN" sz="2000" b="0" dirty="0"/>
              <a:t>"&lt;&lt;</a:t>
            </a:r>
            <a:r>
              <a:rPr lang="en-US" altLang="zh-CN" sz="2000" b="0" dirty="0" err="1"/>
              <a:t>endl</a:t>
            </a:r>
            <a:r>
              <a:rPr lang="en-US" altLang="zh-CN" sz="2000" b="0" dirty="0"/>
              <a:t>; exit(0); }</a:t>
            </a:r>
            <a:endParaRPr lang="zh-CN" altLang="zh-CN" sz="2000" b="0" dirty="0"/>
          </a:p>
          <a:p>
            <a:pPr lvl="2" algn="just">
              <a:buNone/>
            </a:pPr>
            <a:r>
              <a:rPr lang="en-US" altLang="zh-CN" sz="2000" b="0" dirty="0"/>
              <a:t>   LinkStackNode&lt;Type&gt; *p = top;</a:t>
            </a:r>
            <a:endParaRPr lang="zh-CN" altLang="zh-CN" sz="2000" b="0" dirty="0"/>
          </a:p>
          <a:p>
            <a:pPr lvl="2" algn="just">
              <a:buNone/>
            </a:pPr>
            <a:r>
              <a:rPr lang="en-US" altLang="zh-CN" sz="2000" b="0" dirty="0"/>
              <a:t>   top = top-&gt;next;</a:t>
            </a:r>
            <a:endParaRPr lang="zh-CN" altLang="zh-CN" sz="2000" b="0" dirty="0"/>
          </a:p>
          <a:p>
            <a:pPr lvl="2" algn="just">
              <a:buNone/>
            </a:pPr>
            <a:r>
              <a:rPr lang="en-US" altLang="zh-CN" sz="2000" b="0" dirty="0"/>
              <a:t>   Type e = p-&gt;elem;</a:t>
            </a:r>
            <a:endParaRPr lang="zh-CN" altLang="zh-CN" sz="2000" b="0" dirty="0"/>
          </a:p>
          <a:p>
            <a:pPr lvl="2" algn="just">
              <a:buNone/>
            </a:pPr>
            <a:r>
              <a:rPr lang="en-US" altLang="zh-CN" sz="2000" b="0" dirty="0"/>
              <a:t>   delete p; </a:t>
            </a:r>
          </a:p>
          <a:p>
            <a:pPr lvl="2" algn="just">
              <a:buNone/>
            </a:pPr>
            <a:r>
              <a:rPr lang="en-US" altLang="zh-CN" sz="2000" dirty="0"/>
              <a:t>	</a:t>
            </a:r>
            <a:r>
              <a:rPr lang="en-US" altLang="zh-CN" sz="2000" b="0" dirty="0"/>
              <a:t> return e;</a:t>
            </a:r>
            <a:endParaRPr lang="zh-CN" altLang="zh-CN" sz="2000" b="0" dirty="0"/>
          </a:p>
          <a:p>
            <a:pPr lvl="2" algn="just">
              <a:buNone/>
            </a:pPr>
            <a:r>
              <a:rPr lang="en-US" altLang="zh-CN" sz="2000" b="0" dirty="0"/>
              <a:t>}</a:t>
            </a:r>
            <a:endParaRPr lang="zh-CN" altLang="zh-CN" sz="2000" b="0" dirty="0"/>
          </a:p>
          <a:p>
            <a:pPr lvl="2" algn="just">
              <a:buNone/>
            </a:pPr>
            <a:endParaRPr lang="zh-CN" altLang="en-US" dirty="0"/>
          </a:p>
        </p:txBody>
      </p:sp>
    </p:spTree>
    <p:extLst>
      <p:ext uri="{BB962C8B-B14F-4D97-AF65-F5344CB8AC3E}">
        <p14:creationId xmlns:p14="http://schemas.microsoft.com/office/powerpoint/2010/main" val="37380007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4">
            <a:extLst>
              <a:ext uri="{FF2B5EF4-FFF2-40B4-BE49-F238E27FC236}">
                <a16:creationId xmlns:a16="http://schemas.microsoft.com/office/drawing/2014/main" id="{5B185CF6-49B1-476B-ABD4-694A4CCBF87B}"/>
              </a:ext>
            </a:extLst>
          </p:cNvPr>
          <p:cNvSpPr txBox="1">
            <a:spLocks noChangeArrowheads="1"/>
          </p:cNvSpPr>
          <p:nvPr/>
        </p:nvSpPr>
        <p:spPr bwMode="auto">
          <a:xfrm>
            <a:off x="251520" y="1083240"/>
            <a:ext cx="8568952" cy="820866"/>
          </a:xfrm>
          <a:prstGeom prst="rect">
            <a:avLst/>
          </a:prstGeom>
          <a:noFill/>
          <a:ln w="9525">
            <a:noFill/>
            <a:miter lim="800000"/>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a:spAutoFit/>
          </a:bodyPr>
          <a:lstStyle/>
          <a:p>
            <a:pPr algn="l">
              <a:lnSpc>
                <a:spcPts val="3000"/>
              </a:lnSpc>
              <a:spcBef>
                <a:spcPts val="0"/>
              </a:spcBef>
            </a:pPr>
            <a:r>
              <a:rPr lang="en-US" altLang="zh-CN" sz="2000" dirty="0">
                <a:solidFill>
                  <a:srgbClr val="FF0000"/>
                </a:solidFill>
                <a:latin typeface="楷体" panose="02010609060101010101" pitchFamily="49" charset="-122"/>
                <a:ea typeface="楷体" panose="02010609060101010101" pitchFamily="49" charset="-122"/>
                <a:cs typeface="Consolas" pitchFamily="49" charset="0"/>
              </a:rPr>
              <a:t>【</a:t>
            </a:r>
            <a:r>
              <a:rPr lang="zh-CN" altLang="en-US" sz="2000" dirty="0">
                <a:solidFill>
                  <a:srgbClr val="FF0000"/>
                </a:solidFill>
                <a:latin typeface="楷体" panose="02010609060101010101" pitchFamily="49" charset="-122"/>
                <a:ea typeface="楷体" panose="02010609060101010101" pitchFamily="49" charset="-122"/>
                <a:cs typeface="Consolas" pitchFamily="49" charset="0"/>
              </a:rPr>
              <a:t>例</a:t>
            </a:r>
            <a:r>
              <a:rPr lang="en-US" altLang="zh-CN" sz="2000" dirty="0">
                <a:solidFill>
                  <a:srgbClr val="FF0000"/>
                </a:solidFill>
                <a:latin typeface="楷体" panose="02010609060101010101" pitchFamily="49" charset="-122"/>
                <a:ea typeface="楷体" panose="02010609060101010101" pitchFamily="49" charset="-122"/>
                <a:cs typeface="Consolas" pitchFamily="49" charset="0"/>
              </a:rPr>
              <a:t>】</a:t>
            </a:r>
            <a:r>
              <a:rPr lang="en-US" altLang="zh-CN" sz="2000" dirty="0">
                <a:latin typeface="楷体" panose="02010609060101010101" pitchFamily="49" charset="-122"/>
                <a:ea typeface="楷体" panose="02010609060101010101" pitchFamily="49" charset="-122"/>
                <a:cs typeface="Consolas" pitchFamily="49" charset="0"/>
              </a:rPr>
              <a:t> </a:t>
            </a:r>
            <a:r>
              <a:rPr lang="zh-CN" altLang="en-US" sz="2000" dirty="0">
                <a:latin typeface="楷体" panose="02010609060101010101" pitchFamily="49" charset="-122"/>
                <a:ea typeface="楷体" panose="02010609060101010101" pitchFamily="49" charset="-122"/>
                <a:cs typeface="Consolas" pitchFamily="49" charset="0"/>
              </a:rPr>
              <a:t>设计一个算法利用顺序栈判断一个字符串是否是对称串。所谓</a:t>
            </a:r>
            <a:r>
              <a:rPr lang="zh-CN" altLang="en-US" sz="2000" dirty="0">
                <a:solidFill>
                  <a:srgbClr val="FF00FF"/>
                </a:solidFill>
                <a:latin typeface="楷体" panose="02010609060101010101" pitchFamily="49" charset="-122"/>
                <a:ea typeface="楷体" panose="02010609060101010101" pitchFamily="49" charset="-122"/>
                <a:cs typeface="Consolas" pitchFamily="49" charset="0"/>
              </a:rPr>
              <a:t>对称串</a:t>
            </a:r>
            <a:r>
              <a:rPr lang="zh-CN" altLang="en-US" sz="2000" dirty="0">
                <a:latin typeface="楷体" panose="02010609060101010101" pitchFamily="49" charset="-122"/>
                <a:ea typeface="楷体" panose="02010609060101010101" pitchFamily="49" charset="-122"/>
                <a:cs typeface="Consolas" pitchFamily="49" charset="0"/>
              </a:rPr>
              <a:t>是指从左向右读和从右向左读的序列相同。</a:t>
            </a:r>
          </a:p>
        </p:txBody>
      </p:sp>
      <p:sp>
        <p:nvSpPr>
          <p:cNvPr id="5" name="Text Box 5">
            <a:extLst>
              <a:ext uri="{FF2B5EF4-FFF2-40B4-BE49-F238E27FC236}">
                <a16:creationId xmlns:a16="http://schemas.microsoft.com/office/drawing/2014/main" id="{1D41C62B-3BB5-417A-8E20-3A01BE9C511A}"/>
              </a:ext>
            </a:extLst>
          </p:cNvPr>
          <p:cNvSpPr txBox="1">
            <a:spLocks noChangeArrowheads="1"/>
          </p:cNvSpPr>
          <p:nvPr/>
        </p:nvSpPr>
        <p:spPr bwMode="auto">
          <a:xfrm>
            <a:off x="396231" y="2938537"/>
            <a:ext cx="4175769" cy="2169606"/>
          </a:xfrm>
          <a:prstGeom prst="rect">
            <a:avLst/>
          </a:prstGeom>
          <a:ln>
            <a:noFill/>
            <a:headEnd/>
            <a:tailEnd/>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a:spAutoFit/>
          </a:bodyPr>
          <a:lstStyle/>
          <a:p>
            <a:pPr marL="342900" indent="-342900" algn="l">
              <a:lnSpc>
                <a:spcPct val="120000"/>
              </a:lnSpc>
              <a:spcBef>
                <a:spcPct val="50000"/>
              </a:spcBef>
              <a:buBlip>
                <a:blip r:embed="rId2"/>
              </a:buBlip>
            </a:pPr>
            <a:r>
              <a:rPr lang="zh-CN" altLang="en-US" sz="2000" dirty="0">
                <a:solidFill>
                  <a:schemeClr val="tx1"/>
                </a:solidFill>
                <a:latin typeface="楷体" panose="02010609060101010101" pitchFamily="49" charset="-122"/>
                <a:ea typeface="楷体" panose="02010609060101010101" pitchFamily="49" charset="-122"/>
                <a:cs typeface="Consolas" pitchFamily="49" charset="0"/>
              </a:rPr>
              <a:t>字符串</a:t>
            </a:r>
            <a:r>
              <a:rPr lang="en-US" altLang="zh-CN" sz="2000" dirty="0" err="1">
                <a:solidFill>
                  <a:schemeClr val="tx1"/>
                </a:solidFill>
                <a:latin typeface="楷体" panose="02010609060101010101" pitchFamily="49" charset="-122"/>
                <a:ea typeface="楷体" panose="02010609060101010101" pitchFamily="49" charset="-122"/>
                <a:cs typeface="Consolas" pitchFamily="49" charset="0"/>
              </a:rPr>
              <a:t>str</a:t>
            </a:r>
            <a:r>
              <a:rPr lang="zh-CN" altLang="en-US" sz="2000" dirty="0">
                <a:solidFill>
                  <a:schemeClr val="tx1"/>
                </a:solidFill>
                <a:latin typeface="楷体" panose="02010609060101010101" pitchFamily="49" charset="-122"/>
                <a:ea typeface="楷体" panose="02010609060101010101" pitchFamily="49" charset="-122"/>
                <a:cs typeface="Consolas" pitchFamily="49" charset="0"/>
              </a:rPr>
              <a:t>的所有元素依次进栈，产生的连续出栈序列正好与</a:t>
            </a:r>
            <a:r>
              <a:rPr lang="en-US" altLang="zh-CN" sz="2000" dirty="0" err="1">
                <a:solidFill>
                  <a:schemeClr val="tx1"/>
                </a:solidFill>
                <a:latin typeface="楷体" panose="02010609060101010101" pitchFamily="49" charset="-122"/>
                <a:ea typeface="楷体" panose="02010609060101010101" pitchFamily="49" charset="-122"/>
                <a:cs typeface="Consolas" pitchFamily="49" charset="0"/>
              </a:rPr>
              <a:t>str</a:t>
            </a:r>
            <a:r>
              <a:rPr lang="zh-CN" altLang="en-US" sz="2000" dirty="0">
                <a:solidFill>
                  <a:schemeClr val="tx1"/>
                </a:solidFill>
                <a:latin typeface="楷体" panose="02010609060101010101" pitchFamily="49" charset="-122"/>
                <a:ea typeface="楷体" panose="02010609060101010101" pitchFamily="49" charset="-122"/>
                <a:cs typeface="Consolas" pitchFamily="49" charset="0"/>
              </a:rPr>
              <a:t>的顺序相反。</a:t>
            </a:r>
            <a:endParaRPr lang="en-US" altLang="zh-CN" sz="2000" dirty="0">
              <a:solidFill>
                <a:schemeClr val="tx1"/>
              </a:solidFill>
              <a:latin typeface="楷体" panose="02010609060101010101" pitchFamily="49" charset="-122"/>
              <a:ea typeface="楷体" panose="02010609060101010101" pitchFamily="49" charset="-122"/>
              <a:cs typeface="Consolas" pitchFamily="49" charset="0"/>
            </a:endParaRPr>
          </a:p>
          <a:p>
            <a:pPr marL="342900" indent="-342900" algn="l">
              <a:lnSpc>
                <a:spcPct val="120000"/>
              </a:lnSpc>
              <a:spcBef>
                <a:spcPct val="50000"/>
              </a:spcBef>
              <a:buBlip>
                <a:blip r:embed="rId2"/>
              </a:buBlip>
            </a:pPr>
            <a:r>
              <a:rPr lang="zh-CN" altLang="en-US" sz="2000" dirty="0">
                <a:solidFill>
                  <a:schemeClr val="tx1"/>
                </a:solidFill>
                <a:latin typeface="楷体" panose="02010609060101010101" pitchFamily="49" charset="-122"/>
                <a:ea typeface="楷体" panose="02010609060101010101" pitchFamily="49" charset="-122"/>
                <a:cs typeface="Consolas" pitchFamily="49" charset="0"/>
              </a:rPr>
              <a:t>如果</a:t>
            </a:r>
            <a:r>
              <a:rPr lang="en-US" altLang="zh-CN" sz="2000" dirty="0">
                <a:solidFill>
                  <a:schemeClr val="tx1"/>
                </a:solidFill>
                <a:latin typeface="楷体" panose="02010609060101010101" pitchFamily="49" charset="-122"/>
                <a:ea typeface="楷体" panose="02010609060101010101" pitchFamily="49" charset="-122"/>
                <a:cs typeface="Consolas" pitchFamily="49" charset="0"/>
              </a:rPr>
              <a:t>str</a:t>
            </a:r>
            <a:r>
              <a:rPr lang="zh-CN" altLang="en-US" sz="2000" dirty="0">
                <a:solidFill>
                  <a:schemeClr val="tx1"/>
                </a:solidFill>
                <a:latin typeface="楷体" panose="02010609060101010101" pitchFamily="49" charset="-122"/>
                <a:ea typeface="楷体" panose="02010609060101010101" pitchFamily="49" charset="-122"/>
                <a:cs typeface="Consolas" pitchFamily="49" charset="0"/>
              </a:rPr>
              <a:t>与连续出栈序列相同，则是</a:t>
            </a:r>
            <a:r>
              <a:rPr lang="zh-CN" altLang="en-US" sz="2000" dirty="0">
                <a:solidFill>
                  <a:srgbClr val="C00000"/>
                </a:solidFill>
                <a:latin typeface="楷体" panose="02010609060101010101" pitchFamily="49" charset="-122"/>
                <a:ea typeface="楷体" panose="02010609060101010101" pitchFamily="49" charset="-122"/>
                <a:cs typeface="Consolas" pitchFamily="49" charset="0"/>
              </a:rPr>
              <a:t>对称串</a:t>
            </a:r>
            <a:r>
              <a:rPr lang="zh-CN" altLang="en-US" sz="2000" dirty="0">
                <a:solidFill>
                  <a:schemeClr val="tx1"/>
                </a:solidFill>
                <a:latin typeface="楷体" panose="02010609060101010101" pitchFamily="49" charset="-122"/>
                <a:ea typeface="楷体" panose="02010609060101010101" pitchFamily="49" charset="-122"/>
                <a:cs typeface="Consolas" pitchFamily="49" charset="0"/>
              </a:rPr>
              <a:t>。</a:t>
            </a:r>
          </a:p>
        </p:txBody>
      </p:sp>
      <p:sp>
        <p:nvSpPr>
          <p:cNvPr id="6" name="TextBox 3">
            <a:extLst>
              <a:ext uri="{FF2B5EF4-FFF2-40B4-BE49-F238E27FC236}">
                <a16:creationId xmlns:a16="http://schemas.microsoft.com/office/drawing/2014/main" id="{848BF6D0-F7AB-4251-A78D-A08A43CD6B91}"/>
              </a:ext>
            </a:extLst>
          </p:cNvPr>
          <p:cNvSpPr txBox="1"/>
          <p:nvPr/>
        </p:nvSpPr>
        <p:spPr>
          <a:xfrm>
            <a:off x="468239" y="2231695"/>
            <a:ext cx="2214578" cy="400110"/>
          </a:xfrm>
          <a:prstGeom prst="rect">
            <a:avLst/>
          </a:prstGeom>
          <a:solidFill>
            <a:schemeClr val="accent6">
              <a:lumMod val="40000"/>
              <a:lumOff val="60000"/>
            </a:schemeClr>
          </a:solidFill>
          <a:scene3d>
            <a:camera prst="perspectiveRight"/>
            <a:lightRig rig="threePt" dir="t"/>
          </a:scene3d>
        </p:spPr>
        <p:txBody>
          <a:bodyPr wrap="square" rtlCol="0">
            <a:spAutoFit/>
          </a:bodyPr>
          <a:lstStyle/>
          <a:p>
            <a:pPr algn="l"/>
            <a:r>
              <a:rPr lang="zh-CN" altLang="en-US" sz="2000" dirty="0">
                <a:solidFill>
                  <a:srgbClr val="FF0000"/>
                </a:solidFill>
                <a:latin typeface="楷体" panose="02010609060101010101" pitchFamily="49" charset="-122"/>
                <a:ea typeface="楷体" panose="02010609060101010101" pitchFamily="49" charset="-122"/>
                <a:cs typeface="Consolas" pitchFamily="49" charset="0"/>
              </a:rPr>
              <a:t>算法设计思路</a:t>
            </a:r>
          </a:p>
        </p:txBody>
      </p:sp>
      <p:sp>
        <p:nvSpPr>
          <p:cNvPr id="7" name="TextBox 2">
            <a:extLst>
              <a:ext uri="{FF2B5EF4-FFF2-40B4-BE49-F238E27FC236}">
                <a16:creationId xmlns:a16="http://schemas.microsoft.com/office/drawing/2014/main" id="{25DCD6DA-FC6E-45C0-9AFA-4F489835E89C}"/>
              </a:ext>
            </a:extLst>
          </p:cNvPr>
          <p:cNvSpPr txBox="1"/>
          <p:nvPr/>
        </p:nvSpPr>
        <p:spPr>
          <a:xfrm>
            <a:off x="5696373" y="2672132"/>
            <a:ext cx="3143272" cy="400110"/>
          </a:xfrm>
          <a:prstGeom prst="rect">
            <a:avLst/>
          </a:prstGeom>
          <a:noFill/>
        </p:spPr>
        <p:txBody>
          <a:bodyPr wrap="square" rtlCol="0">
            <a:spAutoFit/>
          </a:bodyPr>
          <a:lstStyle/>
          <a:p>
            <a:pPr algn="l"/>
            <a:r>
              <a:rPr lang="zh-CN" altLang="en-US" sz="2000">
                <a:latin typeface="楷体" panose="02010609060101010101" pitchFamily="49" charset="-122"/>
                <a:ea typeface="楷体" panose="02010609060101010101" pitchFamily="49" charset="-122"/>
                <a:cs typeface="Consolas" pitchFamily="49" charset="0"/>
              </a:rPr>
              <a:t>例如，</a:t>
            </a:r>
            <a:r>
              <a:rPr lang="en-US" altLang="zh-CN" sz="2000">
                <a:latin typeface="楷体" panose="02010609060101010101" pitchFamily="49" charset="-122"/>
                <a:ea typeface="楷体" panose="02010609060101010101" pitchFamily="49" charset="-122"/>
                <a:cs typeface="Consolas" pitchFamily="49" charset="0"/>
              </a:rPr>
              <a:t>str="abcba"</a:t>
            </a:r>
            <a:endParaRPr lang="zh-CN" altLang="en-US" sz="2000">
              <a:latin typeface="楷体" panose="02010609060101010101" pitchFamily="49" charset="-122"/>
              <a:ea typeface="楷体" panose="02010609060101010101" pitchFamily="49" charset="-122"/>
              <a:cs typeface="Consolas" pitchFamily="49" charset="0"/>
            </a:endParaRPr>
          </a:p>
        </p:txBody>
      </p:sp>
      <p:sp>
        <p:nvSpPr>
          <p:cNvPr id="8" name="TextBox 3">
            <a:extLst>
              <a:ext uri="{FF2B5EF4-FFF2-40B4-BE49-F238E27FC236}">
                <a16:creationId xmlns:a16="http://schemas.microsoft.com/office/drawing/2014/main" id="{CED98262-389E-41F5-9B02-E08138214E15}"/>
              </a:ext>
            </a:extLst>
          </p:cNvPr>
          <p:cNvSpPr txBox="1"/>
          <p:nvPr/>
        </p:nvSpPr>
        <p:spPr>
          <a:xfrm>
            <a:off x="4591458" y="3610701"/>
            <a:ext cx="4680520" cy="400110"/>
          </a:xfrm>
          <a:prstGeom prst="rect">
            <a:avLst/>
          </a:prstGeom>
          <a:noFill/>
        </p:spPr>
        <p:txBody>
          <a:bodyPr wrap="square" rtlCol="0">
            <a:spAutoFit/>
          </a:bodyPr>
          <a:lstStyle/>
          <a:p>
            <a:pPr algn="l"/>
            <a:r>
              <a:rPr lang="en-US" altLang="zh-CN" sz="2000" dirty="0">
                <a:latin typeface="楷体" panose="02010609060101010101" pitchFamily="49" charset="-122"/>
                <a:ea typeface="楷体" panose="02010609060101010101" pitchFamily="49" charset="-122"/>
                <a:cs typeface="Consolas" pitchFamily="49" charset="0"/>
              </a:rPr>
              <a:t>str</a:t>
            </a:r>
            <a:r>
              <a:rPr lang="zh-CN" altLang="en-US" sz="2000" dirty="0">
                <a:latin typeface="楷体" panose="02010609060101010101" pitchFamily="49" charset="-122"/>
                <a:ea typeface="楷体" panose="02010609060101010101" pitchFamily="49" charset="-122"/>
                <a:cs typeface="Consolas" pitchFamily="49" charset="0"/>
              </a:rPr>
              <a:t>进栈并连续出栈序列</a:t>
            </a:r>
            <a:r>
              <a:rPr lang="en-US" altLang="zh-CN" sz="2000" dirty="0">
                <a:latin typeface="楷体" panose="02010609060101010101" pitchFamily="49" charset="-122"/>
                <a:ea typeface="楷体" panose="02010609060101010101" pitchFamily="49" charset="-122"/>
                <a:cs typeface="Consolas" pitchFamily="49" charset="0"/>
              </a:rPr>
              <a:t>str'="</a:t>
            </a:r>
            <a:r>
              <a:rPr lang="en-US" altLang="zh-CN" sz="2000" dirty="0" err="1">
                <a:latin typeface="楷体" panose="02010609060101010101" pitchFamily="49" charset="-122"/>
                <a:ea typeface="楷体" panose="02010609060101010101" pitchFamily="49" charset="-122"/>
                <a:cs typeface="Consolas" pitchFamily="49" charset="0"/>
              </a:rPr>
              <a:t>abcba</a:t>
            </a:r>
            <a:r>
              <a:rPr lang="en-US" altLang="zh-CN" sz="2000" dirty="0">
                <a:latin typeface="楷体" panose="02010609060101010101" pitchFamily="49" charset="-122"/>
                <a:ea typeface="楷体" panose="02010609060101010101" pitchFamily="49" charset="-122"/>
                <a:cs typeface="Consolas" pitchFamily="49" charset="0"/>
              </a:rPr>
              <a:t>"</a:t>
            </a:r>
            <a:endParaRPr lang="zh-CN" altLang="en-US" sz="2000" dirty="0">
              <a:latin typeface="楷体" panose="02010609060101010101" pitchFamily="49" charset="-122"/>
              <a:ea typeface="楷体" panose="02010609060101010101" pitchFamily="49" charset="-122"/>
            </a:endParaRPr>
          </a:p>
        </p:txBody>
      </p:sp>
      <p:sp>
        <p:nvSpPr>
          <p:cNvPr id="9" name="TextBox 4">
            <a:extLst>
              <a:ext uri="{FF2B5EF4-FFF2-40B4-BE49-F238E27FC236}">
                <a16:creationId xmlns:a16="http://schemas.microsoft.com/office/drawing/2014/main" id="{BFD292F6-4F88-4930-8359-381E70C9C062}"/>
              </a:ext>
            </a:extLst>
          </p:cNvPr>
          <p:cNvSpPr txBox="1"/>
          <p:nvPr/>
        </p:nvSpPr>
        <p:spPr>
          <a:xfrm>
            <a:off x="5624935" y="4600958"/>
            <a:ext cx="3214710" cy="400110"/>
          </a:xfrm>
          <a:prstGeom prst="rect">
            <a:avLst/>
          </a:prstGeom>
          <a:noFill/>
        </p:spPr>
        <p:txBody>
          <a:bodyPr wrap="square" rtlCol="0">
            <a:spAutoFit/>
          </a:bodyPr>
          <a:lstStyle/>
          <a:p>
            <a:pPr algn="l"/>
            <a:r>
              <a:rPr lang="en-US" altLang="zh-CN" sz="2000" dirty="0">
                <a:latin typeface="楷体" panose="02010609060101010101" pitchFamily="49" charset="-122"/>
                <a:ea typeface="楷体" panose="02010609060101010101" pitchFamily="49" charset="-122"/>
                <a:cs typeface="Consolas" pitchFamily="49" charset="0"/>
              </a:rPr>
              <a:t>str=</a:t>
            </a:r>
            <a:r>
              <a:rPr lang="en-US" altLang="zh-CN" sz="2000" dirty="0" err="1">
                <a:latin typeface="楷体" panose="02010609060101010101" pitchFamily="49" charset="-122"/>
                <a:ea typeface="楷体" panose="02010609060101010101" pitchFamily="49" charset="-122"/>
                <a:cs typeface="Consolas" pitchFamily="49" charset="0"/>
              </a:rPr>
              <a:t>str',str</a:t>
            </a:r>
            <a:r>
              <a:rPr lang="zh-CN" altLang="en-US" sz="2000" dirty="0">
                <a:latin typeface="楷体" panose="02010609060101010101" pitchFamily="49" charset="-122"/>
                <a:ea typeface="楷体" panose="02010609060101010101" pitchFamily="49" charset="-122"/>
                <a:cs typeface="Consolas" pitchFamily="49" charset="0"/>
              </a:rPr>
              <a:t>是</a:t>
            </a:r>
            <a:r>
              <a:rPr lang="zh-CN" altLang="en-US" sz="2000" dirty="0">
                <a:solidFill>
                  <a:srgbClr val="FF00FF"/>
                </a:solidFill>
                <a:latin typeface="楷体" panose="02010609060101010101" pitchFamily="49" charset="-122"/>
                <a:ea typeface="楷体" panose="02010609060101010101" pitchFamily="49" charset="-122"/>
                <a:cs typeface="Consolas" pitchFamily="49" charset="0"/>
              </a:rPr>
              <a:t>对称串</a:t>
            </a:r>
            <a:endParaRPr lang="zh-CN" altLang="en-US" sz="2000" dirty="0">
              <a:latin typeface="楷体" panose="02010609060101010101" pitchFamily="49" charset="-122"/>
              <a:ea typeface="楷体" panose="02010609060101010101" pitchFamily="49" charset="-122"/>
            </a:endParaRPr>
          </a:p>
        </p:txBody>
      </p:sp>
      <p:sp>
        <p:nvSpPr>
          <p:cNvPr id="10" name="下箭头 5">
            <a:extLst>
              <a:ext uri="{FF2B5EF4-FFF2-40B4-BE49-F238E27FC236}">
                <a16:creationId xmlns:a16="http://schemas.microsoft.com/office/drawing/2014/main" id="{AD4BB0F2-3F09-4E23-B820-E4AD755456B0}"/>
              </a:ext>
            </a:extLst>
          </p:cNvPr>
          <p:cNvSpPr/>
          <p:nvPr/>
        </p:nvSpPr>
        <p:spPr>
          <a:xfrm>
            <a:off x="6839381" y="3172198"/>
            <a:ext cx="214314" cy="357190"/>
          </a:xfrm>
          <a:prstGeom prst="downArrow">
            <a:avLst/>
          </a:prstGeom>
          <a:ln>
            <a:tailEnd type="triangle" w="med" len="lg"/>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sz="2800">
              <a:latin typeface="楷体" panose="02010609060101010101" pitchFamily="49" charset="-122"/>
              <a:ea typeface="楷体" panose="02010609060101010101" pitchFamily="49" charset="-122"/>
            </a:endParaRPr>
          </a:p>
        </p:txBody>
      </p:sp>
      <p:sp>
        <p:nvSpPr>
          <p:cNvPr id="11" name="下箭头 6">
            <a:extLst>
              <a:ext uri="{FF2B5EF4-FFF2-40B4-BE49-F238E27FC236}">
                <a16:creationId xmlns:a16="http://schemas.microsoft.com/office/drawing/2014/main" id="{5E72376F-98A8-4DFA-9337-F245AD316A36}"/>
              </a:ext>
            </a:extLst>
          </p:cNvPr>
          <p:cNvSpPr/>
          <p:nvPr/>
        </p:nvSpPr>
        <p:spPr>
          <a:xfrm>
            <a:off x="6839381" y="4100892"/>
            <a:ext cx="214314" cy="357190"/>
          </a:xfrm>
          <a:prstGeom prst="downArrow">
            <a:avLst/>
          </a:prstGeom>
          <a:ln>
            <a:tailEnd type="triangle" w="med" len="lg"/>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sz="280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4670133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en-US" altLang="zh-CN" b="1" dirty="0"/>
              <a:t>3.3 </a:t>
            </a:r>
            <a:r>
              <a:rPr lang="zh-CN" altLang="zh-CN" b="1" dirty="0"/>
              <a:t>栈的应用</a:t>
            </a:r>
            <a:endParaRPr lang="zh-CN" altLang="en-US" dirty="0"/>
          </a:p>
        </p:txBody>
      </p:sp>
      <p:sp>
        <p:nvSpPr>
          <p:cNvPr id="3" name="内容占位符 2"/>
          <p:cNvSpPr>
            <a:spLocks noGrp="1"/>
          </p:cNvSpPr>
          <p:nvPr>
            <p:ph idx="1"/>
          </p:nvPr>
        </p:nvSpPr>
        <p:spPr>
          <a:xfrm>
            <a:off x="827584" y="1628800"/>
            <a:ext cx="7520940" cy="4680520"/>
          </a:xfrm>
        </p:spPr>
        <p:txBody>
          <a:bodyPr>
            <a:normAutofit fontScale="92500"/>
          </a:bodyPr>
          <a:lstStyle/>
          <a:p>
            <a:pPr algn="just"/>
            <a:r>
              <a:rPr lang="en-US" altLang="zh-CN" dirty="0"/>
              <a:t>3.3.1 </a:t>
            </a:r>
            <a:r>
              <a:rPr lang="zh-CN" altLang="zh-CN" dirty="0">
                <a:solidFill>
                  <a:srgbClr val="FF0000"/>
                </a:solidFill>
              </a:rPr>
              <a:t>括号匹配检验</a:t>
            </a:r>
            <a:endParaRPr lang="en-US" altLang="zh-CN" dirty="0">
              <a:solidFill>
                <a:srgbClr val="FF0000"/>
              </a:solidFill>
            </a:endParaRPr>
          </a:p>
          <a:p>
            <a:pPr algn="just"/>
            <a:r>
              <a:rPr lang="en-US" altLang="zh-CN" dirty="0"/>
              <a:t>	</a:t>
            </a:r>
            <a:r>
              <a:rPr lang="zh-CN" altLang="zh-CN" dirty="0"/>
              <a:t>括号匹配</a:t>
            </a:r>
            <a:r>
              <a:rPr lang="zh-CN" altLang="zh-CN" b="0" dirty="0"/>
              <a:t>，是指在一个表达式中的左右括号不仅要个数相等，而且必须类型相同、先左后右的出现，以此来界定一个范围的起始和结束位置</a:t>
            </a:r>
            <a:r>
              <a:rPr lang="zh-CN" altLang="en-US" b="0" dirty="0"/>
              <a:t>。</a:t>
            </a:r>
            <a:endParaRPr lang="en-US" altLang="zh-CN" b="0" dirty="0"/>
          </a:p>
          <a:p>
            <a:pPr algn="just"/>
            <a:r>
              <a:rPr lang="en-US" altLang="zh-CN" b="0" dirty="0"/>
              <a:t>	</a:t>
            </a:r>
            <a:r>
              <a:rPr lang="zh-CN" altLang="zh-CN" dirty="0">
                <a:solidFill>
                  <a:srgbClr val="FF0000"/>
                </a:solidFill>
              </a:rPr>
              <a:t>实现算术表达式</a:t>
            </a:r>
            <a:r>
              <a:rPr lang="zh-CN" altLang="zh-CN" b="0" dirty="0"/>
              <a:t>中括号匹配检验可以使用一个栈来保存一个或多个嵌套的左括号，如果遇到右括号，则将栈顶的左括号弹出栈，并检查其是否与该右括号匹配，若匹配，接收下一个括号，若不匹配，程序报错。若算式表达式处理结束时，栈为空，则表达式中括号是匹配的；否则括号匹配出错。具体算法实现如下：</a:t>
            </a:r>
          </a:p>
          <a:p>
            <a:pPr algn="just"/>
            <a:endParaRPr lang="zh-CN" altLang="en-US" b="0" dirty="0"/>
          </a:p>
        </p:txBody>
      </p:sp>
    </p:spTree>
    <p:extLst>
      <p:ext uri="{BB962C8B-B14F-4D97-AF65-F5344CB8AC3E}">
        <p14:creationId xmlns:p14="http://schemas.microsoft.com/office/powerpoint/2010/main" val="2622730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Line 2">
            <a:extLst>
              <a:ext uri="{FF2B5EF4-FFF2-40B4-BE49-F238E27FC236}">
                <a16:creationId xmlns:a16="http://schemas.microsoft.com/office/drawing/2014/main" id="{CFD62938-41F4-40DC-8BC1-291EB5DE0E6E}"/>
              </a:ext>
            </a:extLst>
          </p:cNvPr>
          <p:cNvSpPr>
            <a:spLocks noChangeShapeType="1"/>
          </p:cNvSpPr>
          <p:nvPr/>
        </p:nvSpPr>
        <p:spPr bwMode="auto">
          <a:xfrm>
            <a:off x="1907704" y="3068960"/>
            <a:ext cx="0" cy="2160588"/>
          </a:xfrm>
          <a:prstGeom prst="line">
            <a:avLst/>
          </a:prstGeom>
          <a:noFill/>
          <a:ln w="38100">
            <a:solidFill>
              <a:srgbClr val="FF3300"/>
            </a:solidFill>
            <a:round/>
            <a:headEnd/>
            <a:tailEnd/>
          </a:ln>
          <a:effectLst/>
        </p:spPr>
        <p:txBody>
          <a:bodyPr wrap="none"/>
          <a:lstStyle/>
          <a:p>
            <a:endParaRPr lang="zh-CN" altLang="en-US" sz="2800"/>
          </a:p>
        </p:txBody>
      </p:sp>
      <p:sp>
        <p:nvSpPr>
          <p:cNvPr id="5" name="Line 3">
            <a:extLst>
              <a:ext uri="{FF2B5EF4-FFF2-40B4-BE49-F238E27FC236}">
                <a16:creationId xmlns:a16="http://schemas.microsoft.com/office/drawing/2014/main" id="{597074EE-8BA4-4C7C-833B-D9DDC1C56336}"/>
              </a:ext>
            </a:extLst>
          </p:cNvPr>
          <p:cNvSpPr>
            <a:spLocks noChangeShapeType="1"/>
          </p:cNvSpPr>
          <p:nvPr/>
        </p:nvSpPr>
        <p:spPr bwMode="auto">
          <a:xfrm>
            <a:off x="1907705" y="5229548"/>
            <a:ext cx="1152525" cy="0"/>
          </a:xfrm>
          <a:prstGeom prst="line">
            <a:avLst/>
          </a:prstGeom>
          <a:noFill/>
          <a:ln w="38100">
            <a:solidFill>
              <a:srgbClr val="FF3300"/>
            </a:solidFill>
            <a:round/>
            <a:headEnd/>
            <a:tailEnd/>
          </a:ln>
          <a:effectLst/>
        </p:spPr>
        <p:txBody>
          <a:bodyPr wrap="none"/>
          <a:lstStyle/>
          <a:p>
            <a:endParaRPr lang="zh-CN" altLang="en-US" sz="2800"/>
          </a:p>
        </p:txBody>
      </p:sp>
      <p:sp>
        <p:nvSpPr>
          <p:cNvPr id="6" name="Line 4">
            <a:extLst>
              <a:ext uri="{FF2B5EF4-FFF2-40B4-BE49-F238E27FC236}">
                <a16:creationId xmlns:a16="http://schemas.microsoft.com/office/drawing/2014/main" id="{4C6E6904-2609-4399-B053-490A914D39BC}"/>
              </a:ext>
            </a:extLst>
          </p:cNvPr>
          <p:cNvSpPr>
            <a:spLocks noChangeShapeType="1"/>
          </p:cNvSpPr>
          <p:nvPr/>
        </p:nvSpPr>
        <p:spPr bwMode="auto">
          <a:xfrm>
            <a:off x="3060229" y="3068960"/>
            <a:ext cx="0" cy="2160588"/>
          </a:xfrm>
          <a:prstGeom prst="line">
            <a:avLst/>
          </a:prstGeom>
          <a:noFill/>
          <a:ln w="38100">
            <a:solidFill>
              <a:srgbClr val="FF3300"/>
            </a:solidFill>
            <a:round/>
            <a:headEnd/>
            <a:tailEnd/>
          </a:ln>
          <a:effectLst/>
        </p:spPr>
        <p:txBody>
          <a:bodyPr wrap="none"/>
          <a:lstStyle/>
          <a:p>
            <a:endParaRPr lang="zh-CN" altLang="en-US" sz="2800"/>
          </a:p>
        </p:txBody>
      </p:sp>
      <p:sp>
        <p:nvSpPr>
          <p:cNvPr id="7" name="Text Box 5">
            <a:extLst>
              <a:ext uri="{FF2B5EF4-FFF2-40B4-BE49-F238E27FC236}">
                <a16:creationId xmlns:a16="http://schemas.microsoft.com/office/drawing/2014/main" id="{770D7C74-FEBE-434F-9C65-62B38C048C6B}"/>
              </a:ext>
            </a:extLst>
          </p:cNvPr>
          <p:cNvSpPr txBox="1">
            <a:spLocks noChangeArrowheads="1"/>
          </p:cNvSpPr>
          <p:nvPr/>
        </p:nvSpPr>
        <p:spPr bwMode="auto">
          <a:xfrm>
            <a:off x="1042889" y="1883999"/>
            <a:ext cx="3643337" cy="461665"/>
          </a:xfrm>
          <a:prstGeom prst="rect">
            <a:avLst/>
          </a:prstGeom>
          <a:noFill/>
          <a:ln w="38100" algn="ctr">
            <a:noFill/>
            <a:miter lim="800000"/>
            <a:headEnd/>
            <a:tailEnd/>
          </a:ln>
          <a:effectLst/>
        </p:spPr>
        <p:txBody>
          <a:bodyPr wrap="square">
            <a:spAutoFit/>
          </a:bodyPr>
          <a:lstStyle/>
          <a:p>
            <a:pPr algn="l">
              <a:spcBef>
                <a:spcPct val="50000"/>
              </a:spcBef>
            </a:pPr>
            <a:r>
              <a:rPr lang="zh-CN" altLang="en-US" dirty="0">
                <a:latin typeface="Consolas" pitchFamily="49" charset="0"/>
                <a:ea typeface="楷体" pitchFamily="49" charset="-122"/>
                <a:cs typeface="Consolas" pitchFamily="49" charset="0"/>
              </a:rPr>
              <a:t>例如：</a:t>
            </a:r>
            <a:r>
              <a:rPr lang="en-US" altLang="zh-CN" dirty="0" err="1">
                <a:latin typeface="Consolas" pitchFamily="49" charset="0"/>
                <a:ea typeface="楷体" pitchFamily="49" charset="-122"/>
                <a:cs typeface="Consolas" pitchFamily="49" charset="0"/>
              </a:rPr>
              <a:t>exp</a:t>
            </a:r>
            <a:r>
              <a:rPr lang="en-US" altLang="zh-CN" dirty="0">
                <a:latin typeface="Consolas" pitchFamily="49" charset="0"/>
                <a:ea typeface="楷体" pitchFamily="49" charset="-122"/>
                <a:cs typeface="Consolas" pitchFamily="49" charset="0"/>
              </a:rPr>
              <a:t>=</a:t>
            </a:r>
            <a:r>
              <a:rPr lang="zh-CN" altLang="en-US" dirty="0">
                <a:latin typeface="Consolas" pitchFamily="49" charset="0"/>
                <a:ea typeface="楷体" pitchFamily="49" charset="-122"/>
                <a:cs typeface="Consolas" pitchFamily="49" charset="0"/>
              </a:rPr>
              <a:t>“</a:t>
            </a:r>
            <a:r>
              <a:rPr lang="en-US" altLang="zh-CN" dirty="0">
                <a:latin typeface="Consolas" pitchFamily="49" charset="0"/>
                <a:ea typeface="楷体" pitchFamily="49" charset="-122"/>
                <a:cs typeface="Consolas" pitchFamily="49" charset="0"/>
              </a:rPr>
              <a:t>( ( ) )</a:t>
            </a:r>
            <a:r>
              <a:rPr lang="zh-CN" altLang="en-US" dirty="0">
                <a:latin typeface="Consolas" pitchFamily="49" charset="0"/>
                <a:ea typeface="楷体" pitchFamily="49" charset="-122"/>
                <a:cs typeface="Consolas" pitchFamily="49" charset="0"/>
              </a:rPr>
              <a:t>”</a:t>
            </a:r>
            <a:endParaRPr lang="en-US" altLang="zh-CN" dirty="0">
              <a:latin typeface="Consolas" pitchFamily="49" charset="0"/>
              <a:ea typeface="楷体" pitchFamily="49" charset="-122"/>
              <a:cs typeface="Consolas" pitchFamily="49" charset="0"/>
            </a:endParaRPr>
          </a:p>
        </p:txBody>
      </p:sp>
      <p:sp>
        <p:nvSpPr>
          <p:cNvPr id="8" name="Text Box 10">
            <a:extLst>
              <a:ext uri="{FF2B5EF4-FFF2-40B4-BE49-F238E27FC236}">
                <a16:creationId xmlns:a16="http://schemas.microsoft.com/office/drawing/2014/main" id="{1C994732-C495-4E41-A710-482BD23FE285}"/>
              </a:ext>
            </a:extLst>
          </p:cNvPr>
          <p:cNvSpPr txBox="1">
            <a:spLocks noChangeArrowheads="1"/>
          </p:cNvSpPr>
          <p:nvPr/>
        </p:nvSpPr>
        <p:spPr bwMode="auto">
          <a:xfrm>
            <a:off x="3779367" y="3573785"/>
            <a:ext cx="1581152" cy="400110"/>
          </a:xfrm>
          <a:prstGeom prst="rect">
            <a:avLst/>
          </a:prstGeom>
          <a:noFill/>
          <a:ln w="38100" algn="ctr">
            <a:noFill/>
            <a:miter lim="800000"/>
            <a:headEnd/>
            <a:tailEnd/>
          </a:ln>
          <a:effectLst/>
        </p:spPr>
        <p:txBody>
          <a:bodyPr wrap="square">
            <a:spAutoFit/>
          </a:bodyPr>
          <a:lstStyle/>
          <a:p>
            <a:pPr algn="l">
              <a:spcBef>
                <a:spcPct val="50000"/>
              </a:spcBef>
            </a:pPr>
            <a:r>
              <a:rPr lang="en-US" altLang="zh-CN" sz="2000">
                <a:latin typeface="Consolas" pitchFamily="49" charset="0"/>
                <a:ea typeface="仿宋" pitchFamily="49" charset="-122"/>
                <a:cs typeface="Consolas" pitchFamily="49" charset="0"/>
              </a:rPr>
              <a:t>② ‘(‘</a:t>
            </a:r>
            <a:r>
              <a:rPr lang="zh-CN" altLang="en-US" sz="2000" dirty="0">
                <a:latin typeface="Consolas" pitchFamily="49" charset="0"/>
                <a:ea typeface="仿宋" pitchFamily="49" charset="-122"/>
                <a:cs typeface="Consolas" pitchFamily="49" charset="0"/>
              </a:rPr>
              <a:t>进栈</a:t>
            </a:r>
          </a:p>
        </p:txBody>
      </p:sp>
      <p:sp>
        <p:nvSpPr>
          <p:cNvPr id="9" name="Text Box 11">
            <a:extLst>
              <a:ext uri="{FF2B5EF4-FFF2-40B4-BE49-F238E27FC236}">
                <a16:creationId xmlns:a16="http://schemas.microsoft.com/office/drawing/2014/main" id="{D951A5CB-ABEC-4BA8-8910-88415165FB6E}"/>
              </a:ext>
            </a:extLst>
          </p:cNvPr>
          <p:cNvSpPr txBox="1">
            <a:spLocks noChangeArrowheads="1"/>
          </p:cNvSpPr>
          <p:nvPr/>
        </p:nvSpPr>
        <p:spPr bwMode="auto">
          <a:xfrm>
            <a:off x="2074371" y="4148460"/>
            <a:ext cx="647700" cy="461665"/>
          </a:xfrm>
          <a:prstGeom prst="rect">
            <a:avLst/>
          </a:prstGeom>
          <a:noFill/>
          <a:ln w="38100" algn="ctr">
            <a:noFill/>
            <a:miter lim="800000"/>
            <a:headEnd/>
            <a:tailEnd/>
          </a:ln>
          <a:effectLst/>
        </p:spPr>
        <p:txBody>
          <a:bodyPr>
            <a:spAutoFit/>
          </a:bodyPr>
          <a:lstStyle/>
          <a:p>
            <a:pPr>
              <a:spcBef>
                <a:spcPct val="50000"/>
              </a:spcBef>
            </a:pPr>
            <a:r>
              <a:rPr lang="en-US" altLang="zh-CN">
                <a:latin typeface="Consolas" pitchFamily="49" charset="0"/>
                <a:ea typeface="楷体" pitchFamily="49" charset="-122"/>
                <a:cs typeface="Consolas" pitchFamily="49" charset="0"/>
              </a:rPr>
              <a:t>(</a:t>
            </a:r>
          </a:p>
        </p:txBody>
      </p:sp>
      <p:sp>
        <p:nvSpPr>
          <p:cNvPr id="10" name="Text Box 8">
            <a:extLst>
              <a:ext uri="{FF2B5EF4-FFF2-40B4-BE49-F238E27FC236}">
                <a16:creationId xmlns:a16="http://schemas.microsoft.com/office/drawing/2014/main" id="{11A6A2BC-E5BA-4AAA-80FB-2409D305BD45}"/>
              </a:ext>
            </a:extLst>
          </p:cNvPr>
          <p:cNvSpPr txBox="1">
            <a:spLocks noChangeArrowheads="1"/>
          </p:cNvSpPr>
          <p:nvPr/>
        </p:nvSpPr>
        <p:spPr bwMode="auto">
          <a:xfrm>
            <a:off x="2088679" y="4653285"/>
            <a:ext cx="647700" cy="461665"/>
          </a:xfrm>
          <a:prstGeom prst="rect">
            <a:avLst/>
          </a:prstGeom>
          <a:noFill/>
          <a:ln w="38100" algn="ctr">
            <a:noFill/>
            <a:miter lim="800000"/>
            <a:headEnd/>
            <a:tailEnd/>
          </a:ln>
          <a:effectLst/>
        </p:spPr>
        <p:txBody>
          <a:bodyPr>
            <a:spAutoFit/>
          </a:bodyPr>
          <a:lstStyle/>
          <a:p>
            <a:pPr>
              <a:spcBef>
                <a:spcPct val="50000"/>
              </a:spcBef>
            </a:pPr>
            <a:r>
              <a:rPr lang="en-US" altLang="zh-CN" dirty="0">
                <a:latin typeface="Consolas" pitchFamily="49" charset="0"/>
                <a:ea typeface="楷体" pitchFamily="49" charset="-122"/>
                <a:cs typeface="Consolas" pitchFamily="49" charset="0"/>
              </a:rPr>
              <a:t>(</a:t>
            </a:r>
            <a:endParaRPr lang="zh-CN" altLang="en-US" dirty="0">
              <a:latin typeface="Consolas" pitchFamily="49" charset="0"/>
              <a:ea typeface="楷体" pitchFamily="49" charset="-122"/>
              <a:cs typeface="Consolas" pitchFamily="49" charset="0"/>
            </a:endParaRPr>
          </a:p>
        </p:txBody>
      </p:sp>
      <p:sp>
        <p:nvSpPr>
          <p:cNvPr id="11" name="Text Box 7">
            <a:extLst>
              <a:ext uri="{FF2B5EF4-FFF2-40B4-BE49-F238E27FC236}">
                <a16:creationId xmlns:a16="http://schemas.microsoft.com/office/drawing/2014/main" id="{3D932338-5EDF-4B55-8205-08BE4A8FD8AF}"/>
              </a:ext>
            </a:extLst>
          </p:cNvPr>
          <p:cNvSpPr txBox="1">
            <a:spLocks noChangeArrowheads="1"/>
          </p:cNvSpPr>
          <p:nvPr/>
        </p:nvSpPr>
        <p:spPr bwMode="auto">
          <a:xfrm>
            <a:off x="3777779" y="2924498"/>
            <a:ext cx="1725616" cy="400110"/>
          </a:xfrm>
          <a:prstGeom prst="rect">
            <a:avLst/>
          </a:prstGeom>
          <a:noFill/>
          <a:ln w="38100" algn="ctr">
            <a:noFill/>
            <a:miter lim="800000"/>
            <a:headEnd/>
            <a:tailEnd/>
          </a:ln>
          <a:effectLst/>
        </p:spPr>
        <p:txBody>
          <a:bodyPr wrap="square">
            <a:spAutoFit/>
          </a:bodyPr>
          <a:lstStyle/>
          <a:p>
            <a:pPr algn="l">
              <a:spcBef>
                <a:spcPct val="50000"/>
              </a:spcBef>
            </a:pPr>
            <a:r>
              <a:rPr lang="en-US" altLang="zh-CN" sz="2000">
                <a:latin typeface="Consolas" pitchFamily="49" charset="0"/>
                <a:ea typeface="仿宋" pitchFamily="49" charset="-122"/>
                <a:cs typeface="Consolas" pitchFamily="49" charset="0"/>
              </a:rPr>
              <a:t>① ‘(‘</a:t>
            </a:r>
            <a:r>
              <a:rPr lang="zh-CN" altLang="en-US" sz="2000" dirty="0">
                <a:latin typeface="Consolas" pitchFamily="49" charset="0"/>
                <a:ea typeface="仿宋" pitchFamily="49" charset="-122"/>
                <a:cs typeface="Consolas" pitchFamily="49" charset="0"/>
              </a:rPr>
              <a:t>进栈</a:t>
            </a:r>
          </a:p>
        </p:txBody>
      </p:sp>
      <p:sp>
        <p:nvSpPr>
          <p:cNvPr id="12" name="Text Box 12">
            <a:extLst>
              <a:ext uri="{FF2B5EF4-FFF2-40B4-BE49-F238E27FC236}">
                <a16:creationId xmlns:a16="http://schemas.microsoft.com/office/drawing/2014/main" id="{EA097851-77C5-444A-8E67-A0CB1122E2CB}"/>
              </a:ext>
            </a:extLst>
          </p:cNvPr>
          <p:cNvSpPr txBox="1">
            <a:spLocks noChangeArrowheads="1"/>
          </p:cNvSpPr>
          <p:nvPr/>
        </p:nvSpPr>
        <p:spPr bwMode="auto">
          <a:xfrm>
            <a:off x="3779367" y="4172274"/>
            <a:ext cx="4248150" cy="400110"/>
          </a:xfrm>
          <a:prstGeom prst="rect">
            <a:avLst/>
          </a:prstGeom>
          <a:noFill/>
          <a:ln w="38100" algn="ctr">
            <a:noFill/>
            <a:miter lim="800000"/>
            <a:headEnd/>
            <a:tailEnd/>
          </a:ln>
          <a:effectLst/>
        </p:spPr>
        <p:txBody>
          <a:bodyPr>
            <a:spAutoFit/>
          </a:bodyPr>
          <a:lstStyle/>
          <a:p>
            <a:pPr algn="l">
              <a:spcBef>
                <a:spcPct val="50000"/>
              </a:spcBef>
            </a:pPr>
            <a:r>
              <a:rPr lang="zh-CN" altLang="en-US" sz="2000">
                <a:latin typeface="Consolas" pitchFamily="49" charset="0"/>
                <a:ea typeface="仿宋" pitchFamily="49" charset="-122"/>
                <a:cs typeface="Consolas" pitchFamily="49" charset="0"/>
              </a:rPr>
              <a:t>③ 遇到’</a:t>
            </a:r>
            <a:r>
              <a:rPr lang="en-US" altLang="zh-CN" sz="2000">
                <a:latin typeface="Consolas" pitchFamily="49" charset="0"/>
                <a:ea typeface="仿宋" pitchFamily="49" charset="-122"/>
                <a:cs typeface="Consolas" pitchFamily="49" charset="0"/>
              </a:rPr>
              <a:t>)’</a:t>
            </a:r>
            <a:r>
              <a:rPr lang="zh-CN" altLang="en-US" sz="2000">
                <a:latin typeface="Consolas" pitchFamily="49" charset="0"/>
                <a:ea typeface="仿宋" pitchFamily="49" charset="-122"/>
                <a:cs typeface="Consolas" pitchFamily="49" charset="0"/>
              </a:rPr>
              <a:t>，栈</a:t>
            </a:r>
            <a:r>
              <a:rPr lang="zh-CN" altLang="en-US" sz="2000" dirty="0">
                <a:latin typeface="Consolas" pitchFamily="49" charset="0"/>
                <a:ea typeface="仿宋" pitchFamily="49" charset="-122"/>
                <a:cs typeface="Consolas" pitchFamily="49" charset="0"/>
              </a:rPr>
              <a:t>顶为</a:t>
            </a:r>
            <a:r>
              <a:rPr lang="zh-CN" altLang="en-US" sz="2000">
                <a:latin typeface="Consolas" pitchFamily="49" charset="0"/>
                <a:ea typeface="仿宋" pitchFamily="49" charset="-122"/>
                <a:cs typeface="Consolas" pitchFamily="49" charset="0"/>
              </a:rPr>
              <a:t>’</a:t>
            </a:r>
            <a:r>
              <a:rPr lang="en-US" altLang="zh-CN" sz="2000">
                <a:latin typeface="Consolas" pitchFamily="49" charset="0"/>
                <a:ea typeface="仿宋" pitchFamily="49" charset="-122"/>
                <a:cs typeface="Consolas" pitchFamily="49" charset="0"/>
              </a:rPr>
              <a:t>(‘</a:t>
            </a:r>
            <a:r>
              <a:rPr lang="zh-CN" altLang="en-US" sz="2000">
                <a:latin typeface="Consolas" pitchFamily="49" charset="0"/>
                <a:ea typeface="仿宋" pitchFamily="49" charset="-122"/>
                <a:cs typeface="Consolas" pitchFamily="49" charset="0"/>
              </a:rPr>
              <a:t>，退</a:t>
            </a:r>
            <a:r>
              <a:rPr lang="zh-CN" altLang="en-US" sz="2000" dirty="0">
                <a:latin typeface="Consolas" pitchFamily="49" charset="0"/>
                <a:ea typeface="仿宋" pitchFamily="49" charset="-122"/>
                <a:cs typeface="Consolas" pitchFamily="49" charset="0"/>
              </a:rPr>
              <a:t>栈</a:t>
            </a:r>
          </a:p>
        </p:txBody>
      </p:sp>
      <p:sp>
        <p:nvSpPr>
          <p:cNvPr id="13" name="Text Box 13">
            <a:extLst>
              <a:ext uri="{FF2B5EF4-FFF2-40B4-BE49-F238E27FC236}">
                <a16:creationId xmlns:a16="http://schemas.microsoft.com/office/drawing/2014/main" id="{9D4FA8A5-5585-44F4-8B6A-878FE40434C8}"/>
              </a:ext>
            </a:extLst>
          </p:cNvPr>
          <p:cNvSpPr txBox="1">
            <a:spLocks noChangeArrowheads="1"/>
          </p:cNvSpPr>
          <p:nvPr/>
        </p:nvSpPr>
        <p:spPr bwMode="auto">
          <a:xfrm>
            <a:off x="3774604" y="4815216"/>
            <a:ext cx="4248150" cy="400110"/>
          </a:xfrm>
          <a:prstGeom prst="rect">
            <a:avLst/>
          </a:prstGeom>
          <a:noFill/>
          <a:ln w="38100" algn="ctr">
            <a:noFill/>
            <a:miter lim="800000"/>
            <a:headEnd/>
            <a:tailEnd/>
          </a:ln>
          <a:effectLst/>
        </p:spPr>
        <p:txBody>
          <a:bodyPr>
            <a:spAutoFit/>
          </a:bodyPr>
          <a:lstStyle/>
          <a:p>
            <a:pPr algn="l">
              <a:spcBef>
                <a:spcPct val="50000"/>
              </a:spcBef>
            </a:pPr>
            <a:r>
              <a:rPr lang="zh-CN" altLang="en-US" sz="2000">
                <a:latin typeface="Consolas" pitchFamily="49" charset="0"/>
                <a:ea typeface="仿宋" pitchFamily="49" charset="-122"/>
                <a:cs typeface="Consolas" pitchFamily="49" charset="0"/>
              </a:rPr>
              <a:t>④ 遇到’</a:t>
            </a:r>
            <a:r>
              <a:rPr lang="en-US" altLang="zh-CN" sz="2000">
                <a:latin typeface="Consolas" pitchFamily="49" charset="0"/>
                <a:ea typeface="仿宋" pitchFamily="49" charset="-122"/>
                <a:cs typeface="Consolas" pitchFamily="49" charset="0"/>
              </a:rPr>
              <a:t>)’</a:t>
            </a:r>
            <a:r>
              <a:rPr lang="zh-CN" altLang="en-US" sz="2000">
                <a:latin typeface="Consolas" pitchFamily="49" charset="0"/>
                <a:ea typeface="仿宋" pitchFamily="49" charset="-122"/>
                <a:cs typeface="Consolas" pitchFamily="49" charset="0"/>
              </a:rPr>
              <a:t>，栈</a:t>
            </a:r>
            <a:r>
              <a:rPr lang="zh-CN" altLang="en-US" sz="2000" dirty="0">
                <a:latin typeface="Consolas" pitchFamily="49" charset="0"/>
                <a:ea typeface="仿宋" pitchFamily="49" charset="-122"/>
                <a:cs typeface="Consolas" pitchFamily="49" charset="0"/>
              </a:rPr>
              <a:t>顶为</a:t>
            </a:r>
            <a:r>
              <a:rPr lang="zh-CN" altLang="en-US" sz="2000">
                <a:latin typeface="Consolas" pitchFamily="49" charset="0"/>
                <a:ea typeface="仿宋" pitchFamily="49" charset="-122"/>
                <a:cs typeface="Consolas" pitchFamily="49" charset="0"/>
              </a:rPr>
              <a:t>’</a:t>
            </a:r>
            <a:r>
              <a:rPr lang="en-US" altLang="zh-CN" sz="2000">
                <a:latin typeface="Consolas" pitchFamily="49" charset="0"/>
                <a:ea typeface="仿宋" pitchFamily="49" charset="-122"/>
                <a:cs typeface="Consolas" pitchFamily="49" charset="0"/>
              </a:rPr>
              <a:t>(‘</a:t>
            </a:r>
            <a:r>
              <a:rPr lang="zh-CN" altLang="en-US" sz="2000">
                <a:latin typeface="Consolas" pitchFamily="49" charset="0"/>
                <a:ea typeface="仿宋" pitchFamily="49" charset="-122"/>
                <a:cs typeface="Consolas" pitchFamily="49" charset="0"/>
              </a:rPr>
              <a:t>，退</a:t>
            </a:r>
            <a:r>
              <a:rPr lang="zh-CN" altLang="en-US" sz="2000" dirty="0">
                <a:latin typeface="Consolas" pitchFamily="49" charset="0"/>
                <a:ea typeface="仿宋" pitchFamily="49" charset="-122"/>
                <a:cs typeface="Consolas" pitchFamily="49" charset="0"/>
              </a:rPr>
              <a:t>栈</a:t>
            </a:r>
          </a:p>
        </p:txBody>
      </p:sp>
      <p:sp>
        <p:nvSpPr>
          <p:cNvPr id="14" name="Text Box 24">
            <a:extLst>
              <a:ext uri="{FF2B5EF4-FFF2-40B4-BE49-F238E27FC236}">
                <a16:creationId xmlns:a16="http://schemas.microsoft.com/office/drawing/2014/main" id="{1E6DB5F5-AE84-479C-AC11-EDF053005511}"/>
              </a:ext>
            </a:extLst>
          </p:cNvPr>
          <p:cNvSpPr txBox="1">
            <a:spLocks noChangeArrowheads="1"/>
          </p:cNvSpPr>
          <p:nvPr/>
        </p:nvSpPr>
        <p:spPr bwMode="auto">
          <a:xfrm>
            <a:off x="3850805" y="5415238"/>
            <a:ext cx="3794124" cy="400110"/>
          </a:xfrm>
          <a:prstGeom prst="rect">
            <a:avLst/>
          </a:prstGeom>
          <a:noFill/>
          <a:ln w="38100" algn="ctr">
            <a:noFill/>
            <a:miter lim="800000"/>
            <a:headEnd/>
            <a:tailEnd/>
          </a:ln>
          <a:effectLst/>
        </p:spPr>
        <p:txBody>
          <a:bodyPr wrap="square">
            <a:spAutoFit/>
          </a:bodyPr>
          <a:lstStyle/>
          <a:p>
            <a:pPr algn="l">
              <a:spcBef>
                <a:spcPct val="50000"/>
              </a:spcBef>
            </a:pPr>
            <a:r>
              <a:rPr lang="zh-CN" altLang="en-US" sz="2000" dirty="0">
                <a:solidFill>
                  <a:srgbClr val="FF00FF"/>
                </a:solidFill>
                <a:latin typeface="Consolas" pitchFamily="49" charset="0"/>
                <a:ea typeface="仿宋" pitchFamily="49" charset="-122"/>
                <a:cs typeface="Consolas" pitchFamily="49" charset="0"/>
              </a:rPr>
              <a:t>栈空且</a:t>
            </a:r>
            <a:r>
              <a:rPr lang="en-US" altLang="zh-CN" sz="2000" dirty="0">
                <a:solidFill>
                  <a:srgbClr val="FF00FF"/>
                </a:solidFill>
                <a:latin typeface="Consolas" pitchFamily="49" charset="0"/>
                <a:ea typeface="仿宋" pitchFamily="49" charset="-122"/>
                <a:cs typeface="Consolas" pitchFamily="49" charset="0"/>
              </a:rPr>
              <a:t>exp</a:t>
            </a:r>
            <a:r>
              <a:rPr lang="zh-CN" altLang="en-US" sz="2000" dirty="0">
                <a:solidFill>
                  <a:srgbClr val="FF00FF"/>
                </a:solidFill>
                <a:latin typeface="Consolas" pitchFamily="49" charset="0"/>
                <a:ea typeface="仿宋" pitchFamily="49" charset="-122"/>
                <a:cs typeface="Consolas" pitchFamily="49" charset="0"/>
              </a:rPr>
              <a:t>扫描完，返回</a:t>
            </a:r>
            <a:r>
              <a:rPr lang="en-US" altLang="zh-CN" sz="2000" dirty="0">
                <a:solidFill>
                  <a:srgbClr val="FF00FF"/>
                </a:solidFill>
                <a:latin typeface="Consolas" pitchFamily="49" charset="0"/>
                <a:ea typeface="仿宋" pitchFamily="49" charset="-122"/>
                <a:cs typeface="Consolas" pitchFamily="49" charset="0"/>
              </a:rPr>
              <a:t>true</a:t>
            </a:r>
          </a:p>
        </p:txBody>
      </p:sp>
      <p:sp>
        <p:nvSpPr>
          <p:cNvPr id="15" name="Text Box 26">
            <a:extLst>
              <a:ext uri="{FF2B5EF4-FFF2-40B4-BE49-F238E27FC236}">
                <a16:creationId xmlns:a16="http://schemas.microsoft.com/office/drawing/2014/main" id="{EFF14FB0-A12F-4F7C-9F87-8DBD5DBEABAD}"/>
              </a:ext>
            </a:extLst>
          </p:cNvPr>
          <p:cNvSpPr txBox="1">
            <a:spLocks noChangeArrowheads="1"/>
          </p:cNvSpPr>
          <p:nvPr/>
        </p:nvSpPr>
        <p:spPr bwMode="auto">
          <a:xfrm>
            <a:off x="826619" y="1149673"/>
            <a:ext cx="4104702" cy="461665"/>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square">
            <a:spAutoFit/>
          </a:bodyPr>
          <a:lstStyle/>
          <a:p>
            <a:pPr>
              <a:spcBef>
                <a:spcPct val="50000"/>
              </a:spcBef>
            </a:pPr>
            <a:r>
              <a:rPr lang="zh-CN" altLang="en-US" dirty="0">
                <a:solidFill>
                  <a:srgbClr val="0000FF"/>
                </a:solidFill>
                <a:latin typeface="华文中宋" pitchFamily="2" charset="-122"/>
                <a:ea typeface="华文中宋" pitchFamily="2" charset="-122"/>
              </a:rPr>
              <a:t>表达式括号</a:t>
            </a:r>
            <a:r>
              <a:rPr lang="zh-CN" altLang="en-US" dirty="0">
                <a:solidFill>
                  <a:srgbClr val="FF0000"/>
                </a:solidFill>
                <a:latin typeface="华文中宋" pitchFamily="2" charset="-122"/>
                <a:ea typeface="华文中宋" pitchFamily="2" charset="-122"/>
              </a:rPr>
              <a:t>配对</a:t>
            </a:r>
            <a:r>
              <a:rPr lang="zh-CN" altLang="en-US" dirty="0">
                <a:solidFill>
                  <a:srgbClr val="0000FF"/>
                </a:solidFill>
                <a:latin typeface="华文中宋" pitchFamily="2" charset="-122"/>
                <a:ea typeface="华文中宋" pitchFamily="2" charset="-122"/>
              </a:rPr>
              <a:t>情况的演示</a:t>
            </a:r>
          </a:p>
        </p:txBody>
      </p:sp>
      <p:cxnSp>
        <p:nvCxnSpPr>
          <p:cNvPr id="16" name="直接箭头连接符 15">
            <a:extLst>
              <a:ext uri="{FF2B5EF4-FFF2-40B4-BE49-F238E27FC236}">
                <a16:creationId xmlns:a16="http://schemas.microsoft.com/office/drawing/2014/main" id="{D96CDC90-25DE-4285-B9FB-D37F7A100B11}"/>
              </a:ext>
            </a:extLst>
          </p:cNvPr>
          <p:cNvCxnSpPr/>
          <p:nvPr/>
        </p:nvCxnSpPr>
        <p:spPr>
          <a:xfrm rot="5400000" flipH="1" flipV="1">
            <a:off x="2449983" y="2455692"/>
            <a:ext cx="357190" cy="1588"/>
          </a:xfrm>
          <a:prstGeom prst="straightConnector1">
            <a:avLst/>
          </a:prstGeom>
          <a:ln w="28575">
            <a:solidFill>
              <a:srgbClr val="660066"/>
            </a:solidFill>
            <a:tailEnd type="arrow"/>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888383B5-4988-4DF8-B3E9-43F1E5785D02}"/>
              </a:ext>
            </a:extLst>
          </p:cNvPr>
          <p:cNvCxnSpPr/>
          <p:nvPr/>
        </p:nvCxnSpPr>
        <p:spPr>
          <a:xfrm rot="5400000" flipH="1" flipV="1">
            <a:off x="2738015" y="2455692"/>
            <a:ext cx="357190" cy="1588"/>
          </a:xfrm>
          <a:prstGeom prst="straightConnector1">
            <a:avLst/>
          </a:prstGeom>
          <a:ln w="28575">
            <a:solidFill>
              <a:srgbClr val="660066"/>
            </a:solidFill>
            <a:tailEnd type="arrow"/>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D7D5DD6F-DDA0-4056-9275-DC008D118ABF}"/>
              </a:ext>
            </a:extLst>
          </p:cNvPr>
          <p:cNvCxnSpPr/>
          <p:nvPr/>
        </p:nvCxnSpPr>
        <p:spPr>
          <a:xfrm rot="5400000" flipH="1" flipV="1">
            <a:off x="2970651" y="2455692"/>
            <a:ext cx="357190" cy="1588"/>
          </a:xfrm>
          <a:prstGeom prst="straightConnector1">
            <a:avLst/>
          </a:prstGeom>
          <a:ln w="28575">
            <a:solidFill>
              <a:srgbClr val="660066"/>
            </a:solidFill>
            <a:tailEnd type="arrow"/>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B14D4EA9-93F2-4CDB-8842-43B122F3AF4E}"/>
              </a:ext>
            </a:extLst>
          </p:cNvPr>
          <p:cNvCxnSpPr/>
          <p:nvPr/>
        </p:nvCxnSpPr>
        <p:spPr>
          <a:xfrm rot="5400000" flipH="1" flipV="1">
            <a:off x="3218870" y="2455692"/>
            <a:ext cx="357190" cy="1588"/>
          </a:xfrm>
          <a:prstGeom prst="straightConnector1">
            <a:avLst/>
          </a:prstGeom>
          <a:ln w="28575">
            <a:solidFill>
              <a:srgbClr val="660066"/>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2903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xit" presetSubtype="4" fill="hold" nodeType="clickEffect">
                                  <p:stCondLst>
                                    <p:cond delay="0"/>
                                  </p:stCondLst>
                                  <p:childTnLst>
                                    <p:animEffect transition="out" filter="wipe(down)">
                                      <p:cBhvr>
                                        <p:cTn id="15" dur="500"/>
                                        <p:tgtEl>
                                          <p:spTgt spid="16"/>
                                        </p:tgtEl>
                                      </p:cBhvr>
                                    </p:animEffect>
                                    <p:set>
                                      <p:cBhvr>
                                        <p:cTn id="16" dur="1" fill="hold">
                                          <p:stCondLst>
                                            <p:cond delay="499"/>
                                          </p:stCondLst>
                                        </p:cTn>
                                        <p:tgtEl>
                                          <p:spTgt spid="16"/>
                                        </p:tgtEl>
                                        <p:attrNameLst>
                                          <p:attrName>style.visibility</p:attrName>
                                        </p:attrNameLst>
                                      </p:cBhvr>
                                      <p:to>
                                        <p:strVal val="hidden"/>
                                      </p:to>
                                    </p:set>
                                  </p:childTnLst>
                                </p:cTn>
                              </p:par>
                            </p:childTnLst>
                          </p:cTn>
                        </p:par>
                        <p:par>
                          <p:cTn id="17" fill="hold">
                            <p:stCondLst>
                              <p:cond delay="500"/>
                            </p:stCondLst>
                            <p:childTnLst>
                              <p:par>
                                <p:cTn id="18" presetID="1" presetClass="entr" presetSubtype="0" fill="hold" nodeType="afterEffect">
                                  <p:stCondLst>
                                    <p:cond delay="0"/>
                                  </p:stCondLst>
                                  <p:childTnLst>
                                    <p:set>
                                      <p:cBhvr>
                                        <p:cTn id="19" dur="1" fill="hold">
                                          <p:stCondLst>
                                            <p:cond delay="0"/>
                                          </p:stCondLst>
                                        </p:cTn>
                                        <p:tgtEl>
                                          <p:spTgt spid="17"/>
                                        </p:tgtEl>
                                        <p:attrNameLst>
                                          <p:attrName>style.visibility</p:attrName>
                                        </p:attrNameLst>
                                      </p:cBhvr>
                                      <p:to>
                                        <p:strVal val="visible"/>
                                      </p:to>
                                    </p:set>
                                  </p:childTnLst>
                                </p:cTn>
                              </p:par>
                            </p:childTnLst>
                          </p:cTn>
                        </p:par>
                        <p:par>
                          <p:cTn id="20" fill="hold">
                            <p:stCondLst>
                              <p:cond delay="500"/>
                            </p:stCondLst>
                            <p:childTnLst>
                              <p:par>
                                <p:cTn id="21" presetID="1" presetClass="entr" presetSubtype="0" fill="hold" grpId="0" nodeType="after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xit" presetSubtype="4" fill="hold" nodeType="clickEffect">
                                  <p:stCondLst>
                                    <p:cond delay="0"/>
                                  </p:stCondLst>
                                  <p:childTnLst>
                                    <p:animEffect transition="out" filter="wipe(down)">
                                      <p:cBhvr>
                                        <p:cTn id="28" dur="500"/>
                                        <p:tgtEl>
                                          <p:spTgt spid="17"/>
                                        </p:tgtEl>
                                      </p:cBhvr>
                                    </p:animEffect>
                                    <p:set>
                                      <p:cBhvr>
                                        <p:cTn id="29" dur="1" fill="hold">
                                          <p:stCondLst>
                                            <p:cond delay="499"/>
                                          </p:stCondLst>
                                        </p:cTn>
                                        <p:tgtEl>
                                          <p:spTgt spid="17"/>
                                        </p:tgtEl>
                                        <p:attrNameLst>
                                          <p:attrName>style.visibility</p:attrName>
                                        </p:attrNameLst>
                                      </p:cBhvr>
                                      <p:to>
                                        <p:strVal val="hidden"/>
                                      </p:to>
                                    </p:set>
                                  </p:childTnLst>
                                </p:cTn>
                              </p:par>
                            </p:childTnLst>
                          </p:cTn>
                        </p:par>
                        <p:par>
                          <p:cTn id="30" fill="hold">
                            <p:stCondLst>
                              <p:cond delay="500"/>
                            </p:stCondLst>
                            <p:childTnLst>
                              <p:par>
                                <p:cTn id="31" presetID="1" presetClass="entr" presetSubtype="0" fill="hold" nodeType="after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childTnLst>
                          </p:cTn>
                        </p:par>
                        <p:par>
                          <p:cTn id="33" fill="hold">
                            <p:stCondLst>
                              <p:cond delay="500"/>
                            </p:stCondLst>
                            <p:childTnLst>
                              <p:par>
                                <p:cTn id="34" presetID="1" presetClass="entr" presetSubtype="0" fill="hold" grpId="0" nodeType="afterEffect">
                                  <p:stCondLst>
                                    <p:cond delay="0"/>
                                  </p:stCondLst>
                                  <p:childTnLst>
                                    <p:set>
                                      <p:cBhvr>
                                        <p:cTn id="35" dur="1" fill="hold">
                                          <p:stCondLst>
                                            <p:cond delay="0"/>
                                          </p:stCondLst>
                                        </p:cTn>
                                        <p:tgtEl>
                                          <p:spTgt spid="12"/>
                                        </p:tgtEl>
                                        <p:attrNameLst>
                                          <p:attrName>style.visibility</p:attrName>
                                        </p:attrNameLst>
                                      </p:cBhvr>
                                      <p:to>
                                        <p:strVal val="visible"/>
                                      </p:to>
                                    </p:set>
                                  </p:childTnLst>
                                </p:cTn>
                              </p:par>
                            </p:childTnLst>
                          </p:cTn>
                        </p:par>
                        <p:par>
                          <p:cTn id="36" fill="hold">
                            <p:stCondLst>
                              <p:cond delay="500"/>
                            </p:stCondLst>
                            <p:childTnLst>
                              <p:par>
                                <p:cTn id="37" presetID="22" presetClass="exit" presetSubtype="4" fill="hold" grpId="1" nodeType="afterEffect">
                                  <p:stCondLst>
                                    <p:cond delay="0"/>
                                  </p:stCondLst>
                                  <p:childTnLst>
                                    <p:animEffect transition="out" filter="wipe(down)">
                                      <p:cBhvr>
                                        <p:cTn id="38" dur="500"/>
                                        <p:tgtEl>
                                          <p:spTgt spid="9"/>
                                        </p:tgtEl>
                                      </p:cBhvr>
                                    </p:animEffect>
                                    <p:set>
                                      <p:cBhvr>
                                        <p:cTn id="39" dur="1" fill="hold">
                                          <p:stCondLst>
                                            <p:cond delay="499"/>
                                          </p:stCondLst>
                                        </p:cTn>
                                        <p:tgtEl>
                                          <p:spTgt spid="9"/>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22" presetClass="exit" presetSubtype="4" fill="hold" nodeType="clickEffect">
                                  <p:stCondLst>
                                    <p:cond delay="0"/>
                                  </p:stCondLst>
                                  <p:childTnLst>
                                    <p:animEffect transition="out" filter="wipe(down)">
                                      <p:cBhvr>
                                        <p:cTn id="43" dur="500"/>
                                        <p:tgtEl>
                                          <p:spTgt spid="18"/>
                                        </p:tgtEl>
                                      </p:cBhvr>
                                    </p:animEffect>
                                    <p:set>
                                      <p:cBhvr>
                                        <p:cTn id="44" dur="1" fill="hold">
                                          <p:stCondLst>
                                            <p:cond delay="499"/>
                                          </p:stCondLst>
                                        </p:cTn>
                                        <p:tgtEl>
                                          <p:spTgt spid="18"/>
                                        </p:tgtEl>
                                        <p:attrNameLst>
                                          <p:attrName>style.visibility</p:attrName>
                                        </p:attrNameLst>
                                      </p:cBhvr>
                                      <p:to>
                                        <p:strVal val="hidden"/>
                                      </p:to>
                                    </p:set>
                                  </p:childTnLst>
                                </p:cTn>
                              </p:par>
                            </p:childTnLst>
                          </p:cTn>
                        </p:par>
                        <p:par>
                          <p:cTn id="45" fill="hold">
                            <p:stCondLst>
                              <p:cond delay="500"/>
                            </p:stCondLst>
                            <p:childTnLst>
                              <p:par>
                                <p:cTn id="46" presetID="1" presetClass="entr" presetSubtype="0" fill="hold" nodeType="afterEffect">
                                  <p:stCondLst>
                                    <p:cond delay="0"/>
                                  </p:stCondLst>
                                  <p:childTnLst>
                                    <p:set>
                                      <p:cBhvr>
                                        <p:cTn id="47" dur="1" fill="hold">
                                          <p:stCondLst>
                                            <p:cond delay="0"/>
                                          </p:stCondLst>
                                        </p:cTn>
                                        <p:tgtEl>
                                          <p:spTgt spid="19"/>
                                        </p:tgtEl>
                                        <p:attrNameLst>
                                          <p:attrName>style.visibility</p:attrName>
                                        </p:attrNameLst>
                                      </p:cBhvr>
                                      <p:to>
                                        <p:strVal val="visible"/>
                                      </p:to>
                                    </p:set>
                                  </p:childTnLst>
                                </p:cTn>
                              </p:par>
                            </p:childTnLst>
                          </p:cTn>
                        </p:par>
                        <p:par>
                          <p:cTn id="48" fill="hold">
                            <p:stCondLst>
                              <p:cond delay="500"/>
                            </p:stCondLst>
                            <p:childTnLst>
                              <p:par>
                                <p:cTn id="49" presetID="1" presetClass="entr" presetSubtype="0" fill="hold" grpId="0" nodeType="afterEffect">
                                  <p:stCondLst>
                                    <p:cond delay="0"/>
                                  </p:stCondLst>
                                  <p:childTnLst>
                                    <p:set>
                                      <p:cBhvr>
                                        <p:cTn id="50" dur="1" fill="hold">
                                          <p:stCondLst>
                                            <p:cond delay="0"/>
                                          </p:stCondLst>
                                        </p:cTn>
                                        <p:tgtEl>
                                          <p:spTgt spid="13"/>
                                        </p:tgtEl>
                                        <p:attrNameLst>
                                          <p:attrName>style.visibility</p:attrName>
                                        </p:attrNameLst>
                                      </p:cBhvr>
                                      <p:to>
                                        <p:strVal val="visible"/>
                                      </p:to>
                                    </p:set>
                                  </p:childTnLst>
                                </p:cTn>
                              </p:par>
                            </p:childTnLst>
                          </p:cTn>
                        </p:par>
                        <p:par>
                          <p:cTn id="51" fill="hold">
                            <p:stCondLst>
                              <p:cond delay="500"/>
                            </p:stCondLst>
                            <p:childTnLst>
                              <p:par>
                                <p:cTn id="52" presetID="22" presetClass="exit" presetSubtype="4" fill="hold" grpId="1" nodeType="afterEffect">
                                  <p:stCondLst>
                                    <p:cond delay="0"/>
                                  </p:stCondLst>
                                  <p:childTnLst>
                                    <p:animEffect transition="out" filter="wipe(down)">
                                      <p:cBhvr>
                                        <p:cTn id="53" dur="500"/>
                                        <p:tgtEl>
                                          <p:spTgt spid="10"/>
                                        </p:tgtEl>
                                      </p:cBhvr>
                                    </p:animEffect>
                                    <p:set>
                                      <p:cBhvr>
                                        <p:cTn id="54" dur="1" fill="hold">
                                          <p:stCondLst>
                                            <p:cond delay="499"/>
                                          </p:stCondLst>
                                        </p:cTn>
                                        <p:tgtEl>
                                          <p:spTgt spid="10"/>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22" presetClass="exit" presetSubtype="4" fill="hold" nodeType="clickEffect">
                                  <p:stCondLst>
                                    <p:cond delay="0"/>
                                  </p:stCondLst>
                                  <p:childTnLst>
                                    <p:animEffect transition="out" filter="wipe(down)">
                                      <p:cBhvr>
                                        <p:cTn id="58" dur="500"/>
                                        <p:tgtEl>
                                          <p:spTgt spid="19"/>
                                        </p:tgtEl>
                                      </p:cBhvr>
                                    </p:animEffect>
                                    <p:set>
                                      <p:cBhvr>
                                        <p:cTn id="59" dur="1" fill="hold">
                                          <p:stCondLst>
                                            <p:cond delay="499"/>
                                          </p:stCondLst>
                                        </p:cTn>
                                        <p:tgtEl>
                                          <p:spTgt spid="19"/>
                                        </p:tgtEl>
                                        <p:attrNameLst>
                                          <p:attrName>style.visibility</p:attrName>
                                        </p:attrNameLst>
                                      </p:cBhvr>
                                      <p:to>
                                        <p:strVal val="hidden"/>
                                      </p:to>
                                    </p:set>
                                  </p:childTnLst>
                                </p:cTn>
                              </p:par>
                            </p:childTnLst>
                          </p:cTn>
                        </p:par>
                        <p:par>
                          <p:cTn id="60" fill="hold">
                            <p:stCondLst>
                              <p:cond delay="500"/>
                            </p:stCondLst>
                            <p:childTnLst>
                              <p:par>
                                <p:cTn id="61" presetID="1" presetClass="entr" presetSubtype="0" fill="hold" grpId="0" nodeType="after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9" grpId="1"/>
      <p:bldP spid="10" grpId="0"/>
      <p:bldP spid="10" grpId="1"/>
      <p:bldP spid="11" grpId="0"/>
      <p:bldP spid="12" grpId="0"/>
      <p:bldP spid="13" grpId="0"/>
      <p:bldP spid="1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Line 4">
            <a:extLst>
              <a:ext uri="{FF2B5EF4-FFF2-40B4-BE49-F238E27FC236}">
                <a16:creationId xmlns:a16="http://schemas.microsoft.com/office/drawing/2014/main" id="{56E2C9C0-559B-4005-A619-B648F9EB040B}"/>
              </a:ext>
            </a:extLst>
          </p:cNvPr>
          <p:cNvSpPr>
            <a:spLocks noChangeShapeType="1"/>
          </p:cNvSpPr>
          <p:nvPr/>
        </p:nvSpPr>
        <p:spPr bwMode="auto">
          <a:xfrm>
            <a:off x="1764019" y="3412273"/>
            <a:ext cx="0" cy="2160587"/>
          </a:xfrm>
          <a:prstGeom prst="line">
            <a:avLst/>
          </a:prstGeom>
          <a:noFill/>
          <a:ln w="38100">
            <a:solidFill>
              <a:srgbClr val="FF3300"/>
            </a:solidFill>
            <a:round/>
            <a:headEnd/>
            <a:tailEnd/>
          </a:ln>
          <a:effectLst/>
        </p:spPr>
        <p:txBody>
          <a:bodyPr wrap="none"/>
          <a:lstStyle/>
          <a:p>
            <a:endParaRPr lang="zh-CN" altLang="en-US" sz="2800"/>
          </a:p>
        </p:txBody>
      </p:sp>
      <p:sp>
        <p:nvSpPr>
          <p:cNvPr id="5" name="Line 5">
            <a:extLst>
              <a:ext uri="{FF2B5EF4-FFF2-40B4-BE49-F238E27FC236}">
                <a16:creationId xmlns:a16="http://schemas.microsoft.com/office/drawing/2014/main" id="{4D7E2F23-62C8-46E3-B66F-A6428B203CF2}"/>
              </a:ext>
            </a:extLst>
          </p:cNvPr>
          <p:cNvSpPr>
            <a:spLocks noChangeShapeType="1"/>
          </p:cNvSpPr>
          <p:nvPr/>
        </p:nvSpPr>
        <p:spPr bwMode="auto">
          <a:xfrm>
            <a:off x="1764020" y="5572859"/>
            <a:ext cx="1152525" cy="0"/>
          </a:xfrm>
          <a:prstGeom prst="line">
            <a:avLst/>
          </a:prstGeom>
          <a:noFill/>
          <a:ln w="38100">
            <a:solidFill>
              <a:srgbClr val="FF3300"/>
            </a:solidFill>
            <a:round/>
            <a:headEnd/>
            <a:tailEnd/>
          </a:ln>
          <a:effectLst/>
        </p:spPr>
        <p:txBody>
          <a:bodyPr wrap="none"/>
          <a:lstStyle/>
          <a:p>
            <a:endParaRPr lang="zh-CN" altLang="en-US" sz="2800"/>
          </a:p>
        </p:txBody>
      </p:sp>
      <p:sp>
        <p:nvSpPr>
          <p:cNvPr id="6" name="Line 6">
            <a:extLst>
              <a:ext uri="{FF2B5EF4-FFF2-40B4-BE49-F238E27FC236}">
                <a16:creationId xmlns:a16="http://schemas.microsoft.com/office/drawing/2014/main" id="{1745CAA4-6688-42A2-8C58-B0230ECF06DB}"/>
              </a:ext>
            </a:extLst>
          </p:cNvPr>
          <p:cNvSpPr>
            <a:spLocks noChangeShapeType="1"/>
          </p:cNvSpPr>
          <p:nvPr/>
        </p:nvSpPr>
        <p:spPr bwMode="auto">
          <a:xfrm>
            <a:off x="2916544" y="3412273"/>
            <a:ext cx="0" cy="2160587"/>
          </a:xfrm>
          <a:prstGeom prst="line">
            <a:avLst/>
          </a:prstGeom>
          <a:noFill/>
          <a:ln w="38100">
            <a:solidFill>
              <a:srgbClr val="FF3300"/>
            </a:solidFill>
            <a:round/>
            <a:headEnd/>
            <a:tailEnd/>
          </a:ln>
          <a:effectLst/>
        </p:spPr>
        <p:txBody>
          <a:bodyPr wrap="none"/>
          <a:lstStyle/>
          <a:p>
            <a:endParaRPr lang="zh-CN" altLang="en-US" sz="2800"/>
          </a:p>
        </p:txBody>
      </p:sp>
      <p:sp>
        <p:nvSpPr>
          <p:cNvPr id="7" name="Text Box 7">
            <a:extLst>
              <a:ext uri="{FF2B5EF4-FFF2-40B4-BE49-F238E27FC236}">
                <a16:creationId xmlns:a16="http://schemas.microsoft.com/office/drawing/2014/main" id="{1D0D5EA6-F160-459F-8EB7-7EEE1744F1A1}"/>
              </a:ext>
            </a:extLst>
          </p:cNvPr>
          <p:cNvSpPr txBox="1">
            <a:spLocks noChangeArrowheads="1"/>
          </p:cNvSpPr>
          <p:nvPr/>
        </p:nvSpPr>
        <p:spPr bwMode="auto">
          <a:xfrm>
            <a:off x="827584" y="1916832"/>
            <a:ext cx="4318504" cy="461665"/>
          </a:xfrm>
          <a:prstGeom prst="rect">
            <a:avLst/>
          </a:prstGeom>
          <a:noFill/>
          <a:ln w="38100" algn="ctr">
            <a:noFill/>
            <a:miter lim="800000"/>
            <a:headEnd/>
            <a:tailEnd/>
          </a:ln>
          <a:effectLst/>
        </p:spPr>
        <p:txBody>
          <a:bodyPr wrap="square">
            <a:spAutoFit/>
          </a:bodyPr>
          <a:lstStyle/>
          <a:p>
            <a:pPr algn="l">
              <a:spcBef>
                <a:spcPct val="50000"/>
              </a:spcBef>
            </a:pPr>
            <a:r>
              <a:rPr lang="zh-CN" altLang="en-US" dirty="0">
                <a:latin typeface="Consolas" pitchFamily="49" charset="0"/>
                <a:ea typeface="楷体" pitchFamily="49" charset="-122"/>
                <a:cs typeface="Consolas" pitchFamily="49" charset="0"/>
              </a:rPr>
              <a:t>例如：</a:t>
            </a:r>
            <a:r>
              <a:rPr lang="en-US" altLang="zh-CN" dirty="0">
                <a:latin typeface="Consolas" pitchFamily="49" charset="0"/>
                <a:ea typeface="楷体" pitchFamily="49" charset="-122"/>
                <a:cs typeface="Consolas" pitchFamily="49" charset="0"/>
              </a:rPr>
              <a:t>exp=</a:t>
            </a:r>
            <a:r>
              <a:rPr lang="zh-CN" altLang="en-US" dirty="0">
                <a:latin typeface="Consolas" pitchFamily="49" charset="0"/>
                <a:ea typeface="楷体" pitchFamily="49" charset="-122"/>
                <a:cs typeface="Consolas" pitchFamily="49" charset="0"/>
              </a:rPr>
              <a:t>“</a:t>
            </a:r>
            <a:r>
              <a:rPr lang="en-US" altLang="zh-CN" dirty="0">
                <a:latin typeface="Consolas" pitchFamily="49" charset="0"/>
                <a:ea typeface="楷体" pitchFamily="49" charset="-122"/>
                <a:cs typeface="Consolas" pitchFamily="49" charset="0"/>
              </a:rPr>
              <a:t>( ( ) ) ) ( </a:t>
            </a:r>
            <a:r>
              <a:rPr lang="zh-CN" altLang="en-US" dirty="0">
                <a:latin typeface="Consolas" pitchFamily="49" charset="0"/>
                <a:ea typeface="楷体" pitchFamily="49" charset="-122"/>
                <a:cs typeface="Consolas" pitchFamily="49" charset="0"/>
              </a:rPr>
              <a:t>”</a:t>
            </a:r>
            <a:endParaRPr lang="en-US" altLang="zh-CN" dirty="0">
              <a:latin typeface="Consolas" pitchFamily="49" charset="0"/>
              <a:ea typeface="楷体" pitchFamily="49" charset="-122"/>
              <a:cs typeface="Consolas" pitchFamily="49" charset="0"/>
            </a:endParaRPr>
          </a:p>
        </p:txBody>
      </p:sp>
      <p:sp>
        <p:nvSpPr>
          <p:cNvPr id="8" name="Text Box 10">
            <a:extLst>
              <a:ext uri="{FF2B5EF4-FFF2-40B4-BE49-F238E27FC236}">
                <a16:creationId xmlns:a16="http://schemas.microsoft.com/office/drawing/2014/main" id="{8FF0EDC4-CDF0-4139-91EB-4728B7EEA795}"/>
              </a:ext>
            </a:extLst>
          </p:cNvPr>
          <p:cNvSpPr txBox="1">
            <a:spLocks noChangeArrowheads="1"/>
          </p:cNvSpPr>
          <p:nvPr/>
        </p:nvSpPr>
        <p:spPr bwMode="auto">
          <a:xfrm>
            <a:off x="3634096" y="3594321"/>
            <a:ext cx="2154243" cy="400110"/>
          </a:xfrm>
          <a:prstGeom prst="rect">
            <a:avLst/>
          </a:prstGeom>
          <a:noFill/>
          <a:ln w="38100" algn="ctr">
            <a:noFill/>
            <a:miter lim="800000"/>
            <a:headEnd/>
            <a:tailEnd/>
          </a:ln>
          <a:effectLst/>
        </p:spPr>
        <p:txBody>
          <a:bodyPr wrap="square">
            <a:spAutoFit/>
          </a:bodyPr>
          <a:lstStyle/>
          <a:p>
            <a:pPr algn="l">
              <a:spcBef>
                <a:spcPct val="50000"/>
              </a:spcBef>
            </a:pPr>
            <a:r>
              <a:rPr lang="en-US" altLang="zh-CN" sz="2000">
                <a:latin typeface="Consolas" pitchFamily="49" charset="0"/>
                <a:ea typeface="仿宋" pitchFamily="49" charset="-122"/>
                <a:cs typeface="Consolas" pitchFamily="49" charset="0"/>
              </a:rPr>
              <a:t>② ‘(‘</a:t>
            </a:r>
            <a:r>
              <a:rPr lang="zh-CN" altLang="en-US" sz="2000" dirty="0">
                <a:latin typeface="Consolas" pitchFamily="49" charset="0"/>
                <a:ea typeface="仿宋" pitchFamily="49" charset="-122"/>
                <a:cs typeface="Consolas" pitchFamily="49" charset="0"/>
              </a:rPr>
              <a:t>进栈</a:t>
            </a:r>
          </a:p>
        </p:txBody>
      </p:sp>
      <p:sp>
        <p:nvSpPr>
          <p:cNvPr id="9" name="Text Box 11">
            <a:extLst>
              <a:ext uri="{FF2B5EF4-FFF2-40B4-BE49-F238E27FC236}">
                <a16:creationId xmlns:a16="http://schemas.microsoft.com/office/drawing/2014/main" id="{3A22FF55-75D9-4764-9246-96979D866C6E}"/>
              </a:ext>
            </a:extLst>
          </p:cNvPr>
          <p:cNvSpPr txBox="1">
            <a:spLocks noChangeArrowheads="1"/>
          </p:cNvSpPr>
          <p:nvPr/>
        </p:nvSpPr>
        <p:spPr bwMode="auto">
          <a:xfrm>
            <a:off x="1979919" y="5023081"/>
            <a:ext cx="647700" cy="461665"/>
          </a:xfrm>
          <a:prstGeom prst="rect">
            <a:avLst/>
          </a:prstGeom>
          <a:noFill/>
          <a:ln w="38100" algn="ctr">
            <a:noFill/>
            <a:miter lim="800000"/>
            <a:headEnd/>
            <a:tailEnd/>
          </a:ln>
          <a:effectLst/>
        </p:spPr>
        <p:txBody>
          <a:bodyPr>
            <a:spAutoFit/>
          </a:bodyPr>
          <a:lstStyle/>
          <a:p>
            <a:pPr>
              <a:spcBef>
                <a:spcPct val="50000"/>
              </a:spcBef>
            </a:pPr>
            <a:r>
              <a:rPr lang="en-US" altLang="zh-CN" dirty="0">
                <a:latin typeface="Consolas" pitchFamily="49" charset="0"/>
                <a:ea typeface="楷体" pitchFamily="49" charset="-122"/>
                <a:cs typeface="Consolas" pitchFamily="49" charset="0"/>
              </a:rPr>
              <a:t>(</a:t>
            </a:r>
          </a:p>
        </p:txBody>
      </p:sp>
      <p:sp>
        <p:nvSpPr>
          <p:cNvPr id="10" name="Text Box 12">
            <a:extLst>
              <a:ext uri="{FF2B5EF4-FFF2-40B4-BE49-F238E27FC236}">
                <a16:creationId xmlns:a16="http://schemas.microsoft.com/office/drawing/2014/main" id="{183EE17C-5B08-4B8B-9698-829178A33FF4}"/>
              </a:ext>
            </a:extLst>
          </p:cNvPr>
          <p:cNvSpPr txBox="1">
            <a:spLocks noChangeArrowheads="1"/>
          </p:cNvSpPr>
          <p:nvPr/>
        </p:nvSpPr>
        <p:spPr bwMode="auto">
          <a:xfrm>
            <a:off x="3637270" y="5088622"/>
            <a:ext cx="4462734" cy="400110"/>
          </a:xfrm>
          <a:prstGeom prst="rect">
            <a:avLst/>
          </a:prstGeom>
          <a:noFill/>
          <a:ln w="38100" algn="ctr">
            <a:noFill/>
            <a:miter lim="800000"/>
            <a:headEnd/>
            <a:tailEnd/>
          </a:ln>
          <a:effectLst/>
        </p:spPr>
        <p:txBody>
          <a:bodyPr wrap="square">
            <a:spAutoFit/>
          </a:bodyPr>
          <a:lstStyle/>
          <a:p>
            <a:pPr algn="l">
              <a:spcBef>
                <a:spcPct val="50000"/>
              </a:spcBef>
            </a:pPr>
            <a:r>
              <a:rPr lang="zh-CN" altLang="en-US" sz="2000" dirty="0">
                <a:solidFill>
                  <a:srgbClr val="FF00FF"/>
                </a:solidFill>
                <a:latin typeface="Consolas" pitchFamily="49" charset="0"/>
                <a:ea typeface="仿宋" pitchFamily="49" charset="-122"/>
                <a:cs typeface="Consolas" pitchFamily="49" charset="0"/>
              </a:rPr>
              <a:t>⑤ 遇到’</a:t>
            </a:r>
            <a:r>
              <a:rPr lang="en-US" altLang="zh-CN" sz="2000" dirty="0">
                <a:solidFill>
                  <a:srgbClr val="0000FF"/>
                </a:solidFill>
                <a:latin typeface="Consolas" pitchFamily="49" charset="0"/>
                <a:ea typeface="仿宋" pitchFamily="49" charset="-122"/>
                <a:cs typeface="Consolas" pitchFamily="49" charset="0"/>
              </a:rPr>
              <a:t>)</a:t>
            </a:r>
            <a:r>
              <a:rPr lang="en-US" altLang="zh-CN" sz="2000" dirty="0">
                <a:solidFill>
                  <a:srgbClr val="FF00FF"/>
                </a:solidFill>
                <a:latin typeface="Consolas" pitchFamily="49" charset="0"/>
                <a:ea typeface="仿宋" pitchFamily="49" charset="-122"/>
                <a:cs typeface="Consolas" pitchFamily="49" charset="0"/>
              </a:rPr>
              <a:t>’</a:t>
            </a:r>
            <a:r>
              <a:rPr lang="zh-CN" altLang="en-US" sz="2000" dirty="0">
                <a:solidFill>
                  <a:srgbClr val="FF00FF"/>
                </a:solidFill>
                <a:latin typeface="Consolas" pitchFamily="49" charset="0"/>
                <a:ea typeface="仿宋" pitchFamily="49" charset="-122"/>
                <a:cs typeface="Consolas" pitchFamily="49" charset="0"/>
              </a:rPr>
              <a:t>，栈为空，返回</a:t>
            </a:r>
            <a:r>
              <a:rPr lang="en-US" altLang="zh-CN" sz="2000" dirty="0">
                <a:solidFill>
                  <a:srgbClr val="FF00FF"/>
                </a:solidFill>
                <a:latin typeface="Consolas" pitchFamily="49" charset="0"/>
                <a:ea typeface="仿宋" pitchFamily="49" charset="-122"/>
                <a:cs typeface="Consolas" pitchFamily="49" charset="0"/>
              </a:rPr>
              <a:t>false</a:t>
            </a:r>
          </a:p>
        </p:txBody>
      </p:sp>
      <p:sp>
        <p:nvSpPr>
          <p:cNvPr id="11" name="Text Box 17">
            <a:extLst>
              <a:ext uri="{FF2B5EF4-FFF2-40B4-BE49-F238E27FC236}">
                <a16:creationId xmlns:a16="http://schemas.microsoft.com/office/drawing/2014/main" id="{972350E8-2E71-4E42-8C0E-FB1ABEACD77B}"/>
              </a:ext>
            </a:extLst>
          </p:cNvPr>
          <p:cNvSpPr txBox="1">
            <a:spLocks noChangeArrowheads="1"/>
          </p:cNvSpPr>
          <p:nvPr/>
        </p:nvSpPr>
        <p:spPr bwMode="auto">
          <a:xfrm>
            <a:off x="682934" y="1180247"/>
            <a:ext cx="4605339" cy="461665"/>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square">
            <a:spAutoFit/>
          </a:bodyPr>
          <a:lstStyle/>
          <a:p>
            <a:pPr>
              <a:spcBef>
                <a:spcPct val="50000"/>
              </a:spcBef>
            </a:pPr>
            <a:r>
              <a:rPr lang="zh-CN" altLang="en-US" dirty="0">
                <a:solidFill>
                  <a:srgbClr val="0000FF"/>
                </a:solidFill>
                <a:latin typeface="华文中宋" pitchFamily="2" charset="-122"/>
                <a:ea typeface="华文中宋" pitchFamily="2" charset="-122"/>
              </a:rPr>
              <a:t>表达式括号</a:t>
            </a:r>
            <a:r>
              <a:rPr lang="zh-CN" altLang="en-US" dirty="0">
                <a:solidFill>
                  <a:srgbClr val="FF0000"/>
                </a:solidFill>
                <a:latin typeface="华文中宋" pitchFamily="2" charset="-122"/>
                <a:ea typeface="华文中宋" pitchFamily="2" charset="-122"/>
              </a:rPr>
              <a:t>不配对</a:t>
            </a:r>
            <a:r>
              <a:rPr lang="zh-CN" altLang="en-US" dirty="0">
                <a:solidFill>
                  <a:srgbClr val="0000FF"/>
                </a:solidFill>
                <a:latin typeface="华文中宋" pitchFamily="2" charset="-122"/>
                <a:ea typeface="华文中宋" pitchFamily="2" charset="-122"/>
              </a:rPr>
              <a:t>情况的演示</a:t>
            </a:r>
          </a:p>
        </p:txBody>
      </p:sp>
      <p:sp>
        <p:nvSpPr>
          <p:cNvPr id="12" name="Text Box 8">
            <a:extLst>
              <a:ext uri="{FF2B5EF4-FFF2-40B4-BE49-F238E27FC236}">
                <a16:creationId xmlns:a16="http://schemas.microsoft.com/office/drawing/2014/main" id="{18203BCF-A0A4-4650-AEE6-1C5802120C6F}"/>
              </a:ext>
            </a:extLst>
          </p:cNvPr>
          <p:cNvSpPr txBox="1">
            <a:spLocks noChangeArrowheads="1"/>
          </p:cNvSpPr>
          <p:nvPr/>
        </p:nvSpPr>
        <p:spPr bwMode="auto">
          <a:xfrm>
            <a:off x="3634096" y="3069372"/>
            <a:ext cx="1654177" cy="400110"/>
          </a:xfrm>
          <a:prstGeom prst="rect">
            <a:avLst/>
          </a:prstGeom>
          <a:noFill/>
          <a:ln w="38100" algn="ctr">
            <a:noFill/>
            <a:miter lim="800000"/>
            <a:headEnd/>
            <a:tailEnd/>
          </a:ln>
          <a:effectLst/>
        </p:spPr>
        <p:txBody>
          <a:bodyPr wrap="square">
            <a:spAutoFit/>
          </a:bodyPr>
          <a:lstStyle/>
          <a:p>
            <a:pPr algn="l">
              <a:spcBef>
                <a:spcPct val="50000"/>
              </a:spcBef>
            </a:pPr>
            <a:r>
              <a:rPr lang="en-US" altLang="zh-CN" sz="2000">
                <a:latin typeface="Consolas" pitchFamily="49" charset="0"/>
                <a:ea typeface="仿宋" pitchFamily="49" charset="-122"/>
                <a:cs typeface="Consolas" pitchFamily="49" charset="0"/>
              </a:rPr>
              <a:t>① ‘(‘</a:t>
            </a:r>
            <a:r>
              <a:rPr lang="zh-CN" altLang="en-US" sz="2000">
                <a:latin typeface="Consolas" pitchFamily="49" charset="0"/>
                <a:ea typeface="仿宋" pitchFamily="49" charset="-122"/>
                <a:cs typeface="Consolas" pitchFamily="49" charset="0"/>
              </a:rPr>
              <a:t>进</a:t>
            </a:r>
            <a:r>
              <a:rPr lang="zh-CN" altLang="en-US" sz="2000" dirty="0">
                <a:latin typeface="Consolas" pitchFamily="49" charset="0"/>
                <a:ea typeface="仿宋" pitchFamily="49" charset="-122"/>
                <a:cs typeface="Consolas" pitchFamily="49" charset="0"/>
              </a:rPr>
              <a:t>栈</a:t>
            </a:r>
          </a:p>
        </p:txBody>
      </p:sp>
      <p:sp>
        <p:nvSpPr>
          <p:cNvPr id="13" name="Text Box 19">
            <a:extLst>
              <a:ext uri="{FF2B5EF4-FFF2-40B4-BE49-F238E27FC236}">
                <a16:creationId xmlns:a16="http://schemas.microsoft.com/office/drawing/2014/main" id="{C1C8D0D3-01F4-47EC-8174-B5F59098CD46}"/>
              </a:ext>
            </a:extLst>
          </p:cNvPr>
          <p:cNvSpPr txBox="1">
            <a:spLocks noChangeArrowheads="1"/>
          </p:cNvSpPr>
          <p:nvPr/>
        </p:nvSpPr>
        <p:spPr bwMode="auto">
          <a:xfrm>
            <a:off x="1979919" y="4517177"/>
            <a:ext cx="647700" cy="461665"/>
          </a:xfrm>
          <a:prstGeom prst="rect">
            <a:avLst/>
          </a:prstGeom>
          <a:noFill/>
          <a:ln w="38100" algn="ctr">
            <a:noFill/>
            <a:miter lim="800000"/>
            <a:headEnd/>
            <a:tailEnd/>
          </a:ln>
          <a:effectLst/>
        </p:spPr>
        <p:txBody>
          <a:bodyPr>
            <a:spAutoFit/>
          </a:bodyPr>
          <a:lstStyle/>
          <a:p>
            <a:pPr>
              <a:spcBef>
                <a:spcPct val="50000"/>
              </a:spcBef>
            </a:pPr>
            <a:r>
              <a:rPr lang="en-US" altLang="zh-CN" dirty="0">
                <a:latin typeface="Consolas" pitchFamily="49" charset="0"/>
                <a:ea typeface="楷体" pitchFamily="49" charset="-122"/>
                <a:cs typeface="Consolas" pitchFamily="49" charset="0"/>
              </a:rPr>
              <a:t>(</a:t>
            </a:r>
          </a:p>
        </p:txBody>
      </p:sp>
      <p:sp>
        <p:nvSpPr>
          <p:cNvPr id="14" name="Text Box 21">
            <a:extLst>
              <a:ext uri="{FF2B5EF4-FFF2-40B4-BE49-F238E27FC236}">
                <a16:creationId xmlns:a16="http://schemas.microsoft.com/office/drawing/2014/main" id="{303B0611-6799-4697-92DA-9A1D9F2E11AB}"/>
              </a:ext>
            </a:extLst>
          </p:cNvPr>
          <p:cNvSpPr txBox="1">
            <a:spLocks noChangeArrowheads="1"/>
          </p:cNvSpPr>
          <p:nvPr/>
        </p:nvSpPr>
        <p:spPr bwMode="auto">
          <a:xfrm>
            <a:off x="3656319" y="4088490"/>
            <a:ext cx="4248150" cy="400110"/>
          </a:xfrm>
          <a:prstGeom prst="rect">
            <a:avLst/>
          </a:prstGeom>
          <a:noFill/>
          <a:ln w="38100" algn="ctr">
            <a:noFill/>
            <a:miter lim="800000"/>
            <a:headEnd/>
            <a:tailEnd/>
          </a:ln>
          <a:effectLst/>
        </p:spPr>
        <p:txBody>
          <a:bodyPr>
            <a:spAutoFit/>
          </a:bodyPr>
          <a:lstStyle/>
          <a:p>
            <a:pPr algn="l">
              <a:spcBef>
                <a:spcPct val="50000"/>
              </a:spcBef>
            </a:pPr>
            <a:r>
              <a:rPr lang="zh-CN" altLang="en-US" sz="2000">
                <a:latin typeface="Consolas" pitchFamily="49" charset="0"/>
                <a:ea typeface="仿宋" pitchFamily="49" charset="-122"/>
                <a:cs typeface="Consolas" pitchFamily="49" charset="0"/>
              </a:rPr>
              <a:t>③ 遇到’</a:t>
            </a:r>
            <a:r>
              <a:rPr lang="en-US" altLang="zh-CN" sz="2000">
                <a:latin typeface="Consolas" pitchFamily="49" charset="0"/>
                <a:ea typeface="仿宋" pitchFamily="49" charset="-122"/>
                <a:cs typeface="Consolas" pitchFamily="49" charset="0"/>
              </a:rPr>
              <a:t>)’</a:t>
            </a:r>
            <a:r>
              <a:rPr lang="zh-CN" altLang="en-US" sz="2000">
                <a:latin typeface="Consolas" pitchFamily="49" charset="0"/>
                <a:ea typeface="仿宋" pitchFamily="49" charset="-122"/>
                <a:cs typeface="Consolas" pitchFamily="49" charset="0"/>
              </a:rPr>
              <a:t>，栈</a:t>
            </a:r>
            <a:r>
              <a:rPr lang="zh-CN" altLang="en-US" sz="2000" dirty="0">
                <a:latin typeface="Consolas" pitchFamily="49" charset="0"/>
                <a:ea typeface="仿宋" pitchFamily="49" charset="-122"/>
                <a:cs typeface="Consolas" pitchFamily="49" charset="0"/>
              </a:rPr>
              <a:t>顶为</a:t>
            </a:r>
            <a:r>
              <a:rPr lang="zh-CN" altLang="en-US" sz="2000">
                <a:latin typeface="Consolas" pitchFamily="49" charset="0"/>
                <a:ea typeface="仿宋" pitchFamily="49" charset="-122"/>
                <a:cs typeface="Consolas" pitchFamily="49" charset="0"/>
              </a:rPr>
              <a:t>’</a:t>
            </a:r>
            <a:r>
              <a:rPr lang="en-US" altLang="zh-CN" sz="2000">
                <a:latin typeface="Consolas" pitchFamily="49" charset="0"/>
                <a:ea typeface="仿宋" pitchFamily="49" charset="-122"/>
                <a:cs typeface="Consolas" pitchFamily="49" charset="0"/>
              </a:rPr>
              <a:t>(‘</a:t>
            </a:r>
            <a:r>
              <a:rPr lang="zh-CN" altLang="en-US" sz="2000">
                <a:latin typeface="Consolas" pitchFamily="49" charset="0"/>
                <a:ea typeface="仿宋" pitchFamily="49" charset="-122"/>
                <a:cs typeface="Consolas" pitchFamily="49" charset="0"/>
              </a:rPr>
              <a:t>，退</a:t>
            </a:r>
            <a:r>
              <a:rPr lang="zh-CN" altLang="en-US" sz="2000" dirty="0">
                <a:latin typeface="Consolas" pitchFamily="49" charset="0"/>
                <a:ea typeface="仿宋" pitchFamily="49" charset="-122"/>
                <a:cs typeface="Consolas" pitchFamily="49" charset="0"/>
              </a:rPr>
              <a:t>栈</a:t>
            </a:r>
          </a:p>
        </p:txBody>
      </p:sp>
      <p:sp>
        <p:nvSpPr>
          <p:cNvPr id="15" name="Text Box 22">
            <a:extLst>
              <a:ext uri="{FF2B5EF4-FFF2-40B4-BE49-F238E27FC236}">
                <a16:creationId xmlns:a16="http://schemas.microsoft.com/office/drawing/2014/main" id="{E8A2CCBB-B08B-4A68-AADF-02A8AB1D49AC}"/>
              </a:ext>
            </a:extLst>
          </p:cNvPr>
          <p:cNvSpPr txBox="1">
            <a:spLocks noChangeArrowheads="1"/>
          </p:cNvSpPr>
          <p:nvPr/>
        </p:nvSpPr>
        <p:spPr bwMode="auto">
          <a:xfrm>
            <a:off x="3635682" y="4594901"/>
            <a:ext cx="4248150" cy="400110"/>
          </a:xfrm>
          <a:prstGeom prst="rect">
            <a:avLst/>
          </a:prstGeom>
          <a:noFill/>
          <a:ln w="38100" algn="ctr">
            <a:noFill/>
            <a:miter lim="800000"/>
            <a:headEnd/>
            <a:tailEnd/>
          </a:ln>
          <a:effectLst/>
        </p:spPr>
        <p:txBody>
          <a:bodyPr>
            <a:spAutoFit/>
          </a:bodyPr>
          <a:lstStyle/>
          <a:p>
            <a:pPr algn="l">
              <a:spcBef>
                <a:spcPct val="50000"/>
              </a:spcBef>
            </a:pPr>
            <a:r>
              <a:rPr lang="zh-CN" altLang="en-US" sz="2000">
                <a:latin typeface="Consolas" pitchFamily="49" charset="0"/>
                <a:ea typeface="仿宋" pitchFamily="49" charset="-122"/>
                <a:cs typeface="Consolas" pitchFamily="49" charset="0"/>
              </a:rPr>
              <a:t>④ 遇到’</a:t>
            </a:r>
            <a:r>
              <a:rPr lang="en-US" altLang="zh-CN" sz="2000">
                <a:latin typeface="Consolas" pitchFamily="49" charset="0"/>
                <a:ea typeface="仿宋" pitchFamily="49" charset="-122"/>
                <a:cs typeface="Consolas" pitchFamily="49" charset="0"/>
              </a:rPr>
              <a:t>)’</a:t>
            </a:r>
            <a:r>
              <a:rPr lang="zh-CN" altLang="en-US" sz="2000">
                <a:latin typeface="Consolas" pitchFamily="49" charset="0"/>
                <a:ea typeface="仿宋" pitchFamily="49" charset="-122"/>
                <a:cs typeface="Consolas" pitchFamily="49" charset="0"/>
              </a:rPr>
              <a:t>，栈</a:t>
            </a:r>
            <a:r>
              <a:rPr lang="zh-CN" altLang="en-US" sz="2000" dirty="0">
                <a:latin typeface="Consolas" pitchFamily="49" charset="0"/>
                <a:ea typeface="仿宋" pitchFamily="49" charset="-122"/>
                <a:cs typeface="Consolas" pitchFamily="49" charset="0"/>
              </a:rPr>
              <a:t>顶为</a:t>
            </a:r>
            <a:r>
              <a:rPr lang="zh-CN" altLang="en-US" sz="2000">
                <a:latin typeface="Consolas" pitchFamily="49" charset="0"/>
                <a:ea typeface="仿宋" pitchFamily="49" charset="-122"/>
                <a:cs typeface="Consolas" pitchFamily="49" charset="0"/>
              </a:rPr>
              <a:t>’</a:t>
            </a:r>
            <a:r>
              <a:rPr lang="en-US" altLang="zh-CN" sz="2000">
                <a:latin typeface="Consolas" pitchFamily="49" charset="0"/>
                <a:ea typeface="仿宋" pitchFamily="49" charset="-122"/>
                <a:cs typeface="Consolas" pitchFamily="49" charset="0"/>
              </a:rPr>
              <a:t>(‘</a:t>
            </a:r>
            <a:r>
              <a:rPr lang="zh-CN" altLang="en-US" sz="2000">
                <a:latin typeface="Consolas" pitchFamily="49" charset="0"/>
                <a:ea typeface="仿宋" pitchFamily="49" charset="-122"/>
                <a:cs typeface="Consolas" pitchFamily="49" charset="0"/>
              </a:rPr>
              <a:t>，退</a:t>
            </a:r>
            <a:r>
              <a:rPr lang="zh-CN" altLang="en-US" sz="2000" dirty="0">
                <a:latin typeface="Consolas" pitchFamily="49" charset="0"/>
                <a:ea typeface="仿宋" pitchFamily="49" charset="-122"/>
                <a:cs typeface="Consolas" pitchFamily="49" charset="0"/>
              </a:rPr>
              <a:t>栈</a:t>
            </a:r>
          </a:p>
        </p:txBody>
      </p:sp>
      <p:cxnSp>
        <p:nvCxnSpPr>
          <p:cNvPr id="16" name="直接箭头连接符 15">
            <a:extLst>
              <a:ext uri="{FF2B5EF4-FFF2-40B4-BE49-F238E27FC236}">
                <a16:creationId xmlns:a16="http://schemas.microsoft.com/office/drawing/2014/main" id="{8EA3FD23-3FB8-47D5-8CEE-BB62F21DB4D5}"/>
              </a:ext>
            </a:extLst>
          </p:cNvPr>
          <p:cNvCxnSpPr/>
          <p:nvPr/>
        </p:nvCxnSpPr>
        <p:spPr>
          <a:xfrm rot="5400000" flipH="1" flipV="1">
            <a:off x="2173941" y="2589896"/>
            <a:ext cx="357190" cy="1588"/>
          </a:xfrm>
          <a:prstGeom prst="straightConnector1">
            <a:avLst/>
          </a:prstGeom>
          <a:ln w="28575">
            <a:solidFill>
              <a:srgbClr val="660066"/>
            </a:solidFill>
            <a:tailEnd type="arrow"/>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9F67542B-4AC2-4AA6-844D-AD2E08B8EE6A}"/>
              </a:ext>
            </a:extLst>
          </p:cNvPr>
          <p:cNvCxnSpPr/>
          <p:nvPr/>
        </p:nvCxnSpPr>
        <p:spPr>
          <a:xfrm rot="5400000" flipH="1" flipV="1">
            <a:off x="2496198" y="2589896"/>
            <a:ext cx="357190" cy="1588"/>
          </a:xfrm>
          <a:prstGeom prst="straightConnector1">
            <a:avLst/>
          </a:prstGeom>
          <a:ln w="28575">
            <a:solidFill>
              <a:srgbClr val="660066"/>
            </a:solidFill>
            <a:tailEnd type="arrow"/>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DD7E4C60-B16B-48CA-B750-676E74C037DA}"/>
              </a:ext>
            </a:extLst>
          </p:cNvPr>
          <p:cNvCxnSpPr/>
          <p:nvPr/>
        </p:nvCxnSpPr>
        <p:spPr>
          <a:xfrm rot="5400000" flipH="1" flipV="1">
            <a:off x="2738743" y="2589896"/>
            <a:ext cx="357190" cy="1588"/>
          </a:xfrm>
          <a:prstGeom prst="straightConnector1">
            <a:avLst/>
          </a:prstGeom>
          <a:ln w="28575">
            <a:solidFill>
              <a:srgbClr val="660066"/>
            </a:solidFill>
            <a:tailEnd type="arrow"/>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F26A9905-E2E2-475E-B06D-B2C78D6C48FA}"/>
              </a:ext>
            </a:extLst>
          </p:cNvPr>
          <p:cNvCxnSpPr/>
          <p:nvPr/>
        </p:nvCxnSpPr>
        <p:spPr>
          <a:xfrm rot="5400000" flipH="1" flipV="1">
            <a:off x="2981288" y="2589896"/>
            <a:ext cx="357190" cy="1588"/>
          </a:xfrm>
          <a:prstGeom prst="straightConnector1">
            <a:avLst/>
          </a:prstGeom>
          <a:ln w="28575">
            <a:solidFill>
              <a:srgbClr val="660066"/>
            </a:solidFill>
            <a:tailEnd type="arrow"/>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E0B118A0-4E4E-46F3-9148-74A92B497731}"/>
              </a:ext>
            </a:extLst>
          </p:cNvPr>
          <p:cNvCxnSpPr/>
          <p:nvPr/>
        </p:nvCxnSpPr>
        <p:spPr>
          <a:xfrm rot="5400000" flipH="1" flipV="1">
            <a:off x="3252277" y="2589896"/>
            <a:ext cx="357190" cy="1588"/>
          </a:xfrm>
          <a:prstGeom prst="straightConnector1">
            <a:avLst/>
          </a:prstGeom>
          <a:ln w="28575">
            <a:solidFill>
              <a:srgbClr val="660066"/>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88545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11" dur="1" fill="hold">
                                          <p:stCondLst>
                                            <p:cond delay="0"/>
                                          </p:stCondLst>
                                        </p:cTn>
                                        <p:tgtEl>
                                          <p:spTgt spid="1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xit" presetSubtype="4" fill="hold" nodeType="clickEffect">
                                  <p:stCondLst>
                                    <p:cond delay="0"/>
                                  </p:stCondLst>
                                  <p:childTnLst>
                                    <p:animEffect transition="out" filter="wipe(down)">
                                      <p:cBhvr>
                                        <p:cTn id="15" dur="500"/>
                                        <p:tgtEl>
                                          <p:spTgt spid="16"/>
                                        </p:tgtEl>
                                      </p:cBhvr>
                                    </p:animEffect>
                                    <p:set>
                                      <p:cBhvr>
                                        <p:cTn id="16" dur="1" fill="hold">
                                          <p:stCondLst>
                                            <p:cond delay="499"/>
                                          </p:stCondLst>
                                        </p:cTn>
                                        <p:tgtEl>
                                          <p:spTgt spid="16"/>
                                        </p:tgtEl>
                                        <p:attrNameLst>
                                          <p:attrName>style.visibility</p:attrName>
                                        </p:attrNameLst>
                                      </p:cBhvr>
                                      <p:to>
                                        <p:strVal val="hidden"/>
                                      </p:to>
                                    </p:set>
                                  </p:childTnLst>
                                </p:cTn>
                              </p:par>
                            </p:childTnLst>
                          </p:cTn>
                        </p:par>
                        <p:par>
                          <p:cTn id="17" fill="hold">
                            <p:stCondLst>
                              <p:cond delay="500"/>
                            </p:stCondLst>
                            <p:childTnLst>
                              <p:par>
                                <p:cTn id="18" presetID="1" presetClass="entr" presetSubtype="0" fill="hold" nodeType="afterEffect">
                                  <p:stCondLst>
                                    <p:cond delay="0"/>
                                  </p:stCondLst>
                                  <p:childTnLst>
                                    <p:set>
                                      <p:cBhvr>
                                        <p:cTn id="19" dur="1" fill="hold">
                                          <p:stCondLst>
                                            <p:cond delay="0"/>
                                          </p:stCondLst>
                                        </p:cTn>
                                        <p:tgtEl>
                                          <p:spTgt spid="17"/>
                                        </p:tgtEl>
                                        <p:attrNameLst>
                                          <p:attrName>style.visibility</p:attrName>
                                        </p:attrNameLst>
                                      </p:cBhvr>
                                      <p:to>
                                        <p:strVal val="visible"/>
                                      </p:to>
                                    </p:set>
                                  </p:childTnLst>
                                </p:cTn>
                              </p:par>
                            </p:childTnLst>
                          </p:cTn>
                        </p:par>
                        <p:par>
                          <p:cTn id="20" fill="hold">
                            <p:stCondLst>
                              <p:cond delay="500"/>
                            </p:stCondLst>
                            <p:childTnLst>
                              <p:par>
                                <p:cTn id="21" presetID="1" presetClass="entr" presetSubtype="0" fill="hold" grpId="0" nodeType="after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xit" presetSubtype="4" fill="hold" nodeType="clickEffect">
                                  <p:stCondLst>
                                    <p:cond delay="0"/>
                                  </p:stCondLst>
                                  <p:childTnLst>
                                    <p:animEffect transition="out" filter="wipe(down)">
                                      <p:cBhvr>
                                        <p:cTn id="28" dur="500"/>
                                        <p:tgtEl>
                                          <p:spTgt spid="17"/>
                                        </p:tgtEl>
                                      </p:cBhvr>
                                    </p:animEffect>
                                    <p:set>
                                      <p:cBhvr>
                                        <p:cTn id="29" dur="1" fill="hold">
                                          <p:stCondLst>
                                            <p:cond delay="499"/>
                                          </p:stCondLst>
                                        </p:cTn>
                                        <p:tgtEl>
                                          <p:spTgt spid="17"/>
                                        </p:tgtEl>
                                        <p:attrNameLst>
                                          <p:attrName>style.visibility</p:attrName>
                                        </p:attrNameLst>
                                      </p:cBhvr>
                                      <p:to>
                                        <p:strVal val="hidden"/>
                                      </p:to>
                                    </p:set>
                                  </p:childTnLst>
                                </p:cTn>
                              </p:par>
                            </p:childTnLst>
                          </p:cTn>
                        </p:par>
                        <p:par>
                          <p:cTn id="30" fill="hold">
                            <p:stCondLst>
                              <p:cond delay="500"/>
                            </p:stCondLst>
                            <p:childTnLst>
                              <p:par>
                                <p:cTn id="31" presetID="1" presetClass="entr" presetSubtype="0" fill="hold" nodeType="after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childTnLst>
                          </p:cTn>
                        </p:par>
                        <p:par>
                          <p:cTn id="33" fill="hold">
                            <p:stCondLst>
                              <p:cond delay="500"/>
                            </p:stCondLst>
                            <p:childTnLst>
                              <p:par>
                                <p:cTn id="34" presetID="1" presetClass="entr" presetSubtype="0" fill="hold" grpId="0" nodeType="afterEffect">
                                  <p:stCondLst>
                                    <p:cond delay="0"/>
                                  </p:stCondLst>
                                  <p:childTnLst>
                                    <p:set>
                                      <p:cBhvr>
                                        <p:cTn id="35" dur="1" fill="hold">
                                          <p:stCondLst>
                                            <p:cond delay="0"/>
                                          </p:stCondLst>
                                        </p:cTn>
                                        <p:tgtEl>
                                          <p:spTgt spid="14"/>
                                        </p:tgtEl>
                                        <p:attrNameLst>
                                          <p:attrName>style.visibility</p:attrName>
                                        </p:attrNameLst>
                                      </p:cBhvr>
                                      <p:to>
                                        <p:strVal val="visible"/>
                                      </p:to>
                                    </p:set>
                                  </p:childTnLst>
                                </p:cTn>
                              </p:par>
                            </p:childTnLst>
                          </p:cTn>
                        </p:par>
                        <p:par>
                          <p:cTn id="36" fill="hold">
                            <p:stCondLst>
                              <p:cond delay="500"/>
                            </p:stCondLst>
                            <p:childTnLst>
                              <p:par>
                                <p:cTn id="37" presetID="22" presetClass="exit" presetSubtype="4" fill="hold" grpId="1" nodeType="afterEffect">
                                  <p:stCondLst>
                                    <p:cond delay="0"/>
                                  </p:stCondLst>
                                  <p:childTnLst>
                                    <p:animEffect transition="out" filter="wipe(down)">
                                      <p:cBhvr>
                                        <p:cTn id="38" dur="500"/>
                                        <p:tgtEl>
                                          <p:spTgt spid="13"/>
                                        </p:tgtEl>
                                      </p:cBhvr>
                                    </p:animEffect>
                                    <p:set>
                                      <p:cBhvr>
                                        <p:cTn id="39" dur="1" fill="hold">
                                          <p:stCondLst>
                                            <p:cond delay="499"/>
                                          </p:stCondLst>
                                        </p:cTn>
                                        <p:tgtEl>
                                          <p:spTgt spid="13"/>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22" presetClass="exit" presetSubtype="4" fill="hold" nodeType="clickEffect">
                                  <p:stCondLst>
                                    <p:cond delay="0"/>
                                  </p:stCondLst>
                                  <p:childTnLst>
                                    <p:animEffect transition="out" filter="wipe(down)">
                                      <p:cBhvr>
                                        <p:cTn id="43" dur="500"/>
                                        <p:tgtEl>
                                          <p:spTgt spid="18"/>
                                        </p:tgtEl>
                                      </p:cBhvr>
                                    </p:animEffect>
                                    <p:set>
                                      <p:cBhvr>
                                        <p:cTn id="44" dur="1" fill="hold">
                                          <p:stCondLst>
                                            <p:cond delay="499"/>
                                          </p:stCondLst>
                                        </p:cTn>
                                        <p:tgtEl>
                                          <p:spTgt spid="18"/>
                                        </p:tgtEl>
                                        <p:attrNameLst>
                                          <p:attrName>style.visibility</p:attrName>
                                        </p:attrNameLst>
                                      </p:cBhvr>
                                      <p:to>
                                        <p:strVal val="hidden"/>
                                      </p:to>
                                    </p:set>
                                  </p:childTnLst>
                                </p:cTn>
                              </p:par>
                            </p:childTnLst>
                          </p:cTn>
                        </p:par>
                        <p:par>
                          <p:cTn id="45" fill="hold">
                            <p:stCondLst>
                              <p:cond delay="500"/>
                            </p:stCondLst>
                            <p:childTnLst>
                              <p:par>
                                <p:cTn id="46" presetID="1" presetClass="entr" presetSubtype="0" fill="hold" nodeType="afterEffect">
                                  <p:stCondLst>
                                    <p:cond delay="0"/>
                                  </p:stCondLst>
                                  <p:childTnLst>
                                    <p:set>
                                      <p:cBhvr>
                                        <p:cTn id="47" dur="1" fill="hold">
                                          <p:stCondLst>
                                            <p:cond delay="0"/>
                                          </p:stCondLst>
                                        </p:cTn>
                                        <p:tgtEl>
                                          <p:spTgt spid="19"/>
                                        </p:tgtEl>
                                        <p:attrNameLst>
                                          <p:attrName>style.visibility</p:attrName>
                                        </p:attrNameLst>
                                      </p:cBhvr>
                                      <p:to>
                                        <p:strVal val="visible"/>
                                      </p:to>
                                    </p:set>
                                  </p:childTnLst>
                                </p:cTn>
                              </p:par>
                            </p:childTnLst>
                          </p:cTn>
                        </p:par>
                        <p:par>
                          <p:cTn id="48" fill="hold">
                            <p:stCondLst>
                              <p:cond delay="500"/>
                            </p:stCondLst>
                            <p:childTnLst>
                              <p:par>
                                <p:cTn id="49" presetID="1" presetClass="entr" presetSubtype="0" fill="hold" grpId="0" nodeType="afterEffect">
                                  <p:stCondLst>
                                    <p:cond delay="0"/>
                                  </p:stCondLst>
                                  <p:childTnLst>
                                    <p:set>
                                      <p:cBhvr>
                                        <p:cTn id="50" dur="1" fill="hold">
                                          <p:stCondLst>
                                            <p:cond delay="0"/>
                                          </p:stCondLst>
                                        </p:cTn>
                                        <p:tgtEl>
                                          <p:spTgt spid="15"/>
                                        </p:tgtEl>
                                        <p:attrNameLst>
                                          <p:attrName>style.visibility</p:attrName>
                                        </p:attrNameLst>
                                      </p:cBhvr>
                                      <p:to>
                                        <p:strVal val="visible"/>
                                      </p:to>
                                    </p:set>
                                  </p:childTnLst>
                                </p:cTn>
                              </p:par>
                            </p:childTnLst>
                          </p:cTn>
                        </p:par>
                        <p:par>
                          <p:cTn id="51" fill="hold">
                            <p:stCondLst>
                              <p:cond delay="500"/>
                            </p:stCondLst>
                            <p:childTnLst>
                              <p:par>
                                <p:cTn id="52" presetID="22" presetClass="exit" presetSubtype="4" fill="hold" grpId="1" nodeType="afterEffect">
                                  <p:stCondLst>
                                    <p:cond delay="0"/>
                                  </p:stCondLst>
                                  <p:childTnLst>
                                    <p:animEffect transition="out" filter="wipe(down)">
                                      <p:cBhvr>
                                        <p:cTn id="53" dur="500"/>
                                        <p:tgtEl>
                                          <p:spTgt spid="9"/>
                                        </p:tgtEl>
                                      </p:cBhvr>
                                    </p:animEffect>
                                    <p:set>
                                      <p:cBhvr>
                                        <p:cTn id="54" dur="1" fill="hold">
                                          <p:stCondLst>
                                            <p:cond delay="499"/>
                                          </p:stCondLst>
                                        </p:cTn>
                                        <p:tgtEl>
                                          <p:spTgt spid="9"/>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22" presetClass="exit" presetSubtype="4" fill="hold" nodeType="clickEffect">
                                  <p:stCondLst>
                                    <p:cond delay="0"/>
                                  </p:stCondLst>
                                  <p:childTnLst>
                                    <p:animEffect transition="out" filter="wipe(down)">
                                      <p:cBhvr>
                                        <p:cTn id="58" dur="500"/>
                                        <p:tgtEl>
                                          <p:spTgt spid="19"/>
                                        </p:tgtEl>
                                      </p:cBhvr>
                                    </p:animEffect>
                                    <p:set>
                                      <p:cBhvr>
                                        <p:cTn id="59" dur="1" fill="hold">
                                          <p:stCondLst>
                                            <p:cond delay="499"/>
                                          </p:stCondLst>
                                        </p:cTn>
                                        <p:tgtEl>
                                          <p:spTgt spid="19"/>
                                        </p:tgtEl>
                                        <p:attrNameLst>
                                          <p:attrName>style.visibility</p:attrName>
                                        </p:attrNameLst>
                                      </p:cBhvr>
                                      <p:to>
                                        <p:strVal val="hidden"/>
                                      </p:to>
                                    </p:set>
                                  </p:childTnLst>
                                </p:cTn>
                              </p:par>
                            </p:childTnLst>
                          </p:cTn>
                        </p:par>
                        <p:par>
                          <p:cTn id="60" fill="hold">
                            <p:stCondLst>
                              <p:cond delay="500"/>
                            </p:stCondLst>
                            <p:childTnLst>
                              <p:par>
                                <p:cTn id="61" presetID="1" presetClass="entr" presetSubtype="0" fill="hold" nodeType="afterEffect">
                                  <p:stCondLst>
                                    <p:cond delay="0"/>
                                  </p:stCondLst>
                                  <p:childTnLst>
                                    <p:set>
                                      <p:cBhvr>
                                        <p:cTn id="62" dur="1" fill="hold">
                                          <p:stCondLst>
                                            <p:cond delay="0"/>
                                          </p:stCondLst>
                                        </p:cTn>
                                        <p:tgtEl>
                                          <p:spTgt spid="20"/>
                                        </p:tgtEl>
                                        <p:attrNameLst>
                                          <p:attrName>style.visibility</p:attrName>
                                        </p:attrNameLst>
                                      </p:cBhvr>
                                      <p:to>
                                        <p:strVal val="visible"/>
                                      </p:to>
                                    </p:set>
                                  </p:childTnLst>
                                </p:cTn>
                              </p:par>
                            </p:childTnLst>
                          </p:cTn>
                        </p:par>
                        <p:par>
                          <p:cTn id="63" fill="hold">
                            <p:stCondLst>
                              <p:cond delay="500"/>
                            </p:stCondLst>
                            <p:childTnLst>
                              <p:par>
                                <p:cTn id="64" presetID="1" presetClass="entr" presetSubtype="0" fill="hold" grpId="0" nodeType="afterEffect">
                                  <p:stCondLst>
                                    <p:cond delay="0"/>
                                  </p:stCondLst>
                                  <p:childTnLst>
                                    <p:set>
                                      <p:cBhvr>
                                        <p:cTn id="65"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9" grpId="1"/>
      <p:bldP spid="10" grpId="0"/>
      <p:bldP spid="12" grpId="0"/>
      <p:bldP spid="13" grpId="0"/>
      <p:bldP spid="13" grpId="1"/>
      <p:bldP spid="14" grpId="0"/>
      <p:bldP spid="1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7520940" cy="5256584"/>
          </a:xfrm>
        </p:spPr>
        <p:txBody>
          <a:bodyPr>
            <a:normAutofit fontScale="77500" lnSpcReduction="20000"/>
          </a:bodyPr>
          <a:lstStyle/>
          <a:p>
            <a:pPr algn="just"/>
            <a:r>
              <a:rPr lang="zh-CN" altLang="zh-CN" dirty="0"/>
              <a:t>算法</a:t>
            </a:r>
            <a:r>
              <a:rPr lang="en-US" altLang="zh-CN" dirty="0"/>
              <a:t>3.13</a:t>
            </a:r>
            <a:r>
              <a:rPr lang="zh-CN" altLang="zh-CN" dirty="0"/>
              <a:t>：实现算术表达式中括号匹配检验</a:t>
            </a:r>
          </a:p>
          <a:p>
            <a:pPr algn="just"/>
            <a:r>
              <a:rPr lang="en-US" altLang="zh-CN" b="0" dirty="0"/>
              <a:t>#include &lt;</a:t>
            </a:r>
            <a:r>
              <a:rPr lang="en-US" altLang="zh-CN" b="0" dirty="0" err="1"/>
              <a:t>iostream</a:t>
            </a:r>
            <a:r>
              <a:rPr lang="en-US" altLang="zh-CN" b="0" dirty="0"/>
              <a:t>&gt;</a:t>
            </a:r>
            <a:endParaRPr lang="zh-CN" altLang="zh-CN" b="0" dirty="0"/>
          </a:p>
          <a:p>
            <a:pPr algn="just"/>
            <a:r>
              <a:rPr lang="en-US" altLang="zh-CN" b="0" dirty="0"/>
              <a:t>#include &lt;</a:t>
            </a:r>
            <a:r>
              <a:rPr lang="en-US" altLang="zh-CN" b="0" dirty="0" err="1"/>
              <a:t>cstring</a:t>
            </a:r>
            <a:r>
              <a:rPr lang="en-US" altLang="zh-CN" b="0" dirty="0"/>
              <a:t>&gt;</a:t>
            </a:r>
            <a:endParaRPr lang="zh-CN" altLang="zh-CN" b="0" dirty="0"/>
          </a:p>
          <a:p>
            <a:pPr algn="just"/>
            <a:r>
              <a:rPr lang="en-US" altLang="zh-CN" b="0" dirty="0"/>
              <a:t>#include "LinkStack.cpp"</a:t>
            </a:r>
            <a:endParaRPr lang="zh-CN" altLang="zh-CN" b="0" dirty="0"/>
          </a:p>
          <a:p>
            <a:pPr algn="just"/>
            <a:r>
              <a:rPr lang="en-US" altLang="zh-CN" b="0" dirty="0"/>
              <a:t>using namespace </a:t>
            </a:r>
            <a:r>
              <a:rPr lang="en-US" altLang="zh-CN" b="0" dirty="0" err="1"/>
              <a:t>std</a:t>
            </a:r>
            <a:r>
              <a:rPr lang="en-US" altLang="zh-CN" b="0" dirty="0"/>
              <a:t>;</a:t>
            </a:r>
            <a:endParaRPr lang="zh-CN" altLang="zh-CN" b="0" dirty="0"/>
          </a:p>
          <a:p>
            <a:pPr algn="just"/>
            <a:r>
              <a:rPr lang="en-US" altLang="zh-CN" b="0" dirty="0" err="1"/>
              <a:t>int</a:t>
            </a:r>
            <a:r>
              <a:rPr lang="en-US" altLang="zh-CN" b="0" dirty="0"/>
              <a:t> main(){</a:t>
            </a:r>
            <a:endParaRPr lang="zh-CN" altLang="zh-CN" b="0" dirty="0"/>
          </a:p>
          <a:p>
            <a:pPr algn="just"/>
            <a:r>
              <a:rPr lang="en-US" altLang="zh-CN" b="0" dirty="0"/>
              <a:t>    	</a:t>
            </a:r>
            <a:r>
              <a:rPr lang="en-US" altLang="zh-CN" b="0" dirty="0" err="1"/>
              <a:t>LinkStack</a:t>
            </a:r>
            <a:r>
              <a:rPr lang="en-US" altLang="zh-CN" b="0" dirty="0"/>
              <a:t>&lt;char&gt;  L;    //</a:t>
            </a:r>
            <a:r>
              <a:rPr lang="zh-CN" altLang="zh-CN" b="0" dirty="0"/>
              <a:t>定义链栈对象</a:t>
            </a:r>
          </a:p>
          <a:p>
            <a:pPr algn="just"/>
            <a:r>
              <a:rPr lang="en-US" altLang="zh-CN" b="0" dirty="0"/>
              <a:t>	string s; </a:t>
            </a:r>
            <a:endParaRPr lang="zh-CN" altLang="zh-CN" b="0" dirty="0"/>
          </a:p>
          <a:p>
            <a:pPr algn="just"/>
            <a:r>
              <a:rPr lang="en-US" altLang="zh-CN" b="0" dirty="0"/>
              <a:t>	char left[3]={‘(‘, ‘[‘, ‘{‘ };</a:t>
            </a:r>
            <a:endParaRPr lang="zh-CN" altLang="zh-CN" b="0" dirty="0"/>
          </a:p>
          <a:p>
            <a:pPr algn="just"/>
            <a:r>
              <a:rPr lang="en-US" altLang="zh-CN" b="0" dirty="0"/>
              <a:t>	char right[3]={‘)‘, ‘]‘, ‘}‘ };</a:t>
            </a:r>
            <a:endParaRPr lang="zh-CN" altLang="zh-CN" b="0" dirty="0"/>
          </a:p>
          <a:p>
            <a:pPr algn="just"/>
            <a:r>
              <a:rPr lang="en-US" altLang="zh-CN" b="0" dirty="0"/>
              <a:t>	</a:t>
            </a:r>
            <a:r>
              <a:rPr lang="en-US" altLang="zh-CN" b="0" dirty="0" err="1"/>
              <a:t>cout</a:t>
            </a:r>
            <a:r>
              <a:rPr lang="en-US" altLang="zh-CN" b="0" dirty="0"/>
              <a:t>&lt;&lt;"</a:t>
            </a:r>
            <a:r>
              <a:rPr lang="zh-CN" altLang="zh-CN" b="0" dirty="0"/>
              <a:t>请输入表达式：</a:t>
            </a:r>
            <a:r>
              <a:rPr lang="en-US" altLang="zh-CN" b="0" dirty="0"/>
              <a:t>";</a:t>
            </a:r>
            <a:endParaRPr lang="zh-CN" altLang="zh-CN" b="0" dirty="0"/>
          </a:p>
          <a:p>
            <a:pPr algn="just"/>
            <a:r>
              <a:rPr lang="en-US" altLang="zh-CN" b="0" dirty="0"/>
              <a:t>	</a:t>
            </a:r>
            <a:r>
              <a:rPr lang="en-US" altLang="zh-CN" b="0" dirty="0" err="1"/>
              <a:t>cin</a:t>
            </a:r>
            <a:r>
              <a:rPr lang="en-US" altLang="zh-CN" b="0" dirty="0"/>
              <a:t>&gt;&gt;s;  </a:t>
            </a:r>
            <a:endParaRPr lang="zh-CN" altLang="zh-CN" b="0" dirty="0"/>
          </a:p>
          <a:p>
            <a:pPr algn="just"/>
            <a:r>
              <a:rPr lang="en-US" altLang="zh-CN" b="0" dirty="0"/>
              <a:t>	</a:t>
            </a:r>
            <a:r>
              <a:rPr lang="en-US" altLang="zh-CN" b="0" dirty="0" err="1"/>
              <a:t>int</a:t>
            </a:r>
            <a:r>
              <a:rPr lang="en-US" altLang="zh-CN" b="0" dirty="0"/>
              <a:t> n = </a:t>
            </a:r>
            <a:r>
              <a:rPr lang="en-US" altLang="zh-CN" b="0" dirty="0" err="1"/>
              <a:t>s.size</a:t>
            </a:r>
            <a:r>
              <a:rPr lang="en-US" altLang="zh-CN" b="0" dirty="0"/>
              <a:t>();</a:t>
            </a:r>
            <a:endParaRPr lang="zh-CN" altLang="zh-CN" b="0" dirty="0"/>
          </a:p>
          <a:p>
            <a:pPr algn="just"/>
            <a:endParaRPr lang="zh-CN" altLang="en-US" dirty="0"/>
          </a:p>
        </p:txBody>
      </p:sp>
    </p:spTree>
    <p:extLst>
      <p:ext uri="{BB962C8B-B14F-4D97-AF65-F5344CB8AC3E}">
        <p14:creationId xmlns:p14="http://schemas.microsoft.com/office/powerpoint/2010/main" val="34124154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85214" y="1124744"/>
            <a:ext cx="8173572" cy="5040560"/>
          </a:xfrm>
        </p:spPr>
        <p:txBody>
          <a:bodyPr>
            <a:normAutofit fontScale="62500" lnSpcReduction="20000"/>
          </a:bodyPr>
          <a:lstStyle/>
          <a:p>
            <a:pPr algn="just"/>
            <a:r>
              <a:rPr lang="en-US" altLang="zh-CN" b="0" dirty="0"/>
              <a:t>	for(</a:t>
            </a:r>
            <a:r>
              <a:rPr lang="en-US" altLang="zh-CN" b="0" dirty="0" err="1"/>
              <a:t>int</a:t>
            </a:r>
            <a:r>
              <a:rPr lang="en-US" altLang="zh-CN" b="0" dirty="0"/>
              <a:t> </a:t>
            </a:r>
            <a:r>
              <a:rPr lang="en-US" altLang="zh-CN" b="0" dirty="0" err="1"/>
              <a:t>i</a:t>
            </a:r>
            <a:r>
              <a:rPr lang="en-US" altLang="zh-CN" b="0" dirty="0"/>
              <a:t>=0;i&lt;</a:t>
            </a:r>
            <a:r>
              <a:rPr lang="en-US" altLang="zh-CN" b="0" dirty="0" err="1"/>
              <a:t>n;i</a:t>
            </a:r>
            <a:r>
              <a:rPr lang="en-US" altLang="zh-CN" b="0" dirty="0"/>
              <a:t>++) {</a:t>
            </a:r>
            <a:endParaRPr lang="zh-CN" altLang="zh-CN" b="0" dirty="0"/>
          </a:p>
          <a:p>
            <a:pPr algn="just"/>
            <a:r>
              <a:rPr lang="en-US" altLang="zh-CN" b="0" dirty="0"/>
              <a:t>		if(s[</a:t>
            </a:r>
            <a:r>
              <a:rPr lang="en-US" altLang="zh-CN" b="0" dirty="0" err="1"/>
              <a:t>i</a:t>
            </a:r>
            <a:r>
              <a:rPr lang="en-US" altLang="zh-CN" b="0" dirty="0"/>
              <a:t>] == '(' || s[</a:t>
            </a:r>
            <a:r>
              <a:rPr lang="en-US" altLang="zh-CN" b="0" dirty="0" err="1"/>
              <a:t>i</a:t>
            </a:r>
            <a:r>
              <a:rPr lang="en-US" altLang="zh-CN" b="0" dirty="0"/>
              <a:t>] == '[' || s[</a:t>
            </a:r>
            <a:r>
              <a:rPr lang="en-US" altLang="zh-CN" b="0" dirty="0" err="1"/>
              <a:t>i</a:t>
            </a:r>
            <a:r>
              <a:rPr lang="en-US" altLang="zh-CN" b="0" dirty="0"/>
              <a:t>] == '{' )    //</a:t>
            </a:r>
            <a:r>
              <a:rPr lang="zh-CN" altLang="zh-CN" b="0" dirty="0"/>
              <a:t>遇到左括号入栈</a:t>
            </a:r>
          </a:p>
          <a:p>
            <a:pPr algn="just"/>
            <a:r>
              <a:rPr lang="en-US" altLang="zh-CN" b="0" dirty="0"/>
              <a:t>       		</a:t>
            </a:r>
            <a:r>
              <a:rPr lang="en-US" altLang="zh-CN" b="0" dirty="0" err="1"/>
              <a:t>L.Push</a:t>
            </a:r>
            <a:r>
              <a:rPr lang="en-US" altLang="zh-CN" b="0" dirty="0"/>
              <a:t>(s[</a:t>
            </a:r>
            <a:r>
              <a:rPr lang="en-US" altLang="zh-CN" b="0" dirty="0" err="1"/>
              <a:t>i</a:t>
            </a:r>
            <a:r>
              <a:rPr lang="en-US" altLang="zh-CN" b="0" dirty="0"/>
              <a:t>]);  </a:t>
            </a:r>
            <a:endParaRPr lang="zh-CN" altLang="zh-CN" b="0" dirty="0"/>
          </a:p>
          <a:p>
            <a:pPr algn="just"/>
            <a:r>
              <a:rPr lang="en-US" altLang="zh-CN" b="0" dirty="0"/>
              <a:t>		else if(s[</a:t>
            </a:r>
            <a:r>
              <a:rPr lang="en-US" altLang="zh-CN" b="0" dirty="0" err="1"/>
              <a:t>i</a:t>
            </a:r>
            <a:r>
              <a:rPr lang="en-US" altLang="zh-CN" b="0" dirty="0"/>
              <a:t>]==')' || s[</a:t>
            </a:r>
            <a:r>
              <a:rPr lang="en-US" altLang="zh-CN" b="0" dirty="0" err="1"/>
              <a:t>i</a:t>
            </a:r>
            <a:r>
              <a:rPr lang="en-US" altLang="zh-CN" b="0" dirty="0"/>
              <a:t>] == ']' || s[</a:t>
            </a:r>
            <a:r>
              <a:rPr lang="en-US" altLang="zh-CN" b="0" dirty="0" err="1"/>
              <a:t>i</a:t>
            </a:r>
            <a:r>
              <a:rPr lang="en-US" altLang="zh-CN" b="0" dirty="0"/>
              <a:t>] == '}') {  //</a:t>
            </a:r>
            <a:r>
              <a:rPr lang="zh-CN" altLang="zh-CN" b="0" dirty="0"/>
              <a:t>遇到右圆括号，判定是否匹配</a:t>
            </a:r>
          </a:p>
          <a:p>
            <a:pPr algn="just"/>
            <a:r>
              <a:rPr lang="en-US" altLang="zh-CN" b="0" dirty="0"/>
              <a:t>             		for (</a:t>
            </a:r>
            <a:r>
              <a:rPr lang="en-US" altLang="zh-CN" b="0" dirty="0" err="1"/>
              <a:t>int</a:t>
            </a:r>
            <a:r>
              <a:rPr lang="en-US" altLang="zh-CN" b="0" dirty="0"/>
              <a:t> k=0; right[k]!=s[</a:t>
            </a:r>
            <a:r>
              <a:rPr lang="en-US" altLang="zh-CN" b="0" dirty="0" err="1"/>
              <a:t>i</a:t>
            </a:r>
            <a:r>
              <a:rPr lang="en-US" altLang="zh-CN" b="0" dirty="0"/>
              <a:t>]; k++); /</a:t>
            </a:r>
            <a:r>
              <a:rPr lang="zh-CN" altLang="en-US" b="0" dirty="0"/>
              <a:t>找到是哪个右括号</a:t>
            </a:r>
            <a:endParaRPr lang="zh-CN" altLang="zh-CN" b="0" dirty="0"/>
          </a:p>
          <a:p>
            <a:pPr algn="just"/>
            <a:r>
              <a:rPr lang="en-US" altLang="zh-CN" b="0" dirty="0"/>
              <a:t>             		if(!</a:t>
            </a:r>
            <a:r>
              <a:rPr lang="en-US" altLang="zh-CN" b="0" dirty="0" err="1"/>
              <a:t>L.IsEmpty</a:t>
            </a:r>
            <a:r>
              <a:rPr lang="en-US" altLang="zh-CN" b="0" dirty="0"/>
              <a:t>() &amp;&amp; left[k]==</a:t>
            </a:r>
            <a:r>
              <a:rPr lang="en-US" altLang="zh-CN" b="0" dirty="0" err="1"/>
              <a:t>L.GetTop</a:t>
            </a:r>
            <a:r>
              <a:rPr lang="en-US" altLang="zh-CN" b="0" dirty="0"/>
              <a:t>())  </a:t>
            </a:r>
            <a:r>
              <a:rPr lang="en-US" altLang="zh-CN" b="0" dirty="0" err="1"/>
              <a:t>L.Pop</a:t>
            </a:r>
            <a:r>
              <a:rPr lang="en-US" altLang="zh-CN" b="0" dirty="0"/>
              <a:t>();  //</a:t>
            </a:r>
            <a:r>
              <a:rPr lang="zh-CN" altLang="zh-CN" b="0" dirty="0"/>
              <a:t>左右括号匹配成功</a:t>
            </a:r>
          </a:p>
          <a:p>
            <a:pPr algn="just"/>
            <a:r>
              <a:rPr lang="en-US" altLang="zh-CN" b="0" dirty="0"/>
              <a:t>             		else break;   //</a:t>
            </a:r>
            <a:r>
              <a:rPr lang="zh-CN" altLang="zh-CN" b="0" dirty="0"/>
              <a:t>括号匹配出错</a:t>
            </a:r>
          </a:p>
          <a:p>
            <a:pPr algn="just"/>
            <a:r>
              <a:rPr lang="en-US" altLang="zh-CN" b="0" dirty="0"/>
              <a:t>		}</a:t>
            </a:r>
            <a:endParaRPr lang="zh-CN" altLang="zh-CN" b="0" dirty="0"/>
          </a:p>
          <a:p>
            <a:pPr algn="just"/>
            <a:r>
              <a:rPr lang="en-US" altLang="zh-CN" b="0" dirty="0"/>
              <a:t>    	}</a:t>
            </a:r>
            <a:endParaRPr lang="zh-CN" altLang="zh-CN" b="0" dirty="0"/>
          </a:p>
          <a:p>
            <a:pPr algn="just"/>
            <a:r>
              <a:rPr lang="en-US" altLang="zh-CN" b="0" dirty="0"/>
              <a:t>	if(</a:t>
            </a:r>
            <a:r>
              <a:rPr lang="en-US" altLang="zh-CN" b="0" dirty="0" err="1"/>
              <a:t>L.IsEmpty</a:t>
            </a:r>
            <a:r>
              <a:rPr lang="en-US" altLang="zh-CN" b="0" dirty="0"/>
              <a:t>() &amp;&amp; </a:t>
            </a:r>
            <a:r>
              <a:rPr lang="en-US" altLang="zh-CN" b="0" dirty="0" err="1"/>
              <a:t>i</a:t>
            </a:r>
            <a:r>
              <a:rPr lang="en-US" altLang="zh-CN" b="0" dirty="0"/>
              <a:t>==n)  </a:t>
            </a:r>
            <a:r>
              <a:rPr lang="en-US" altLang="zh-CN" b="0" dirty="0" err="1"/>
              <a:t>cout</a:t>
            </a:r>
            <a:r>
              <a:rPr lang="en-US" altLang="zh-CN" b="0" dirty="0"/>
              <a:t>&lt;&lt;"</a:t>
            </a:r>
            <a:r>
              <a:rPr lang="zh-CN" altLang="zh-CN" b="0" dirty="0"/>
              <a:t>括号匹配成功</a:t>
            </a:r>
            <a:r>
              <a:rPr lang="en-US" altLang="zh-CN" b="0" dirty="0"/>
              <a:t>";</a:t>
            </a:r>
            <a:endParaRPr lang="zh-CN" altLang="zh-CN" b="0" dirty="0"/>
          </a:p>
          <a:p>
            <a:pPr algn="just"/>
            <a:r>
              <a:rPr lang="en-US" altLang="zh-CN" b="0" dirty="0"/>
              <a:t>	else if (</a:t>
            </a:r>
            <a:r>
              <a:rPr lang="en-US" altLang="zh-CN" b="0" dirty="0" err="1"/>
              <a:t>L.IsEmpty</a:t>
            </a:r>
            <a:r>
              <a:rPr lang="en-US" altLang="zh-CN" b="0" dirty="0"/>
              <a:t>())  </a:t>
            </a:r>
            <a:r>
              <a:rPr lang="en-US" altLang="zh-CN" b="0" dirty="0" err="1"/>
              <a:t>cout</a:t>
            </a:r>
            <a:r>
              <a:rPr lang="en-US" altLang="zh-CN" b="0" dirty="0"/>
              <a:t>&lt;&lt;"</a:t>
            </a:r>
            <a:r>
              <a:rPr lang="zh-CN" altLang="zh-CN" b="0" dirty="0"/>
              <a:t>缺少左括号</a:t>
            </a:r>
            <a:r>
              <a:rPr lang="en-US" altLang="zh-CN" b="0" dirty="0"/>
              <a:t>";</a:t>
            </a:r>
            <a:endParaRPr lang="zh-CN" altLang="zh-CN" b="0" dirty="0"/>
          </a:p>
          <a:p>
            <a:pPr algn="just"/>
            <a:r>
              <a:rPr lang="en-US" altLang="zh-CN" b="0" dirty="0"/>
              <a:t>	else if (</a:t>
            </a:r>
            <a:r>
              <a:rPr lang="en-US" altLang="zh-CN" b="0" dirty="0" err="1"/>
              <a:t>i</a:t>
            </a:r>
            <a:r>
              <a:rPr lang="en-US" altLang="zh-CN" b="0" dirty="0"/>
              <a:t>==n)  </a:t>
            </a:r>
            <a:r>
              <a:rPr lang="en-US" altLang="zh-CN" b="0" dirty="0" err="1"/>
              <a:t>cout</a:t>
            </a:r>
            <a:r>
              <a:rPr lang="en-US" altLang="zh-CN" b="0" dirty="0"/>
              <a:t>&lt;&lt;"</a:t>
            </a:r>
            <a:r>
              <a:rPr lang="zh-CN" altLang="zh-CN" b="0" dirty="0"/>
              <a:t>缺少右括号</a:t>
            </a:r>
            <a:r>
              <a:rPr lang="en-US" altLang="zh-CN" b="0" dirty="0"/>
              <a:t>";</a:t>
            </a:r>
            <a:endParaRPr lang="zh-CN" altLang="zh-CN" b="0" dirty="0"/>
          </a:p>
          <a:p>
            <a:pPr algn="just"/>
            <a:r>
              <a:rPr lang="en-US" altLang="zh-CN" b="0" dirty="0"/>
              <a:t>	else  </a:t>
            </a:r>
            <a:r>
              <a:rPr lang="en-US" altLang="zh-CN" b="0" dirty="0" err="1"/>
              <a:t>cout</a:t>
            </a:r>
            <a:r>
              <a:rPr lang="en-US" altLang="zh-CN" b="0" dirty="0"/>
              <a:t>&lt;&lt;"</a:t>
            </a:r>
            <a:r>
              <a:rPr lang="zh-CN" altLang="zh-CN" b="0" dirty="0"/>
              <a:t>左右括号不匹配</a:t>
            </a:r>
            <a:r>
              <a:rPr lang="en-US" altLang="zh-CN" b="0" dirty="0"/>
              <a:t>"</a:t>
            </a:r>
            <a:r>
              <a:rPr lang="zh-CN" altLang="zh-CN" b="0" dirty="0"/>
              <a:t>；</a:t>
            </a:r>
          </a:p>
          <a:p>
            <a:pPr algn="just"/>
            <a:r>
              <a:rPr lang="en-US" altLang="zh-CN" b="0" dirty="0"/>
              <a:t>    	return 0;</a:t>
            </a:r>
            <a:endParaRPr lang="zh-CN" altLang="zh-CN" b="0" dirty="0"/>
          </a:p>
          <a:p>
            <a:pPr algn="just"/>
            <a:r>
              <a:rPr lang="en-US" altLang="zh-CN" b="0" dirty="0"/>
              <a:t>}</a:t>
            </a:r>
            <a:endParaRPr lang="zh-CN" altLang="en-US" dirty="0"/>
          </a:p>
        </p:txBody>
      </p:sp>
    </p:spTree>
    <p:extLst>
      <p:ext uri="{BB962C8B-B14F-4D97-AF65-F5344CB8AC3E}">
        <p14:creationId xmlns:p14="http://schemas.microsoft.com/office/powerpoint/2010/main" val="29956109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2738B90-31D7-4E3E-A9A5-74703741D7A0}"/>
              </a:ext>
            </a:extLst>
          </p:cNvPr>
          <p:cNvSpPr txBox="1"/>
          <p:nvPr/>
        </p:nvSpPr>
        <p:spPr>
          <a:xfrm>
            <a:off x="407775" y="1988840"/>
            <a:ext cx="8072526" cy="1536511"/>
          </a:xfrm>
          <a:prstGeom prst="rect">
            <a:avLst/>
          </a:prstGeom>
          <a:noFill/>
        </p:spPr>
        <p:txBody>
          <a:bodyPr wrap="square" rtlCol="0">
            <a:spAutoFit/>
          </a:bodyPr>
          <a:lstStyle/>
          <a:p>
            <a:pPr algn="l">
              <a:lnSpc>
                <a:spcPct val="150000"/>
              </a:lnSpc>
            </a:pPr>
            <a:r>
              <a:rPr lang="zh-CN" altLang="en-US" sz="2200" dirty="0">
                <a:latin typeface="楷体" panose="02010609060101010101" pitchFamily="49" charset="-122"/>
                <a:ea typeface="楷体" panose="02010609060101010101" pitchFamily="49" charset="-122"/>
                <a:cs typeface="Consolas" pitchFamily="49" charset="0"/>
              </a:rPr>
              <a:t>    给定一个 </a:t>
            </a:r>
            <a:r>
              <a:rPr lang="en-US" sz="2200" dirty="0">
                <a:latin typeface="楷体" panose="02010609060101010101" pitchFamily="49" charset="-122"/>
                <a:ea typeface="楷体" panose="02010609060101010101" pitchFamily="49" charset="-122"/>
                <a:cs typeface="Consolas" pitchFamily="49" charset="0"/>
              </a:rPr>
              <a:t>M×N </a:t>
            </a:r>
            <a:r>
              <a:rPr lang="zh-CN" altLang="en-US" sz="2200" dirty="0">
                <a:latin typeface="楷体" panose="02010609060101010101" pitchFamily="49" charset="-122"/>
                <a:ea typeface="楷体" panose="02010609060101010101" pitchFamily="49" charset="-122"/>
                <a:cs typeface="Consolas" pitchFamily="49" charset="0"/>
              </a:rPr>
              <a:t>的迷宫图、入口与出口、行走规则。求一条从指定入口到出口的路径。</a:t>
            </a:r>
            <a:endParaRPr lang="en-US" altLang="zh-CN" sz="2200" dirty="0">
              <a:latin typeface="楷体" panose="02010609060101010101" pitchFamily="49" charset="-122"/>
              <a:ea typeface="楷体" panose="02010609060101010101" pitchFamily="49" charset="-122"/>
              <a:cs typeface="Consolas" pitchFamily="49" charset="0"/>
            </a:endParaRPr>
          </a:p>
          <a:p>
            <a:pPr algn="l">
              <a:lnSpc>
                <a:spcPct val="150000"/>
              </a:lnSpc>
            </a:pPr>
            <a:r>
              <a:rPr lang="en-US" altLang="zh-CN" sz="2200" dirty="0">
                <a:latin typeface="楷体" panose="02010609060101010101" pitchFamily="49" charset="-122"/>
                <a:ea typeface="楷体" panose="02010609060101010101" pitchFamily="49" charset="-122"/>
                <a:cs typeface="Consolas" pitchFamily="49" charset="0"/>
              </a:rPr>
              <a:t>    </a:t>
            </a:r>
            <a:r>
              <a:rPr lang="zh-CN" altLang="en-US" sz="2200" dirty="0">
                <a:latin typeface="楷体" panose="02010609060101010101" pitchFamily="49" charset="-122"/>
                <a:ea typeface="楷体" panose="02010609060101010101" pitchFamily="49" charset="-122"/>
                <a:cs typeface="Consolas" pitchFamily="49" charset="0"/>
              </a:rPr>
              <a:t>所求路径必须是简单路径，即路径不重复。</a:t>
            </a:r>
          </a:p>
        </p:txBody>
      </p:sp>
      <p:sp>
        <p:nvSpPr>
          <p:cNvPr id="6" name="标题 1">
            <a:extLst>
              <a:ext uri="{FF2B5EF4-FFF2-40B4-BE49-F238E27FC236}">
                <a16:creationId xmlns:a16="http://schemas.microsoft.com/office/drawing/2014/main" id="{0C9F2506-640D-4D34-A91B-E0BE30BE29B3}"/>
              </a:ext>
            </a:extLst>
          </p:cNvPr>
          <p:cNvSpPr>
            <a:spLocks noGrp="1"/>
          </p:cNvSpPr>
          <p:nvPr>
            <p:ph type="title"/>
          </p:nvPr>
        </p:nvSpPr>
        <p:spPr>
          <a:xfrm>
            <a:off x="683568" y="1124744"/>
            <a:ext cx="7520940" cy="548640"/>
          </a:xfrm>
        </p:spPr>
        <p:txBody>
          <a:bodyPr/>
          <a:lstStyle/>
          <a:p>
            <a:pPr algn="just"/>
            <a:r>
              <a:rPr lang="en-US" altLang="zh-CN" sz="2400" dirty="0">
                <a:solidFill>
                  <a:srgbClr val="FF0000"/>
                </a:solidFill>
              </a:rPr>
              <a:t>【</a:t>
            </a:r>
            <a:r>
              <a:rPr lang="zh-CN" altLang="en-US" sz="2400">
                <a:solidFill>
                  <a:srgbClr val="FF0000"/>
                </a:solidFill>
              </a:rPr>
              <a:t>例</a:t>
            </a:r>
            <a:r>
              <a:rPr lang="en-US" altLang="zh-CN" sz="2400">
                <a:solidFill>
                  <a:srgbClr val="FF0000"/>
                </a:solidFill>
              </a:rPr>
              <a:t>】</a:t>
            </a:r>
            <a:r>
              <a:rPr lang="zh-CN" altLang="en-US" sz="2400" dirty="0">
                <a:solidFill>
                  <a:srgbClr val="FF0000"/>
                </a:solidFill>
              </a:rPr>
              <a:t>走迷宫</a:t>
            </a:r>
            <a:r>
              <a:rPr lang="zh-CN" altLang="zh-CN" sz="2400" dirty="0">
                <a:solidFill>
                  <a:srgbClr val="FF0000"/>
                </a:solidFill>
              </a:rPr>
              <a:t>问题</a:t>
            </a:r>
            <a:endParaRPr lang="zh-CN" altLang="en-US" sz="2400" dirty="0">
              <a:solidFill>
                <a:srgbClr val="FF0000"/>
              </a:solidFill>
            </a:endParaRPr>
          </a:p>
        </p:txBody>
      </p:sp>
    </p:spTree>
    <p:extLst>
      <p:ext uri="{BB962C8B-B14F-4D97-AF65-F5344CB8AC3E}">
        <p14:creationId xmlns:p14="http://schemas.microsoft.com/office/powerpoint/2010/main" val="8526674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1">
            <a:extLst>
              <a:ext uri="{FF2B5EF4-FFF2-40B4-BE49-F238E27FC236}">
                <a16:creationId xmlns:a16="http://schemas.microsoft.com/office/drawing/2014/main" id="{E9F6AD37-09A3-4E59-B0CE-251ABA5B6C12}"/>
              </a:ext>
            </a:extLst>
          </p:cNvPr>
          <p:cNvSpPr txBox="1"/>
          <p:nvPr/>
        </p:nvSpPr>
        <p:spPr>
          <a:xfrm>
            <a:off x="320089" y="1087296"/>
            <a:ext cx="7992888" cy="459228"/>
          </a:xfrm>
          <a:prstGeom prst="rect">
            <a:avLst/>
          </a:prstGeom>
          <a:noFill/>
        </p:spPr>
        <p:txBody>
          <a:bodyPr wrap="square" rtlCol="0">
            <a:spAutoFit/>
          </a:bodyPr>
          <a:lstStyle/>
          <a:p>
            <a:pPr algn="l">
              <a:lnSpc>
                <a:spcPct val="150000"/>
              </a:lnSpc>
            </a:pPr>
            <a:r>
              <a:rPr lang="zh-CN" altLang="en-US" dirty="0">
                <a:solidFill>
                  <a:srgbClr val="FF0000"/>
                </a:solidFill>
                <a:latin typeface="方正启体简体" pitchFamily="65" charset="-122"/>
                <a:ea typeface="方正启体简体" pitchFamily="65" charset="-122"/>
                <a:cs typeface="Consolas" pitchFamily="49" charset="0"/>
              </a:rPr>
              <a:t>  行走规则</a:t>
            </a:r>
            <a:r>
              <a:rPr lang="zh-CN" altLang="en-US" dirty="0">
                <a:latin typeface="Consolas" pitchFamily="49" charset="0"/>
                <a:ea typeface="微软雅黑" pitchFamily="34" charset="-122"/>
                <a:cs typeface="Consolas" pitchFamily="49" charset="0"/>
              </a:rPr>
              <a:t>：</a:t>
            </a:r>
            <a:r>
              <a:rPr lang="zh-CN" altLang="en-US" dirty="0">
                <a:latin typeface="Consolas" pitchFamily="49" charset="0"/>
                <a:ea typeface="楷体" pitchFamily="49" charset="-122"/>
                <a:cs typeface="Consolas" pitchFamily="49" charset="0"/>
              </a:rPr>
              <a:t>上、下、左、右相邻方块行走。其中（</a:t>
            </a:r>
            <a:r>
              <a:rPr lang="en-US" altLang="zh-CN" i="1" dirty="0" err="1">
                <a:latin typeface="Consolas" pitchFamily="49" charset="0"/>
                <a:ea typeface="楷体" pitchFamily="49" charset="-122"/>
                <a:cs typeface="Consolas" pitchFamily="49" charset="0"/>
              </a:rPr>
              <a:t>i</a:t>
            </a:r>
            <a:r>
              <a:rPr lang="zh-CN" altLang="en-US" dirty="0">
                <a:latin typeface="Consolas" pitchFamily="49" charset="0"/>
                <a:ea typeface="楷体" pitchFamily="49" charset="-122"/>
                <a:cs typeface="Consolas" pitchFamily="49" charset="0"/>
              </a:rPr>
              <a:t>，</a:t>
            </a:r>
            <a:r>
              <a:rPr lang="en-US" altLang="zh-CN" i="1" dirty="0">
                <a:latin typeface="Consolas" pitchFamily="49" charset="0"/>
                <a:ea typeface="楷体" pitchFamily="49" charset="-122"/>
                <a:cs typeface="Consolas" pitchFamily="49" charset="0"/>
              </a:rPr>
              <a:t>j</a:t>
            </a:r>
            <a:r>
              <a:rPr lang="zh-CN" altLang="en-US" dirty="0">
                <a:latin typeface="Consolas" pitchFamily="49" charset="0"/>
                <a:ea typeface="楷体" pitchFamily="49" charset="-122"/>
                <a:cs typeface="Consolas" pitchFamily="49" charset="0"/>
              </a:rPr>
              <a:t>）表示一个方块</a:t>
            </a:r>
            <a:endParaRPr lang="zh-CN" altLang="en-US" dirty="0">
              <a:latin typeface="Consolas" pitchFamily="49" charset="0"/>
              <a:cs typeface="Consolas" pitchFamily="49" charset="0"/>
            </a:endParaRPr>
          </a:p>
        </p:txBody>
      </p:sp>
      <p:sp>
        <p:nvSpPr>
          <p:cNvPr id="5" name="Text Box 110">
            <a:extLst>
              <a:ext uri="{FF2B5EF4-FFF2-40B4-BE49-F238E27FC236}">
                <a16:creationId xmlns:a16="http://schemas.microsoft.com/office/drawing/2014/main" id="{EAB1C5CE-F5E5-4F7F-938A-40C5739F9B64}"/>
              </a:ext>
            </a:extLst>
          </p:cNvPr>
          <p:cNvSpPr txBox="1">
            <a:spLocks noChangeArrowheads="1"/>
          </p:cNvSpPr>
          <p:nvPr/>
        </p:nvSpPr>
        <p:spPr bwMode="auto">
          <a:xfrm>
            <a:off x="3996506" y="1728168"/>
            <a:ext cx="857256" cy="400110"/>
          </a:xfrm>
          <a:prstGeom prst="rect">
            <a:avLst/>
          </a:prstGeom>
          <a:noFill/>
          <a:ln w="9525">
            <a:noFill/>
            <a:miter lim="800000"/>
            <a:headEnd/>
            <a:tailEnd/>
          </a:ln>
        </p:spPr>
        <p:txBody>
          <a:bodyPr wrap="square">
            <a:spAutoFit/>
          </a:bodyPr>
          <a:lstStyle/>
          <a:p>
            <a:pPr algn="l">
              <a:spcBef>
                <a:spcPct val="50000"/>
              </a:spcBef>
            </a:pPr>
            <a:r>
              <a:rPr lang="zh-CN" altLang="en-US" sz="2000" dirty="0">
                <a:solidFill>
                  <a:srgbClr val="0000FF"/>
                </a:solidFill>
                <a:latin typeface="Consolas" pitchFamily="49" charset="0"/>
                <a:ea typeface="仿宋" pitchFamily="49" charset="-122"/>
                <a:cs typeface="Consolas" pitchFamily="49" charset="0"/>
              </a:rPr>
              <a:t>方位</a:t>
            </a:r>
            <a:r>
              <a:rPr lang="en-US" altLang="zh-CN" sz="2000" dirty="0">
                <a:solidFill>
                  <a:srgbClr val="0000FF"/>
                </a:solidFill>
                <a:latin typeface="Consolas" pitchFamily="49" charset="0"/>
                <a:ea typeface="仿宋" pitchFamily="49" charset="-122"/>
                <a:cs typeface="Consolas" pitchFamily="49" charset="0"/>
              </a:rPr>
              <a:t>0</a:t>
            </a:r>
          </a:p>
        </p:txBody>
      </p:sp>
      <p:sp>
        <p:nvSpPr>
          <p:cNvPr id="6" name="Text Box 111">
            <a:extLst>
              <a:ext uri="{FF2B5EF4-FFF2-40B4-BE49-F238E27FC236}">
                <a16:creationId xmlns:a16="http://schemas.microsoft.com/office/drawing/2014/main" id="{2DD033B3-FF88-4338-B98F-912EC132DEF2}"/>
              </a:ext>
            </a:extLst>
          </p:cNvPr>
          <p:cNvSpPr txBox="1">
            <a:spLocks noChangeArrowheads="1"/>
          </p:cNvSpPr>
          <p:nvPr/>
        </p:nvSpPr>
        <p:spPr bwMode="auto">
          <a:xfrm>
            <a:off x="4147356" y="5697192"/>
            <a:ext cx="928694" cy="400110"/>
          </a:xfrm>
          <a:prstGeom prst="rect">
            <a:avLst/>
          </a:prstGeom>
          <a:noFill/>
          <a:ln w="9525">
            <a:noFill/>
            <a:miter lim="800000"/>
            <a:headEnd/>
            <a:tailEnd/>
          </a:ln>
        </p:spPr>
        <p:txBody>
          <a:bodyPr wrap="square">
            <a:spAutoFit/>
          </a:bodyPr>
          <a:lstStyle/>
          <a:p>
            <a:pPr algn="l">
              <a:spcBef>
                <a:spcPct val="50000"/>
              </a:spcBef>
            </a:pPr>
            <a:r>
              <a:rPr lang="zh-CN" altLang="en-US" sz="2000" dirty="0">
                <a:solidFill>
                  <a:srgbClr val="0000FF"/>
                </a:solidFill>
                <a:latin typeface="Consolas" pitchFamily="49" charset="0"/>
                <a:ea typeface="仿宋" pitchFamily="49" charset="-122"/>
                <a:cs typeface="Consolas" pitchFamily="49" charset="0"/>
              </a:rPr>
              <a:t>方位</a:t>
            </a:r>
            <a:r>
              <a:rPr lang="en-US" altLang="zh-CN" sz="2000" dirty="0">
                <a:solidFill>
                  <a:srgbClr val="0000FF"/>
                </a:solidFill>
                <a:latin typeface="Consolas" pitchFamily="49" charset="0"/>
                <a:ea typeface="仿宋" pitchFamily="49" charset="-122"/>
                <a:cs typeface="Consolas" pitchFamily="49" charset="0"/>
              </a:rPr>
              <a:t>2</a:t>
            </a:r>
          </a:p>
        </p:txBody>
      </p:sp>
      <p:sp>
        <p:nvSpPr>
          <p:cNvPr id="7" name="Text Box 112">
            <a:extLst>
              <a:ext uri="{FF2B5EF4-FFF2-40B4-BE49-F238E27FC236}">
                <a16:creationId xmlns:a16="http://schemas.microsoft.com/office/drawing/2014/main" id="{AAE9399B-CC7F-4DEF-99EA-49EDDB7081BD}"/>
              </a:ext>
            </a:extLst>
          </p:cNvPr>
          <p:cNvSpPr txBox="1">
            <a:spLocks noChangeArrowheads="1"/>
          </p:cNvSpPr>
          <p:nvPr/>
        </p:nvSpPr>
        <p:spPr bwMode="auto">
          <a:xfrm>
            <a:off x="6568274" y="3728432"/>
            <a:ext cx="857256" cy="400110"/>
          </a:xfrm>
          <a:prstGeom prst="rect">
            <a:avLst/>
          </a:prstGeom>
          <a:noFill/>
          <a:ln w="9525">
            <a:noFill/>
            <a:miter lim="800000"/>
            <a:headEnd/>
            <a:tailEnd/>
          </a:ln>
        </p:spPr>
        <p:txBody>
          <a:bodyPr wrap="square">
            <a:spAutoFit/>
          </a:bodyPr>
          <a:lstStyle/>
          <a:p>
            <a:pPr algn="l">
              <a:spcBef>
                <a:spcPct val="50000"/>
              </a:spcBef>
            </a:pPr>
            <a:r>
              <a:rPr lang="zh-CN" altLang="en-US" sz="2000" dirty="0">
                <a:solidFill>
                  <a:srgbClr val="0000FF"/>
                </a:solidFill>
                <a:latin typeface="Consolas" pitchFamily="49" charset="0"/>
                <a:ea typeface="仿宋" pitchFamily="49" charset="-122"/>
                <a:cs typeface="Consolas" pitchFamily="49" charset="0"/>
              </a:rPr>
              <a:t>方位</a:t>
            </a:r>
            <a:r>
              <a:rPr lang="en-US" altLang="zh-CN" sz="2000" dirty="0">
                <a:solidFill>
                  <a:srgbClr val="0000FF"/>
                </a:solidFill>
                <a:latin typeface="Consolas" pitchFamily="49" charset="0"/>
                <a:ea typeface="仿宋" pitchFamily="49" charset="-122"/>
                <a:cs typeface="Consolas" pitchFamily="49" charset="0"/>
              </a:rPr>
              <a:t>1</a:t>
            </a:r>
          </a:p>
        </p:txBody>
      </p:sp>
      <p:sp>
        <p:nvSpPr>
          <p:cNvPr id="8" name="Text Box 113">
            <a:extLst>
              <a:ext uri="{FF2B5EF4-FFF2-40B4-BE49-F238E27FC236}">
                <a16:creationId xmlns:a16="http://schemas.microsoft.com/office/drawing/2014/main" id="{D1F19A47-BFE9-4184-AFEC-39A12A0D7CC9}"/>
              </a:ext>
            </a:extLst>
          </p:cNvPr>
          <p:cNvSpPr txBox="1">
            <a:spLocks noChangeArrowheads="1"/>
          </p:cNvSpPr>
          <p:nvPr/>
        </p:nvSpPr>
        <p:spPr bwMode="auto">
          <a:xfrm>
            <a:off x="1424738" y="3728432"/>
            <a:ext cx="928694" cy="400110"/>
          </a:xfrm>
          <a:prstGeom prst="rect">
            <a:avLst/>
          </a:prstGeom>
          <a:noFill/>
          <a:ln w="9525">
            <a:noFill/>
            <a:miter lim="800000"/>
            <a:headEnd/>
            <a:tailEnd/>
          </a:ln>
        </p:spPr>
        <p:txBody>
          <a:bodyPr wrap="square">
            <a:spAutoFit/>
          </a:bodyPr>
          <a:lstStyle/>
          <a:p>
            <a:pPr algn="l">
              <a:spcBef>
                <a:spcPct val="50000"/>
              </a:spcBef>
            </a:pPr>
            <a:r>
              <a:rPr lang="zh-CN" altLang="en-US" sz="2000" dirty="0">
                <a:solidFill>
                  <a:srgbClr val="0000FF"/>
                </a:solidFill>
                <a:latin typeface="Consolas" pitchFamily="49" charset="0"/>
                <a:ea typeface="仿宋" pitchFamily="49" charset="-122"/>
                <a:cs typeface="Consolas" pitchFamily="49" charset="0"/>
              </a:rPr>
              <a:t>方位</a:t>
            </a:r>
            <a:r>
              <a:rPr lang="en-US" altLang="zh-CN" sz="2000" dirty="0">
                <a:solidFill>
                  <a:srgbClr val="0000FF"/>
                </a:solidFill>
                <a:latin typeface="Consolas" pitchFamily="49" charset="0"/>
                <a:ea typeface="仿宋" pitchFamily="49" charset="-122"/>
                <a:cs typeface="Consolas" pitchFamily="49" charset="0"/>
              </a:rPr>
              <a:t>3</a:t>
            </a:r>
          </a:p>
        </p:txBody>
      </p:sp>
      <p:sp>
        <p:nvSpPr>
          <p:cNvPr id="9" name="Rectangle 36">
            <a:extLst>
              <a:ext uri="{FF2B5EF4-FFF2-40B4-BE49-F238E27FC236}">
                <a16:creationId xmlns:a16="http://schemas.microsoft.com/office/drawing/2014/main" id="{5CF8F713-8D67-4281-AFC4-D2F8598A9A63}"/>
              </a:ext>
            </a:extLst>
          </p:cNvPr>
          <p:cNvSpPr>
            <a:spLocks noChangeArrowheads="1"/>
          </p:cNvSpPr>
          <p:nvPr/>
        </p:nvSpPr>
        <p:spPr bwMode="auto">
          <a:xfrm>
            <a:off x="4067944" y="3652222"/>
            <a:ext cx="720000" cy="540000"/>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i="1">
                <a:solidFill>
                  <a:srgbClr val="0000FF"/>
                </a:solidFill>
                <a:latin typeface="Consolas" pitchFamily="49" charset="0"/>
                <a:ea typeface="宋体" pitchFamily="2" charset="-122"/>
                <a:cs typeface="Consolas" pitchFamily="49" charset="0"/>
              </a:rPr>
              <a:t>i</a:t>
            </a:r>
            <a:r>
              <a:rPr lang="zh-CN" altLang="en-US" sz="1800">
                <a:solidFill>
                  <a:srgbClr val="0000FF"/>
                </a:solidFill>
                <a:latin typeface="Consolas" pitchFamily="49" charset="0"/>
                <a:ea typeface="宋体" pitchFamily="2" charset="-122"/>
                <a:cs typeface="Consolas" pitchFamily="49" charset="0"/>
              </a:rPr>
              <a:t>，</a:t>
            </a:r>
            <a:r>
              <a:rPr lang="en-US" altLang="zh-CN" sz="1800" i="1">
                <a:solidFill>
                  <a:srgbClr val="0000FF"/>
                </a:solidFill>
                <a:latin typeface="Consolas" pitchFamily="49" charset="0"/>
                <a:ea typeface="宋体" pitchFamily="2" charset="-122"/>
                <a:cs typeface="Consolas" pitchFamily="49" charset="0"/>
              </a:rPr>
              <a:t>j</a:t>
            </a:r>
            <a:endParaRPr lang="en-US" altLang="zh-CN" sz="1800" i="1" dirty="0">
              <a:solidFill>
                <a:srgbClr val="0000FF"/>
              </a:solidFill>
              <a:latin typeface="Consolas" pitchFamily="49" charset="0"/>
              <a:ea typeface="宋体" pitchFamily="2" charset="-122"/>
              <a:cs typeface="Consolas" pitchFamily="49" charset="0"/>
            </a:endParaRPr>
          </a:p>
        </p:txBody>
      </p:sp>
      <p:cxnSp>
        <p:nvCxnSpPr>
          <p:cNvPr id="10" name="直接箭头连接符 9">
            <a:extLst>
              <a:ext uri="{FF2B5EF4-FFF2-40B4-BE49-F238E27FC236}">
                <a16:creationId xmlns:a16="http://schemas.microsoft.com/office/drawing/2014/main" id="{805F62D4-08F2-49CE-A73B-6CE9909D4179}"/>
              </a:ext>
            </a:extLst>
          </p:cNvPr>
          <p:cNvCxnSpPr>
            <a:cxnSpLocks noChangeShapeType="1"/>
          </p:cNvCxnSpPr>
          <p:nvPr/>
        </p:nvCxnSpPr>
        <p:spPr bwMode="auto">
          <a:xfrm rot="16200000" flipV="1">
            <a:off x="3956043" y="3179957"/>
            <a:ext cx="938182" cy="6350"/>
          </a:xfrm>
          <a:prstGeom prst="straightConnector1">
            <a:avLst/>
          </a:prstGeom>
          <a:ln>
            <a:headEnd/>
            <a:tailEnd type="triangle" w="med" len="med"/>
          </a:ln>
        </p:spPr>
        <p:style>
          <a:lnRef idx="2">
            <a:schemeClr val="accent5"/>
          </a:lnRef>
          <a:fillRef idx="0">
            <a:schemeClr val="accent5"/>
          </a:fillRef>
          <a:effectRef idx="1">
            <a:schemeClr val="accent5"/>
          </a:effectRef>
          <a:fontRef idx="minor">
            <a:schemeClr val="tx1"/>
          </a:fontRef>
        </p:style>
      </p:cxnSp>
      <p:cxnSp>
        <p:nvCxnSpPr>
          <p:cNvPr id="11" name="直接箭头连接符 10">
            <a:extLst>
              <a:ext uri="{FF2B5EF4-FFF2-40B4-BE49-F238E27FC236}">
                <a16:creationId xmlns:a16="http://schemas.microsoft.com/office/drawing/2014/main" id="{864AB32C-ED93-4B48-924C-7C25D4036019}"/>
              </a:ext>
            </a:extLst>
          </p:cNvPr>
          <p:cNvCxnSpPr>
            <a:cxnSpLocks noChangeShapeType="1"/>
          </p:cNvCxnSpPr>
          <p:nvPr/>
        </p:nvCxnSpPr>
        <p:spPr bwMode="auto">
          <a:xfrm flipV="1">
            <a:off x="4806147" y="3895112"/>
            <a:ext cx="939800" cy="7937"/>
          </a:xfrm>
          <a:prstGeom prst="straightConnector1">
            <a:avLst/>
          </a:prstGeom>
          <a:ln>
            <a:headEnd/>
            <a:tailEnd type="triangle" w="med" len="med"/>
          </a:ln>
        </p:spPr>
        <p:style>
          <a:lnRef idx="2">
            <a:schemeClr val="accent5"/>
          </a:lnRef>
          <a:fillRef idx="0">
            <a:schemeClr val="accent5"/>
          </a:fillRef>
          <a:effectRef idx="1">
            <a:schemeClr val="accent5"/>
          </a:effectRef>
          <a:fontRef idx="minor">
            <a:schemeClr val="tx1"/>
          </a:fontRef>
        </p:style>
      </p:cxnSp>
      <p:cxnSp>
        <p:nvCxnSpPr>
          <p:cNvPr id="12" name="直接箭头连接符 11">
            <a:extLst>
              <a:ext uri="{FF2B5EF4-FFF2-40B4-BE49-F238E27FC236}">
                <a16:creationId xmlns:a16="http://schemas.microsoft.com/office/drawing/2014/main" id="{617FE352-1EC8-4D89-914D-7CC60ECDB127}"/>
              </a:ext>
            </a:extLst>
          </p:cNvPr>
          <p:cNvCxnSpPr>
            <a:cxnSpLocks noChangeShapeType="1"/>
          </p:cNvCxnSpPr>
          <p:nvPr/>
        </p:nvCxnSpPr>
        <p:spPr bwMode="auto">
          <a:xfrm rot="5400000">
            <a:off x="3951266" y="4678541"/>
            <a:ext cx="957262" cy="0"/>
          </a:xfrm>
          <a:prstGeom prst="straightConnector1">
            <a:avLst/>
          </a:prstGeom>
          <a:ln>
            <a:headEnd/>
            <a:tailEnd type="triangle" w="med" len="med"/>
          </a:ln>
        </p:spPr>
        <p:style>
          <a:lnRef idx="2">
            <a:schemeClr val="accent5"/>
          </a:lnRef>
          <a:fillRef idx="0">
            <a:schemeClr val="accent5"/>
          </a:fillRef>
          <a:effectRef idx="1">
            <a:schemeClr val="accent5"/>
          </a:effectRef>
          <a:fontRef idx="minor">
            <a:schemeClr val="tx1"/>
          </a:fontRef>
        </p:style>
      </p:cxnSp>
      <p:cxnSp>
        <p:nvCxnSpPr>
          <p:cNvPr id="13" name="直接箭头连接符 12">
            <a:extLst>
              <a:ext uri="{FF2B5EF4-FFF2-40B4-BE49-F238E27FC236}">
                <a16:creationId xmlns:a16="http://schemas.microsoft.com/office/drawing/2014/main" id="{FAA1950B-E4ED-4820-BEDE-90A00C979A38}"/>
              </a:ext>
            </a:extLst>
          </p:cNvPr>
          <p:cNvCxnSpPr>
            <a:cxnSpLocks noChangeShapeType="1"/>
          </p:cNvCxnSpPr>
          <p:nvPr/>
        </p:nvCxnSpPr>
        <p:spPr bwMode="auto">
          <a:xfrm rot="10800000">
            <a:off x="3132190" y="3895112"/>
            <a:ext cx="915988" cy="7937"/>
          </a:xfrm>
          <a:prstGeom prst="straightConnector1">
            <a:avLst/>
          </a:prstGeom>
          <a:ln>
            <a:headEnd/>
            <a:tailEnd type="triangle" w="med" len="med"/>
          </a:ln>
        </p:spPr>
        <p:style>
          <a:lnRef idx="2">
            <a:schemeClr val="accent5"/>
          </a:lnRef>
          <a:fillRef idx="0">
            <a:schemeClr val="accent5"/>
          </a:fillRef>
          <a:effectRef idx="1">
            <a:schemeClr val="accent5"/>
          </a:effectRef>
          <a:fontRef idx="minor">
            <a:schemeClr val="tx1"/>
          </a:fontRef>
        </p:style>
      </p:cxnSp>
      <p:sp>
        <p:nvSpPr>
          <p:cNvPr id="14" name="Rectangle 36">
            <a:extLst>
              <a:ext uri="{FF2B5EF4-FFF2-40B4-BE49-F238E27FC236}">
                <a16:creationId xmlns:a16="http://schemas.microsoft.com/office/drawing/2014/main" id="{9916F368-92E5-4639-97AF-F54A72985A7D}"/>
              </a:ext>
            </a:extLst>
          </p:cNvPr>
          <p:cNvSpPr>
            <a:spLocks noChangeArrowheads="1"/>
          </p:cNvSpPr>
          <p:nvPr/>
        </p:nvSpPr>
        <p:spPr bwMode="auto">
          <a:xfrm>
            <a:off x="3965848" y="2180818"/>
            <a:ext cx="939800" cy="5400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1800" i="1">
                <a:solidFill>
                  <a:srgbClr val="0000FF"/>
                </a:solidFill>
                <a:latin typeface="Consolas" pitchFamily="49" charset="0"/>
                <a:ea typeface="宋体" pitchFamily="2" charset="-122"/>
                <a:cs typeface="Consolas" pitchFamily="49" charset="0"/>
              </a:rPr>
              <a:t>i</a:t>
            </a:r>
            <a:r>
              <a:rPr lang="en-US" altLang="zh-CN" sz="1800">
                <a:solidFill>
                  <a:srgbClr val="0000FF"/>
                </a:solidFill>
                <a:latin typeface="Consolas" pitchFamily="49" charset="0"/>
                <a:ea typeface="宋体" pitchFamily="2" charset="-122"/>
                <a:cs typeface="Consolas" pitchFamily="49" charset="0"/>
              </a:rPr>
              <a:t>-1</a:t>
            </a:r>
            <a:r>
              <a:rPr lang="zh-CN" altLang="en-US" sz="1800">
                <a:solidFill>
                  <a:srgbClr val="0000FF"/>
                </a:solidFill>
                <a:latin typeface="Consolas" pitchFamily="49" charset="0"/>
                <a:ea typeface="宋体" pitchFamily="2" charset="-122"/>
                <a:cs typeface="Consolas" pitchFamily="49" charset="0"/>
              </a:rPr>
              <a:t>，</a:t>
            </a:r>
            <a:r>
              <a:rPr lang="en-US" altLang="zh-CN" sz="1800" i="1">
                <a:solidFill>
                  <a:srgbClr val="0000FF"/>
                </a:solidFill>
                <a:latin typeface="Consolas" pitchFamily="49" charset="0"/>
                <a:ea typeface="宋体" pitchFamily="2" charset="-122"/>
                <a:cs typeface="Consolas" pitchFamily="49" charset="0"/>
              </a:rPr>
              <a:t>j</a:t>
            </a:r>
            <a:endParaRPr lang="en-US" altLang="zh-CN" sz="1800" i="1" dirty="0">
              <a:solidFill>
                <a:srgbClr val="0000FF"/>
              </a:solidFill>
              <a:latin typeface="Consolas" pitchFamily="49" charset="0"/>
              <a:ea typeface="宋体" pitchFamily="2" charset="-122"/>
              <a:cs typeface="Consolas" pitchFamily="49" charset="0"/>
            </a:endParaRPr>
          </a:p>
        </p:txBody>
      </p:sp>
      <p:sp>
        <p:nvSpPr>
          <p:cNvPr id="15" name="Rectangle 36">
            <a:extLst>
              <a:ext uri="{FF2B5EF4-FFF2-40B4-BE49-F238E27FC236}">
                <a16:creationId xmlns:a16="http://schemas.microsoft.com/office/drawing/2014/main" id="{A6A64D4F-A544-4674-B087-FFD4169D388A}"/>
              </a:ext>
            </a:extLst>
          </p:cNvPr>
          <p:cNvSpPr>
            <a:spLocks noChangeArrowheads="1"/>
          </p:cNvSpPr>
          <p:nvPr/>
        </p:nvSpPr>
        <p:spPr bwMode="auto">
          <a:xfrm>
            <a:off x="5763406" y="3642697"/>
            <a:ext cx="857256" cy="5400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1800" i="1">
                <a:solidFill>
                  <a:srgbClr val="0000FF"/>
                </a:solidFill>
                <a:latin typeface="Consolas" pitchFamily="49" charset="0"/>
                <a:ea typeface="宋体" pitchFamily="2" charset="-122"/>
                <a:cs typeface="Consolas" pitchFamily="49" charset="0"/>
              </a:rPr>
              <a:t>i</a:t>
            </a:r>
            <a:r>
              <a:rPr lang="zh-CN" altLang="en-US" sz="1800">
                <a:solidFill>
                  <a:srgbClr val="0000FF"/>
                </a:solidFill>
                <a:latin typeface="Consolas" pitchFamily="49" charset="0"/>
                <a:ea typeface="宋体" pitchFamily="2" charset="-122"/>
                <a:cs typeface="Consolas" pitchFamily="49" charset="0"/>
              </a:rPr>
              <a:t>，</a:t>
            </a:r>
            <a:r>
              <a:rPr lang="en-US" altLang="zh-CN" sz="1800" i="1">
                <a:solidFill>
                  <a:srgbClr val="0000FF"/>
                </a:solidFill>
                <a:latin typeface="Consolas" pitchFamily="49" charset="0"/>
                <a:ea typeface="宋体" pitchFamily="2" charset="-122"/>
                <a:cs typeface="Consolas" pitchFamily="49" charset="0"/>
              </a:rPr>
              <a:t>j</a:t>
            </a:r>
            <a:r>
              <a:rPr lang="en-US" altLang="zh-CN" sz="1800">
                <a:solidFill>
                  <a:srgbClr val="0000FF"/>
                </a:solidFill>
                <a:latin typeface="Consolas" pitchFamily="49" charset="0"/>
                <a:ea typeface="宋体" pitchFamily="2" charset="-122"/>
                <a:cs typeface="Consolas" pitchFamily="49" charset="0"/>
              </a:rPr>
              <a:t>+1</a:t>
            </a:r>
            <a:endParaRPr lang="en-US" altLang="zh-CN" sz="1800" dirty="0">
              <a:solidFill>
                <a:srgbClr val="0000FF"/>
              </a:solidFill>
              <a:latin typeface="Consolas" pitchFamily="49" charset="0"/>
              <a:ea typeface="宋体" pitchFamily="2" charset="-122"/>
              <a:cs typeface="Consolas" pitchFamily="49" charset="0"/>
            </a:endParaRPr>
          </a:p>
        </p:txBody>
      </p:sp>
      <p:sp>
        <p:nvSpPr>
          <p:cNvPr id="16" name="Rectangle 36">
            <a:extLst>
              <a:ext uri="{FF2B5EF4-FFF2-40B4-BE49-F238E27FC236}">
                <a16:creationId xmlns:a16="http://schemas.microsoft.com/office/drawing/2014/main" id="{B577D66A-3DEA-4842-81C3-1ECE5C46936B}"/>
              </a:ext>
            </a:extLst>
          </p:cNvPr>
          <p:cNvSpPr>
            <a:spLocks noChangeArrowheads="1"/>
          </p:cNvSpPr>
          <p:nvPr/>
        </p:nvSpPr>
        <p:spPr bwMode="auto">
          <a:xfrm>
            <a:off x="2294849" y="3652222"/>
            <a:ext cx="837339" cy="5400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1800" i="1">
                <a:solidFill>
                  <a:srgbClr val="0000FF"/>
                </a:solidFill>
                <a:latin typeface="Consolas" pitchFamily="49" charset="0"/>
                <a:ea typeface="宋体" pitchFamily="2" charset="-122"/>
                <a:cs typeface="Consolas" pitchFamily="49" charset="0"/>
              </a:rPr>
              <a:t>i</a:t>
            </a:r>
            <a:r>
              <a:rPr lang="zh-CN" altLang="en-US" sz="1800">
                <a:solidFill>
                  <a:srgbClr val="0000FF"/>
                </a:solidFill>
                <a:latin typeface="Consolas" pitchFamily="49" charset="0"/>
                <a:ea typeface="宋体" pitchFamily="2" charset="-122"/>
                <a:cs typeface="Consolas" pitchFamily="49" charset="0"/>
              </a:rPr>
              <a:t>，</a:t>
            </a:r>
            <a:r>
              <a:rPr lang="en-US" altLang="zh-CN" sz="1800" i="1">
                <a:solidFill>
                  <a:srgbClr val="0000FF"/>
                </a:solidFill>
                <a:latin typeface="Consolas" pitchFamily="49" charset="0"/>
                <a:ea typeface="宋体" pitchFamily="2" charset="-122"/>
                <a:cs typeface="Consolas" pitchFamily="49" charset="0"/>
              </a:rPr>
              <a:t>j-</a:t>
            </a:r>
            <a:r>
              <a:rPr lang="en-US" altLang="zh-CN" sz="1800">
                <a:solidFill>
                  <a:srgbClr val="0000FF"/>
                </a:solidFill>
                <a:latin typeface="Consolas" pitchFamily="49" charset="0"/>
                <a:ea typeface="宋体" pitchFamily="2" charset="-122"/>
                <a:cs typeface="Consolas" pitchFamily="49" charset="0"/>
              </a:rPr>
              <a:t>1</a:t>
            </a:r>
            <a:endParaRPr lang="en-US" altLang="zh-CN" sz="1800" dirty="0">
              <a:solidFill>
                <a:srgbClr val="0000FF"/>
              </a:solidFill>
              <a:latin typeface="Consolas" pitchFamily="49" charset="0"/>
              <a:ea typeface="宋体" pitchFamily="2" charset="-122"/>
              <a:cs typeface="Consolas" pitchFamily="49" charset="0"/>
            </a:endParaRPr>
          </a:p>
        </p:txBody>
      </p:sp>
      <p:sp>
        <p:nvSpPr>
          <p:cNvPr id="17" name="Rectangle 36">
            <a:extLst>
              <a:ext uri="{FF2B5EF4-FFF2-40B4-BE49-F238E27FC236}">
                <a16:creationId xmlns:a16="http://schemas.microsoft.com/office/drawing/2014/main" id="{0786966D-4196-47D0-A594-23AF819542B3}"/>
              </a:ext>
            </a:extLst>
          </p:cNvPr>
          <p:cNvSpPr>
            <a:spLocks noChangeArrowheads="1"/>
          </p:cNvSpPr>
          <p:nvPr/>
        </p:nvSpPr>
        <p:spPr bwMode="auto">
          <a:xfrm>
            <a:off x="4067943" y="5157192"/>
            <a:ext cx="1008107" cy="5400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1800" i="1" dirty="0">
                <a:solidFill>
                  <a:srgbClr val="0000FF"/>
                </a:solidFill>
                <a:latin typeface="Consolas" pitchFamily="49" charset="0"/>
                <a:ea typeface="宋体" pitchFamily="2" charset="-122"/>
                <a:cs typeface="Consolas" pitchFamily="49" charset="0"/>
              </a:rPr>
              <a:t>i</a:t>
            </a:r>
            <a:r>
              <a:rPr lang="en-US" altLang="zh-CN" sz="1800" dirty="0">
                <a:solidFill>
                  <a:srgbClr val="0000FF"/>
                </a:solidFill>
                <a:latin typeface="Consolas" pitchFamily="49" charset="0"/>
                <a:ea typeface="宋体" pitchFamily="2" charset="-122"/>
                <a:cs typeface="Consolas" pitchFamily="49" charset="0"/>
              </a:rPr>
              <a:t>+1</a:t>
            </a:r>
            <a:r>
              <a:rPr lang="zh-CN" altLang="en-US" sz="1800" dirty="0">
                <a:solidFill>
                  <a:srgbClr val="0000FF"/>
                </a:solidFill>
                <a:latin typeface="Consolas" pitchFamily="49" charset="0"/>
                <a:ea typeface="宋体" pitchFamily="2" charset="-122"/>
                <a:cs typeface="Consolas" pitchFamily="49" charset="0"/>
              </a:rPr>
              <a:t>，</a:t>
            </a:r>
            <a:r>
              <a:rPr lang="en-US" altLang="zh-CN" sz="1800" i="1" dirty="0">
                <a:solidFill>
                  <a:srgbClr val="0000FF"/>
                </a:solidFill>
                <a:latin typeface="Consolas" pitchFamily="49" charset="0"/>
                <a:ea typeface="宋体" pitchFamily="2" charset="-122"/>
                <a:cs typeface="Consolas" pitchFamily="49" charset="0"/>
              </a:rPr>
              <a:t>j</a:t>
            </a:r>
            <a:endParaRPr lang="en-US" altLang="zh-CN" sz="1800" dirty="0">
              <a:solidFill>
                <a:srgbClr val="0000FF"/>
              </a:solidFill>
              <a:latin typeface="Consolas" pitchFamily="49" charset="0"/>
              <a:ea typeface="宋体" pitchFamily="2" charset="-122"/>
              <a:cs typeface="Consolas" pitchFamily="49" charset="0"/>
            </a:endParaRPr>
          </a:p>
        </p:txBody>
      </p:sp>
    </p:spTree>
    <p:extLst>
      <p:ext uri="{BB962C8B-B14F-4D97-AF65-F5344CB8AC3E}">
        <p14:creationId xmlns:p14="http://schemas.microsoft.com/office/powerpoint/2010/main" val="1010338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D1ED03C4-BBE8-46DA-AC0D-5E43A1521CAD}"/>
              </a:ext>
            </a:extLst>
          </p:cNvPr>
          <p:cNvSpPr>
            <a:spLocks noChangeArrowheads="1"/>
          </p:cNvSpPr>
          <p:nvPr/>
        </p:nvSpPr>
        <p:spPr bwMode="auto">
          <a:xfrm>
            <a:off x="2323572" y="2091792"/>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5" name="Rectangle 3">
            <a:extLst>
              <a:ext uri="{FF2B5EF4-FFF2-40B4-BE49-F238E27FC236}">
                <a16:creationId xmlns:a16="http://schemas.microsoft.com/office/drawing/2014/main" id="{5F09E886-4B39-4718-893B-E9DA880CA6FC}"/>
              </a:ext>
            </a:extLst>
          </p:cNvPr>
          <p:cNvSpPr>
            <a:spLocks noChangeArrowheads="1"/>
          </p:cNvSpPr>
          <p:nvPr/>
        </p:nvSpPr>
        <p:spPr bwMode="auto">
          <a:xfrm>
            <a:off x="2682347" y="2091792"/>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6" name="Rectangle 4">
            <a:extLst>
              <a:ext uri="{FF2B5EF4-FFF2-40B4-BE49-F238E27FC236}">
                <a16:creationId xmlns:a16="http://schemas.microsoft.com/office/drawing/2014/main" id="{9D47B7CD-0D8D-47FB-ABCF-762AC7AAADBF}"/>
              </a:ext>
            </a:extLst>
          </p:cNvPr>
          <p:cNvSpPr>
            <a:spLocks noChangeArrowheads="1"/>
          </p:cNvSpPr>
          <p:nvPr/>
        </p:nvSpPr>
        <p:spPr bwMode="auto">
          <a:xfrm>
            <a:off x="3030009" y="2091792"/>
            <a:ext cx="361950"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7" name="Rectangle 5">
            <a:extLst>
              <a:ext uri="{FF2B5EF4-FFF2-40B4-BE49-F238E27FC236}">
                <a16:creationId xmlns:a16="http://schemas.microsoft.com/office/drawing/2014/main" id="{ACDE9A51-5539-4B2B-BD9A-DC68AF777D94}"/>
              </a:ext>
            </a:extLst>
          </p:cNvPr>
          <p:cNvSpPr>
            <a:spLocks noChangeArrowheads="1"/>
          </p:cNvSpPr>
          <p:nvPr/>
        </p:nvSpPr>
        <p:spPr bwMode="auto">
          <a:xfrm>
            <a:off x="3391960" y="2091792"/>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8" name="Rectangle 6">
            <a:extLst>
              <a:ext uri="{FF2B5EF4-FFF2-40B4-BE49-F238E27FC236}">
                <a16:creationId xmlns:a16="http://schemas.microsoft.com/office/drawing/2014/main" id="{F6E5C759-FA43-4CF8-9364-B393E4D2F0E5}"/>
              </a:ext>
            </a:extLst>
          </p:cNvPr>
          <p:cNvSpPr>
            <a:spLocks noChangeArrowheads="1"/>
          </p:cNvSpPr>
          <p:nvPr/>
        </p:nvSpPr>
        <p:spPr bwMode="auto">
          <a:xfrm>
            <a:off x="3750735" y="2091792"/>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9" name="Rectangle 7">
            <a:extLst>
              <a:ext uri="{FF2B5EF4-FFF2-40B4-BE49-F238E27FC236}">
                <a16:creationId xmlns:a16="http://schemas.microsoft.com/office/drawing/2014/main" id="{7451BCF1-BA19-4D9E-BA54-98C65127A083}"/>
              </a:ext>
            </a:extLst>
          </p:cNvPr>
          <p:cNvSpPr>
            <a:spLocks noChangeArrowheads="1"/>
          </p:cNvSpPr>
          <p:nvPr/>
        </p:nvSpPr>
        <p:spPr bwMode="auto">
          <a:xfrm>
            <a:off x="4098397" y="2091792"/>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10" name="Rectangle 8">
            <a:extLst>
              <a:ext uri="{FF2B5EF4-FFF2-40B4-BE49-F238E27FC236}">
                <a16:creationId xmlns:a16="http://schemas.microsoft.com/office/drawing/2014/main" id="{1DCAE756-2539-4B5F-9E33-8DCFC83E1F85}"/>
              </a:ext>
            </a:extLst>
          </p:cNvPr>
          <p:cNvSpPr>
            <a:spLocks noChangeArrowheads="1"/>
          </p:cNvSpPr>
          <p:nvPr/>
        </p:nvSpPr>
        <p:spPr bwMode="auto">
          <a:xfrm>
            <a:off x="4457172" y="2091792"/>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11" name="Rectangle 9">
            <a:extLst>
              <a:ext uri="{FF2B5EF4-FFF2-40B4-BE49-F238E27FC236}">
                <a16:creationId xmlns:a16="http://schemas.microsoft.com/office/drawing/2014/main" id="{130600A1-7516-436E-8852-AFA6BE444ABC}"/>
              </a:ext>
            </a:extLst>
          </p:cNvPr>
          <p:cNvSpPr>
            <a:spLocks noChangeArrowheads="1"/>
          </p:cNvSpPr>
          <p:nvPr/>
        </p:nvSpPr>
        <p:spPr bwMode="auto">
          <a:xfrm>
            <a:off x="5179485" y="2091792"/>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12" name="Rectangle 10">
            <a:extLst>
              <a:ext uri="{FF2B5EF4-FFF2-40B4-BE49-F238E27FC236}">
                <a16:creationId xmlns:a16="http://schemas.microsoft.com/office/drawing/2014/main" id="{BDDB5DF5-680B-4309-9337-EB8C62A993A1}"/>
              </a:ext>
            </a:extLst>
          </p:cNvPr>
          <p:cNvSpPr>
            <a:spLocks noChangeArrowheads="1"/>
          </p:cNvSpPr>
          <p:nvPr/>
        </p:nvSpPr>
        <p:spPr bwMode="auto">
          <a:xfrm>
            <a:off x="4817534" y="2091792"/>
            <a:ext cx="361950"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13" name="Rectangle 11">
            <a:extLst>
              <a:ext uri="{FF2B5EF4-FFF2-40B4-BE49-F238E27FC236}">
                <a16:creationId xmlns:a16="http://schemas.microsoft.com/office/drawing/2014/main" id="{0EAE3B20-C0B1-4D8D-A8FD-0D17C4855AC7}"/>
              </a:ext>
            </a:extLst>
          </p:cNvPr>
          <p:cNvSpPr>
            <a:spLocks noChangeArrowheads="1"/>
          </p:cNvSpPr>
          <p:nvPr/>
        </p:nvSpPr>
        <p:spPr bwMode="auto">
          <a:xfrm>
            <a:off x="5538260" y="2091792"/>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14" name="Rectangle 12">
            <a:extLst>
              <a:ext uri="{FF2B5EF4-FFF2-40B4-BE49-F238E27FC236}">
                <a16:creationId xmlns:a16="http://schemas.microsoft.com/office/drawing/2014/main" id="{B9594C61-EBCC-48A2-861F-256EF8A4F560}"/>
              </a:ext>
            </a:extLst>
          </p:cNvPr>
          <p:cNvSpPr>
            <a:spLocks noChangeArrowheads="1"/>
          </p:cNvSpPr>
          <p:nvPr/>
        </p:nvSpPr>
        <p:spPr bwMode="auto">
          <a:xfrm>
            <a:off x="2323572" y="2450567"/>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15" name="Rectangle 13">
            <a:extLst>
              <a:ext uri="{FF2B5EF4-FFF2-40B4-BE49-F238E27FC236}">
                <a16:creationId xmlns:a16="http://schemas.microsoft.com/office/drawing/2014/main" id="{0A0C2D0F-74D8-43A6-941C-324ED3731017}"/>
              </a:ext>
            </a:extLst>
          </p:cNvPr>
          <p:cNvSpPr>
            <a:spLocks noChangeArrowheads="1"/>
          </p:cNvSpPr>
          <p:nvPr/>
        </p:nvSpPr>
        <p:spPr bwMode="auto">
          <a:xfrm>
            <a:off x="2682347" y="2450567"/>
            <a:ext cx="358775"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16" name="Rectangle 14">
            <a:extLst>
              <a:ext uri="{FF2B5EF4-FFF2-40B4-BE49-F238E27FC236}">
                <a16:creationId xmlns:a16="http://schemas.microsoft.com/office/drawing/2014/main" id="{943B411E-D42D-47D0-B5FF-2D39363B467C}"/>
              </a:ext>
            </a:extLst>
          </p:cNvPr>
          <p:cNvSpPr>
            <a:spLocks noChangeArrowheads="1"/>
          </p:cNvSpPr>
          <p:nvPr/>
        </p:nvSpPr>
        <p:spPr bwMode="auto">
          <a:xfrm>
            <a:off x="3030009" y="2450567"/>
            <a:ext cx="361950"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17" name="Rectangle 15">
            <a:extLst>
              <a:ext uri="{FF2B5EF4-FFF2-40B4-BE49-F238E27FC236}">
                <a16:creationId xmlns:a16="http://schemas.microsoft.com/office/drawing/2014/main" id="{D0806E48-CFCE-4A76-8B70-9A28B2262EF9}"/>
              </a:ext>
            </a:extLst>
          </p:cNvPr>
          <p:cNvSpPr>
            <a:spLocks noChangeArrowheads="1"/>
          </p:cNvSpPr>
          <p:nvPr/>
        </p:nvSpPr>
        <p:spPr bwMode="auto">
          <a:xfrm>
            <a:off x="3391960" y="2450567"/>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18" name="Rectangle 16">
            <a:extLst>
              <a:ext uri="{FF2B5EF4-FFF2-40B4-BE49-F238E27FC236}">
                <a16:creationId xmlns:a16="http://schemas.microsoft.com/office/drawing/2014/main" id="{CE7ED10B-906B-4167-9AF3-EC52D198E44B}"/>
              </a:ext>
            </a:extLst>
          </p:cNvPr>
          <p:cNvSpPr>
            <a:spLocks noChangeArrowheads="1"/>
          </p:cNvSpPr>
          <p:nvPr/>
        </p:nvSpPr>
        <p:spPr bwMode="auto">
          <a:xfrm>
            <a:off x="3750735" y="2450567"/>
            <a:ext cx="358775"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19" name="Rectangle 17">
            <a:extLst>
              <a:ext uri="{FF2B5EF4-FFF2-40B4-BE49-F238E27FC236}">
                <a16:creationId xmlns:a16="http://schemas.microsoft.com/office/drawing/2014/main" id="{43A46D00-7824-4DA4-9B8E-0B7289283C6F}"/>
              </a:ext>
            </a:extLst>
          </p:cNvPr>
          <p:cNvSpPr>
            <a:spLocks noChangeArrowheads="1"/>
          </p:cNvSpPr>
          <p:nvPr/>
        </p:nvSpPr>
        <p:spPr bwMode="auto">
          <a:xfrm>
            <a:off x="4098397" y="2450567"/>
            <a:ext cx="358775"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20" name="Rectangle 18">
            <a:extLst>
              <a:ext uri="{FF2B5EF4-FFF2-40B4-BE49-F238E27FC236}">
                <a16:creationId xmlns:a16="http://schemas.microsoft.com/office/drawing/2014/main" id="{22EE2604-FC77-4EC0-9429-1E545E8B7B41}"/>
              </a:ext>
            </a:extLst>
          </p:cNvPr>
          <p:cNvSpPr>
            <a:spLocks noChangeArrowheads="1"/>
          </p:cNvSpPr>
          <p:nvPr/>
        </p:nvSpPr>
        <p:spPr bwMode="auto">
          <a:xfrm>
            <a:off x="4457172" y="2450567"/>
            <a:ext cx="358775"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21" name="Rectangle 19">
            <a:extLst>
              <a:ext uri="{FF2B5EF4-FFF2-40B4-BE49-F238E27FC236}">
                <a16:creationId xmlns:a16="http://schemas.microsoft.com/office/drawing/2014/main" id="{A79E4759-E862-4D0F-8C69-DF26FBE1FD70}"/>
              </a:ext>
            </a:extLst>
          </p:cNvPr>
          <p:cNvSpPr>
            <a:spLocks noChangeArrowheads="1"/>
          </p:cNvSpPr>
          <p:nvPr/>
        </p:nvSpPr>
        <p:spPr bwMode="auto">
          <a:xfrm>
            <a:off x="5179485" y="2450567"/>
            <a:ext cx="358775"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22" name="Rectangle 20">
            <a:extLst>
              <a:ext uri="{FF2B5EF4-FFF2-40B4-BE49-F238E27FC236}">
                <a16:creationId xmlns:a16="http://schemas.microsoft.com/office/drawing/2014/main" id="{B3975A85-9CC0-4662-B965-892DD1E5E512}"/>
              </a:ext>
            </a:extLst>
          </p:cNvPr>
          <p:cNvSpPr>
            <a:spLocks noChangeArrowheads="1"/>
          </p:cNvSpPr>
          <p:nvPr/>
        </p:nvSpPr>
        <p:spPr bwMode="auto">
          <a:xfrm>
            <a:off x="4817534" y="2450567"/>
            <a:ext cx="361950"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23" name="Rectangle 21">
            <a:extLst>
              <a:ext uri="{FF2B5EF4-FFF2-40B4-BE49-F238E27FC236}">
                <a16:creationId xmlns:a16="http://schemas.microsoft.com/office/drawing/2014/main" id="{48B1EF26-15C0-4478-B8D1-1AC09004F090}"/>
              </a:ext>
            </a:extLst>
          </p:cNvPr>
          <p:cNvSpPr>
            <a:spLocks noChangeArrowheads="1"/>
          </p:cNvSpPr>
          <p:nvPr/>
        </p:nvSpPr>
        <p:spPr bwMode="auto">
          <a:xfrm>
            <a:off x="5538260" y="2450567"/>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24" name="Rectangle 22">
            <a:extLst>
              <a:ext uri="{FF2B5EF4-FFF2-40B4-BE49-F238E27FC236}">
                <a16:creationId xmlns:a16="http://schemas.microsoft.com/office/drawing/2014/main" id="{6A7F8FB5-1B1A-4467-B668-E1DCFE47BDB5}"/>
              </a:ext>
            </a:extLst>
          </p:cNvPr>
          <p:cNvSpPr>
            <a:spLocks noChangeArrowheads="1"/>
          </p:cNvSpPr>
          <p:nvPr/>
        </p:nvSpPr>
        <p:spPr bwMode="auto">
          <a:xfrm>
            <a:off x="2323572" y="2810930"/>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25" name="Rectangle 23">
            <a:extLst>
              <a:ext uri="{FF2B5EF4-FFF2-40B4-BE49-F238E27FC236}">
                <a16:creationId xmlns:a16="http://schemas.microsoft.com/office/drawing/2014/main" id="{165F3270-CCDC-4516-8D36-0254BAEF9C4A}"/>
              </a:ext>
            </a:extLst>
          </p:cNvPr>
          <p:cNvSpPr>
            <a:spLocks noChangeArrowheads="1"/>
          </p:cNvSpPr>
          <p:nvPr/>
        </p:nvSpPr>
        <p:spPr bwMode="auto">
          <a:xfrm>
            <a:off x="2682347" y="2810930"/>
            <a:ext cx="358775"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26" name="Rectangle 24">
            <a:extLst>
              <a:ext uri="{FF2B5EF4-FFF2-40B4-BE49-F238E27FC236}">
                <a16:creationId xmlns:a16="http://schemas.microsoft.com/office/drawing/2014/main" id="{488048A9-762F-4B25-9DE6-0EEFA72C5B69}"/>
              </a:ext>
            </a:extLst>
          </p:cNvPr>
          <p:cNvSpPr>
            <a:spLocks noChangeArrowheads="1"/>
          </p:cNvSpPr>
          <p:nvPr/>
        </p:nvSpPr>
        <p:spPr bwMode="auto">
          <a:xfrm>
            <a:off x="3030009" y="2810930"/>
            <a:ext cx="361950"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27" name="Rectangle 25">
            <a:extLst>
              <a:ext uri="{FF2B5EF4-FFF2-40B4-BE49-F238E27FC236}">
                <a16:creationId xmlns:a16="http://schemas.microsoft.com/office/drawing/2014/main" id="{37871B24-8D90-465B-8736-D143C78EDD75}"/>
              </a:ext>
            </a:extLst>
          </p:cNvPr>
          <p:cNvSpPr>
            <a:spLocks noChangeArrowheads="1"/>
          </p:cNvSpPr>
          <p:nvPr/>
        </p:nvSpPr>
        <p:spPr bwMode="auto">
          <a:xfrm>
            <a:off x="3391960" y="2810930"/>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28" name="Rectangle 26">
            <a:extLst>
              <a:ext uri="{FF2B5EF4-FFF2-40B4-BE49-F238E27FC236}">
                <a16:creationId xmlns:a16="http://schemas.microsoft.com/office/drawing/2014/main" id="{9B55056E-39AB-4FA7-9E79-7F8557099E49}"/>
              </a:ext>
            </a:extLst>
          </p:cNvPr>
          <p:cNvSpPr>
            <a:spLocks noChangeArrowheads="1"/>
          </p:cNvSpPr>
          <p:nvPr/>
        </p:nvSpPr>
        <p:spPr bwMode="auto">
          <a:xfrm>
            <a:off x="3750735" y="2810930"/>
            <a:ext cx="358775"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29" name="Rectangle 27">
            <a:extLst>
              <a:ext uri="{FF2B5EF4-FFF2-40B4-BE49-F238E27FC236}">
                <a16:creationId xmlns:a16="http://schemas.microsoft.com/office/drawing/2014/main" id="{949BE299-FCED-4ED8-A09F-B22A09DBCFE7}"/>
              </a:ext>
            </a:extLst>
          </p:cNvPr>
          <p:cNvSpPr>
            <a:spLocks noChangeArrowheads="1"/>
          </p:cNvSpPr>
          <p:nvPr/>
        </p:nvSpPr>
        <p:spPr bwMode="auto">
          <a:xfrm>
            <a:off x="4098397" y="2810930"/>
            <a:ext cx="358775"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30" name="Rectangle 28">
            <a:extLst>
              <a:ext uri="{FF2B5EF4-FFF2-40B4-BE49-F238E27FC236}">
                <a16:creationId xmlns:a16="http://schemas.microsoft.com/office/drawing/2014/main" id="{2CC0B098-1231-4025-BB79-375EC45E3BC8}"/>
              </a:ext>
            </a:extLst>
          </p:cNvPr>
          <p:cNvSpPr>
            <a:spLocks noChangeArrowheads="1"/>
          </p:cNvSpPr>
          <p:nvPr/>
        </p:nvSpPr>
        <p:spPr bwMode="auto">
          <a:xfrm>
            <a:off x="4457172" y="2810930"/>
            <a:ext cx="358775"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31" name="Rectangle 29">
            <a:extLst>
              <a:ext uri="{FF2B5EF4-FFF2-40B4-BE49-F238E27FC236}">
                <a16:creationId xmlns:a16="http://schemas.microsoft.com/office/drawing/2014/main" id="{8F3800A8-0303-4235-840D-D53FC12C35F2}"/>
              </a:ext>
            </a:extLst>
          </p:cNvPr>
          <p:cNvSpPr>
            <a:spLocks noChangeArrowheads="1"/>
          </p:cNvSpPr>
          <p:nvPr/>
        </p:nvSpPr>
        <p:spPr bwMode="auto">
          <a:xfrm>
            <a:off x="5179485" y="2810930"/>
            <a:ext cx="358775"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32" name="Rectangle 30">
            <a:extLst>
              <a:ext uri="{FF2B5EF4-FFF2-40B4-BE49-F238E27FC236}">
                <a16:creationId xmlns:a16="http://schemas.microsoft.com/office/drawing/2014/main" id="{4C1CEE9E-D113-4A2F-8259-D7A0DF584FE1}"/>
              </a:ext>
            </a:extLst>
          </p:cNvPr>
          <p:cNvSpPr>
            <a:spLocks noChangeArrowheads="1"/>
          </p:cNvSpPr>
          <p:nvPr/>
        </p:nvSpPr>
        <p:spPr bwMode="auto">
          <a:xfrm>
            <a:off x="4817534" y="2810930"/>
            <a:ext cx="361950"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33" name="Rectangle 31">
            <a:extLst>
              <a:ext uri="{FF2B5EF4-FFF2-40B4-BE49-F238E27FC236}">
                <a16:creationId xmlns:a16="http://schemas.microsoft.com/office/drawing/2014/main" id="{8D77006E-271F-490F-9397-45B4E8041DD1}"/>
              </a:ext>
            </a:extLst>
          </p:cNvPr>
          <p:cNvSpPr>
            <a:spLocks noChangeArrowheads="1"/>
          </p:cNvSpPr>
          <p:nvPr/>
        </p:nvSpPr>
        <p:spPr bwMode="auto">
          <a:xfrm>
            <a:off x="5538260" y="2810930"/>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34" name="Rectangle 32">
            <a:extLst>
              <a:ext uri="{FF2B5EF4-FFF2-40B4-BE49-F238E27FC236}">
                <a16:creationId xmlns:a16="http://schemas.microsoft.com/office/drawing/2014/main" id="{27CD4B3F-A0CD-4FC5-B3D2-1F1FBD5CA2D4}"/>
              </a:ext>
            </a:extLst>
          </p:cNvPr>
          <p:cNvSpPr>
            <a:spLocks noChangeArrowheads="1"/>
          </p:cNvSpPr>
          <p:nvPr/>
        </p:nvSpPr>
        <p:spPr bwMode="auto">
          <a:xfrm>
            <a:off x="2323572" y="3171292"/>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35" name="Rectangle 33">
            <a:extLst>
              <a:ext uri="{FF2B5EF4-FFF2-40B4-BE49-F238E27FC236}">
                <a16:creationId xmlns:a16="http://schemas.microsoft.com/office/drawing/2014/main" id="{FFC3F726-9D32-4953-ACD2-2C104B0ACC04}"/>
              </a:ext>
            </a:extLst>
          </p:cNvPr>
          <p:cNvSpPr>
            <a:spLocks noChangeArrowheads="1"/>
          </p:cNvSpPr>
          <p:nvPr/>
        </p:nvSpPr>
        <p:spPr bwMode="auto">
          <a:xfrm>
            <a:off x="2682347" y="3171292"/>
            <a:ext cx="358775"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36" name="Rectangle 34">
            <a:extLst>
              <a:ext uri="{FF2B5EF4-FFF2-40B4-BE49-F238E27FC236}">
                <a16:creationId xmlns:a16="http://schemas.microsoft.com/office/drawing/2014/main" id="{B11F4F08-C099-4A57-8A72-AC9BAE1D1527}"/>
              </a:ext>
            </a:extLst>
          </p:cNvPr>
          <p:cNvSpPr>
            <a:spLocks noChangeArrowheads="1"/>
          </p:cNvSpPr>
          <p:nvPr/>
        </p:nvSpPr>
        <p:spPr bwMode="auto">
          <a:xfrm>
            <a:off x="3030009" y="3171292"/>
            <a:ext cx="361950"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37" name="Rectangle 35">
            <a:extLst>
              <a:ext uri="{FF2B5EF4-FFF2-40B4-BE49-F238E27FC236}">
                <a16:creationId xmlns:a16="http://schemas.microsoft.com/office/drawing/2014/main" id="{6C335680-30D2-4AC3-90D2-3EFBDD0C9FA8}"/>
              </a:ext>
            </a:extLst>
          </p:cNvPr>
          <p:cNvSpPr>
            <a:spLocks noChangeArrowheads="1"/>
          </p:cNvSpPr>
          <p:nvPr/>
        </p:nvSpPr>
        <p:spPr bwMode="auto">
          <a:xfrm>
            <a:off x="3391960" y="3171292"/>
            <a:ext cx="358775"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38" name="Rectangle 36">
            <a:extLst>
              <a:ext uri="{FF2B5EF4-FFF2-40B4-BE49-F238E27FC236}">
                <a16:creationId xmlns:a16="http://schemas.microsoft.com/office/drawing/2014/main" id="{6335EDB4-0439-4123-9206-E5BDEEBDFEFE}"/>
              </a:ext>
            </a:extLst>
          </p:cNvPr>
          <p:cNvSpPr>
            <a:spLocks noChangeArrowheads="1"/>
          </p:cNvSpPr>
          <p:nvPr/>
        </p:nvSpPr>
        <p:spPr bwMode="auto">
          <a:xfrm>
            <a:off x="3750735" y="3171292"/>
            <a:ext cx="358775"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39" name="Rectangle 37">
            <a:extLst>
              <a:ext uri="{FF2B5EF4-FFF2-40B4-BE49-F238E27FC236}">
                <a16:creationId xmlns:a16="http://schemas.microsoft.com/office/drawing/2014/main" id="{784C5F09-DF54-455D-B2FA-C1880F664299}"/>
              </a:ext>
            </a:extLst>
          </p:cNvPr>
          <p:cNvSpPr>
            <a:spLocks noChangeArrowheads="1"/>
          </p:cNvSpPr>
          <p:nvPr/>
        </p:nvSpPr>
        <p:spPr bwMode="auto">
          <a:xfrm>
            <a:off x="4098397" y="3171292"/>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40" name="Rectangle 38">
            <a:extLst>
              <a:ext uri="{FF2B5EF4-FFF2-40B4-BE49-F238E27FC236}">
                <a16:creationId xmlns:a16="http://schemas.microsoft.com/office/drawing/2014/main" id="{D0E18839-C53F-43F2-B306-89C62A4299AB}"/>
              </a:ext>
            </a:extLst>
          </p:cNvPr>
          <p:cNvSpPr>
            <a:spLocks noChangeArrowheads="1"/>
          </p:cNvSpPr>
          <p:nvPr/>
        </p:nvSpPr>
        <p:spPr bwMode="auto">
          <a:xfrm>
            <a:off x="4457172" y="3171292"/>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41" name="Rectangle 39">
            <a:extLst>
              <a:ext uri="{FF2B5EF4-FFF2-40B4-BE49-F238E27FC236}">
                <a16:creationId xmlns:a16="http://schemas.microsoft.com/office/drawing/2014/main" id="{85167CC3-2E83-49BF-901C-3933F5D33FB8}"/>
              </a:ext>
            </a:extLst>
          </p:cNvPr>
          <p:cNvSpPr>
            <a:spLocks noChangeArrowheads="1"/>
          </p:cNvSpPr>
          <p:nvPr/>
        </p:nvSpPr>
        <p:spPr bwMode="auto">
          <a:xfrm>
            <a:off x="5179485" y="3171292"/>
            <a:ext cx="358775"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42" name="Rectangle 40">
            <a:extLst>
              <a:ext uri="{FF2B5EF4-FFF2-40B4-BE49-F238E27FC236}">
                <a16:creationId xmlns:a16="http://schemas.microsoft.com/office/drawing/2014/main" id="{F0D53252-1BB5-427C-9AA3-BB37802065B2}"/>
              </a:ext>
            </a:extLst>
          </p:cNvPr>
          <p:cNvSpPr>
            <a:spLocks noChangeArrowheads="1"/>
          </p:cNvSpPr>
          <p:nvPr/>
        </p:nvSpPr>
        <p:spPr bwMode="auto">
          <a:xfrm>
            <a:off x="4817534" y="3171292"/>
            <a:ext cx="361950"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43" name="Rectangle 41">
            <a:extLst>
              <a:ext uri="{FF2B5EF4-FFF2-40B4-BE49-F238E27FC236}">
                <a16:creationId xmlns:a16="http://schemas.microsoft.com/office/drawing/2014/main" id="{89EA532B-8B33-4227-8F3C-9DE9FB446CAE}"/>
              </a:ext>
            </a:extLst>
          </p:cNvPr>
          <p:cNvSpPr>
            <a:spLocks noChangeArrowheads="1"/>
          </p:cNvSpPr>
          <p:nvPr/>
        </p:nvSpPr>
        <p:spPr bwMode="auto">
          <a:xfrm>
            <a:off x="5538260" y="3171292"/>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44" name="Rectangle 42">
            <a:extLst>
              <a:ext uri="{FF2B5EF4-FFF2-40B4-BE49-F238E27FC236}">
                <a16:creationId xmlns:a16="http://schemas.microsoft.com/office/drawing/2014/main" id="{06CB0A90-C656-455C-B78F-FBDA5963AF83}"/>
              </a:ext>
            </a:extLst>
          </p:cNvPr>
          <p:cNvSpPr>
            <a:spLocks noChangeArrowheads="1"/>
          </p:cNvSpPr>
          <p:nvPr/>
        </p:nvSpPr>
        <p:spPr bwMode="auto">
          <a:xfrm>
            <a:off x="2323572" y="3518955"/>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45" name="Rectangle 43">
            <a:extLst>
              <a:ext uri="{FF2B5EF4-FFF2-40B4-BE49-F238E27FC236}">
                <a16:creationId xmlns:a16="http://schemas.microsoft.com/office/drawing/2014/main" id="{435EA7B2-1501-4EAB-B5B5-BA69C47ABBF4}"/>
              </a:ext>
            </a:extLst>
          </p:cNvPr>
          <p:cNvSpPr>
            <a:spLocks noChangeArrowheads="1"/>
          </p:cNvSpPr>
          <p:nvPr/>
        </p:nvSpPr>
        <p:spPr bwMode="auto">
          <a:xfrm>
            <a:off x="2682347" y="3524288"/>
            <a:ext cx="358775" cy="391542"/>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46" name="Rectangle 44">
            <a:extLst>
              <a:ext uri="{FF2B5EF4-FFF2-40B4-BE49-F238E27FC236}">
                <a16:creationId xmlns:a16="http://schemas.microsoft.com/office/drawing/2014/main" id="{B3726F32-E77D-431E-97CB-563C3B56AE47}"/>
              </a:ext>
            </a:extLst>
          </p:cNvPr>
          <p:cNvSpPr>
            <a:spLocks noChangeArrowheads="1"/>
          </p:cNvSpPr>
          <p:nvPr/>
        </p:nvSpPr>
        <p:spPr bwMode="auto">
          <a:xfrm>
            <a:off x="3030009" y="3518955"/>
            <a:ext cx="361950"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47" name="Rectangle 45">
            <a:extLst>
              <a:ext uri="{FF2B5EF4-FFF2-40B4-BE49-F238E27FC236}">
                <a16:creationId xmlns:a16="http://schemas.microsoft.com/office/drawing/2014/main" id="{A22416C6-80B3-46EC-B81A-36012CEE1D86}"/>
              </a:ext>
            </a:extLst>
          </p:cNvPr>
          <p:cNvSpPr>
            <a:spLocks noChangeArrowheads="1"/>
          </p:cNvSpPr>
          <p:nvPr/>
        </p:nvSpPr>
        <p:spPr bwMode="auto">
          <a:xfrm>
            <a:off x="3391960" y="3518955"/>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48" name="Rectangle 46">
            <a:extLst>
              <a:ext uri="{FF2B5EF4-FFF2-40B4-BE49-F238E27FC236}">
                <a16:creationId xmlns:a16="http://schemas.microsoft.com/office/drawing/2014/main" id="{247F8891-9138-4EEC-96AB-DA5CA405AC8B}"/>
              </a:ext>
            </a:extLst>
          </p:cNvPr>
          <p:cNvSpPr>
            <a:spLocks noChangeArrowheads="1"/>
          </p:cNvSpPr>
          <p:nvPr/>
        </p:nvSpPr>
        <p:spPr bwMode="auto">
          <a:xfrm>
            <a:off x="3750735" y="3518955"/>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49" name="Rectangle 47">
            <a:extLst>
              <a:ext uri="{FF2B5EF4-FFF2-40B4-BE49-F238E27FC236}">
                <a16:creationId xmlns:a16="http://schemas.microsoft.com/office/drawing/2014/main" id="{BEE8E5A6-5AD6-4405-9704-A8FFF3D635C4}"/>
              </a:ext>
            </a:extLst>
          </p:cNvPr>
          <p:cNvSpPr>
            <a:spLocks noChangeArrowheads="1"/>
          </p:cNvSpPr>
          <p:nvPr/>
        </p:nvSpPr>
        <p:spPr bwMode="auto">
          <a:xfrm>
            <a:off x="4098397" y="3518955"/>
            <a:ext cx="358775"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50" name="Rectangle 48">
            <a:extLst>
              <a:ext uri="{FF2B5EF4-FFF2-40B4-BE49-F238E27FC236}">
                <a16:creationId xmlns:a16="http://schemas.microsoft.com/office/drawing/2014/main" id="{0D34E8DB-3EBF-4D77-BA55-E2463722404C}"/>
              </a:ext>
            </a:extLst>
          </p:cNvPr>
          <p:cNvSpPr>
            <a:spLocks noChangeArrowheads="1"/>
          </p:cNvSpPr>
          <p:nvPr/>
        </p:nvSpPr>
        <p:spPr bwMode="auto">
          <a:xfrm>
            <a:off x="4457172" y="3518955"/>
            <a:ext cx="358775"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51" name="Rectangle 49">
            <a:extLst>
              <a:ext uri="{FF2B5EF4-FFF2-40B4-BE49-F238E27FC236}">
                <a16:creationId xmlns:a16="http://schemas.microsoft.com/office/drawing/2014/main" id="{2CD11070-F738-4606-9128-AA55CBBA7582}"/>
              </a:ext>
            </a:extLst>
          </p:cNvPr>
          <p:cNvSpPr>
            <a:spLocks noChangeArrowheads="1"/>
          </p:cNvSpPr>
          <p:nvPr/>
        </p:nvSpPr>
        <p:spPr bwMode="auto">
          <a:xfrm>
            <a:off x="5179485" y="3518955"/>
            <a:ext cx="358775"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52" name="Rectangle 50">
            <a:extLst>
              <a:ext uri="{FF2B5EF4-FFF2-40B4-BE49-F238E27FC236}">
                <a16:creationId xmlns:a16="http://schemas.microsoft.com/office/drawing/2014/main" id="{F512542A-E976-4AEC-8829-DB994618E2E6}"/>
              </a:ext>
            </a:extLst>
          </p:cNvPr>
          <p:cNvSpPr>
            <a:spLocks noChangeArrowheads="1"/>
          </p:cNvSpPr>
          <p:nvPr/>
        </p:nvSpPr>
        <p:spPr bwMode="auto">
          <a:xfrm>
            <a:off x="4817534" y="3518955"/>
            <a:ext cx="361950"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53" name="Rectangle 51">
            <a:extLst>
              <a:ext uri="{FF2B5EF4-FFF2-40B4-BE49-F238E27FC236}">
                <a16:creationId xmlns:a16="http://schemas.microsoft.com/office/drawing/2014/main" id="{6390A0A5-E62D-4BEE-B2DF-0B78A8D0E5CE}"/>
              </a:ext>
            </a:extLst>
          </p:cNvPr>
          <p:cNvSpPr>
            <a:spLocks noChangeArrowheads="1"/>
          </p:cNvSpPr>
          <p:nvPr/>
        </p:nvSpPr>
        <p:spPr bwMode="auto">
          <a:xfrm>
            <a:off x="5538260" y="3518955"/>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54" name="Rectangle 52">
            <a:extLst>
              <a:ext uri="{FF2B5EF4-FFF2-40B4-BE49-F238E27FC236}">
                <a16:creationId xmlns:a16="http://schemas.microsoft.com/office/drawing/2014/main" id="{14735A67-919C-49C8-833D-C0F7CA787885}"/>
              </a:ext>
            </a:extLst>
          </p:cNvPr>
          <p:cNvSpPr>
            <a:spLocks noChangeArrowheads="1"/>
          </p:cNvSpPr>
          <p:nvPr/>
        </p:nvSpPr>
        <p:spPr bwMode="auto">
          <a:xfrm>
            <a:off x="2323572" y="3879317"/>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55" name="Rectangle 53">
            <a:extLst>
              <a:ext uri="{FF2B5EF4-FFF2-40B4-BE49-F238E27FC236}">
                <a16:creationId xmlns:a16="http://schemas.microsoft.com/office/drawing/2014/main" id="{5323AAB1-493B-4E62-8BCF-813D07FC85E7}"/>
              </a:ext>
            </a:extLst>
          </p:cNvPr>
          <p:cNvSpPr>
            <a:spLocks noChangeArrowheads="1"/>
          </p:cNvSpPr>
          <p:nvPr/>
        </p:nvSpPr>
        <p:spPr bwMode="auto">
          <a:xfrm>
            <a:off x="2682347" y="3879317"/>
            <a:ext cx="358775"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56" name="Rectangle 54">
            <a:extLst>
              <a:ext uri="{FF2B5EF4-FFF2-40B4-BE49-F238E27FC236}">
                <a16:creationId xmlns:a16="http://schemas.microsoft.com/office/drawing/2014/main" id="{4EEEB264-BAA9-4FC9-8C6C-BFFBB2639B60}"/>
              </a:ext>
            </a:extLst>
          </p:cNvPr>
          <p:cNvSpPr>
            <a:spLocks noChangeArrowheads="1"/>
          </p:cNvSpPr>
          <p:nvPr/>
        </p:nvSpPr>
        <p:spPr bwMode="auto">
          <a:xfrm>
            <a:off x="3030009" y="3879317"/>
            <a:ext cx="361950"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57" name="Rectangle 55">
            <a:extLst>
              <a:ext uri="{FF2B5EF4-FFF2-40B4-BE49-F238E27FC236}">
                <a16:creationId xmlns:a16="http://schemas.microsoft.com/office/drawing/2014/main" id="{22ED61E5-8FC3-40AA-8A1A-C2D43C5450B0}"/>
              </a:ext>
            </a:extLst>
          </p:cNvPr>
          <p:cNvSpPr>
            <a:spLocks noChangeArrowheads="1"/>
          </p:cNvSpPr>
          <p:nvPr/>
        </p:nvSpPr>
        <p:spPr bwMode="auto">
          <a:xfrm>
            <a:off x="3391960" y="3879317"/>
            <a:ext cx="358775"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58" name="Rectangle 56">
            <a:extLst>
              <a:ext uri="{FF2B5EF4-FFF2-40B4-BE49-F238E27FC236}">
                <a16:creationId xmlns:a16="http://schemas.microsoft.com/office/drawing/2014/main" id="{DD05BA39-BE69-4745-AD51-192202FC8C6B}"/>
              </a:ext>
            </a:extLst>
          </p:cNvPr>
          <p:cNvSpPr>
            <a:spLocks noChangeArrowheads="1"/>
          </p:cNvSpPr>
          <p:nvPr/>
        </p:nvSpPr>
        <p:spPr bwMode="auto">
          <a:xfrm>
            <a:off x="3750735" y="3879317"/>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59" name="Rectangle 57">
            <a:extLst>
              <a:ext uri="{FF2B5EF4-FFF2-40B4-BE49-F238E27FC236}">
                <a16:creationId xmlns:a16="http://schemas.microsoft.com/office/drawing/2014/main" id="{2F200A99-F733-49EA-88D4-B0C8BB065635}"/>
              </a:ext>
            </a:extLst>
          </p:cNvPr>
          <p:cNvSpPr>
            <a:spLocks noChangeArrowheads="1"/>
          </p:cNvSpPr>
          <p:nvPr/>
        </p:nvSpPr>
        <p:spPr bwMode="auto">
          <a:xfrm>
            <a:off x="4098397" y="3879317"/>
            <a:ext cx="358775"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60" name="Rectangle 58">
            <a:extLst>
              <a:ext uri="{FF2B5EF4-FFF2-40B4-BE49-F238E27FC236}">
                <a16:creationId xmlns:a16="http://schemas.microsoft.com/office/drawing/2014/main" id="{A9576C96-2BE6-40C3-AD0E-4AA1CC39BE37}"/>
              </a:ext>
            </a:extLst>
          </p:cNvPr>
          <p:cNvSpPr>
            <a:spLocks noChangeArrowheads="1"/>
          </p:cNvSpPr>
          <p:nvPr/>
        </p:nvSpPr>
        <p:spPr bwMode="auto">
          <a:xfrm>
            <a:off x="4457172" y="3879317"/>
            <a:ext cx="358775"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61" name="Rectangle 59">
            <a:extLst>
              <a:ext uri="{FF2B5EF4-FFF2-40B4-BE49-F238E27FC236}">
                <a16:creationId xmlns:a16="http://schemas.microsoft.com/office/drawing/2014/main" id="{84DB43A4-B298-4D9C-9AD3-0172838D03A5}"/>
              </a:ext>
            </a:extLst>
          </p:cNvPr>
          <p:cNvSpPr>
            <a:spLocks noChangeArrowheads="1"/>
          </p:cNvSpPr>
          <p:nvPr/>
        </p:nvSpPr>
        <p:spPr bwMode="auto">
          <a:xfrm>
            <a:off x="5179485" y="3879317"/>
            <a:ext cx="358775"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62" name="Rectangle 60">
            <a:extLst>
              <a:ext uri="{FF2B5EF4-FFF2-40B4-BE49-F238E27FC236}">
                <a16:creationId xmlns:a16="http://schemas.microsoft.com/office/drawing/2014/main" id="{70AA3577-9019-4B27-86A2-F818B0C65021}"/>
              </a:ext>
            </a:extLst>
          </p:cNvPr>
          <p:cNvSpPr>
            <a:spLocks noChangeArrowheads="1"/>
          </p:cNvSpPr>
          <p:nvPr/>
        </p:nvSpPr>
        <p:spPr bwMode="auto">
          <a:xfrm>
            <a:off x="4817534" y="3879317"/>
            <a:ext cx="361950"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63" name="Rectangle 61">
            <a:extLst>
              <a:ext uri="{FF2B5EF4-FFF2-40B4-BE49-F238E27FC236}">
                <a16:creationId xmlns:a16="http://schemas.microsoft.com/office/drawing/2014/main" id="{F310687F-16E4-4BEB-B056-ADAC91C2CAC5}"/>
              </a:ext>
            </a:extLst>
          </p:cNvPr>
          <p:cNvSpPr>
            <a:spLocks noChangeArrowheads="1"/>
          </p:cNvSpPr>
          <p:nvPr/>
        </p:nvSpPr>
        <p:spPr bwMode="auto">
          <a:xfrm>
            <a:off x="5538260" y="3879317"/>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64" name="Rectangle 62">
            <a:extLst>
              <a:ext uri="{FF2B5EF4-FFF2-40B4-BE49-F238E27FC236}">
                <a16:creationId xmlns:a16="http://schemas.microsoft.com/office/drawing/2014/main" id="{DFAC078D-D04B-421D-9A18-FDF3B4552ABD}"/>
              </a:ext>
            </a:extLst>
          </p:cNvPr>
          <p:cNvSpPr>
            <a:spLocks noChangeArrowheads="1"/>
          </p:cNvSpPr>
          <p:nvPr/>
        </p:nvSpPr>
        <p:spPr bwMode="auto">
          <a:xfrm>
            <a:off x="2323572" y="4239680"/>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65" name="Rectangle 63">
            <a:extLst>
              <a:ext uri="{FF2B5EF4-FFF2-40B4-BE49-F238E27FC236}">
                <a16:creationId xmlns:a16="http://schemas.microsoft.com/office/drawing/2014/main" id="{A3027F47-A4D3-4F4F-936B-EF1A79B4B94B}"/>
              </a:ext>
            </a:extLst>
          </p:cNvPr>
          <p:cNvSpPr>
            <a:spLocks noChangeArrowheads="1"/>
          </p:cNvSpPr>
          <p:nvPr/>
        </p:nvSpPr>
        <p:spPr bwMode="auto">
          <a:xfrm>
            <a:off x="2682347" y="4239680"/>
            <a:ext cx="358775"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66" name="Rectangle 64">
            <a:extLst>
              <a:ext uri="{FF2B5EF4-FFF2-40B4-BE49-F238E27FC236}">
                <a16:creationId xmlns:a16="http://schemas.microsoft.com/office/drawing/2014/main" id="{65ED5F59-FBB1-4A0E-838B-7B559A242F3C}"/>
              </a:ext>
            </a:extLst>
          </p:cNvPr>
          <p:cNvSpPr>
            <a:spLocks noChangeArrowheads="1"/>
          </p:cNvSpPr>
          <p:nvPr/>
        </p:nvSpPr>
        <p:spPr bwMode="auto">
          <a:xfrm>
            <a:off x="3030009" y="4239680"/>
            <a:ext cx="361950"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67" name="Rectangle 65">
            <a:extLst>
              <a:ext uri="{FF2B5EF4-FFF2-40B4-BE49-F238E27FC236}">
                <a16:creationId xmlns:a16="http://schemas.microsoft.com/office/drawing/2014/main" id="{E8EAA1A3-DD6A-416E-AEA6-2DD1816463DD}"/>
              </a:ext>
            </a:extLst>
          </p:cNvPr>
          <p:cNvSpPr>
            <a:spLocks noChangeArrowheads="1"/>
          </p:cNvSpPr>
          <p:nvPr/>
        </p:nvSpPr>
        <p:spPr bwMode="auto">
          <a:xfrm>
            <a:off x="3391960" y="4239680"/>
            <a:ext cx="358775"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68" name="Rectangle 66">
            <a:extLst>
              <a:ext uri="{FF2B5EF4-FFF2-40B4-BE49-F238E27FC236}">
                <a16:creationId xmlns:a16="http://schemas.microsoft.com/office/drawing/2014/main" id="{6C1BD47C-1585-4840-860E-63A04D055142}"/>
              </a:ext>
            </a:extLst>
          </p:cNvPr>
          <p:cNvSpPr>
            <a:spLocks noChangeArrowheads="1"/>
          </p:cNvSpPr>
          <p:nvPr/>
        </p:nvSpPr>
        <p:spPr bwMode="auto">
          <a:xfrm>
            <a:off x="3750735" y="4239680"/>
            <a:ext cx="358775"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69" name="Rectangle 67">
            <a:extLst>
              <a:ext uri="{FF2B5EF4-FFF2-40B4-BE49-F238E27FC236}">
                <a16:creationId xmlns:a16="http://schemas.microsoft.com/office/drawing/2014/main" id="{D60A2C89-4909-4481-83CA-DACE0756EA56}"/>
              </a:ext>
            </a:extLst>
          </p:cNvPr>
          <p:cNvSpPr>
            <a:spLocks noChangeArrowheads="1"/>
          </p:cNvSpPr>
          <p:nvPr/>
        </p:nvSpPr>
        <p:spPr bwMode="auto">
          <a:xfrm>
            <a:off x="4098397" y="4239680"/>
            <a:ext cx="358775"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70" name="Rectangle 68">
            <a:extLst>
              <a:ext uri="{FF2B5EF4-FFF2-40B4-BE49-F238E27FC236}">
                <a16:creationId xmlns:a16="http://schemas.microsoft.com/office/drawing/2014/main" id="{B533AC3E-49F7-4C44-A7D3-EC6CBD1620B5}"/>
              </a:ext>
            </a:extLst>
          </p:cNvPr>
          <p:cNvSpPr>
            <a:spLocks noChangeArrowheads="1"/>
          </p:cNvSpPr>
          <p:nvPr/>
        </p:nvSpPr>
        <p:spPr bwMode="auto">
          <a:xfrm>
            <a:off x="4457172" y="4239680"/>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71" name="Rectangle 69">
            <a:extLst>
              <a:ext uri="{FF2B5EF4-FFF2-40B4-BE49-F238E27FC236}">
                <a16:creationId xmlns:a16="http://schemas.microsoft.com/office/drawing/2014/main" id="{B5E6DD9A-2E82-43C6-8A37-4AA352AD2F83}"/>
              </a:ext>
            </a:extLst>
          </p:cNvPr>
          <p:cNvSpPr>
            <a:spLocks noChangeArrowheads="1"/>
          </p:cNvSpPr>
          <p:nvPr/>
        </p:nvSpPr>
        <p:spPr bwMode="auto">
          <a:xfrm>
            <a:off x="5179485" y="4239680"/>
            <a:ext cx="358775"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72" name="Rectangle 70">
            <a:extLst>
              <a:ext uri="{FF2B5EF4-FFF2-40B4-BE49-F238E27FC236}">
                <a16:creationId xmlns:a16="http://schemas.microsoft.com/office/drawing/2014/main" id="{B6E4F7AA-A16E-4D5C-98E6-2FA0901A068E}"/>
              </a:ext>
            </a:extLst>
          </p:cNvPr>
          <p:cNvSpPr>
            <a:spLocks noChangeArrowheads="1"/>
          </p:cNvSpPr>
          <p:nvPr/>
        </p:nvSpPr>
        <p:spPr bwMode="auto">
          <a:xfrm>
            <a:off x="4817534" y="4239680"/>
            <a:ext cx="361950"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73" name="Rectangle 71">
            <a:extLst>
              <a:ext uri="{FF2B5EF4-FFF2-40B4-BE49-F238E27FC236}">
                <a16:creationId xmlns:a16="http://schemas.microsoft.com/office/drawing/2014/main" id="{3AFFEB08-2BF8-4A7A-BBF4-73525E4E2D3E}"/>
              </a:ext>
            </a:extLst>
          </p:cNvPr>
          <p:cNvSpPr>
            <a:spLocks noChangeArrowheads="1"/>
          </p:cNvSpPr>
          <p:nvPr/>
        </p:nvSpPr>
        <p:spPr bwMode="auto">
          <a:xfrm>
            <a:off x="5538260" y="4239680"/>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74" name="Rectangle 72">
            <a:extLst>
              <a:ext uri="{FF2B5EF4-FFF2-40B4-BE49-F238E27FC236}">
                <a16:creationId xmlns:a16="http://schemas.microsoft.com/office/drawing/2014/main" id="{D124EE77-3019-49D5-A89A-360A7D2A98BA}"/>
              </a:ext>
            </a:extLst>
          </p:cNvPr>
          <p:cNvSpPr>
            <a:spLocks noChangeArrowheads="1"/>
          </p:cNvSpPr>
          <p:nvPr/>
        </p:nvSpPr>
        <p:spPr bwMode="auto">
          <a:xfrm>
            <a:off x="2323572" y="4598455"/>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75" name="Rectangle 73">
            <a:extLst>
              <a:ext uri="{FF2B5EF4-FFF2-40B4-BE49-F238E27FC236}">
                <a16:creationId xmlns:a16="http://schemas.microsoft.com/office/drawing/2014/main" id="{5D04CEEE-1782-4DC6-ADE6-C255F5D5C61E}"/>
              </a:ext>
            </a:extLst>
          </p:cNvPr>
          <p:cNvSpPr>
            <a:spLocks noChangeArrowheads="1"/>
          </p:cNvSpPr>
          <p:nvPr/>
        </p:nvSpPr>
        <p:spPr bwMode="auto">
          <a:xfrm>
            <a:off x="2682347" y="4598455"/>
            <a:ext cx="358775"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76" name="Rectangle 74">
            <a:extLst>
              <a:ext uri="{FF2B5EF4-FFF2-40B4-BE49-F238E27FC236}">
                <a16:creationId xmlns:a16="http://schemas.microsoft.com/office/drawing/2014/main" id="{52FA8613-77CE-429A-A136-ADEE731BDE55}"/>
              </a:ext>
            </a:extLst>
          </p:cNvPr>
          <p:cNvSpPr>
            <a:spLocks noChangeArrowheads="1"/>
          </p:cNvSpPr>
          <p:nvPr/>
        </p:nvSpPr>
        <p:spPr bwMode="auto">
          <a:xfrm>
            <a:off x="3030009" y="4598455"/>
            <a:ext cx="361950"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77" name="Rectangle 75">
            <a:extLst>
              <a:ext uri="{FF2B5EF4-FFF2-40B4-BE49-F238E27FC236}">
                <a16:creationId xmlns:a16="http://schemas.microsoft.com/office/drawing/2014/main" id="{EB89266D-A552-42BE-8FC2-C0EF84075DDD}"/>
              </a:ext>
            </a:extLst>
          </p:cNvPr>
          <p:cNvSpPr>
            <a:spLocks noChangeArrowheads="1"/>
          </p:cNvSpPr>
          <p:nvPr/>
        </p:nvSpPr>
        <p:spPr bwMode="auto">
          <a:xfrm>
            <a:off x="3391960" y="4598455"/>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78" name="Rectangle 76">
            <a:extLst>
              <a:ext uri="{FF2B5EF4-FFF2-40B4-BE49-F238E27FC236}">
                <a16:creationId xmlns:a16="http://schemas.microsoft.com/office/drawing/2014/main" id="{C00B0CB8-4E2C-44BA-9634-AFC5255852D7}"/>
              </a:ext>
            </a:extLst>
          </p:cNvPr>
          <p:cNvSpPr>
            <a:spLocks noChangeArrowheads="1"/>
          </p:cNvSpPr>
          <p:nvPr/>
        </p:nvSpPr>
        <p:spPr bwMode="auto">
          <a:xfrm>
            <a:off x="3750735" y="4598455"/>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79" name="Rectangle 77">
            <a:extLst>
              <a:ext uri="{FF2B5EF4-FFF2-40B4-BE49-F238E27FC236}">
                <a16:creationId xmlns:a16="http://schemas.microsoft.com/office/drawing/2014/main" id="{29ECCB64-54A4-48D7-880F-1C2910BBD210}"/>
              </a:ext>
            </a:extLst>
          </p:cNvPr>
          <p:cNvSpPr>
            <a:spLocks noChangeArrowheads="1"/>
          </p:cNvSpPr>
          <p:nvPr/>
        </p:nvSpPr>
        <p:spPr bwMode="auto">
          <a:xfrm>
            <a:off x="4098397" y="4598455"/>
            <a:ext cx="358775" cy="358775"/>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80" name="Rectangle 78">
            <a:extLst>
              <a:ext uri="{FF2B5EF4-FFF2-40B4-BE49-F238E27FC236}">
                <a16:creationId xmlns:a16="http://schemas.microsoft.com/office/drawing/2014/main" id="{4F163219-24F3-447E-B9DC-C222744AD9DD}"/>
              </a:ext>
            </a:extLst>
          </p:cNvPr>
          <p:cNvSpPr>
            <a:spLocks noChangeArrowheads="1"/>
          </p:cNvSpPr>
          <p:nvPr/>
        </p:nvSpPr>
        <p:spPr bwMode="auto">
          <a:xfrm>
            <a:off x="4457172" y="4598455"/>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81" name="Rectangle 79">
            <a:extLst>
              <a:ext uri="{FF2B5EF4-FFF2-40B4-BE49-F238E27FC236}">
                <a16:creationId xmlns:a16="http://schemas.microsoft.com/office/drawing/2014/main" id="{04291B70-FBCB-4F7F-8CB3-12C467959B54}"/>
              </a:ext>
            </a:extLst>
          </p:cNvPr>
          <p:cNvSpPr>
            <a:spLocks noChangeArrowheads="1"/>
          </p:cNvSpPr>
          <p:nvPr/>
        </p:nvSpPr>
        <p:spPr bwMode="auto">
          <a:xfrm>
            <a:off x="5179485" y="4598455"/>
            <a:ext cx="358775"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82" name="Rectangle 80">
            <a:extLst>
              <a:ext uri="{FF2B5EF4-FFF2-40B4-BE49-F238E27FC236}">
                <a16:creationId xmlns:a16="http://schemas.microsoft.com/office/drawing/2014/main" id="{B78DDE3A-0E8F-4618-B38D-B22809299E80}"/>
              </a:ext>
            </a:extLst>
          </p:cNvPr>
          <p:cNvSpPr>
            <a:spLocks noChangeArrowheads="1"/>
          </p:cNvSpPr>
          <p:nvPr/>
        </p:nvSpPr>
        <p:spPr bwMode="auto">
          <a:xfrm>
            <a:off x="4817534" y="4598455"/>
            <a:ext cx="361950"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83" name="Rectangle 81">
            <a:extLst>
              <a:ext uri="{FF2B5EF4-FFF2-40B4-BE49-F238E27FC236}">
                <a16:creationId xmlns:a16="http://schemas.microsoft.com/office/drawing/2014/main" id="{EF9E973B-9C58-4F2C-9D50-B0E173E66E71}"/>
              </a:ext>
            </a:extLst>
          </p:cNvPr>
          <p:cNvSpPr>
            <a:spLocks noChangeArrowheads="1"/>
          </p:cNvSpPr>
          <p:nvPr/>
        </p:nvSpPr>
        <p:spPr bwMode="auto">
          <a:xfrm>
            <a:off x="5538260" y="4598455"/>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84" name="Rectangle 82">
            <a:extLst>
              <a:ext uri="{FF2B5EF4-FFF2-40B4-BE49-F238E27FC236}">
                <a16:creationId xmlns:a16="http://schemas.microsoft.com/office/drawing/2014/main" id="{0DA3AB02-A7D3-4E19-9981-3671B7AC0396}"/>
              </a:ext>
            </a:extLst>
          </p:cNvPr>
          <p:cNvSpPr>
            <a:spLocks noChangeArrowheads="1"/>
          </p:cNvSpPr>
          <p:nvPr/>
        </p:nvSpPr>
        <p:spPr bwMode="auto">
          <a:xfrm>
            <a:off x="2323572" y="4958817"/>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85" name="Rectangle 83">
            <a:extLst>
              <a:ext uri="{FF2B5EF4-FFF2-40B4-BE49-F238E27FC236}">
                <a16:creationId xmlns:a16="http://schemas.microsoft.com/office/drawing/2014/main" id="{C22A1C05-5110-406F-A8CB-D5ADA7E19548}"/>
              </a:ext>
            </a:extLst>
          </p:cNvPr>
          <p:cNvSpPr>
            <a:spLocks noChangeArrowheads="1"/>
          </p:cNvSpPr>
          <p:nvPr/>
        </p:nvSpPr>
        <p:spPr bwMode="auto">
          <a:xfrm>
            <a:off x="2682347" y="4958817"/>
            <a:ext cx="358775" cy="358775"/>
          </a:xfrm>
          <a:prstGeom prst="rect">
            <a:avLst/>
          </a:prstGeom>
          <a:solidFill>
            <a:srgbClr val="F8BFBE"/>
          </a:solidFill>
          <a:ln w="9525">
            <a:solidFill>
              <a:schemeClr val="accent2"/>
            </a:solidFill>
            <a:miter lim="800000"/>
            <a:headEnd/>
            <a:tailEnd/>
          </a:ln>
        </p:spPr>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86" name="Rectangle 84">
            <a:extLst>
              <a:ext uri="{FF2B5EF4-FFF2-40B4-BE49-F238E27FC236}">
                <a16:creationId xmlns:a16="http://schemas.microsoft.com/office/drawing/2014/main" id="{C68357B9-1E04-4DE1-A9A4-D3E20A267340}"/>
              </a:ext>
            </a:extLst>
          </p:cNvPr>
          <p:cNvSpPr>
            <a:spLocks noChangeArrowheads="1"/>
          </p:cNvSpPr>
          <p:nvPr/>
        </p:nvSpPr>
        <p:spPr bwMode="auto">
          <a:xfrm>
            <a:off x="3030009" y="4958817"/>
            <a:ext cx="361950"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87" name="Rectangle 85">
            <a:extLst>
              <a:ext uri="{FF2B5EF4-FFF2-40B4-BE49-F238E27FC236}">
                <a16:creationId xmlns:a16="http://schemas.microsoft.com/office/drawing/2014/main" id="{0E001F3E-5EFA-439B-8409-A610AED647A7}"/>
              </a:ext>
            </a:extLst>
          </p:cNvPr>
          <p:cNvSpPr>
            <a:spLocks noChangeArrowheads="1"/>
          </p:cNvSpPr>
          <p:nvPr/>
        </p:nvSpPr>
        <p:spPr bwMode="auto">
          <a:xfrm>
            <a:off x="3391960" y="4958817"/>
            <a:ext cx="358775"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88" name="Rectangle 86">
            <a:extLst>
              <a:ext uri="{FF2B5EF4-FFF2-40B4-BE49-F238E27FC236}">
                <a16:creationId xmlns:a16="http://schemas.microsoft.com/office/drawing/2014/main" id="{5B1117AE-248D-4CA7-9D49-180AFD49033F}"/>
              </a:ext>
            </a:extLst>
          </p:cNvPr>
          <p:cNvSpPr>
            <a:spLocks noChangeArrowheads="1"/>
          </p:cNvSpPr>
          <p:nvPr/>
        </p:nvSpPr>
        <p:spPr bwMode="auto">
          <a:xfrm>
            <a:off x="3750735" y="4958817"/>
            <a:ext cx="358775"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89" name="Rectangle 87">
            <a:extLst>
              <a:ext uri="{FF2B5EF4-FFF2-40B4-BE49-F238E27FC236}">
                <a16:creationId xmlns:a16="http://schemas.microsoft.com/office/drawing/2014/main" id="{79D3C0A2-A4A0-480D-87A8-6E9B434DF651}"/>
              </a:ext>
            </a:extLst>
          </p:cNvPr>
          <p:cNvSpPr>
            <a:spLocks noChangeArrowheads="1"/>
          </p:cNvSpPr>
          <p:nvPr/>
        </p:nvSpPr>
        <p:spPr bwMode="auto">
          <a:xfrm>
            <a:off x="4098397" y="4958817"/>
            <a:ext cx="358775"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90" name="Rectangle 88">
            <a:extLst>
              <a:ext uri="{FF2B5EF4-FFF2-40B4-BE49-F238E27FC236}">
                <a16:creationId xmlns:a16="http://schemas.microsoft.com/office/drawing/2014/main" id="{651B11EB-87A3-4F4B-89DB-69CF38620E50}"/>
              </a:ext>
            </a:extLst>
          </p:cNvPr>
          <p:cNvSpPr>
            <a:spLocks noChangeArrowheads="1"/>
          </p:cNvSpPr>
          <p:nvPr/>
        </p:nvSpPr>
        <p:spPr bwMode="auto">
          <a:xfrm>
            <a:off x="4457172" y="4958817"/>
            <a:ext cx="358775"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91" name="Rectangle 89">
            <a:extLst>
              <a:ext uri="{FF2B5EF4-FFF2-40B4-BE49-F238E27FC236}">
                <a16:creationId xmlns:a16="http://schemas.microsoft.com/office/drawing/2014/main" id="{75BCAFEC-FE48-48FA-A222-482ACA22C4CC}"/>
              </a:ext>
            </a:extLst>
          </p:cNvPr>
          <p:cNvSpPr>
            <a:spLocks noChangeArrowheads="1"/>
          </p:cNvSpPr>
          <p:nvPr/>
        </p:nvSpPr>
        <p:spPr bwMode="auto">
          <a:xfrm>
            <a:off x="5179485" y="4958817"/>
            <a:ext cx="358775"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92" name="Rectangle 90">
            <a:extLst>
              <a:ext uri="{FF2B5EF4-FFF2-40B4-BE49-F238E27FC236}">
                <a16:creationId xmlns:a16="http://schemas.microsoft.com/office/drawing/2014/main" id="{CFE076A0-B45D-42FB-8DBA-6223E4B84673}"/>
              </a:ext>
            </a:extLst>
          </p:cNvPr>
          <p:cNvSpPr>
            <a:spLocks noChangeArrowheads="1"/>
          </p:cNvSpPr>
          <p:nvPr/>
        </p:nvSpPr>
        <p:spPr bwMode="auto">
          <a:xfrm>
            <a:off x="4817534" y="4958817"/>
            <a:ext cx="361950"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93" name="Rectangle 91">
            <a:extLst>
              <a:ext uri="{FF2B5EF4-FFF2-40B4-BE49-F238E27FC236}">
                <a16:creationId xmlns:a16="http://schemas.microsoft.com/office/drawing/2014/main" id="{3D11BD74-5083-44D4-84F0-2F66822AB136}"/>
              </a:ext>
            </a:extLst>
          </p:cNvPr>
          <p:cNvSpPr>
            <a:spLocks noChangeArrowheads="1"/>
          </p:cNvSpPr>
          <p:nvPr/>
        </p:nvSpPr>
        <p:spPr bwMode="auto">
          <a:xfrm>
            <a:off x="5538260" y="4958817"/>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94" name="Rectangle 92">
            <a:extLst>
              <a:ext uri="{FF2B5EF4-FFF2-40B4-BE49-F238E27FC236}">
                <a16:creationId xmlns:a16="http://schemas.microsoft.com/office/drawing/2014/main" id="{19821D45-68CE-480D-885F-F71EE06FA0AE}"/>
              </a:ext>
            </a:extLst>
          </p:cNvPr>
          <p:cNvSpPr>
            <a:spLocks noChangeArrowheads="1"/>
          </p:cNvSpPr>
          <p:nvPr/>
        </p:nvSpPr>
        <p:spPr bwMode="auto">
          <a:xfrm>
            <a:off x="2323572" y="5319180"/>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95" name="Rectangle 93">
            <a:extLst>
              <a:ext uri="{FF2B5EF4-FFF2-40B4-BE49-F238E27FC236}">
                <a16:creationId xmlns:a16="http://schemas.microsoft.com/office/drawing/2014/main" id="{975E7600-75FE-4968-A1AC-7DA9B71BF672}"/>
              </a:ext>
            </a:extLst>
          </p:cNvPr>
          <p:cNvSpPr>
            <a:spLocks noChangeArrowheads="1"/>
          </p:cNvSpPr>
          <p:nvPr/>
        </p:nvSpPr>
        <p:spPr bwMode="auto">
          <a:xfrm>
            <a:off x="2682347" y="5319180"/>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96" name="Rectangle 94">
            <a:extLst>
              <a:ext uri="{FF2B5EF4-FFF2-40B4-BE49-F238E27FC236}">
                <a16:creationId xmlns:a16="http://schemas.microsoft.com/office/drawing/2014/main" id="{EBBDA8F1-37DD-4749-974C-46FC34FEAF81}"/>
              </a:ext>
            </a:extLst>
          </p:cNvPr>
          <p:cNvSpPr>
            <a:spLocks noChangeArrowheads="1"/>
          </p:cNvSpPr>
          <p:nvPr/>
        </p:nvSpPr>
        <p:spPr bwMode="auto">
          <a:xfrm>
            <a:off x="3030009" y="5319180"/>
            <a:ext cx="361950"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97" name="Rectangle 95">
            <a:extLst>
              <a:ext uri="{FF2B5EF4-FFF2-40B4-BE49-F238E27FC236}">
                <a16:creationId xmlns:a16="http://schemas.microsoft.com/office/drawing/2014/main" id="{84EDA354-B052-4BB8-A18D-300D2897AA04}"/>
              </a:ext>
            </a:extLst>
          </p:cNvPr>
          <p:cNvSpPr>
            <a:spLocks noChangeArrowheads="1"/>
          </p:cNvSpPr>
          <p:nvPr/>
        </p:nvSpPr>
        <p:spPr bwMode="auto">
          <a:xfrm>
            <a:off x="3391960" y="5319180"/>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98" name="Rectangle 96">
            <a:extLst>
              <a:ext uri="{FF2B5EF4-FFF2-40B4-BE49-F238E27FC236}">
                <a16:creationId xmlns:a16="http://schemas.microsoft.com/office/drawing/2014/main" id="{09111B58-6195-426C-AC35-33FC74BD85DA}"/>
              </a:ext>
            </a:extLst>
          </p:cNvPr>
          <p:cNvSpPr>
            <a:spLocks noChangeArrowheads="1"/>
          </p:cNvSpPr>
          <p:nvPr/>
        </p:nvSpPr>
        <p:spPr bwMode="auto">
          <a:xfrm>
            <a:off x="3750735" y="5319180"/>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99" name="Rectangle 97">
            <a:extLst>
              <a:ext uri="{FF2B5EF4-FFF2-40B4-BE49-F238E27FC236}">
                <a16:creationId xmlns:a16="http://schemas.microsoft.com/office/drawing/2014/main" id="{7ABA9227-0AF9-4118-9986-0A6837B418DC}"/>
              </a:ext>
            </a:extLst>
          </p:cNvPr>
          <p:cNvSpPr>
            <a:spLocks noChangeArrowheads="1"/>
          </p:cNvSpPr>
          <p:nvPr/>
        </p:nvSpPr>
        <p:spPr bwMode="auto">
          <a:xfrm>
            <a:off x="4098397" y="5319180"/>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100" name="Rectangle 98">
            <a:extLst>
              <a:ext uri="{FF2B5EF4-FFF2-40B4-BE49-F238E27FC236}">
                <a16:creationId xmlns:a16="http://schemas.microsoft.com/office/drawing/2014/main" id="{88A9D9B9-1155-4BC0-A275-3223F0845349}"/>
              </a:ext>
            </a:extLst>
          </p:cNvPr>
          <p:cNvSpPr>
            <a:spLocks noChangeArrowheads="1"/>
          </p:cNvSpPr>
          <p:nvPr/>
        </p:nvSpPr>
        <p:spPr bwMode="auto">
          <a:xfrm>
            <a:off x="4457172" y="5319180"/>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101" name="Rectangle 99">
            <a:extLst>
              <a:ext uri="{FF2B5EF4-FFF2-40B4-BE49-F238E27FC236}">
                <a16:creationId xmlns:a16="http://schemas.microsoft.com/office/drawing/2014/main" id="{5B16D841-EDB9-4816-803A-96901C913423}"/>
              </a:ext>
            </a:extLst>
          </p:cNvPr>
          <p:cNvSpPr>
            <a:spLocks noChangeArrowheads="1"/>
          </p:cNvSpPr>
          <p:nvPr/>
        </p:nvSpPr>
        <p:spPr bwMode="auto">
          <a:xfrm>
            <a:off x="5179485" y="5319180"/>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102" name="Rectangle 100">
            <a:extLst>
              <a:ext uri="{FF2B5EF4-FFF2-40B4-BE49-F238E27FC236}">
                <a16:creationId xmlns:a16="http://schemas.microsoft.com/office/drawing/2014/main" id="{701461C8-D04D-4F2C-B8EF-B0BA17AB2272}"/>
              </a:ext>
            </a:extLst>
          </p:cNvPr>
          <p:cNvSpPr>
            <a:spLocks noChangeArrowheads="1"/>
          </p:cNvSpPr>
          <p:nvPr/>
        </p:nvSpPr>
        <p:spPr bwMode="auto">
          <a:xfrm>
            <a:off x="4817534" y="5319180"/>
            <a:ext cx="361950"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103" name="Rectangle 101">
            <a:extLst>
              <a:ext uri="{FF2B5EF4-FFF2-40B4-BE49-F238E27FC236}">
                <a16:creationId xmlns:a16="http://schemas.microsoft.com/office/drawing/2014/main" id="{DBCB954E-87C7-4733-A7A2-43F0DA300274}"/>
              </a:ext>
            </a:extLst>
          </p:cNvPr>
          <p:cNvSpPr>
            <a:spLocks noChangeArrowheads="1"/>
          </p:cNvSpPr>
          <p:nvPr/>
        </p:nvSpPr>
        <p:spPr bwMode="auto">
          <a:xfrm>
            <a:off x="5538260" y="5319180"/>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Consolas" pitchFamily="49" charset="0"/>
              <a:ea typeface="宋体" pitchFamily="2" charset="-122"/>
              <a:cs typeface="Consolas" pitchFamily="49" charset="0"/>
            </a:endParaRPr>
          </a:p>
        </p:txBody>
      </p:sp>
      <p:sp>
        <p:nvSpPr>
          <p:cNvPr id="104" name="Line 102">
            <a:extLst>
              <a:ext uri="{FF2B5EF4-FFF2-40B4-BE49-F238E27FC236}">
                <a16:creationId xmlns:a16="http://schemas.microsoft.com/office/drawing/2014/main" id="{E192FAC5-03CD-4454-897F-FA5ABE3FBC17}"/>
              </a:ext>
            </a:extLst>
          </p:cNvPr>
          <p:cNvSpPr>
            <a:spLocks noChangeShapeType="1"/>
          </p:cNvSpPr>
          <p:nvPr/>
        </p:nvSpPr>
        <p:spPr bwMode="auto">
          <a:xfrm>
            <a:off x="1590118" y="2582893"/>
            <a:ext cx="1223963" cy="0"/>
          </a:xfrm>
          <a:prstGeom prst="line">
            <a:avLst/>
          </a:prstGeom>
          <a:noFill/>
          <a:ln w="38100">
            <a:solidFill>
              <a:srgbClr val="FF00FF"/>
            </a:solidFill>
            <a:miter lim="800000"/>
            <a:headEnd/>
            <a:tailEnd type="triangle" w="med" len="med"/>
          </a:ln>
        </p:spPr>
        <p:txBody>
          <a:bodyPr wrap="none"/>
          <a:lstStyle/>
          <a:p>
            <a:endParaRPr lang="zh-CN" altLang="en-US" sz="2800">
              <a:latin typeface="Consolas" pitchFamily="49" charset="0"/>
              <a:cs typeface="Consolas" pitchFamily="49" charset="0"/>
            </a:endParaRPr>
          </a:p>
        </p:txBody>
      </p:sp>
      <p:sp>
        <p:nvSpPr>
          <p:cNvPr id="105" name="Text Box 104">
            <a:extLst>
              <a:ext uri="{FF2B5EF4-FFF2-40B4-BE49-F238E27FC236}">
                <a16:creationId xmlns:a16="http://schemas.microsoft.com/office/drawing/2014/main" id="{D46F0E77-B634-4E27-8254-370A0F0E8000}"/>
              </a:ext>
            </a:extLst>
          </p:cNvPr>
          <p:cNvSpPr txBox="1">
            <a:spLocks noChangeArrowheads="1"/>
          </p:cNvSpPr>
          <p:nvPr/>
        </p:nvSpPr>
        <p:spPr bwMode="auto">
          <a:xfrm>
            <a:off x="1867926" y="2087058"/>
            <a:ext cx="433388" cy="3683060"/>
          </a:xfrm>
          <a:prstGeom prst="rect">
            <a:avLst/>
          </a:prstGeom>
          <a:noFill/>
          <a:ln w="9525">
            <a:noFill/>
            <a:miter lim="800000"/>
            <a:headEnd/>
            <a:tailEnd/>
          </a:ln>
        </p:spPr>
        <p:txBody>
          <a:bodyPr>
            <a:spAutoFit/>
          </a:bodyPr>
          <a:lstStyle/>
          <a:p>
            <a:pPr algn="l">
              <a:lnSpc>
                <a:spcPts val="2800"/>
              </a:lnSpc>
            </a:pPr>
            <a:r>
              <a:rPr lang="en-US" altLang="zh-CN" sz="1800" dirty="0">
                <a:solidFill>
                  <a:srgbClr val="00B0F0"/>
                </a:solidFill>
                <a:latin typeface="Consolas" pitchFamily="49" charset="0"/>
                <a:ea typeface="宋体" pitchFamily="2" charset="-122"/>
                <a:cs typeface="Consolas" pitchFamily="49" charset="0"/>
              </a:rPr>
              <a:t>0   1    2    3    4   5    6    7   8    9</a:t>
            </a:r>
          </a:p>
        </p:txBody>
      </p:sp>
      <p:sp>
        <p:nvSpPr>
          <p:cNvPr id="106" name="Text Box 116">
            <a:extLst>
              <a:ext uri="{FF2B5EF4-FFF2-40B4-BE49-F238E27FC236}">
                <a16:creationId xmlns:a16="http://schemas.microsoft.com/office/drawing/2014/main" id="{8E061288-03E0-4439-91F2-5A798515273C}"/>
              </a:ext>
            </a:extLst>
          </p:cNvPr>
          <p:cNvSpPr txBox="1">
            <a:spLocks noChangeArrowheads="1"/>
          </p:cNvSpPr>
          <p:nvPr/>
        </p:nvSpPr>
        <p:spPr bwMode="auto">
          <a:xfrm>
            <a:off x="1155134" y="2238409"/>
            <a:ext cx="431800" cy="830997"/>
          </a:xfrm>
          <a:prstGeom prst="rect">
            <a:avLst/>
          </a:prstGeom>
          <a:noFill/>
          <a:ln w="9525">
            <a:noFill/>
            <a:miter lim="800000"/>
            <a:headEnd/>
            <a:tailEnd/>
          </a:ln>
          <a:effectLst/>
        </p:spPr>
        <p:txBody>
          <a:bodyPr>
            <a:spAutoFit/>
          </a:bodyPr>
          <a:lstStyle/>
          <a:p>
            <a:pPr algn="l">
              <a:spcBef>
                <a:spcPct val="50000"/>
              </a:spcBef>
            </a:pPr>
            <a:r>
              <a:rPr lang="zh-CN" altLang="en-US" dirty="0">
                <a:latin typeface="Consolas" pitchFamily="49" charset="0"/>
                <a:ea typeface="楷体" pitchFamily="49" charset="-122"/>
                <a:cs typeface="Consolas" pitchFamily="49" charset="0"/>
              </a:rPr>
              <a:t>入口</a:t>
            </a:r>
          </a:p>
        </p:txBody>
      </p:sp>
      <p:sp>
        <p:nvSpPr>
          <p:cNvPr id="107" name="Line 117">
            <a:extLst>
              <a:ext uri="{FF2B5EF4-FFF2-40B4-BE49-F238E27FC236}">
                <a16:creationId xmlns:a16="http://schemas.microsoft.com/office/drawing/2014/main" id="{0472B1FE-1303-4E63-AB7D-DF45CE7063A7}"/>
              </a:ext>
            </a:extLst>
          </p:cNvPr>
          <p:cNvSpPr>
            <a:spLocks noChangeShapeType="1"/>
          </p:cNvSpPr>
          <p:nvPr/>
        </p:nvSpPr>
        <p:spPr bwMode="auto">
          <a:xfrm flipH="1" flipV="1">
            <a:off x="5366830" y="5214740"/>
            <a:ext cx="8193" cy="708026"/>
          </a:xfrm>
          <a:prstGeom prst="line">
            <a:avLst/>
          </a:prstGeom>
          <a:noFill/>
          <a:ln w="38100">
            <a:solidFill>
              <a:srgbClr val="FF00FF"/>
            </a:solidFill>
            <a:miter lim="800000"/>
            <a:headEnd/>
            <a:tailEnd type="triangle" w="med" len="med"/>
          </a:ln>
          <a:effectLst/>
        </p:spPr>
        <p:txBody>
          <a:bodyPr wrap="none"/>
          <a:lstStyle/>
          <a:p>
            <a:endParaRPr lang="zh-CN" altLang="en-US" sz="2800">
              <a:latin typeface="Consolas" pitchFamily="49" charset="0"/>
              <a:cs typeface="Consolas" pitchFamily="49" charset="0"/>
            </a:endParaRPr>
          </a:p>
        </p:txBody>
      </p:sp>
      <p:sp>
        <p:nvSpPr>
          <p:cNvPr id="108" name="Text Box 118">
            <a:extLst>
              <a:ext uri="{FF2B5EF4-FFF2-40B4-BE49-F238E27FC236}">
                <a16:creationId xmlns:a16="http://schemas.microsoft.com/office/drawing/2014/main" id="{EE7760F5-25F6-42D7-8C33-50F7917D5680}"/>
              </a:ext>
            </a:extLst>
          </p:cNvPr>
          <p:cNvSpPr txBox="1">
            <a:spLocks noChangeArrowheads="1"/>
          </p:cNvSpPr>
          <p:nvPr/>
        </p:nvSpPr>
        <p:spPr bwMode="auto">
          <a:xfrm>
            <a:off x="5069428" y="5906447"/>
            <a:ext cx="1082649" cy="400110"/>
          </a:xfrm>
          <a:prstGeom prst="rect">
            <a:avLst/>
          </a:prstGeom>
          <a:noFill/>
          <a:ln w="9525">
            <a:noFill/>
            <a:miter lim="800000"/>
            <a:headEnd/>
            <a:tailEnd/>
          </a:ln>
          <a:effectLst/>
        </p:spPr>
        <p:txBody>
          <a:bodyPr wrap="square">
            <a:spAutoFit/>
          </a:bodyPr>
          <a:lstStyle/>
          <a:p>
            <a:pPr algn="l">
              <a:spcBef>
                <a:spcPct val="50000"/>
              </a:spcBef>
            </a:pPr>
            <a:r>
              <a:rPr lang="zh-CN" altLang="en-US" sz="2000" dirty="0">
                <a:latin typeface="仿宋" pitchFamily="49" charset="-122"/>
                <a:ea typeface="仿宋" pitchFamily="49" charset="-122"/>
                <a:cs typeface="Consolas" pitchFamily="49" charset="0"/>
              </a:rPr>
              <a:t>出口</a:t>
            </a:r>
          </a:p>
        </p:txBody>
      </p:sp>
      <p:sp>
        <p:nvSpPr>
          <p:cNvPr id="109" name="TextBox 107">
            <a:extLst>
              <a:ext uri="{FF2B5EF4-FFF2-40B4-BE49-F238E27FC236}">
                <a16:creationId xmlns:a16="http://schemas.microsoft.com/office/drawing/2014/main" id="{A8908D80-C158-4DF0-8B5B-FC0D12F5DEDA}"/>
              </a:ext>
            </a:extLst>
          </p:cNvPr>
          <p:cNvSpPr txBox="1"/>
          <p:nvPr/>
        </p:nvSpPr>
        <p:spPr>
          <a:xfrm>
            <a:off x="431824" y="934533"/>
            <a:ext cx="8680478" cy="810478"/>
          </a:xfrm>
          <a:prstGeom prst="rect">
            <a:avLst/>
          </a:prstGeom>
          <a:noFill/>
        </p:spPr>
        <p:txBody>
          <a:bodyPr wrap="square" rtlCol="0">
            <a:spAutoFit/>
          </a:bodyPr>
          <a:lstStyle/>
          <a:p>
            <a:pPr algn="l">
              <a:lnSpc>
                <a:spcPts val="2800"/>
              </a:lnSpc>
            </a:pPr>
            <a:r>
              <a:rPr lang="zh-CN" altLang="en-US" dirty="0">
                <a:latin typeface="Consolas" pitchFamily="49" charset="0"/>
                <a:ea typeface="楷体" pitchFamily="49" charset="-122"/>
                <a:cs typeface="Consolas" pitchFamily="49" charset="0"/>
              </a:rPr>
              <a:t>例如，</a:t>
            </a:r>
            <a:r>
              <a:rPr lang="en-US" i="1" dirty="0">
                <a:latin typeface="Consolas" pitchFamily="49" charset="0"/>
                <a:ea typeface="楷体" pitchFamily="49" charset="-122"/>
                <a:cs typeface="Consolas" pitchFamily="49" charset="0"/>
              </a:rPr>
              <a:t>M</a:t>
            </a:r>
            <a:r>
              <a:rPr lang="en-US" dirty="0">
                <a:latin typeface="Consolas" pitchFamily="49" charset="0"/>
                <a:ea typeface="楷体" pitchFamily="49" charset="-122"/>
                <a:cs typeface="Consolas" pitchFamily="49" charset="0"/>
              </a:rPr>
              <a:t>=8</a:t>
            </a:r>
            <a:r>
              <a:rPr lang="zh-CN" altLang="en-US" dirty="0">
                <a:latin typeface="Consolas" pitchFamily="49" charset="0"/>
                <a:ea typeface="楷体" pitchFamily="49" charset="-122"/>
                <a:cs typeface="Consolas" pitchFamily="49" charset="0"/>
              </a:rPr>
              <a:t>，</a:t>
            </a:r>
            <a:r>
              <a:rPr lang="en-US" i="1" dirty="0">
                <a:latin typeface="Consolas" pitchFamily="49" charset="0"/>
                <a:ea typeface="楷体" pitchFamily="49" charset="-122"/>
                <a:cs typeface="Consolas" pitchFamily="49" charset="0"/>
              </a:rPr>
              <a:t>N</a:t>
            </a:r>
            <a:r>
              <a:rPr lang="en-US" dirty="0">
                <a:latin typeface="Consolas" pitchFamily="49" charset="0"/>
                <a:ea typeface="楷体" pitchFamily="49" charset="-122"/>
                <a:cs typeface="Consolas" pitchFamily="49" charset="0"/>
              </a:rPr>
              <a:t>=8</a:t>
            </a:r>
            <a:r>
              <a:rPr lang="zh-CN" altLang="en-US" dirty="0">
                <a:latin typeface="Consolas" pitchFamily="49" charset="0"/>
                <a:ea typeface="楷体" pitchFamily="49" charset="-122"/>
                <a:cs typeface="Consolas" pitchFamily="49" charset="0"/>
              </a:rPr>
              <a:t>，图中的每个方块，用空白表示通道，用阴影表示障碍物。为了算法方便，一般在迷宫外围加上了一条围墙。</a:t>
            </a:r>
            <a:endParaRPr lang="zh-CN" altLang="en-US" dirty="0">
              <a:latin typeface="Consolas" pitchFamily="49" charset="0"/>
              <a:cs typeface="Consolas" pitchFamily="49" charset="0"/>
            </a:endParaRPr>
          </a:p>
        </p:txBody>
      </p:sp>
      <p:grpSp>
        <p:nvGrpSpPr>
          <p:cNvPr id="110" name="组合 122">
            <a:extLst>
              <a:ext uri="{FF2B5EF4-FFF2-40B4-BE49-F238E27FC236}">
                <a16:creationId xmlns:a16="http://schemas.microsoft.com/office/drawing/2014/main" id="{9C9932B0-099F-4CA0-9EEB-76273D8FB59C}"/>
              </a:ext>
            </a:extLst>
          </p:cNvPr>
          <p:cNvGrpSpPr/>
          <p:nvPr/>
        </p:nvGrpSpPr>
        <p:grpSpPr>
          <a:xfrm>
            <a:off x="5350914" y="4917482"/>
            <a:ext cx="3559190" cy="400110"/>
            <a:chOff x="5072067" y="4645981"/>
            <a:chExt cx="3559190" cy="400110"/>
          </a:xfrm>
        </p:grpSpPr>
        <p:sp>
          <p:nvSpPr>
            <p:cNvPr id="111" name="TextBox 119">
              <a:extLst>
                <a:ext uri="{FF2B5EF4-FFF2-40B4-BE49-F238E27FC236}">
                  <a16:creationId xmlns:a16="http://schemas.microsoft.com/office/drawing/2014/main" id="{3CBC1E91-0C47-4A2B-8481-1BD95C4CDF5E}"/>
                </a:ext>
              </a:extLst>
            </p:cNvPr>
            <p:cNvSpPr txBox="1"/>
            <p:nvPr/>
          </p:nvSpPr>
          <p:spPr>
            <a:xfrm>
              <a:off x="6488117" y="4645981"/>
              <a:ext cx="2143140" cy="400110"/>
            </a:xfrm>
            <a:prstGeom prst="rect">
              <a:avLst/>
            </a:prstGeom>
            <a:noFill/>
          </p:spPr>
          <p:txBody>
            <a:bodyPr wrap="square" rtlCol="0">
              <a:spAutoFit/>
            </a:bodyPr>
            <a:lstStyle/>
            <a:p>
              <a:r>
                <a:rPr lang="zh-CN" altLang="en-US" sz="2000" dirty="0">
                  <a:solidFill>
                    <a:srgbClr val="0000FF"/>
                  </a:solidFill>
                  <a:latin typeface="仿宋" pitchFamily="49" charset="-122"/>
                  <a:ea typeface="仿宋" pitchFamily="49" charset="-122"/>
                  <a:cs typeface="Consolas" pitchFamily="49" charset="0"/>
                </a:rPr>
                <a:t>一条迷宫路径</a:t>
              </a:r>
            </a:p>
          </p:txBody>
        </p:sp>
        <p:cxnSp>
          <p:nvCxnSpPr>
            <p:cNvPr id="112" name="直接箭头连接符 111">
              <a:extLst>
                <a:ext uri="{FF2B5EF4-FFF2-40B4-BE49-F238E27FC236}">
                  <a16:creationId xmlns:a16="http://schemas.microsoft.com/office/drawing/2014/main" id="{9936C05E-3E4B-4795-BC7B-E91CA63B6381}"/>
                </a:ext>
              </a:extLst>
            </p:cNvPr>
            <p:cNvCxnSpPr>
              <a:cxnSpLocks/>
              <a:stCxn id="111" idx="1"/>
            </p:cNvCxnSpPr>
            <p:nvPr/>
          </p:nvCxnSpPr>
          <p:spPr>
            <a:xfrm flipH="1">
              <a:off x="5072067" y="4846036"/>
              <a:ext cx="1416050" cy="11724"/>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sp>
        <p:nvSpPr>
          <p:cNvPr id="113" name="任意多边形 120">
            <a:extLst>
              <a:ext uri="{FF2B5EF4-FFF2-40B4-BE49-F238E27FC236}">
                <a16:creationId xmlns:a16="http://schemas.microsoft.com/office/drawing/2014/main" id="{2302CC80-29E1-4081-8B91-D23F6B8B537E}"/>
              </a:ext>
            </a:extLst>
          </p:cNvPr>
          <p:cNvSpPr/>
          <p:nvPr/>
        </p:nvSpPr>
        <p:spPr>
          <a:xfrm>
            <a:off x="2684435" y="2510407"/>
            <a:ext cx="2861733" cy="2633133"/>
          </a:xfrm>
          <a:custGeom>
            <a:avLst/>
            <a:gdLst>
              <a:gd name="connsiteX0" fmla="*/ 207433 w 2861733"/>
              <a:gd name="connsiteY0" fmla="*/ 118533 h 2633133"/>
              <a:gd name="connsiteX1" fmla="*/ 474133 w 2861733"/>
              <a:gd name="connsiteY1" fmla="*/ 118533 h 2633133"/>
              <a:gd name="connsiteX2" fmla="*/ 537633 w 2861733"/>
              <a:gd name="connsiteY2" fmla="*/ 829733 h 2633133"/>
              <a:gd name="connsiteX3" fmla="*/ 118533 w 2861733"/>
              <a:gd name="connsiteY3" fmla="*/ 829733 h 2633133"/>
              <a:gd name="connsiteX4" fmla="*/ 131233 w 2861733"/>
              <a:gd name="connsiteY4" fmla="*/ 1540933 h 2633133"/>
              <a:gd name="connsiteX5" fmla="*/ 905933 w 2861733"/>
              <a:gd name="connsiteY5" fmla="*/ 1579033 h 2633133"/>
              <a:gd name="connsiteX6" fmla="*/ 931333 w 2861733"/>
              <a:gd name="connsiteY6" fmla="*/ 1960033 h 2633133"/>
              <a:gd name="connsiteX7" fmla="*/ 1566333 w 2861733"/>
              <a:gd name="connsiteY7" fmla="*/ 1947333 h 2633133"/>
              <a:gd name="connsiteX8" fmla="*/ 1604433 w 2861733"/>
              <a:gd name="connsiteY8" fmla="*/ 1223433 h 2633133"/>
              <a:gd name="connsiteX9" fmla="*/ 2683933 w 2861733"/>
              <a:gd name="connsiteY9" fmla="*/ 1185333 h 2633133"/>
              <a:gd name="connsiteX10" fmla="*/ 2671233 w 2861733"/>
              <a:gd name="connsiteY10" fmla="*/ 2633133 h 2633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61733" h="2633133">
                <a:moveTo>
                  <a:pt x="207433" y="118533"/>
                </a:moveTo>
                <a:cubicBezTo>
                  <a:pt x="313266" y="59266"/>
                  <a:pt x="419100" y="0"/>
                  <a:pt x="474133" y="118533"/>
                </a:cubicBezTo>
                <a:cubicBezTo>
                  <a:pt x="529166" y="237066"/>
                  <a:pt x="596900" y="711200"/>
                  <a:pt x="537633" y="829733"/>
                </a:cubicBezTo>
                <a:cubicBezTo>
                  <a:pt x="478366" y="948266"/>
                  <a:pt x="186266" y="711200"/>
                  <a:pt x="118533" y="829733"/>
                </a:cubicBezTo>
                <a:cubicBezTo>
                  <a:pt x="50800" y="948266"/>
                  <a:pt x="0" y="1416050"/>
                  <a:pt x="131233" y="1540933"/>
                </a:cubicBezTo>
                <a:cubicBezTo>
                  <a:pt x="262466" y="1665816"/>
                  <a:pt x="772583" y="1509183"/>
                  <a:pt x="905933" y="1579033"/>
                </a:cubicBezTo>
                <a:cubicBezTo>
                  <a:pt x="1039283" y="1648883"/>
                  <a:pt x="821266" y="1898650"/>
                  <a:pt x="931333" y="1960033"/>
                </a:cubicBezTo>
                <a:cubicBezTo>
                  <a:pt x="1041400" y="2021416"/>
                  <a:pt x="1454150" y="2070100"/>
                  <a:pt x="1566333" y="1947333"/>
                </a:cubicBezTo>
                <a:cubicBezTo>
                  <a:pt x="1678516" y="1824566"/>
                  <a:pt x="1418166" y="1350433"/>
                  <a:pt x="1604433" y="1223433"/>
                </a:cubicBezTo>
                <a:cubicBezTo>
                  <a:pt x="1790700" y="1096433"/>
                  <a:pt x="2506133" y="950383"/>
                  <a:pt x="2683933" y="1185333"/>
                </a:cubicBezTo>
                <a:cubicBezTo>
                  <a:pt x="2861733" y="1420283"/>
                  <a:pt x="2766483" y="2026708"/>
                  <a:pt x="2671233" y="2633133"/>
                </a:cubicBezTo>
              </a:path>
            </a:pathLst>
          </a:custGeom>
          <a:ln w="28575">
            <a:solidFill>
              <a:srgbClr val="0000FF"/>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800">
              <a:latin typeface="Consolas" pitchFamily="49" charset="0"/>
              <a:cs typeface="Consolas" pitchFamily="49" charset="0"/>
            </a:endParaRPr>
          </a:p>
        </p:txBody>
      </p:sp>
      <p:sp>
        <p:nvSpPr>
          <p:cNvPr id="114" name="Text Box 103">
            <a:extLst>
              <a:ext uri="{FF2B5EF4-FFF2-40B4-BE49-F238E27FC236}">
                <a16:creationId xmlns:a16="http://schemas.microsoft.com/office/drawing/2014/main" id="{1170438C-41C2-436E-9C6A-573F6F05B337}"/>
              </a:ext>
            </a:extLst>
          </p:cNvPr>
          <p:cNvSpPr txBox="1">
            <a:spLocks noChangeArrowheads="1"/>
          </p:cNvSpPr>
          <p:nvPr/>
        </p:nvSpPr>
        <p:spPr bwMode="auto">
          <a:xfrm>
            <a:off x="2226159" y="1628800"/>
            <a:ext cx="3925918" cy="523220"/>
          </a:xfrm>
          <a:prstGeom prst="rect">
            <a:avLst/>
          </a:prstGeom>
          <a:noFill/>
          <a:ln w="9525">
            <a:noFill/>
            <a:miter lim="800000"/>
            <a:headEnd/>
            <a:tailEnd/>
          </a:ln>
        </p:spPr>
        <p:txBody>
          <a:bodyPr wrap="square">
            <a:spAutoFit/>
          </a:bodyPr>
          <a:lstStyle/>
          <a:p>
            <a:pPr algn="l"/>
            <a:r>
              <a:rPr lang="en-US" altLang="zh-CN" sz="1800" dirty="0">
                <a:solidFill>
                  <a:srgbClr val="00B0F0"/>
                </a:solidFill>
                <a:latin typeface="Consolas" pitchFamily="49" charset="0"/>
                <a:ea typeface="宋体" pitchFamily="2" charset="-122"/>
                <a:cs typeface="Consolas" pitchFamily="49" charset="0"/>
              </a:rPr>
              <a:t>0  1  2 </a:t>
            </a:r>
            <a:r>
              <a:rPr lang="en-US" altLang="zh-CN" sz="2000" dirty="0">
                <a:solidFill>
                  <a:srgbClr val="00B0F0"/>
                </a:solidFill>
                <a:latin typeface="Consolas" pitchFamily="49" charset="0"/>
                <a:ea typeface="宋体" pitchFamily="2" charset="-122"/>
                <a:cs typeface="Consolas" pitchFamily="49" charset="0"/>
              </a:rPr>
              <a:t> </a:t>
            </a:r>
            <a:r>
              <a:rPr lang="en-US" altLang="zh-CN" sz="1800" dirty="0">
                <a:solidFill>
                  <a:srgbClr val="00B0F0"/>
                </a:solidFill>
                <a:latin typeface="Consolas" pitchFamily="49" charset="0"/>
                <a:ea typeface="宋体" pitchFamily="2" charset="-122"/>
                <a:cs typeface="Consolas" pitchFamily="49" charset="0"/>
              </a:rPr>
              <a:t>3</a:t>
            </a:r>
            <a:r>
              <a:rPr lang="en-US" altLang="zh-CN" sz="2000" dirty="0">
                <a:solidFill>
                  <a:srgbClr val="00B0F0"/>
                </a:solidFill>
                <a:latin typeface="Consolas" pitchFamily="49" charset="0"/>
                <a:ea typeface="宋体" pitchFamily="2" charset="-122"/>
                <a:cs typeface="Consolas" pitchFamily="49" charset="0"/>
              </a:rPr>
              <a:t>  </a:t>
            </a:r>
            <a:r>
              <a:rPr lang="en-US" altLang="zh-CN" sz="1800" dirty="0">
                <a:solidFill>
                  <a:srgbClr val="00B0F0"/>
                </a:solidFill>
                <a:latin typeface="Consolas" pitchFamily="49" charset="0"/>
                <a:ea typeface="宋体" pitchFamily="2" charset="-122"/>
                <a:cs typeface="Consolas" pitchFamily="49" charset="0"/>
              </a:rPr>
              <a:t>4  5 </a:t>
            </a:r>
            <a:r>
              <a:rPr lang="en-US" altLang="zh-CN" sz="2800" dirty="0">
                <a:solidFill>
                  <a:srgbClr val="00B0F0"/>
                </a:solidFill>
                <a:latin typeface="Consolas" pitchFamily="49" charset="0"/>
                <a:ea typeface="宋体" pitchFamily="2" charset="-122"/>
                <a:cs typeface="Consolas" pitchFamily="49" charset="0"/>
              </a:rPr>
              <a:t> </a:t>
            </a:r>
            <a:r>
              <a:rPr lang="en-US" altLang="zh-CN" sz="1800" dirty="0">
                <a:solidFill>
                  <a:srgbClr val="00B0F0"/>
                </a:solidFill>
                <a:latin typeface="Consolas" pitchFamily="49" charset="0"/>
                <a:ea typeface="宋体" pitchFamily="2" charset="-122"/>
                <a:cs typeface="Consolas" pitchFamily="49" charset="0"/>
              </a:rPr>
              <a:t>6  7  8  9</a:t>
            </a:r>
          </a:p>
        </p:txBody>
      </p:sp>
      <p:sp>
        <p:nvSpPr>
          <p:cNvPr id="115" name="Text Box 2">
            <a:extLst>
              <a:ext uri="{FF2B5EF4-FFF2-40B4-BE49-F238E27FC236}">
                <a16:creationId xmlns:a16="http://schemas.microsoft.com/office/drawing/2014/main" id="{D28EB812-4398-4E79-9E49-7273C593CA0C}"/>
              </a:ext>
            </a:extLst>
          </p:cNvPr>
          <p:cNvSpPr txBox="1">
            <a:spLocks noChangeArrowheads="1"/>
          </p:cNvSpPr>
          <p:nvPr/>
        </p:nvSpPr>
        <p:spPr bwMode="auto">
          <a:xfrm>
            <a:off x="6555734" y="1905513"/>
            <a:ext cx="2192730" cy="369332"/>
          </a:xfrm>
          <a:prstGeom prst="rect">
            <a:avLst/>
          </a:prstGeom>
          <a:noFill/>
          <a:ln w="9525">
            <a:noFill/>
            <a:miter lim="800000"/>
            <a:headEnd/>
            <a:tailEnd/>
          </a:ln>
          <a:effectLst/>
        </p:spPr>
        <p:txBody>
          <a:bodyPr wrap="squar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just">
              <a:spcBef>
                <a:spcPct val="50000"/>
              </a:spcBef>
              <a:buFont typeface="Wingdings" pitchFamily="2" charset="2"/>
              <a:buBlip>
                <a:blip r:embed="rId2"/>
              </a:buBlip>
            </a:pPr>
            <a:r>
              <a:rPr kumimoji="1" lang="zh-CN" altLang="en-US" b="1" spc="50" dirty="0">
                <a:ln w="11430"/>
                <a:solidFill>
                  <a:srgbClr val="FF0000"/>
                </a:solidFill>
                <a:effectLst>
                  <a:outerShdw blurRad="76200" dist="50800" dir="5400000" algn="tl" rotWithShape="0">
                    <a:srgbClr val="000000">
                      <a:alpha val="65000"/>
                    </a:srgbClr>
                  </a:outerShdw>
                </a:effectLst>
                <a:latin typeface="黑体" pitchFamily="49" charset="-122"/>
                <a:ea typeface="黑体" pitchFamily="49" charset="-122"/>
              </a:rPr>
              <a:t>　数据组织       </a:t>
            </a:r>
          </a:p>
        </p:txBody>
      </p:sp>
      <p:sp>
        <p:nvSpPr>
          <p:cNvPr id="116" name="TextBox 2">
            <a:extLst>
              <a:ext uri="{FF2B5EF4-FFF2-40B4-BE49-F238E27FC236}">
                <a16:creationId xmlns:a16="http://schemas.microsoft.com/office/drawing/2014/main" id="{74AD16CF-B393-4501-B49E-D80E6B394A80}"/>
              </a:ext>
            </a:extLst>
          </p:cNvPr>
          <p:cNvSpPr txBox="1"/>
          <p:nvPr/>
        </p:nvSpPr>
        <p:spPr>
          <a:xfrm>
            <a:off x="6229909" y="2681731"/>
            <a:ext cx="2680195" cy="1839606"/>
          </a:xfrm>
          <a:prstGeom prst="rect">
            <a:avLst/>
          </a:prstGeom>
          <a:noFill/>
        </p:spPr>
        <p:txBody>
          <a:bodyPr wrap="square" rtlCol="0">
            <a:spAutoFit/>
          </a:bodyPr>
          <a:lstStyle/>
          <a:p>
            <a:pPr algn="l">
              <a:lnSpc>
                <a:spcPts val="3000"/>
              </a:lnSpc>
              <a:spcBef>
                <a:spcPts val="600"/>
              </a:spcBef>
            </a:pPr>
            <a:r>
              <a:rPr lang="zh-CN" altLang="en-US" dirty="0">
                <a:solidFill>
                  <a:srgbClr val="0000FF"/>
                </a:solidFill>
                <a:latin typeface="Consolas" pitchFamily="49" charset="0"/>
                <a:ea typeface="楷体" pitchFamily="49" charset="-122"/>
                <a:cs typeface="Consolas" pitchFamily="49" charset="0"/>
              </a:rPr>
              <a:t>迷宫数组</a:t>
            </a:r>
            <a:r>
              <a:rPr lang="en-US" dirty="0">
                <a:solidFill>
                  <a:srgbClr val="0000FF"/>
                </a:solidFill>
                <a:latin typeface="Consolas" pitchFamily="49" charset="0"/>
                <a:ea typeface="楷体" pitchFamily="49" charset="-122"/>
                <a:cs typeface="Consolas" pitchFamily="49" charset="0"/>
              </a:rPr>
              <a:t>mg</a:t>
            </a:r>
            <a:r>
              <a:rPr lang="zh-CN" altLang="en-US" dirty="0">
                <a:solidFill>
                  <a:srgbClr val="0000FF"/>
                </a:solidFill>
                <a:latin typeface="Consolas" pitchFamily="49" charset="0"/>
                <a:ea typeface="楷体" pitchFamily="49" charset="-122"/>
                <a:cs typeface="Consolas" pitchFamily="49" charset="0"/>
              </a:rPr>
              <a:t>，二维</a:t>
            </a:r>
            <a:endParaRPr lang="en-US" altLang="zh-CN" dirty="0">
              <a:solidFill>
                <a:srgbClr val="0000FF"/>
              </a:solidFill>
              <a:latin typeface="Consolas" pitchFamily="49" charset="0"/>
              <a:ea typeface="楷体" pitchFamily="49" charset="-122"/>
              <a:cs typeface="Consolas" pitchFamily="49" charset="0"/>
            </a:endParaRPr>
          </a:p>
          <a:p>
            <a:pPr algn="l">
              <a:lnSpc>
                <a:spcPts val="3000"/>
              </a:lnSpc>
              <a:spcBef>
                <a:spcPts val="600"/>
              </a:spcBef>
            </a:pPr>
            <a:r>
              <a:rPr lang="en-US" altLang="zh-CN" dirty="0">
                <a:solidFill>
                  <a:srgbClr val="0000FF"/>
                </a:solidFill>
                <a:latin typeface="Consolas" pitchFamily="49" charset="0"/>
                <a:ea typeface="楷体" pitchFamily="49" charset="-122"/>
                <a:cs typeface="Consolas" pitchFamily="49" charset="0"/>
              </a:rPr>
              <a:t>  </a:t>
            </a:r>
            <a:r>
              <a:rPr lang="zh-CN" altLang="en-US" dirty="0">
                <a:solidFill>
                  <a:srgbClr val="0000FF"/>
                </a:solidFill>
                <a:latin typeface="Consolas" pitchFamily="49" charset="0"/>
                <a:ea typeface="楷体" pitchFamily="49" charset="-122"/>
                <a:cs typeface="Consolas" pitchFamily="49" charset="0"/>
              </a:rPr>
              <a:t>表示一个方块的状态，</a:t>
            </a:r>
            <a:endParaRPr lang="en-US" altLang="zh-CN" dirty="0">
              <a:solidFill>
                <a:srgbClr val="0000FF"/>
              </a:solidFill>
              <a:latin typeface="Consolas" pitchFamily="49" charset="0"/>
              <a:ea typeface="楷体" pitchFamily="49" charset="-122"/>
              <a:cs typeface="Consolas" pitchFamily="49" charset="0"/>
            </a:endParaRPr>
          </a:p>
          <a:p>
            <a:pPr algn="l">
              <a:lnSpc>
                <a:spcPts val="3000"/>
              </a:lnSpc>
              <a:spcBef>
                <a:spcPts val="600"/>
              </a:spcBef>
            </a:pPr>
            <a:r>
              <a:rPr lang="en-US" altLang="zh-CN" dirty="0">
                <a:solidFill>
                  <a:srgbClr val="0000FF"/>
                </a:solidFill>
                <a:latin typeface="Consolas" pitchFamily="49" charset="0"/>
                <a:ea typeface="楷体" pitchFamily="49" charset="-122"/>
                <a:cs typeface="Consolas" pitchFamily="49" charset="0"/>
              </a:rPr>
              <a:t>	</a:t>
            </a:r>
            <a:r>
              <a:rPr lang="en-US" dirty="0">
                <a:solidFill>
                  <a:srgbClr val="0000FF"/>
                </a:solidFill>
                <a:latin typeface="Consolas" pitchFamily="49" charset="0"/>
                <a:ea typeface="楷体" pitchFamily="49" charset="-122"/>
                <a:cs typeface="Consolas" pitchFamily="49" charset="0"/>
              </a:rPr>
              <a:t>0</a:t>
            </a:r>
            <a:r>
              <a:rPr lang="zh-CN" altLang="en-US" dirty="0">
                <a:solidFill>
                  <a:srgbClr val="0000FF"/>
                </a:solidFill>
                <a:latin typeface="Consolas" pitchFamily="49" charset="0"/>
                <a:ea typeface="楷体" pitchFamily="49" charset="-122"/>
                <a:cs typeface="Consolas" pitchFamily="49" charset="0"/>
              </a:rPr>
              <a:t>是通道，</a:t>
            </a:r>
            <a:endParaRPr lang="en-US" altLang="zh-CN" dirty="0">
              <a:solidFill>
                <a:srgbClr val="0000FF"/>
              </a:solidFill>
              <a:latin typeface="Consolas" pitchFamily="49" charset="0"/>
              <a:ea typeface="楷体" pitchFamily="49" charset="-122"/>
              <a:cs typeface="Consolas" pitchFamily="49" charset="0"/>
            </a:endParaRPr>
          </a:p>
          <a:p>
            <a:pPr algn="l">
              <a:lnSpc>
                <a:spcPts val="3000"/>
              </a:lnSpc>
              <a:spcBef>
                <a:spcPts val="600"/>
              </a:spcBef>
            </a:pPr>
            <a:r>
              <a:rPr lang="en-US" dirty="0">
                <a:solidFill>
                  <a:srgbClr val="0000FF"/>
                </a:solidFill>
                <a:latin typeface="Consolas" pitchFamily="49" charset="0"/>
                <a:ea typeface="楷体" pitchFamily="49" charset="-122"/>
                <a:cs typeface="Consolas" pitchFamily="49" charset="0"/>
              </a:rPr>
              <a:t>	1</a:t>
            </a:r>
            <a:r>
              <a:rPr lang="zh-CN" altLang="en-US" dirty="0">
                <a:solidFill>
                  <a:srgbClr val="0000FF"/>
                </a:solidFill>
                <a:latin typeface="Consolas" pitchFamily="49" charset="0"/>
                <a:ea typeface="楷体" pitchFamily="49" charset="-122"/>
                <a:cs typeface="Consolas" pitchFamily="49" charset="0"/>
              </a:rPr>
              <a:t>不可走。</a:t>
            </a:r>
            <a:r>
              <a:rPr lang="en-US" altLang="zh-CN" dirty="0">
                <a:solidFill>
                  <a:srgbClr val="0000FF"/>
                </a:solidFill>
                <a:latin typeface="Consolas" pitchFamily="49" charset="0"/>
                <a:ea typeface="楷体" pitchFamily="49" charset="-122"/>
                <a:cs typeface="Consolas" pitchFamily="49" charset="0"/>
              </a:rPr>
              <a:t>     </a:t>
            </a:r>
            <a:endParaRPr lang="zh-CN" altLang="en-US" dirty="0">
              <a:solidFill>
                <a:srgbClr val="0000FF"/>
              </a:solidFill>
              <a:latin typeface="Consolas" pitchFamily="49" charset="0"/>
              <a:ea typeface="楷体" pitchFamily="49" charset="-122"/>
              <a:cs typeface="Consolas" pitchFamily="49" charset="0"/>
            </a:endParaRPr>
          </a:p>
        </p:txBody>
      </p:sp>
    </p:spTree>
    <p:extLst>
      <p:ext uri="{BB962C8B-B14F-4D97-AF65-F5344CB8AC3E}">
        <p14:creationId xmlns:p14="http://schemas.microsoft.com/office/powerpoint/2010/main" val="2549640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3"/>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1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1">
            <a:extLst>
              <a:ext uri="{FF2B5EF4-FFF2-40B4-BE49-F238E27FC236}">
                <a16:creationId xmlns:a16="http://schemas.microsoft.com/office/drawing/2014/main" id="{A10CB739-E2D6-4590-B7A3-EAC07B20AD55}"/>
              </a:ext>
            </a:extLst>
          </p:cNvPr>
          <p:cNvSpPr txBox="1"/>
          <p:nvPr/>
        </p:nvSpPr>
        <p:spPr>
          <a:xfrm>
            <a:off x="4598067" y="1180084"/>
            <a:ext cx="4969692" cy="4647426"/>
          </a:xfrm>
          <a:prstGeom prst="rect">
            <a:avLst/>
          </a:prstGeom>
          <a:noFill/>
        </p:spPr>
        <p:txBody>
          <a:bodyPr wrap="square" rtlCol="0">
            <a:spAutoFit/>
          </a:bodyPr>
          <a:lstStyle/>
          <a:p>
            <a:pPr algn="l">
              <a:spcBef>
                <a:spcPts val="400"/>
              </a:spcBef>
            </a:pPr>
            <a:r>
              <a:rPr lang="en-US" sz="2000" spc="160" dirty="0" err="1">
                <a:latin typeface="Consolas" pitchFamily="49" charset="0"/>
                <a:cs typeface="Consolas" pitchFamily="49" charset="0"/>
              </a:rPr>
              <a:t>int</a:t>
            </a:r>
            <a:r>
              <a:rPr lang="en-US" sz="2000" spc="160" dirty="0">
                <a:latin typeface="Consolas" pitchFamily="49" charset="0"/>
                <a:cs typeface="Consolas" pitchFamily="49" charset="0"/>
              </a:rPr>
              <a:t> mg[</a:t>
            </a:r>
            <a:r>
              <a:rPr lang="en-US" sz="2000" i="1" spc="160" dirty="0" err="1">
                <a:latin typeface="Consolas" pitchFamily="49" charset="0"/>
                <a:cs typeface="Consolas" pitchFamily="49" charset="0"/>
              </a:rPr>
              <a:t>M</a:t>
            </a:r>
            <a:r>
              <a:rPr lang="en-US" sz="2000" spc="160" dirty="0" err="1">
                <a:latin typeface="Consolas" pitchFamily="49" charset="0"/>
                <a:cs typeface="Consolas" pitchFamily="49" charset="0"/>
              </a:rPr>
              <a:t>+2</a:t>
            </a:r>
            <a:r>
              <a:rPr lang="en-US" sz="2000" spc="160" dirty="0">
                <a:latin typeface="Consolas" pitchFamily="49" charset="0"/>
                <a:cs typeface="Consolas" pitchFamily="49" charset="0"/>
              </a:rPr>
              <a:t>][</a:t>
            </a:r>
            <a:r>
              <a:rPr lang="en-US" sz="2000" i="1" spc="160" dirty="0" err="1">
                <a:latin typeface="Consolas" pitchFamily="49" charset="0"/>
                <a:cs typeface="Consolas" pitchFamily="49" charset="0"/>
              </a:rPr>
              <a:t>N</a:t>
            </a:r>
            <a:r>
              <a:rPr lang="en-US" sz="2000" spc="160" dirty="0" err="1">
                <a:latin typeface="Consolas" pitchFamily="49" charset="0"/>
                <a:cs typeface="Consolas" pitchFamily="49" charset="0"/>
              </a:rPr>
              <a:t>+2</a:t>
            </a:r>
            <a:r>
              <a:rPr lang="en-US" sz="2000" spc="160" dirty="0">
                <a:latin typeface="Consolas" pitchFamily="49" charset="0"/>
                <a:cs typeface="Consolas" pitchFamily="49" charset="0"/>
              </a:rPr>
              <a:t>]=</a:t>
            </a:r>
            <a:endParaRPr lang="zh-CN" altLang="en-US" sz="2000" spc="160" dirty="0">
              <a:latin typeface="Consolas" pitchFamily="49" charset="0"/>
              <a:cs typeface="Consolas" pitchFamily="49" charset="0"/>
            </a:endParaRPr>
          </a:p>
          <a:p>
            <a:pPr algn="l">
              <a:spcBef>
                <a:spcPts val="400"/>
              </a:spcBef>
            </a:pPr>
            <a:r>
              <a:rPr lang="en-US" sz="1800" spc="160" dirty="0">
                <a:latin typeface="Consolas" pitchFamily="49" charset="0"/>
                <a:cs typeface="Consolas" pitchFamily="49" charset="0"/>
              </a:rPr>
              <a:t>{</a:t>
            </a:r>
          </a:p>
          <a:p>
            <a:pPr algn="l">
              <a:spcBef>
                <a:spcPts val="400"/>
              </a:spcBef>
            </a:pPr>
            <a:r>
              <a:rPr lang="en-US" sz="1800" spc="160" dirty="0">
                <a:latin typeface="Consolas" pitchFamily="49" charset="0"/>
                <a:cs typeface="Consolas" pitchFamily="49" charset="0"/>
              </a:rPr>
              <a:t>    </a:t>
            </a:r>
            <a:r>
              <a:rPr lang="en-US" sz="2000" spc="160" dirty="0">
                <a:latin typeface="Consolas" pitchFamily="49" charset="0"/>
                <a:cs typeface="Consolas" pitchFamily="49" charset="0"/>
              </a:rPr>
              <a:t>{</a:t>
            </a:r>
            <a:r>
              <a:rPr lang="en-US" sz="2000" spc="160" dirty="0">
                <a:solidFill>
                  <a:srgbClr val="C00000"/>
                </a:solidFill>
                <a:latin typeface="Consolas" pitchFamily="49" charset="0"/>
                <a:cs typeface="Consolas" pitchFamily="49" charset="0"/>
              </a:rPr>
              <a:t>1,1,1,1,1,1,1,1,1,1</a:t>
            </a:r>
            <a:r>
              <a:rPr lang="en-US" sz="2000" spc="160" dirty="0">
                <a:latin typeface="Consolas" pitchFamily="49" charset="0"/>
                <a:cs typeface="Consolas" pitchFamily="49" charset="0"/>
              </a:rPr>
              <a:t>},</a:t>
            </a:r>
          </a:p>
          <a:p>
            <a:pPr algn="l">
              <a:spcBef>
                <a:spcPts val="400"/>
              </a:spcBef>
            </a:pPr>
            <a:r>
              <a:rPr lang="en-US" sz="2000" spc="160" dirty="0">
                <a:latin typeface="Consolas" pitchFamily="49" charset="0"/>
                <a:cs typeface="Consolas" pitchFamily="49" charset="0"/>
              </a:rPr>
              <a:t>    {</a:t>
            </a:r>
            <a:r>
              <a:rPr lang="en-US" sz="2000" spc="160" dirty="0">
                <a:solidFill>
                  <a:srgbClr val="C00000"/>
                </a:solidFill>
                <a:latin typeface="Consolas" pitchFamily="49" charset="0"/>
                <a:cs typeface="Consolas" pitchFamily="49" charset="0"/>
              </a:rPr>
              <a:t>1,</a:t>
            </a:r>
            <a:r>
              <a:rPr lang="en-US" sz="2000" spc="160" dirty="0">
                <a:latin typeface="Consolas" pitchFamily="49" charset="0"/>
                <a:cs typeface="Consolas" pitchFamily="49" charset="0"/>
              </a:rPr>
              <a:t>0,0,</a:t>
            </a:r>
            <a:r>
              <a:rPr lang="en-US" sz="2000" spc="160" dirty="0">
                <a:solidFill>
                  <a:srgbClr val="FF0000"/>
                </a:solidFill>
                <a:latin typeface="Consolas" pitchFamily="49" charset="0"/>
                <a:cs typeface="Consolas" pitchFamily="49" charset="0"/>
              </a:rPr>
              <a:t>1</a:t>
            </a:r>
            <a:r>
              <a:rPr lang="en-US" sz="2000" spc="160" dirty="0">
                <a:latin typeface="Consolas" pitchFamily="49" charset="0"/>
                <a:cs typeface="Consolas" pitchFamily="49" charset="0"/>
              </a:rPr>
              <a:t>,0,0,0,</a:t>
            </a:r>
            <a:r>
              <a:rPr lang="en-US" sz="2000" spc="160" dirty="0">
                <a:solidFill>
                  <a:srgbClr val="FF0000"/>
                </a:solidFill>
                <a:latin typeface="Consolas" pitchFamily="49" charset="0"/>
                <a:cs typeface="Consolas" pitchFamily="49" charset="0"/>
              </a:rPr>
              <a:t>1</a:t>
            </a:r>
            <a:r>
              <a:rPr lang="en-US" sz="2000" spc="160" dirty="0">
                <a:latin typeface="Consolas" pitchFamily="49" charset="0"/>
                <a:cs typeface="Consolas" pitchFamily="49" charset="0"/>
              </a:rPr>
              <a:t>,0,</a:t>
            </a:r>
            <a:r>
              <a:rPr lang="en-US" sz="2000" spc="160" dirty="0">
                <a:solidFill>
                  <a:srgbClr val="C00000"/>
                </a:solidFill>
                <a:latin typeface="Consolas" pitchFamily="49" charset="0"/>
                <a:cs typeface="Consolas" pitchFamily="49" charset="0"/>
              </a:rPr>
              <a:t>1</a:t>
            </a:r>
            <a:r>
              <a:rPr lang="en-US" sz="2000" spc="160" dirty="0">
                <a:latin typeface="Consolas" pitchFamily="49" charset="0"/>
                <a:cs typeface="Consolas" pitchFamily="49" charset="0"/>
              </a:rPr>
              <a:t>},</a:t>
            </a:r>
            <a:endParaRPr lang="zh-CN" altLang="en-US" sz="2000" spc="160" dirty="0">
              <a:latin typeface="Consolas" pitchFamily="49" charset="0"/>
              <a:cs typeface="Consolas" pitchFamily="49" charset="0"/>
            </a:endParaRPr>
          </a:p>
          <a:p>
            <a:pPr algn="l">
              <a:spcBef>
                <a:spcPts val="400"/>
              </a:spcBef>
            </a:pPr>
            <a:r>
              <a:rPr lang="en-US" sz="2000" spc="160" dirty="0">
                <a:latin typeface="Consolas" pitchFamily="49" charset="0"/>
                <a:cs typeface="Consolas" pitchFamily="49" charset="0"/>
              </a:rPr>
              <a:t>    {</a:t>
            </a:r>
            <a:r>
              <a:rPr lang="en-US" sz="2000" spc="160" dirty="0">
                <a:solidFill>
                  <a:srgbClr val="C00000"/>
                </a:solidFill>
                <a:latin typeface="Consolas" pitchFamily="49" charset="0"/>
                <a:cs typeface="Consolas" pitchFamily="49" charset="0"/>
              </a:rPr>
              <a:t>1,</a:t>
            </a:r>
            <a:r>
              <a:rPr lang="en-US" sz="2000" spc="160" dirty="0">
                <a:latin typeface="Consolas" pitchFamily="49" charset="0"/>
                <a:cs typeface="Consolas" pitchFamily="49" charset="0"/>
              </a:rPr>
              <a:t>0,0,</a:t>
            </a:r>
            <a:r>
              <a:rPr lang="en-US" sz="2000" spc="160" dirty="0">
                <a:solidFill>
                  <a:srgbClr val="FF0000"/>
                </a:solidFill>
                <a:latin typeface="Consolas" pitchFamily="49" charset="0"/>
                <a:cs typeface="Consolas" pitchFamily="49" charset="0"/>
              </a:rPr>
              <a:t>1</a:t>
            </a:r>
            <a:r>
              <a:rPr lang="en-US" sz="2000" spc="160" dirty="0">
                <a:latin typeface="Consolas" pitchFamily="49" charset="0"/>
                <a:cs typeface="Consolas" pitchFamily="49" charset="0"/>
              </a:rPr>
              <a:t>,0,0,0,</a:t>
            </a:r>
            <a:r>
              <a:rPr lang="en-US" sz="2000" spc="160" dirty="0">
                <a:solidFill>
                  <a:srgbClr val="FF0000"/>
                </a:solidFill>
                <a:latin typeface="Consolas" pitchFamily="49" charset="0"/>
                <a:cs typeface="Consolas" pitchFamily="49" charset="0"/>
              </a:rPr>
              <a:t>1</a:t>
            </a:r>
            <a:r>
              <a:rPr lang="en-US" sz="2000" spc="160" dirty="0">
                <a:latin typeface="Consolas" pitchFamily="49" charset="0"/>
                <a:cs typeface="Consolas" pitchFamily="49" charset="0"/>
              </a:rPr>
              <a:t>,0,</a:t>
            </a:r>
            <a:r>
              <a:rPr lang="en-US" sz="2000" spc="160" dirty="0">
                <a:solidFill>
                  <a:srgbClr val="C00000"/>
                </a:solidFill>
                <a:latin typeface="Consolas" pitchFamily="49" charset="0"/>
                <a:cs typeface="Consolas" pitchFamily="49" charset="0"/>
              </a:rPr>
              <a:t>1</a:t>
            </a:r>
            <a:r>
              <a:rPr lang="en-US" sz="2000" spc="160" dirty="0">
                <a:latin typeface="Consolas" pitchFamily="49" charset="0"/>
                <a:cs typeface="Consolas" pitchFamily="49" charset="0"/>
              </a:rPr>
              <a:t>},</a:t>
            </a:r>
          </a:p>
          <a:p>
            <a:pPr algn="l">
              <a:spcBef>
                <a:spcPts val="400"/>
              </a:spcBef>
            </a:pPr>
            <a:r>
              <a:rPr lang="en-US" sz="2000" spc="160" dirty="0">
                <a:latin typeface="Consolas" pitchFamily="49" charset="0"/>
                <a:cs typeface="Consolas" pitchFamily="49" charset="0"/>
              </a:rPr>
              <a:t>    {</a:t>
            </a:r>
            <a:r>
              <a:rPr lang="en-US" sz="2000" spc="160" dirty="0">
                <a:solidFill>
                  <a:srgbClr val="C00000"/>
                </a:solidFill>
                <a:latin typeface="Consolas" pitchFamily="49" charset="0"/>
                <a:cs typeface="Consolas" pitchFamily="49" charset="0"/>
              </a:rPr>
              <a:t>1,</a:t>
            </a:r>
            <a:r>
              <a:rPr lang="en-US" sz="2000" spc="160" dirty="0">
                <a:latin typeface="Consolas" pitchFamily="49" charset="0"/>
                <a:cs typeface="Consolas" pitchFamily="49" charset="0"/>
              </a:rPr>
              <a:t>0,0,0,0,</a:t>
            </a:r>
            <a:r>
              <a:rPr lang="en-US" sz="2000" spc="160" dirty="0">
                <a:solidFill>
                  <a:srgbClr val="FF0000"/>
                </a:solidFill>
                <a:latin typeface="Consolas" pitchFamily="49" charset="0"/>
                <a:cs typeface="Consolas" pitchFamily="49" charset="0"/>
              </a:rPr>
              <a:t>1,1</a:t>
            </a:r>
            <a:r>
              <a:rPr lang="en-US" sz="2000" spc="160" dirty="0">
                <a:latin typeface="Consolas" pitchFamily="49" charset="0"/>
                <a:cs typeface="Consolas" pitchFamily="49" charset="0"/>
              </a:rPr>
              <a:t>,0,0,</a:t>
            </a:r>
            <a:r>
              <a:rPr lang="en-US" sz="2000" spc="160" dirty="0">
                <a:solidFill>
                  <a:srgbClr val="C00000"/>
                </a:solidFill>
                <a:latin typeface="Consolas" pitchFamily="49" charset="0"/>
                <a:cs typeface="Consolas" pitchFamily="49" charset="0"/>
              </a:rPr>
              <a:t>1</a:t>
            </a:r>
            <a:r>
              <a:rPr lang="en-US" sz="2000" spc="160" dirty="0">
                <a:latin typeface="Consolas" pitchFamily="49" charset="0"/>
                <a:cs typeface="Consolas" pitchFamily="49" charset="0"/>
              </a:rPr>
              <a:t>},</a:t>
            </a:r>
            <a:endParaRPr lang="zh-CN" altLang="en-US" sz="2000" spc="160" dirty="0">
              <a:latin typeface="Consolas" pitchFamily="49" charset="0"/>
              <a:cs typeface="Consolas" pitchFamily="49" charset="0"/>
            </a:endParaRPr>
          </a:p>
          <a:p>
            <a:pPr algn="l">
              <a:spcBef>
                <a:spcPts val="400"/>
              </a:spcBef>
            </a:pPr>
            <a:r>
              <a:rPr lang="en-US" sz="2000" spc="160" dirty="0">
                <a:latin typeface="Consolas" pitchFamily="49" charset="0"/>
                <a:cs typeface="Consolas" pitchFamily="49" charset="0"/>
              </a:rPr>
              <a:t>    {</a:t>
            </a:r>
            <a:r>
              <a:rPr lang="en-US" sz="2000" spc="160" dirty="0">
                <a:solidFill>
                  <a:srgbClr val="C00000"/>
                </a:solidFill>
                <a:latin typeface="Consolas" pitchFamily="49" charset="0"/>
                <a:cs typeface="Consolas" pitchFamily="49" charset="0"/>
              </a:rPr>
              <a:t>1,</a:t>
            </a:r>
            <a:r>
              <a:rPr lang="en-US" sz="2000" spc="160" dirty="0">
                <a:latin typeface="Consolas" pitchFamily="49" charset="0"/>
                <a:cs typeface="Consolas" pitchFamily="49" charset="0"/>
              </a:rPr>
              <a:t>0,</a:t>
            </a:r>
            <a:r>
              <a:rPr lang="en-US" sz="2000" spc="160" dirty="0">
                <a:solidFill>
                  <a:srgbClr val="FF0000"/>
                </a:solidFill>
                <a:latin typeface="Consolas" pitchFamily="49" charset="0"/>
                <a:cs typeface="Consolas" pitchFamily="49" charset="0"/>
              </a:rPr>
              <a:t>1,1,1</a:t>
            </a:r>
            <a:r>
              <a:rPr lang="en-US" sz="2000" spc="160" dirty="0">
                <a:latin typeface="Consolas" pitchFamily="49" charset="0"/>
                <a:cs typeface="Consolas" pitchFamily="49" charset="0"/>
              </a:rPr>
              <a:t>,0,0,0,0,</a:t>
            </a:r>
            <a:r>
              <a:rPr lang="en-US" sz="2000" spc="160" dirty="0">
                <a:solidFill>
                  <a:srgbClr val="C00000"/>
                </a:solidFill>
                <a:latin typeface="Consolas" pitchFamily="49" charset="0"/>
                <a:cs typeface="Consolas" pitchFamily="49" charset="0"/>
              </a:rPr>
              <a:t>1</a:t>
            </a:r>
            <a:r>
              <a:rPr lang="en-US" sz="2000" spc="160" dirty="0">
                <a:latin typeface="Consolas" pitchFamily="49" charset="0"/>
                <a:cs typeface="Consolas" pitchFamily="49" charset="0"/>
              </a:rPr>
              <a:t>},</a:t>
            </a:r>
          </a:p>
          <a:p>
            <a:pPr algn="l">
              <a:spcBef>
                <a:spcPts val="400"/>
              </a:spcBef>
            </a:pPr>
            <a:r>
              <a:rPr lang="en-US" sz="2000" spc="160" dirty="0">
                <a:latin typeface="Consolas" pitchFamily="49" charset="0"/>
                <a:cs typeface="Consolas" pitchFamily="49" charset="0"/>
              </a:rPr>
              <a:t>    {</a:t>
            </a:r>
            <a:r>
              <a:rPr lang="en-US" sz="2000" spc="160" dirty="0">
                <a:solidFill>
                  <a:srgbClr val="C00000"/>
                </a:solidFill>
                <a:latin typeface="Consolas" pitchFamily="49" charset="0"/>
                <a:cs typeface="Consolas" pitchFamily="49" charset="0"/>
              </a:rPr>
              <a:t>1,</a:t>
            </a:r>
            <a:r>
              <a:rPr lang="en-US" sz="2000" spc="160" dirty="0">
                <a:latin typeface="Consolas" pitchFamily="49" charset="0"/>
                <a:cs typeface="Consolas" pitchFamily="49" charset="0"/>
              </a:rPr>
              <a:t>0,0,0,</a:t>
            </a:r>
            <a:r>
              <a:rPr lang="en-US" sz="2000" spc="160" dirty="0">
                <a:solidFill>
                  <a:srgbClr val="FF0000"/>
                </a:solidFill>
                <a:latin typeface="Consolas" pitchFamily="49" charset="0"/>
                <a:cs typeface="Consolas" pitchFamily="49" charset="0"/>
              </a:rPr>
              <a:t>1</a:t>
            </a:r>
            <a:r>
              <a:rPr lang="en-US" sz="2000" spc="160" dirty="0">
                <a:latin typeface="Consolas" pitchFamily="49" charset="0"/>
                <a:cs typeface="Consolas" pitchFamily="49" charset="0"/>
              </a:rPr>
              <a:t>,0,0,0,0,</a:t>
            </a:r>
            <a:r>
              <a:rPr lang="en-US" sz="2000" spc="160" dirty="0">
                <a:solidFill>
                  <a:srgbClr val="C00000"/>
                </a:solidFill>
                <a:latin typeface="Consolas" pitchFamily="49" charset="0"/>
                <a:cs typeface="Consolas" pitchFamily="49" charset="0"/>
              </a:rPr>
              <a:t>1</a:t>
            </a:r>
            <a:r>
              <a:rPr lang="en-US" sz="2000" spc="160" dirty="0">
                <a:latin typeface="Consolas" pitchFamily="49" charset="0"/>
                <a:cs typeface="Consolas" pitchFamily="49" charset="0"/>
              </a:rPr>
              <a:t>},</a:t>
            </a:r>
            <a:endParaRPr lang="zh-CN" altLang="en-US" sz="2000" spc="160" dirty="0">
              <a:latin typeface="Consolas" pitchFamily="49" charset="0"/>
              <a:cs typeface="Consolas" pitchFamily="49" charset="0"/>
            </a:endParaRPr>
          </a:p>
          <a:p>
            <a:pPr algn="l">
              <a:spcBef>
                <a:spcPts val="400"/>
              </a:spcBef>
            </a:pPr>
            <a:r>
              <a:rPr lang="en-US" sz="2000" spc="160" dirty="0">
                <a:latin typeface="Consolas" pitchFamily="49" charset="0"/>
                <a:cs typeface="Consolas" pitchFamily="49" charset="0"/>
              </a:rPr>
              <a:t>    {</a:t>
            </a:r>
            <a:r>
              <a:rPr lang="en-US" sz="2000" spc="160" dirty="0">
                <a:solidFill>
                  <a:srgbClr val="C00000"/>
                </a:solidFill>
                <a:latin typeface="Consolas" pitchFamily="49" charset="0"/>
                <a:cs typeface="Consolas" pitchFamily="49" charset="0"/>
              </a:rPr>
              <a:t>1,</a:t>
            </a:r>
            <a:r>
              <a:rPr lang="en-US" sz="2000" spc="160" dirty="0">
                <a:latin typeface="Consolas" pitchFamily="49" charset="0"/>
                <a:cs typeface="Consolas" pitchFamily="49" charset="0"/>
              </a:rPr>
              <a:t>0,</a:t>
            </a:r>
            <a:r>
              <a:rPr lang="en-US" sz="2000" spc="160" dirty="0">
                <a:solidFill>
                  <a:srgbClr val="FF0000"/>
                </a:solidFill>
                <a:latin typeface="Consolas" pitchFamily="49" charset="0"/>
                <a:cs typeface="Consolas" pitchFamily="49" charset="0"/>
              </a:rPr>
              <a:t>1</a:t>
            </a:r>
            <a:r>
              <a:rPr lang="en-US" sz="2000" spc="160" dirty="0">
                <a:latin typeface="Consolas" pitchFamily="49" charset="0"/>
                <a:cs typeface="Consolas" pitchFamily="49" charset="0"/>
              </a:rPr>
              <a:t>,0,0,0,</a:t>
            </a:r>
            <a:r>
              <a:rPr lang="en-US" sz="2000" spc="160" dirty="0">
                <a:solidFill>
                  <a:srgbClr val="FF0000"/>
                </a:solidFill>
                <a:latin typeface="Consolas" pitchFamily="49" charset="0"/>
                <a:cs typeface="Consolas" pitchFamily="49" charset="0"/>
              </a:rPr>
              <a:t>1</a:t>
            </a:r>
            <a:r>
              <a:rPr lang="en-US" sz="2000" spc="160" dirty="0">
                <a:latin typeface="Consolas" pitchFamily="49" charset="0"/>
                <a:cs typeface="Consolas" pitchFamily="49" charset="0"/>
              </a:rPr>
              <a:t>,0,0,</a:t>
            </a:r>
            <a:r>
              <a:rPr lang="en-US" sz="2000" spc="160" dirty="0">
                <a:solidFill>
                  <a:srgbClr val="C00000"/>
                </a:solidFill>
                <a:latin typeface="Consolas" pitchFamily="49" charset="0"/>
                <a:cs typeface="Consolas" pitchFamily="49" charset="0"/>
              </a:rPr>
              <a:t>1</a:t>
            </a:r>
            <a:r>
              <a:rPr lang="en-US" sz="2000" spc="160" dirty="0">
                <a:latin typeface="Consolas" pitchFamily="49" charset="0"/>
                <a:cs typeface="Consolas" pitchFamily="49" charset="0"/>
              </a:rPr>
              <a:t>},</a:t>
            </a:r>
          </a:p>
          <a:p>
            <a:pPr algn="l">
              <a:spcBef>
                <a:spcPts val="400"/>
              </a:spcBef>
            </a:pPr>
            <a:r>
              <a:rPr lang="en-US" sz="2000" spc="160" dirty="0">
                <a:latin typeface="Consolas" pitchFamily="49" charset="0"/>
                <a:cs typeface="Consolas" pitchFamily="49" charset="0"/>
              </a:rPr>
              <a:t>    {</a:t>
            </a:r>
            <a:r>
              <a:rPr lang="en-US" sz="2000" spc="160" dirty="0">
                <a:solidFill>
                  <a:srgbClr val="C00000"/>
                </a:solidFill>
                <a:latin typeface="Consolas" pitchFamily="49" charset="0"/>
                <a:cs typeface="Consolas" pitchFamily="49" charset="0"/>
              </a:rPr>
              <a:t>1,</a:t>
            </a:r>
            <a:r>
              <a:rPr lang="en-US" sz="2000" spc="160" dirty="0">
                <a:latin typeface="Consolas" pitchFamily="49" charset="0"/>
                <a:cs typeface="Consolas" pitchFamily="49" charset="0"/>
              </a:rPr>
              <a:t>0,</a:t>
            </a:r>
            <a:r>
              <a:rPr lang="en-US" sz="2000" spc="160" dirty="0">
                <a:solidFill>
                  <a:srgbClr val="FF0000"/>
                </a:solidFill>
                <a:latin typeface="Consolas" pitchFamily="49" charset="0"/>
                <a:cs typeface="Consolas" pitchFamily="49" charset="0"/>
              </a:rPr>
              <a:t>1,1,1</a:t>
            </a:r>
            <a:r>
              <a:rPr lang="en-US" sz="2000" spc="160" dirty="0">
                <a:latin typeface="Consolas" pitchFamily="49" charset="0"/>
                <a:cs typeface="Consolas" pitchFamily="49" charset="0"/>
              </a:rPr>
              <a:t>,0,</a:t>
            </a:r>
            <a:r>
              <a:rPr lang="en-US" sz="2000" spc="160" dirty="0">
                <a:solidFill>
                  <a:srgbClr val="FF0000"/>
                </a:solidFill>
                <a:latin typeface="Consolas" pitchFamily="49" charset="0"/>
                <a:cs typeface="Consolas" pitchFamily="49" charset="0"/>
              </a:rPr>
              <a:t>1,1</a:t>
            </a:r>
            <a:r>
              <a:rPr lang="en-US" sz="2000" spc="160" dirty="0">
                <a:latin typeface="Consolas" pitchFamily="49" charset="0"/>
                <a:cs typeface="Consolas" pitchFamily="49" charset="0"/>
              </a:rPr>
              <a:t>,0,</a:t>
            </a:r>
            <a:r>
              <a:rPr lang="en-US" sz="2000" spc="160" dirty="0">
                <a:solidFill>
                  <a:srgbClr val="C00000"/>
                </a:solidFill>
                <a:latin typeface="Consolas" pitchFamily="49" charset="0"/>
                <a:cs typeface="Consolas" pitchFamily="49" charset="0"/>
              </a:rPr>
              <a:t>1</a:t>
            </a:r>
            <a:r>
              <a:rPr lang="en-US" sz="2000" spc="160" dirty="0">
                <a:latin typeface="Consolas" pitchFamily="49" charset="0"/>
                <a:cs typeface="Consolas" pitchFamily="49" charset="0"/>
              </a:rPr>
              <a:t>},</a:t>
            </a:r>
            <a:endParaRPr lang="zh-CN" altLang="en-US" sz="2000" spc="160" dirty="0">
              <a:latin typeface="Consolas" pitchFamily="49" charset="0"/>
              <a:cs typeface="Consolas" pitchFamily="49" charset="0"/>
            </a:endParaRPr>
          </a:p>
          <a:p>
            <a:pPr algn="l">
              <a:spcBef>
                <a:spcPts val="400"/>
              </a:spcBef>
            </a:pPr>
            <a:r>
              <a:rPr lang="en-US" sz="2000" spc="160" dirty="0">
                <a:latin typeface="Consolas" pitchFamily="49" charset="0"/>
                <a:cs typeface="Consolas" pitchFamily="49" charset="0"/>
              </a:rPr>
              <a:t>    {</a:t>
            </a:r>
            <a:r>
              <a:rPr lang="en-US" sz="2000" spc="160" dirty="0">
                <a:solidFill>
                  <a:srgbClr val="C00000"/>
                </a:solidFill>
                <a:latin typeface="Consolas" pitchFamily="49" charset="0"/>
                <a:cs typeface="Consolas" pitchFamily="49" charset="0"/>
              </a:rPr>
              <a:t>1,</a:t>
            </a:r>
            <a:r>
              <a:rPr lang="en-US" sz="2000" spc="160" dirty="0">
                <a:latin typeface="Consolas" pitchFamily="49" charset="0"/>
                <a:cs typeface="Consolas" pitchFamily="49" charset="0"/>
              </a:rPr>
              <a:t>1,0,0,0,0,0,0,0,</a:t>
            </a:r>
            <a:r>
              <a:rPr lang="en-US" sz="2000" spc="160" dirty="0">
                <a:solidFill>
                  <a:srgbClr val="C00000"/>
                </a:solidFill>
                <a:latin typeface="Consolas" pitchFamily="49" charset="0"/>
                <a:cs typeface="Consolas" pitchFamily="49" charset="0"/>
              </a:rPr>
              <a:t>1</a:t>
            </a:r>
            <a:r>
              <a:rPr lang="en-US" sz="2000" spc="160" dirty="0">
                <a:latin typeface="Consolas" pitchFamily="49" charset="0"/>
                <a:cs typeface="Consolas" pitchFamily="49" charset="0"/>
              </a:rPr>
              <a:t>},</a:t>
            </a:r>
          </a:p>
          <a:p>
            <a:pPr algn="l">
              <a:spcBef>
                <a:spcPts val="400"/>
              </a:spcBef>
            </a:pPr>
            <a:r>
              <a:rPr lang="en-US" sz="2000" spc="160" dirty="0">
                <a:latin typeface="Consolas" pitchFamily="49" charset="0"/>
                <a:cs typeface="Consolas" pitchFamily="49" charset="0"/>
              </a:rPr>
              <a:t>    {</a:t>
            </a:r>
            <a:r>
              <a:rPr lang="en-US" sz="2000" spc="160" dirty="0">
                <a:solidFill>
                  <a:srgbClr val="C00000"/>
                </a:solidFill>
                <a:latin typeface="Consolas" pitchFamily="49" charset="0"/>
                <a:cs typeface="Consolas" pitchFamily="49" charset="0"/>
              </a:rPr>
              <a:t>1,1,1,1,1,1,1,1,1,1</a:t>
            </a:r>
            <a:r>
              <a:rPr lang="en-US" sz="2000" spc="160" dirty="0">
                <a:latin typeface="Consolas" pitchFamily="49" charset="0"/>
                <a:cs typeface="Consolas" pitchFamily="49" charset="0"/>
              </a:rPr>
              <a:t>}</a:t>
            </a:r>
          </a:p>
          <a:p>
            <a:pPr algn="l">
              <a:spcBef>
                <a:spcPts val="400"/>
              </a:spcBef>
            </a:pPr>
            <a:r>
              <a:rPr lang="en-US" sz="1800" spc="160" dirty="0">
                <a:latin typeface="Consolas" pitchFamily="49" charset="0"/>
                <a:cs typeface="Consolas" pitchFamily="49" charset="0"/>
              </a:rPr>
              <a:t>};</a:t>
            </a:r>
            <a:endParaRPr lang="zh-CN" altLang="en-US" sz="1800" spc="160" dirty="0">
              <a:latin typeface="Consolas" pitchFamily="49" charset="0"/>
              <a:cs typeface="Consolas" pitchFamily="49" charset="0"/>
            </a:endParaRPr>
          </a:p>
        </p:txBody>
      </p:sp>
      <p:sp>
        <p:nvSpPr>
          <p:cNvPr id="5" name="Rectangle 2">
            <a:extLst>
              <a:ext uri="{FF2B5EF4-FFF2-40B4-BE49-F238E27FC236}">
                <a16:creationId xmlns:a16="http://schemas.microsoft.com/office/drawing/2014/main" id="{FDE3BB5E-4E12-47D6-8EB7-CC09FBF41145}"/>
              </a:ext>
            </a:extLst>
          </p:cNvPr>
          <p:cNvSpPr>
            <a:spLocks noChangeArrowheads="1"/>
          </p:cNvSpPr>
          <p:nvPr/>
        </p:nvSpPr>
        <p:spPr bwMode="auto">
          <a:xfrm>
            <a:off x="624557" y="1845444"/>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Arial" charset="0"/>
              <a:ea typeface="宋体" pitchFamily="2" charset="-122"/>
            </a:endParaRPr>
          </a:p>
        </p:txBody>
      </p:sp>
      <p:sp>
        <p:nvSpPr>
          <p:cNvPr id="6" name="Rectangle 3">
            <a:extLst>
              <a:ext uri="{FF2B5EF4-FFF2-40B4-BE49-F238E27FC236}">
                <a16:creationId xmlns:a16="http://schemas.microsoft.com/office/drawing/2014/main" id="{7E968864-72E1-4074-BBD7-7E6C1F0B9BF3}"/>
              </a:ext>
            </a:extLst>
          </p:cNvPr>
          <p:cNvSpPr>
            <a:spLocks noChangeArrowheads="1"/>
          </p:cNvSpPr>
          <p:nvPr/>
        </p:nvSpPr>
        <p:spPr bwMode="auto">
          <a:xfrm>
            <a:off x="983332" y="1845444"/>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Arial" charset="0"/>
              <a:ea typeface="宋体" pitchFamily="2" charset="-122"/>
            </a:endParaRPr>
          </a:p>
        </p:txBody>
      </p:sp>
      <p:sp>
        <p:nvSpPr>
          <p:cNvPr id="7" name="Rectangle 4">
            <a:extLst>
              <a:ext uri="{FF2B5EF4-FFF2-40B4-BE49-F238E27FC236}">
                <a16:creationId xmlns:a16="http://schemas.microsoft.com/office/drawing/2014/main" id="{D4B02E46-BD26-4FEB-9188-16745820D2D8}"/>
              </a:ext>
            </a:extLst>
          </p:cNvPr>
          <p:cNvSpPr>
            <a:spLocks noChangeArrowheads="1"/>
          </p:cNvSpPr>
          <p:nvPr/>
        </p:nvSpPr>
        <p:spPr bwMode="auto">
          <a:xfrm>
            <a:off x="1330994" y="1845444"/>
            <a:ext cx="361950"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Arial" charset="0"/>
              <a:ea typeface="宋体" pitchFamily="2" charset="-122"/>
            </a:endParaRPr>
          </a:p>
        </p:txBody>
      </p:sp>
      <p:sp>
        <p:nvSpPr>
          <p:cNvPr id="8" name="Rectangle 5">
            <a:extLst>
              <a:ext uri="{FF2B5EF4-FFF2-40B4-BE49-F238E27FC236}">
                <a16:creationId xmlns:a16="http://schemas.microsoft.com/office/drawing/2014/main" id="{1BF76AAA-BACF-495C-A613-56C97C466984}"/>
              </a:ext>
            </a:extLst>
          </p:cNvPr>
          <p:cNvSpPr>
            <a:spLocks noChangeArrowheads="1"/>
          </p:cNvSpPr>
          <p:nvPr/>
        </p:nvSpPr>
        <p:spPr bwMode="auto">
          <a:xfrm>
            <a:off x="1692945" y="1845444"/>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Arial" charset="0"/>
              <a:ea typeface="宋体" pitchFamily="2" charset="-122"/>
            </a:endParaRPr>
          </a:p>
        </p:txBody>
      </p:sp>
      <p:sp>
        <p:nvSpPr>
          <p:cNvPr id="9" name="Rectangle 6">
            <a:extLst>
              <a:ext uri="{FF2B5EF4-FFF2-40B4-BE49-F238E27FC236}">
                <a16:creationId xmlns:a16="http://schemas.microsoft.com/office/drawing/2014/main" id="{85C50D7B-02EF-4CB6-973E-BE8B51CAABA5}"/>
              </a:ext>
            </a:extLst>
          </p:cNvPr>
          <p:cNvSpPr>
            <a:spLocks noChangeArrowheads="1"/>
          </p:cNvSpPr>
          <p:nvPr/>
        </p:nvSpPr>
        <p:spPr bwMode="auto">
          <a:xfrm>
            <a:off x="2051720" y="1845444"/>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Arial" charset="0"/>
              <a:ea typeface="宋体" pitchFamily="2" charset="-122"/>
            </a:endParaRPr>
          </a:p>
        </p:txBody>
      </p:sp>
      <p:sp>
        <p:nvSpPr>
          <p:cNvPr id="10" name="Rectangle 7">
            <a:extLst>
              <a:ext uri="{FF2B5EF4-FFF2-40B4-BE49-F238E27FC236}">
                <a16:creationId xmlns:a16="http://schemas.microsoft.com/office/drawing/2014/main" id="{3A47EF32-FF57-4548-990A-DCEE3D1CE01E}"/>
              </a:ext>
            </a:extLst>
          </p:cNvPr>
          <p:cNvSpPr>
            <a:spLocks noChangeArrowheads="1"/>
          </p:cNvSpPr>
          <p:nvPr/>
        </p:nvSpPr>
        <p:spPr bwMode="auto">
          <a:xfrm>
            <a:off x="2399382" y="1845444"/>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Arial" charset="0"/>
              <a:ea typeface="宋体" pitchFamily="2" charset="-122"/>
            </a:endParaRPr>
          </a:p>
        </p:txBody>
      </p:sp>
      <p:sp>
        <p:nvSpPr>
          <p:cNvPr id="11" name="Rectangle 8">
            <a:extLst>
              <a:ext uri="{FF2B5EF4-FFF2-40B4-BE49-F238E27FC236}">
                <a16:creationId xmlns:a16="http://schemas.microsoft.com/office/drawing/2014/main" id="{3E1DF166-70A8-4AE9-9C4A-E8A43F3FC2D6}"/>
              </a:ext>
            </a:extLst>
          </p:cNvPr>
          <p:cNvSpPr>
            <a:spLocks noChangeArrowheads="1"/>
          </p:cNvSpPr>
          <p:nvPr/>
        </p:nvSpPr>
        <p:spPr bwMode="auto">
          <a:xfrm>
            <a:off x="2758157" y="1845444"/>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Arial" charset="0"/>
              <a:ea typeface="宋体" pitchFamily="2" charset="-122"/>
            </a:endParaRPr>
          </a:p>
        </p:txBody>
      </p:sp>
      <p:sp>
        <p:nvSpPr>
          <p:cNvPr id="12" name="Rectangle 9">
            <a:extLst>
              <a:ext uri="{FF2B5EF4-FFF2-40B4-BE49-F238E27FC236}">
                <a16:creationId xmlns:a16="http://schemas.microsoft.com/office/drawing/2014/main" id="{933C97AB-0620-42FB-99A3-AC11A60A4161}"/>
              </a:ext>
            </a:extLst>
          </p:cNvPr>
          <p:cNvSpPr>
            <a:spLocks noChangeArrowheads="1"/>
          </p:cNvSpPr>
          <p:nvPr/>
        </p:nvSpPr>
        <p:spPr bwMode="auto">
          <a:xfrm>
            <a:off x="3480470" y="1845444"/>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Arial" charset="0"/>
              <a:ea typeface="宋体" pitchFamily="2" charset="-122"/>
            </a:endParaRPr>
          </a:p>
        </p:txBody>
      </p:sp>
      <p:sp>
        <p:nvSpPr>
          <p:cNvPr id="13" name="Rectangle 10">
            <a:extLst>
              <a:ext uri="{FF2B5EF4-FFF2-40B4-BE49-F238E27FC236}">
                <a16:creationId xmlns:a16="http://schemas.microsoft.com/office/drawing/2014/main" id="{9B374BDB-755F-47B8-B901-25EB714B0C5A}"/>
              </a:ext>
            </a:extLst>
          </p:cNvPr>
          <p:cNvSpPr>
            <a:spLocks noChangeArrowheads="1"/>
          </p:cNvSpPr>
          <p:nvPr/>
        </p:nvSpPr>
        <p:spPr bwMode="auto">
          <a:xfrm>
            <a:off x="3118519" y="1845444"/>
            <a:ext cx="361950"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Arial" charset="0"/>
              <a:ea typeface="宋体" pitchFamily="2" charset="-122"/>
            </a:endParaRPr>
          </a:p>
        </p:txBody>
      </p:sp>
      <p:sp>
        <p:nvSpPr>
          <p:cNvPr id="14" name="Rectangle 11">
            <a:extLst>
              <a:ext uri="{FF2B5EF4-FFF2-40B4-BE49-F238E27FC236}">
                <a16:creationId xmlns:a16="http://schemas.microsoft.com/office/drawing/2014/main" id="{91AB15F1-2BBD-4EAE-8676-D0D21A4C0D5C}"/>
              </a:ext>
            </a:extLst>
          </p:cNvPr>
          <p:cNvSpPr>
            <a:spLocks noChangeArrowheads="1"/>
          </p:cNvSpPr>
          <p:nvPr/>
        </p:nvSpPr>
        <p:spPr bwMode="auto">
          <a:xfrm>
            <a:off x="3839245" y="1845444"/>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Arial" charset="0"/>
              <a:ea typeface="宋体" pitchFamily="2" charset="-122"/>
            </a:endParaRPr>
          </a:p>
        </p:txBody>
      </p:sp>
      <p:sp>
        <p:nvSpPr>
          <p:cNvPr id="15" name="Rectangle 12">
            <a:extLst>
              <a:ext uri="{FF2B5EF4-FFF2-40B4-BE49-F238E27FC236}">
                <a16:creationId xmlns:a16="http://schemas.microsoft.com/office/drawing/2014/main" id="{E8500F28-D87B-4F73-AC86-C80030635614}"/>
              </a:ext>
            </a:extLst>
          </p:cNvPr>
          <p:cNvSpPr>
            <a:spLocks noChangeArrowheads="1"/>
          </p:cNvSpPr>
          <p:nvPr/>
        </p:nvSpPr>
        <p:spPr bwMode="auto">
          <a:xfrm>
            <a:off x="624557" y="2204219"/>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Arial" charset="0"/>
              <a:ea typeface="宋体" pitchFamily="2" charset="-122"/>
            </a:endParaRPr>
          </a:p>
        </p:txBody>
      </p:sp>
      <p:sp>
        <p:nvSpPr>
          <p:cNvPr id="16" name="Rectangle 13">
            <a:extLst>
              <a:ext uri="{FF2B5EF4-FFF2-40B4-BE49-F238E27FC236}">
                <a16:creationId xmlns:a16="http://schemas.microsoft.com/office/drawing/2014/main" id="{6197D2C9-F477-4BC9-B420-E2D25FA3542B}"/>
              </a:ext>
            </a:extLst>
          </p:cNvPr>
          <p:cNvSpPr>
            <a:spLocks noChangeArrowheads="1"/>
          </p:cNvSpPr>
          <p:nvPr/>
        </p:nvSpPr>
        <p:spPr bwMode="auto">
          <a:xfrm>
            <a:off x="983332" y="2204219"/>
            <a:ext cx="358775"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Arial" charset="0"/>
              <a:ea typeface="宋体" pitchFamily="2" charset="-122"/>
            </a:endParaRPr>
          </a:p>
        </p:txBody>
      </p:sp>
      <p:sp>
        <p:nvSpPr>
          <p:cNvPr id="17" name="Rectangle 14">
            <a:extLst>
              <a:ext uri="{FF2B5EF4-FFF2-40B4-BE49-F238E27FC236}">
                <a16:creationId xmlns:a16="http://schemas.microsoft.com/office/drawing/2014/main" id="{BE9C9CDB-6131-4873-B685-EFEC482ABBD3}"/>
              </a:ext>
            </a:extLst>
          </p:cNvPr>
          <p:cNvSpPr>
            <a:spLocks noChangeArrowheads="1"/>
          </p:cNvSpPr>
          <p:nvPr/>
        </p:nvSpPr>
        <p:spPr bwMode="auto">
          <a:xfrm>
            <a:off x="1330994" y="2204219"/>
            <a:ext cx="361950"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Arial" charset="0"/>
              <a:ea typeface="宋体" pitchFamily="2" charset="-122"/>
            </a:endParaRPr>
          </a:p>
        </p:txBody>
      </p:sp>
      <p:sp>
        <p:nvSpPr>
          <p:cNvPr id="18" name="Rectangle 15">
            <a:extLst>
              <a:ext uri="{FF2B5EF4-FFF2-40B4-BE49-F238E27FC236}">
                <a16:creationId xmlns:a16="http://schemas.microsoft.com/office/drawing/2014/main" id="{02A3722C-DB5B-4D46-A21F-94B72A9E1087}"/>
              </a:ext>
            </a:extLst>
          </p:cNvPr>
          <p:cNvSpPr>
            <a:spLocks noChangeArrowheads="1"/>
          </p:cNvSpPr>
          <p:nvPr/>
        </p:nvSpPr>
        <p:spPr bwMode="auto">
          <a:xfrm>
            <a:off x="1692945" y="2204219"/>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Arial" charset="0"/>
              <a:ea typeface="宋体" pitchFamily="2" charset="-122"/>
            </a:endParaRPr>
          </a:p>
        </p:txBody>
      </p:sp>
      <p:sp>
        <p:nvSpPr>
          <p:cNvPr id="19" name="Rectangle 16">
            <a:extLst>
              <a:ext uri="{FF2B5EF4-FFF2-40B4-BE49-F238E27FC236}">
                <a16:creationId xmlns:a16="http://schemas.microsoft.com/office/drawing/2014/main" id="{9627C598-11B9-424F-B6FD-50494F16BD9B}"/>
              </a:ext>
            </a:extLst>
          </p:cNvPr>
          <p:cNvSpPr>
            <a:spLocks noChangeArrowheads="1"/>
          </p:cNvSpPr>
          <p:nvPr/>
        </p:nvSpPr>
        <p:spPr bwMode="auto">
          <a:xfrm>
            <a:off x="2051720" y="2204219"/>
            <a:ext cx="358775"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Arial" charset="0"/>
              <a:ea typeface="宋体" pitchFamily="2" charset="-122"/>
            </a:endParaRPr>
          </a:p>
        </p:txBody>
      </p:sp>
      <p:sp>
        <p:nvSpPr>
          <p:cNvPr id="20" name="Rectangle 17">
            <a:extLst>
              <a:ext uri="{FF2B5EF4-FFF2-40B4-BE49-F238E27FC236}">
                <a16:creationId xmlns:a16="http://schemas.microsoft.com/office/drawing/2014/main" id="{C3EF74AC-39F5-40B2-B73F-EB37DA9FA6D1}"/>
              </a:ext>
            </a:extLst>
          </p:cNvPr>
          <p:cNvSpPr>
            <a:spLocks noChangeArrowheads="1"/>
          </p:cNvSpPr>
          <p:nvPr/>
        </p:nvSpPr>
        <p:spPr bwMode="auto">
          <a:xfrm>
            <a:off x="2399382" y="2204219"/>
            <a:ext cx="358775"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Arial" charset="0"/>
              <a:ea typeface="宋体" pitchFamily="2" charset="-122"/>
            </a:endParaRPr>
          </a:p>
        </p:txBody>
      </p:sp>
      <p:sp>
        <p:nvSpPr>
          <p:cNvPr id="21" name="Rectangle 18">
            <a:extLst>
              <a:ext uri="{FF2B5EF4-FFF2-40B4-BE49-F238E27FC236}">
                <a16:creationId xmlns:a16="http://schemas.microsoft.com/office/drawing/2014/main" id="{16631B73-F22C-462E-BAB5-E0A8344D853F}"/>
              </a:ext>
            </a:extLst>
          </p:cNvPr>
          <p:cNvSpPr>
            <a:spLocks noChangeArrowheads="1"/>
          </p:cNvSpPr>
          <p:nvPr/>
        </p:nvSpPr>
        <p:spPr bwMode="auto">
          <a:xfrm>
            <a:off x="2758157" y="2204219"/>
            <a:ext cx="358775"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Arial" charset="0"/>
              <a:ea typeface="宋体" pitchFamily="2" charset="-122"/>
            </a:endParaRPr>
          </a:p>
        </p:txBody>
      </p:sp>
      <p:sp>
        <p:nvSpPr>
          <p:cNvPr id="22" name="Rectangle 19">
            <a:extLst>
              <a:ext uri="{FF2B5EF4-FFF2-40B4-BE49-F238E27FC236}">
                <a16:creationId xmlns:a16="http://schemas.microsoft.com/office/drawing/2014/main" id="{C582C738-391E-47DF-83EE-E29B688590E7}"/>
              </a:ext>
            </a:extLst>
          </p:cNvPr>
          <p:cNvSpPr>
            <a:spLocks noChangeArrowheads="1"/>
          </p:cNvSpPr>
          <p:nvPr/>
        </p:nvSpPr>
        <p:spPr bwMode="auto">
          <a:xfrm>
            <a:off x="3480470" y="2204219"/>
            <a:ext cx="358775"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Arial" charset="0"/>
              <a:ea typeface="宋体" pitchFamily="2" charset="-122"/>
            </a:endParaRPr>
          </a:p>
        </p:txBody>
      </p:sp>
      <p:sp>
        <p:nvSpPr>
          <p:cNvPr id="23" name="Rectangle 20">
            <a:extLst>
              <a:ext uri="{FF2B5EF4-FFF2-40B4-BE49-F238E27FC236}">
                <a16:creationId xmlns:a16="http://schemas.microsoft.com/office/drawing/2014/main" id="{75C6A2BF-2883-40D0-B5D6-8F3A5C11A592}"/>
              </a:ext>
            </a:extLst>
          </p:cNvPr>
          <p:cNvSpPr>
            <a:spLocks noChangeArrowheads="1"/>
          </p:cNvSpPr>
          <p:nvPr/>
        </p:nvSpPr>
        <p:spPr bwMode="auto">
          <a:xfrm>
            <a:off x="3118519" y="2204219"/>
            <a:ext cx="361950"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Arial" charset="0"/>
              <a:ea typeface="宋体" pitchFamily="2" charset="-122"/>
            </a:endParaRPr>
          </a:p>
        </p:txBody>
      </p:sp>
      <p:sp>
        <p:nvSpPr>
          <p:cNvPr id="24" name="Rectangle 21">
            <a:extLst>
              <a:ext uri="{FF2B5EF4-FFF2-40B4-BE49-F238E27FC236}">
                <a16:creationId xmlns:a16="http://schemas.microsoft.com/office/drawing/2014/main" id="{CA16181E-D369-43EC-9764-B9C813CCECA9}"/>
              </a:ext>
            </a:extLst>
          </p:cNvPr>
          <p:cNvSpPr>
            <a:spLocks noChangeArrowheads="1"/>
          </p:cNvSpPr>
          <p:nvPr/>
        </p:nvSpPr>
        <p:spPr bwMode="auto">
          <a:xfrm>
            <a:off x="3839245" y="2204219"/>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Arial" charset="0"/>
              <a:ea typeface="宋体" pitchFamily="2" charset="-122"/>
            </a:endParaRPr>
          </a:p>
        </p:txBody>
      </p:sp>
      <p:sp>
        <p:nvSpPr>
          <p:cNvPr id="25" name="Rectangle 22">
            <a:extLst>
              <a:ext uri="{FF2B5EF4-FFF2-40B4-BE49-F238E27FC236}">
                <a16:creationId xmlns:a16="http://schemas.microsoft.com/office/drawing/2014/main" id="{F268A3F9-45B4-468E-9C3D-34EFF23E22D9}"/>
              </a:ext>
            </a:extLst>
          </p:cNvPr>
          <p:cNvSpPr>
            <a:spLocks noChangeArrowheads="1"/>
          </p:cNvSpPr>
          <p:nvPr/>
        </p:nvSpPr>
        <p:spPr bwMode="auto">
          <a:xfrm>
            <a:off x="624557" y="2564582"/>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Arial" charset="0"/>
              <a:ea typeface="宋体" pitchFamily="2" charset="-122"/>
            </a:endParaRPr>
          </a:p>
        </p:txBody>
      </p:sp>
      <p:sp>
        <p:nvSpPr>
          <p:cNvPr id="26" name="Rectangle 23">
            <a:extLst>
              <a:ext uri="{FF2B5EF4-FFF2-40B4-BE49-F238E27FC236}">
                <a16:creationId xmlns:a16="http://schemas.microsoft.com/office/drawing/2014/main" id="{E22EDFAB-2583-4AE3-B9B4-48EA9C573DD2}"/>
              </a:ext>
            </a:extLst>
          </p:cNvPr>
          <p:cNvSpPr>
            <a:spLocks noChangeArrowheads="1"/>
          </p:cNvSpPr>
          <p:nvPr/>
        </p:nvSpPr>
        <p:spPr bwMode="auto">
          <a:xfrm>
            <a:off x="983332" y="2564582"/>
            <a:ext cx="358775"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Arial" charset="0"/>
              <a:ea typeface="宋体" pitchFamily="2" charset="-122"/>
            </a:endParaRPr>
          </a:p>
        </p:txBody>
      </p:sp>
      <p:sp>
        <p:nvSpPr>
          <p:cNvPr id="27" name="Rectangle 24">
            <a:extLst>
              <a:ext uri="{FF2B5EF4-FFF2-40B4-BE49-F238E27FC236}">
                <a16:creationId xmlns:a16="http://schemas.microsoft.com/office/drawing/2014/main" id="{E34FAC1A-F3EF-4F28-AB45-1881F45D7767}"/>
              </a:ext>
            </a:extLst>
          </p:cNvPr>
          <p:cNvSpPr>
            <a:spLocks noChangeArrowheads="1"/>
          </p:cNvSpPr>
          <p:nvPr/>
        </p:nvSpPr>
        <p:spPr bwMode="auto">
          <a:xfrm>
            <a:off x="1330994" y="2564582"/>
            <a:ext cx="361950"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Arial" charset="0"/>
              <a:ea typeface="宋体" pitchFamily="2" charset="-122"/>
            </a:endParaRPr>
          </a:p>
        </p:txBody>
      </p:sp>
      <p:sp>
        <p:nvSpPr>
          <p:cNvPr id="28" name="Rectangle 25">
            <a:extLst>
              <a:ext uri="{FF2B5EF4-FFF2-40B4-BE49-F238E27FC236}">
                <a16:creationId xmlns:a16="http://schemas.microsoft.com/office/drawing/2014/main" id="{70A676FC-B97B-4F2D-B0AA-D845BE58F959}"/>
              </a:ext>
            </a:extLst>
          </p:cNvPr>
          <p:cNvSpPr>
            <a:spLocks noChangeArrowheads="1"/>
          </p:cNvSpPr>
          <p:nvPr/>
        </p:nvSpPr>
        <p:spPr bwMode="auto">
          <a:xfrm>
            <a:off x="1692945" y="2564582"/>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Arial" charset="0"/>
              <a:ea typeface="宋体" pitchFamily="2" charset="-122"/>
            </a:endParaRPr>
          </a:p>
        </p:txBody>
      </p:sp>
      <p:sp>
        <p:nvSpPr>
          <p:cNvPr id="29" name="Rectangle 26">
            <a:extLst>
              <a:ext uri="{FF2B5EF4-FFF2-40B4-BE49-F238E27FC236}">
                <a16:creationId xmlns:a16="http://schemas.microsoft.com/office/drawing/2014/main" id="{5C121A82-0339-4671-9B21-40CE8A3DF559}"/>
              </a:ext>
            </a:extLst>
          </p:cNvPr>
          <p:cNvSpPr>
            <a:spLocks noChangeArrowheads="1"/>
          </p:cNvSpPr>
          <p:nvPr/>
        </p:nvSpPr>
        <p:spPr bwMode="auto">
          <a:xfrm>
            <a:off x="2051720" y="2564582"/>
            <a:ext cx="358775"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Arial" charset="0"/>
              <a:ea typeface="宋体" pitchFamily="2" charset="-122"/>
            </a:endParaRPr>
          </a:p>
        </p:txBody>
      </p:sp>
      <p:sp>
        <p:nvSpPr>
          <p:cNvPr id="30" name="Rectangle 27">
            <a:extLst>
              <a:ext uri="{FF2B5EF4-FFF2-40B4-BE49-F238E27FC236}">
                <a16:creationId xmlns:a16="http://schemas.microsoft.com/office/drawing/2014/main" id="{7A0554D0-9017-4602-9069-F16E7383413E}"/>
              </a:ext>
            </a:extLst>
          </p:cNvPr>
          <p:cNvSpPr>
            <a:spLocks noChangeArrowheads="1"/>
          </p:cNvSpPr>
          <p:nvPr/>
        </p:nvSpPr>
        <p:spPr bwMode="auto">
          <a:xfrm>
            <a:off x="2399382" y="2564582"/>
            <a:ext cx="358775"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Arial" charset="0"/>
              <a:ea typeface="宋体" pitchFamily="2" charset="-122"/>
            </a:endParaRPr>
          </a:p>
        </p:txBody>
      </p:sp>
      <p:sp>
        <p:nvSpPr>
          <p:cNvPr id="31" name="Rectangle 28">
            <a:extLst>
              <a:ext uri="{FF2B5EF4-FFF2-40B4-BE49-F238E27FC236}">
                <a16:creationId xmlns:a16="http://schemas.microsoft.com/office/drawing/2014/main" id="{F185BA84-97E1-465E-9CCD-D123A3F2E3CD}"/>
              </a:ext>
            </a:extLst>
          </p:cNvPr>
          <p:cNvSpPr>
            <a:spLocks noChangeArrowheads="1"/>
          </p:cNvSpPr>
          <p:nvPr/>
        </p:nvSpPr>
        <p:spPr bwMode="auto">
          <a:xfrm>
            <a:off x="2758157" y="2564582"/>
            <a:ext cx="358775"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Arial" charset="0"/>
              <a:ea typeface="宋体" pitchFamily="2" charset="-122"/>
            </a:endParaRPr>
          </a:p>
        </p:txBody>
      </p:sp>
      <p:sp>
        <p:nvSpPr>
          <p:cNvPr id="32" name="Rectangle 29">
            <a:extLst>
              <a:ext uri="{FF2B5EF4-FFF2-40B4-BE49-F238E27FC236}">
                <a16:creationId xmlns:a16="http://schemas.microsoft.com/office/drawing/2014/main" id="{553558CE-6319-4B98-ADE6-DCF62EF67BD7}"/>
              </a:ext>
            </a:extLst>
          </p:cNvPr>
          <p:cNvSpPr>
            <a:spLocks noChangeArrowheads="1"/>
          </p:cNvSpPr>
          <p:nvPr/>
        </p:nvSpPr>
        <p:spPr bwMode="auto">
          <a:xfrm>
            <a:off x="3480470" y="2564582"/>
            <a:ext cx="358775"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Arial" charset="0"/>
              <a:ea typeface="宋体" pitchFamily="2" charset="-122"/>
            </a:endParaRPr>
          </a:p>
        </p:txBody>
      </p:sp>
      <p:sp>
        <p:nvSpPr>
          <p:cNvPr id="33" name="Rectangle 30">
            <a:extLst>
              <a:ext uri="{FF2B5EF4-FFF2-40B4-BE49-F238E27FC236}">
                <a16:creationId xmlns:a16="http://schemas.microsoft.com/office/drawing/2014/main" id="{DBCC8D2F-AE7E-4348-89A0-51717A8A008D}"/>
              </a:ext>
            </a:extLst>
          </p:cNvPr>
          <p:cNvSpPr>
            <a:spLocks noChangeArrowheads="1"/>
          </p:cNvSpPr>
          <p:nvPr/>
        </p:nvSpPr>
        <p:spPr bwMode="auto">
          <a:xfrm>
            <a:off x="3118519" y="2564582"/>
            <a:ext cx="361950"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Arial" charset="0"/>
              <a:ea typeface="宋体" pitchFamily="2" charset="-122"/>
            </a:endParaRPr>
          </a:p>
        </p:txBody>
      </p:sp>
      <p:sp>
        <p:nvSpPr>
          <p:cNvPr id="34" name="Rectangle 31">
            <a:extLst>
              <a:ext uri="{FF2B5EF4-FFF2-40B4-BE49-F238E27FC236}">
                <a16:creationId xmlns:a16="http://schemas.microsoft.com/office/drawing/2014/main" id="{354571ED-2292-4E16-87E0-37179FA479AA}"/>
              </a:ext>
            </a:extLst>
          </p:cNvPr>
          <p:cNvSpPr>
            <a:spLocks noChangeArrowheads="1"/>
          </p:cNvSpPr>
          <p:nvPr/>
        </p:nvSpPr>
        <p:spPr bwMode="auto">
          <a:xfrm>
            <a:off x="3839245" y="2564582"/>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Arial" charset="0"/>
              <a:ea typeface="宋体" pitchFamily="2" charset="-122"/>
            </a:endParaRPr>
          </a:p>
        </p:txBody>
      </p:sp>
      <p:sp>
        <p:nvSpPr>
          <p:cNvPr id="35" name="Rectangle 32">
            <a:extLst>
              <a:ext uri="{FF2B5EF4-FFF2-40B4-BE49-F238E27FC236}">
                <a16:creationId xmlns:a16="http://schemas.microsoft.com/office/drawing/2014/main" id="{18ACE616-0BEA-49D0-83C7-DEE955D08F00}"/>
              </a:ext>
            </a:extLst>
          </p:cNvPr>
          <p:cNvSpPr>
            <a:spLocks noChangeArrowheads="1"/>
          </p:cNvSpPr>
          <p:nvPr/>
        </p:nvSpPr>
        <p:spPr bwMode="auto">
          <a:xfrm>
            <a:off x="624557" y="2924944"/>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Arial" charset="0"/>
              <a:ea typeface="宋体" pitchFamily="2" charset="-122"/>
            </a:endParaRPr>
          </a:p>
        </p:txBody>
      </p:sp>
      <p:sp>
        <p:nvSpPr>
          <p:cNvPr id="36" name="Rectangle 33">
            <a:extLst>
              <a:ext uri="{FF2B5EF4-FFF2-40B4-BE49-F238E27FC236}">
                <a16:creationId xmlns:a16="http://schemas.microsoft.com/office/drawing/2014/main" id="{AB78C99B-5149-4818-93CD-C1E389606AC3}"/>
              </a:ext>
            </a:extLst>
          </p:cNvPr>
          <p:cNvSpPr>
            <a:spLocks noChangeArrowheads="1"/>
          </p:cNvSpPr>
          <p:nvPr/>
        </p:nvSpPr>
        <p:spPr bwMode="auto">
          <a:xfrm>
            <a:off x="983332" y="2924944"/>
            <a:ext cx="358775"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Arial" charset="0"/>
              <a:ea typeface="宋体" pitchFamily="2" charset="-122"/>
            </a:endParaRPr>
          </a:p>
        </p:txBody>
      </p:sp>
      <p:sp>
        <p:nvSpPr>
          <p:cNvPr id="37" name="Rectangle 34">
            <a:extLst>
              <a:ext uri="{FF2B5EF4-FFF2-40B4-BE49-F238E27FC236}">
                <a16:creationId xmlns:a16="http://schemas.microsoft.com/office/drawing/2014/main" id="{931E3AE5-656C-4FC5-849D-094AF88C3FFB}"/>
              </a:ext>
            </a:extLst>
          </p:cNvPr>
          <p:cNvSpPr>
            <a:spLocks noChangeArrowheads="1"/>
          </p:cNvSpPr>
          <p:nvPr/>
        </p:nvSpPr>
        <p:spPr bwMode="auto">
          <a:xfrm>
            <a:off x="1330994" y="2924944"/>
            <a:ext cx="361950"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Arial" charset="0"/>
              <a:ea typeface="宋体" pitchFamily="2" charset="-122"/>
            </a:endParaRPr>
          </a:p>
        </p:txBody>
      </p:sp>
      <p:sp>
        <p:nvSpPr>
          <p:cNvPr id="38" name="Rectangle 35">
            <a:extLst>
              <a:ext uri="{FF2B5EF4-FFF2-40B4-BE49-F238E27FC236}">
                <a16:creationId xmlns:a16="http://schemas.microsoft.com/office/drawing/2014/main" id="{111386B0-B938-40A5-B4E2-4AD29139290C}"/>
              </a:ext>
            </a:extLst>
          </p:cNvPr>
          <p:cNvSpPr>
            <a:spLocks noChangeArrowheads="1"/>
          </p:cNvSpPr>
          <p:nvPr/>
        </p:nvSpPr>
        <p:spPr bwMode="auto">
          <a:xfrm>
            <a:off x="1692945" y="2924944"/>
            <a:ext cx="358775"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Arial" charset="0"/>
              <a:ea typeface="宋体" pitchFamily="2" charset="-122"/>
            </a:endParaRPr>
          </a:p>
        </p:txBody>
      </p:sp>
      <p:sp>
        <p:nvSpPr>
          <p:cNvPr id="39" name="Rectangle 36">
            <a:extLst>
              <a:ext uri="{FF2B5EF4-FFF2-40B4-BE49-F238E27FC236}">
                <a16:creationId xmlns:a16="http://schemas.microsoft.com/office/drawing/2014/main" id="{5A4DF4E8-DD7B-438A-8CC9-247CAFDA8154}"/>
              </a:ext>
            </a:extLst>
          </p:cNvPr>
          <p:cNvSpPr>
            <a:spLocks noChangeArrowheads="1"/>
          </p:cNvSpPr>
          <p:nvPr/>
        </p:nvSpPr>
        <p:spPr bwMode="auto">
          <a:xfrm>
            <a:off x="2051720" y="2924944"/>
            <a:ext cx="358775"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Arial" charset="0"/>
              <a:ea typeface="宋体" pitchFamily="2" charset="-122"/>
            </a:endParaRPr>
          </a:p>
        </p:txBody>
      </p:sp>
      <p:sp>
        <p:nvSpPr>
          <p:cNvPr id="40" name="Rectangle 37">
            <a:extLst>
              <a:ext uri="{FF2B5EF4-FFF2-40B4-BE49-F238E27FC236}">
                <a16:creationId xmlns:a16="http://schemas.microsoft.com/office/drawing/2014/main" id="{A1C2FE0C-2052-4312-9CD5-BC2264025198}"/>
              </a:ext>
            </a:extLst>
          </p:cNvPr>
          <p:cNvSpPr>
            <a:spLocks noChangeArrowheads="1"/>
          </p:cNvSpPr>
          <p:nvPr/>
        </p:nvSpPr>
        <p:spPr bwMode="auto">
          <a:xfrm>
            <a:off x="2399382" y="2924944"/>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Arial" charset="0"/>
              <a:ea typeface="宋体" pitchFamily="2" charset="-122"/>
            </a:endParaRPr>
          </a:p>
        </p:txBody>
      </p:sp>
      <p:sp>
        <p:nvSpPr>
          <p:cNvPr id="41" name="Rectangle 38">
            <a:extLst>
              <a:ext uri="{FF2B5EF4-FFF2-40B4-BE49-F238E27FC236}">
                <a16:creationId xmlns:a16="http://schemas.microsoft.com/office/drawing/2014/main" id="{582495AB-DB58-4F27-8125-FBCC22C485C8}"/>
              </a:ext>
            </a:extLst>
          </p:cNvPr>
          <p:cNvSpPr>
            <a:spLocks noChangeArrowheads="1"/>
          </p:cNvSpPr>
          <p:nvPr/>
        </p:nvSpPr>
        <p:spPr bwMode="auto">
          <a:xfrm>
            <a:off x="2758157" y="2924944"/>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Arial" charset="0"/>
              <a:ea typeface="宋体" pitchFamily="2" charset="-122"/>
            </a:endParaRPr>
          </a:p>
        </p:txBody>
      </p:sp>
      <p:sp>
        <p:nvSpPr>
          <p:cNvPr id="42" name="Rectangle 39">
            <a:extLst>
              <a:ext uri="{FF2B5EF4-FFF2-40B4-BE49-F238E27FC236}">
                <a16:creationId xmlns:a16="http://schemas.microsoft.com/office/drawing/2014/main" id="{6C1F75F4-15D1-4071-B775-64FDF434E110}"/>
              </a:ext>
            </a:extLst>
          </p:cNvPr>
          <p:cNvSpPr>
            <a:spLocks noChangeArrowheads="1"/>
          </p:cNvSpPr>
          <p:nvPr/>
        </p:nvSpPr>
        <p:spPr bwMode="auto">
          <a:xfrm>
            <a:off x="3480470" y="2924944"/>
            <a:ext cx="358775"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Arial" charset="0"/>
              <a:ea typeface="宋体" pitchFamily="2" charset="-122"/>
            </a:endParaRPr>
          </a:p>
        </p:txBody>
      </p:sp>
      <p:sp>
        <p:nvSpPr>
          <p:cNvPr id="43" name="Rectangle 40">
            <a:extLst>
              <a:ext uri="{FF2B5EF4-FFF2-40B4-BE49-F238E27FC236}">
                <a16:creationId xmlns:a16="http://schemas.microsoft.com/office/drawing/2014/main" id="{68ECCC75-5A20-49CC-BDD6-7A512C489BD0}"/>
              </a:ext>
            </a:extLst>
          </p:cNvPr>
          <p:cNvSpPr>
            <a:spLocks noChangeArrowheads="1"/>
          </p:cNvSpPr>
          <p:nvPr/>
        </p:nvSpPr>
        <p:spPr bwMode="auto">
          <a:xfrm>
            <a:off x="3118519" y="2924944"/>
            <a:ext cx="361950"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Arial" charset="0"/>
              <a:ea typeface="宋体" pitchFamily="2" charset="-122"/>
            </a:endParaRPr>
          </a:p>
        </p:txBody>
      </p:sp>
      <p:sp>
        <p:nvSpPr>
          <p:cNvPr id="44" name="Rectangle 41">
            <a:extLst>
              <a:ext uri="{FF2B5EF4-FFF2-40B4-BE49-F238E27FC236}">
                <a16:creationId xmlns:a16="http://schemas.microsoft.com/office/drawing/2014/main" id="{C069C77D-0C2D-4F88-8C22-A928D05496A7}"/>
              </a:ext>
            </a:extLst>
          </p:cNvPr>
          <p:cNvSpPr>
            <a:spLocks noChangeArrowheads="1"/>
          </p:cNvSpPr>
          <p:nvPr/>
        </p:nvSpPr>
        <p:spPr bwMode="auto">
          <a:xfrm>
            <a:off x="3839245" y="2924944"/>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Arial" charset="0"/>
              <a:ea typeface="宋体" pitchFamily="2" charset="-122"/>
            </a:endParaRPr>
          </a:p>
        </p:txBody>
      </p:sp>
      <p:sp>
        <p:nvSpPr>
          <p:cNvPr id="45" name="Rectangle 42">
            <a:extLst>
              <a:ext uri="{FF2B5EF4-FFF2-40B4-BE49-F238E27FC236}">
                <a16:creationId xmlns:a16="http://schemas.microsoft.com/office/drawing/2014/main" id="{F0E9E9AE-69C5-45B9-B7BD-76C7BED0932E}"/>
              </a:ext>
            </a:extLst>
          </p:cNvPr>
          <p:cNvSpPr>
            <a:spLocks noChangeArrowheads="1"/>
          </p:cNvSpPr>
          <p:nvPr/>
        </p:nvSpPr>
        <p:spPr bwMode="auto">
          <a:xfrm>
            <a:off x="624557" y="3272607"/>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Arial" charset="0"/>
              <a:ea typeface="宋体" pitchFamily="2" charset="-122"/>
            </a:endParaRPr>
          </a:p>
        </p:txBody>
      </p:sp>
      <p:sp>
        <p:nvSpPr>
          <p:cNvPr id="46" name="Rectangle 43">
            <a:extLst>
              <a:ext uri="{FF2B5EF4-FFF2-40B4-BE49-F238E27FC236}">
                <a16:creationId xmlns:a16="http://schemas.microsoft.com/office/drawing/2014/main" id="{2B28B053-A80C-4BEE-BAB0-0F75669B323F}"/>
              </a:ext>
            </a:extLst>
          </p:cNvPr>
          <p:cNvSpPr>
            <a:spLocks noChangeArrowheads="1"/>
          </p:cNvSpPr>
          <p:nvPr/>
        </p:nvSpPr>
        <p:spPr bwMode="auto">
          <a:xfrm>
            <a:off x="983332" y="3277940"/>
            <a:ext cx="358775" cy="391542"/>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Arial" charset="0"/>
              <a:ea typeface="宋体" pitchFamily="2" charset="-122"/>
            </a:endParaRPr>
          </a:p>
        </p:txBody>
      </p:sp>
      <p:sp>
        <p:nvSpPr>
          <p:cNvPr id="47" name="Rectangle 44">
            <a:extLst>
              <a:ext uri="{FF2B5EF4-FFF2-40B4-BE49-F238E27FC236}">
                <a16:creationId xmlns:a16="http://schemas.microsoft.com/office/drawing/2014/main" id="{4C00F544-AAF0-4D88-98B8-FD5424C73A6D}"/>
              </a:ext>
            </a:extLst>
          </p:cNvPr>
          <p:cNvSpPr>
            <a:spLocks noChangeArrowheads="1"/>
          </p:cNvSpPr>
          <p:nvPr/>
        </p:nvSpPr>
        <p:spPr bwMode="auto">
          <a:xfrm>
            <a:off x="1330994" y="3272607"/>
            <a:ext cx="361950"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Arial" charset="0"/>
              <a:ea typeface="宋体" pitchFamily="2" charset="-122"/>
            </a:endParaRPr>
          </a:p>
        </p:txBody>
      </p:sp>
      <p:sp>
        <p:nvSpPr>
          <p:cNvPr id="48" name="Rectangle 45">
            <a:extLst>
              <a:ext uri="{FF2B5EF4-FFF2-40B4-BE49-F238E27FC236}">
                <a16:creationId xmlns:a16="http://schemas.microsoft.com/office/drawing/2014/main" id="{BED491C2-2FD0-468E-B756-04F27B604FC0}"/>
              </a:ext>
            </a:extLst>
          </p:cNvPr>
          <p:cNvSpPr>
            <a:spLocks noChangeArrowheads="1"/>
          </p:cNvSpPr>
          <p:nvPr/>
        </p:nvSpPr>
        <p:spPr bwMode="auto">
          <a:xfrm>
            <a:off x="1692945" y="3272607"/>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Arial" charset="0"/>
              <a:ea typeface="宋体" pitchFamily="2" charset="-122"/>
            </a:endParaRPr>
          </a:p>
        </p:txBody>
      </p:sp>
      <p:sp>
        <p:nvSpPr>
          <p:cNvPr id="49" name="Rectangle 46">
            <a:extLst>
              <a:ext uri="{FF2B5EF4-FFF2-40B4-BE49-F238E27FC236}">
                <a16:creationId xmlns:a16="http://schemas.microsoft.com/office/drawing/2014/main" id="{40C63CA0-6863-4687-B966-69896D666F49}"/>
              </a:ext>
            </a:extLst>
          </p:cNvPr>
          <p:cNvSpPr>
            <a:spLocks noChangeArrowheads="1"/>
          </p:cNvSpPr>
          <p:nvPr/>
        </p:nvSpPr>
        <p:spPr bwMode="auto">
          <a:xfrm>
            <a:off x="2051720" y="3272607"/>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Arial" charset="0"/>
              <a:ea typeface="宋体" pitchFamily="2" charset="-122"/>
            </a:endParaRPr>
          </a:p>
        </p:txBody>
      </p:sp>
      <p:sp>
        <p:nvSpPr>
          <p:cNvPr id="50" name="Rectangle 47">
            <a:extLst>
              <a:ext uri="{FF2B5EF4-FFF2-40B4-BE49-F238E27FC236}">
                <a16:creationId xmlns:a16="http://schemas.microsoft.com/office/drawing/2014/main" id="{FD8C8AF8-9A7E-48E1-A714-CAF00DB7A3C8}"/>
              </a:ext>
            </a:extLst>
          </p:cNvPr>
          <p:cNvSpPr>
            <a:spLocks noChangeArrowheads="1"/>
          </p:cNvSpPr>
          <p:nvPr/>
        </p:nvSpPr>
        <p:spPr bwMode="auto">
          <a:xfrm>
            <a:off x="2399382" y="3272607"/>
            <a:ext cx="358775"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Arial" charset="0"/>
              <a:ea typeface="宋体" pitchFamily="2" charset="-122"/>
            </a:endParaRPr>
          </a:p>
        </p:txBody>
      </p:sp>
      <p:sp>
        <p:nvSpPr>
          <p:cNvPr id="51" name="Rectangle 48">
            <a:extLst>
              <a:ext uri="{FF2B5EF4-FFF2-40B4-BE49-F238E27FC236}">
                <a16:creationId xmlns:a16="http://schemas.microsoft.com/office/drawing/2014/main" id="{25FE1523-64E4-49AA-88D5-27F5F77905C7}"/>
              </a:ext>
            </a:extLst>
          </p:cNvPr>
          <p:cNvSpPr>
            <a:spLocks noChangeArrowheads="1"/>
          </p:cNvSpPr>
          <p:nvPr/>
        </p:nvSpPr>
        <p:spPr bwMode="auto">
          <a:xfrm>
            <a:off x="2758157" y="3272607"/>
            <a:ext cx="358775"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Arial" charset="0"/>
              <a:ea typeface="宋体" pitchFamily="2" charset="-122"/>
            </a:endParaRPr>
          </a:p>
        </p:txBody>
      </p:sp>
      <p:sp>
        <p:nvSpPr>
          <p:cNvPr id="52" name="Rectangle 49">
            <a:extLst>
              <a:ext uri="{FF2B5EF4-FFF2-40B4-BE49-F238E27FC236}">
                <a16:creationId xmlns:a16="http://schemas.microsoft.com/office/drawing/2014/main" id="{FAFFF4FB-3A8D-4EC1-B20D-34298F7A74C5}"/>
              </a:ext>
            </a:extLst>
          </p:cNvPr>
          <p:cNvSpPr>
            <a:spLocks noChangeArrowheads="1"/>
          </p:cNvSpPr>
          <p:nvPr/>
        </p:nvSpPr>
        <p:spPr bwMode="auto">
          <a:xfrm>
            <a:off x="3480470" y="3272607"/>
            <a:ext cx="358775"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Arial" charset="0"/>
              <a:ea typeface="宋体" pitchFamily="2" charset="-122"/>
            </a:endParaRPr>
          </a:p>
        </p:txBody>
      </p:sp>
      <p:sp>
        <p:nvSpPr>
          <p:cNvPr id="53" name="Rectangle 50">
            <a:extLst>
              <a:ext uri="{FF2B5EF4-FFF2-40B4-BE49-F238E27FC236}">
                <a16:creationId xmlns:a16="http://schemas.microsoft.com/office/drawing/2014/main" id="{E20EFA75-82D3-455E-988A-0AE5DE8A6439}"/>
              </a:ext>
            </a:extLst>
          </p:cNvPr>
          <p:cNvSpPr>
            <a:spLocks noChangeArrowheads="1"/>
          </p:cNvSpPr>
          <p:nvPr/>
        </p:nvSpPr>
        <p:spPr bwMode="auto">
          <a:xfrm>
            <a:off x="3118519" y="3272607"/>
            <a:ext cx="361950"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Arial" charset="0"/>
              <a:ea typeface="宋体" pitchFamily="2" charset="-122"/>
            </a:endParaRPr>
          </a:p>
        </p:txBody>
      </p:sp>
      <p:sp>
        <p:nvSpPr>
          <p:cNvPr id="54" name="Rectangle 51">
            <a:extLst>
              <a:ext uri="{FF2B5EF4-FFF2-40B4-BE49-F238E27FC236}">
                <a16:creationId xmlns:a16="http://schemas.microsoft.com/office/drawing/2014/main" id="{3A4A734A-2E3D-4B7C-AD24-33226395C9A4}"/>
              </a:ext>
            </a:extLst>
          </p:cNvPr>
          <p:cNvSpPr>
            <a:spLocks noChangeArrowheads="1"/>
          </p:cNvSpPr>
          <p:nvPr/>
        </p:nvSpPr>
        <p:spPr bwMode="auto">
          <a:xfrm>
            <a:off x="3839245" y="3272607"/>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Arial" charset="0"/>
              <a:ea typeface="宋体" pitchFamily="2" charset="-122"/>
            </a:endParaRPr>
          </a:p>
        </p:txBody>
      </p:sp>
      <p:sp>
        <p:nvSpPr>
          <p:cNvPr id="55" name="Rectangle 52">
            <a:extLst>
              <a:ext uri="{FF2B5EF4-FFF2-40B4-BE49-F238E27FC236}">
                <a16:creationId xmlns:a16="http://schemas.microsoft.com/office/drawing/2014/main" id="{CE0702D4-C337-4EDE-A259-DC4C00CA34EC}"/>
              </a:ext>
            </a:extLst>
          </p:cNvPr>
          <p:cNvSpPr>
            <a:spLocks noChangeArrowheads="1"/>
          </p:cNvSpPr>
          <p:nvPr/>
        </p:nvSpPr>
        <p:spPr bwMode="auto">
          <a:xfrm>
            <a:off x="624557" y="3632969"/>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Arial" charset="0"/>
              <a:ea typeface="宋体" pitchFamily="2" charset="-122"/>
            </a:endParaRPr>
          </a:p>
        </p:txBody>
      </p:sp>
      <p:sp>
        <p:nvSpPr>
          <p:cNvPr id="56" name="Rectangle 53">
            <a:extLst>
              <a:ext uri="{FF2B5EF4-FFF2-40B4-BE49-F238E27FC236}">
                <a16:creationId xmlns:a16="http://schemas.microsoft.com/office/drawing/2014/main" id="{30C32D6D-8C01-414F-8AF7-1AF9F84FA9EC}"/>
              </a:ext>
            </a:extLst>
          </p:cNvPr>
          <p:cNvSpPr>
            <a:spLocks noChangeArrowheads="1"/>
          </p:cNvSpPr>
          <p:nvPr/>
        </p:nvSpPr>
        <p:spPr bwMode="auto">
          <a:xfrm>
            <a:off x="983332" y="3632969"/>
            <a:ext cx="358775"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Arial" charset="0"/>
              <a:ea typeface="宋体" pitchFamily="2" charset="-122"/>
            </a:endParaRPr>
          </a:p>
        </p:txBody>
      </p:sp>
      <p:sp>
        <p:nvSpPr>
          <p:cNvPr id="57" name="Rectangle 54">
            <a:extLst>
              <a:ext uri="{FF2B5EF4-FFF2-40B4-BE49-F238E27FC236}">
                <a16:creationId xmlns:a16="http://schemas.microsoft.com/office/drawing/2014/main" id="{9DFB5928-BC39-4AEE-9240-9C9F5C4E61C0}"/>
              </a:ext>
            </a:extLst>
          </p:cNvPr>
          <p:cNvSpPr>
            <a:spLocks noChangeArrowheads="1"/>
          </p:cNvSpPr>
          <p:nvPr/>
        </p:nvSpPr>
        <p:spPr bwMode="auto">
          <a:xfrm>
            <a:off x="1330994" y="3632969"/>
            <a:ext cx="361950"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Arial" charset="0"/>
              <a:ea typeface="宋体" pitchFamily="2" charset="-122"/>
            </a:endParaRPr>
          </a:p>
        </p:txBody>
      </p:sp>
      <p:sp>
        <p:nvSpPr>
          <p:cNvPr id="58" name="Rectangle 55">
            <a:extLst>
              <a:ext uri="{FF2B5EF4-FFF2-40B4-BE49-F238E27FC236}">
                <a16:creationId xmlns:a16="http://schemas.microsoft.com/office/drawing/2014/main" id="{DCB65558-FC4B-46BB-B01E-52A7AE0AA607}"/>
              </a:ext>
            </a:extLst>
          </p:cNvPr>
          <p:cNvSpPr>
            <a:spLocks noChangeArrowheads="1"/>
          </p:cNvSpPr>
          <p:nvPr/>
        </p:nvSpPr>
        <p:spPr bwMode="auto">
          <a:xfrm>
            <a:off x="1692945" y="3632969"/>
            <a:ext cx="358775"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Arial" charset="0"/>
              <a:ea typeface="宋体" pitchFamily="2" charset="-122"/>
            </a:endParaRPr>
          </a:p>
        </p:txBody>
      </p:sp>
      <p:sp>
        <p:nvSpPr>
          <p:cNvPr id="59" name="Rectangle 56">
            <a:extLst>
              <a:ext uri="{FF2B5EF4-FFF2-40B4-BE49-F238E27FC236}">
                <a16:creationId xmlns:a16="http://schemas.microsoft.com/office/drawing/2014/main" id="{93198576-F0DC-4F22-AAAC-D28B689AF065}"/>
              </a:ext>
            </a:extLst>
          </p:cNvPr>
          <p:cNvSpPr>
            <a:spLocks noChangeArrowheads="1"/>
          </p:cNvSpPr>
          <p:nvPr/>
        </p:nvSpPr>
        <p:spPr bwMode="auto">
          <a:xfrm>
            <a:off x="2051720" y="3632969"/>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Arial" charset="0"/>
              <a:ea typeface="宋体" pitchFamily="2" charset="-122"/>
            </a:endParaRPr>
          </a:p>
        </p:txBody>
      </p:sp>
      <p:sp>
        <p:nvSpPr>
          <p:cNvPr id="60" name="Rectangle 57">
            <a:extLst>
              <a:ext uri="{FF2B5EF4-FFF2-40B4-BE49-F238E27FC236}">
                <a16:creationId xmlns:a16="http://schemas.microsoft.com/office/drawing/2014/main" id="{56EADB86-BB76-4221-8C35-D4E30A4FD262}"/>
              </a:ext>
            </a:extLst>
          </p:cNvPr>
          <p:cNvSpPr>
            <a:spLocks noChangeArrowheads="1"/>
          </p:cNvSpPr>
          <p:nvPr/>
        </p:nvSpPr>
        <p:spPr bwMode="auto">
          <a:xfrm>
            <a:off x="2399382" y="3632969"/>
            <a:ext cx="358775"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Arial" charset="0"/>
              <a:ea typeface="宋体" pitchFamily="2" charset="-122"/>
            </a:endParaRPr>
          </a:p>
        </p:txBody>
      </p:sp>
      <p:sp>
        <p:nvSpPr>
          <p:cNvPr id="61" name="Rectangle 58">
            <a:extLst>
              <a:ext uri="{FF2B5EF4-FFF2-40B4-BE49-F238E27FC236}">
                <a16:creationId xmlns:a16="http://schemas.microsoft.com/office/drawing/2014/main" id="{626A5401-3162-4E23-86C5-737058155A08}"/>
              </a:ext>
            </a:extLst>
          </p:cNvPr>
          <p:cNvSpPr>
            <a:spLocks noChangeArrowheads="1"/>
          </p:cNvSpPr>
          <p:nvPr/>
        </p:nvSpPr>
        <p:spPr bwMode="auto">
          <a:xfrm>
            <a:off x="2758157" y="3632969"/>
            <a:ext cx="358775"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Arial" charset="0"/>
              <a:ea typeface="宋体" pitchFamily="2" charset="-122"/>
            </a:endParaRPr>
          </a:p>
        </p:txBody>
      </p:sp>
      <p:sp>
        <p:nvSpPr>
          <p:cNvPr id="62" name="Rectangle 59">
            <a:extLst>
              <a:ext uri="{FF2B5EF4-FFF2-40B4-BE49-F238E27FC236}">
                <a16:creationId xmlns:a16="http://schemas.microsoft.com/office/drawing/2014/main" id="{D414B7BF-4DB7-4EC4-9996-93321CF1E618}"/>
              </a:ext>
            </a:extLst>
          </p:cNvPr>
          <p:cNvSpPr>
            <a:spLocks noChangeArrowheads="1"/>
          </p:cNvSpPr>
          <p:nvPr/>
        </p:nvSpPr>
        <p:spPr bwMode="auto">
          <a:xfrm>
            <a:off x="3480470" y="3632969"/>
            <a:ext cx="358775"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Arial" charset="0"/>
              <a:ea typeface="宋体" pitchFamily="2" charset="-122"/>
            </a:endParaRPr>
          </a:p>
        </p:txBody>
      </p:sp>
      <p:sp>
        <p:nvSpPr>
          <p:cNvPr id="63" name="Rectangle 60">
            <a:extLst>
              <a:ext uri="{FF2B5EF4-FFF2-40B4-BE49-F238E27FC236}">
                <a16:creationId xmlns:a16="http://schemas.microsoft.com/office/drawing/2014/main" id="{0F9E0E7C-0896-436E-BF9E-33CDE62D05B1}"/>
              </a:ext>
            </a:extLst>
          </p:cNvPr>
          <p:cNvSpPr>
            <a:spLocks noChangeArrowheads="1"/>
          </p:cNvSpPr>
          <p:nvPr/>
        </p:nvSpPr>
        <p:spPr bwMode="auto">
          <a:xfrm>
            <a:off x="3118519" y="3632969"/>
            <a:ext cx="361950"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Arial" charset="0"/>
              <a:ea typeface="宋体" pitchFamily="2" charset="-122"/>
            </a:endParaRPr>
          </a:p>
        </p:txBody>
      </p:sp>
      <p:sp>
        <p:nvSpPr>
          <p:cNvPr id="64" name="Rectangle 61">
            <a:extLst>
              <a:ext uri="{FF2B5EF4-FFF2-40B4-BE49-F238E27FC236}">
                <a16:creationId xmlns:a16="http://schemas.microsoft.com/office/drawing/2014/main" id="{17CEB1E9-1C71-46E7-B5B8-4D41F6633737}"/>
              </a:ext>
            </a:extLst>
          </p:cNvPr>
          <p:cNvSpPr>
            <a:spLocks noChangeArrowheads="1"/>
          </p:cNvSpPr>
          <p:nvPr/>
        </p:nvSpPr>
        <p:spPr bwMode="auto">
          <a:xfrm>
            <a:off x="3839245" y="3632969"/>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Arial" charset="0"/>
              <a:ea typeface="宋体" pitchFamily="2" charset="-122"/>
            </a:endParaRPr>
          </a:p>
        </p:txBody>
      </p:sp>
      <p:sp>
        <p:nvSpPr>
          <p:cNvPr id="65" name="Rectangle 62">
            <a:extLst>
              <a:ext uri="{FF2B5EF4-FFF2-40B4-BE49-F238E27FC236}">
                <a16:creationId xmlns:a16="http://schemas.microsoft.com/office/drawing/2014/main" id="{51D3B7A0-6978-44B1-B276-E1B394540F5D}"/>
              </a:ext>
            </a:extLst>
          </p:cNvPr>
          <p:cNvSpPr>
            <a:spLocks noChangeArrowheads="1"/>
          </p:cNvSpPr>
          <p:nvPr/>
        </p:nvSpPr>
        <p:spPr bwMode="auto">
          <a:xfrm>
            <a:off x="624557" y="3993332"/>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Arial" charset="0"/>
              <a:ea typeface="宋体" pitchFamily="2" charset="-122"/>
            </a:endParaRPr>
          </a:p>
        </p:txBody>
      </p:sp>
      <p:sp>
        <p:nvSpPr>
          <p:cNvPr id="66" name="Rectangle 63">
            <a:extLst>
              <a:ext uri="{FF2B5EF4-FFF2-40B4-BE49-F238E27FC236}">
                <a16:creationId xmlns:a16="http://schemas.microsoft.com/office/drawing/2014/main" id="{5F8A2691-B382-432D-ABE5-87FAC419B3F8}"/>
              </a:ext>
            </a:extLst>
          </p:cNvPr>
          <p:cNvSpPr>
            <a:spLocks noChangeArrowheads="1"/>
          </p:cNvSpPr>
          <p:nvPr/>
        </p:nvSpPr>
        <p:spPr bwMode="auto">
          <a:xfrm>
            <a:off x="983332" y="3993332"/>
            <a:ext cx="358775"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Arial" charset="0"/>
              <a:ea typeface="宋体" pitchFamily="2" charset="-122"/>
            </a:endParaRPr>
          </a:p>
        </p:txBody>
      </p:sp>
      <p:sp>
        <p:nvSpPr>
          <p:cNvPr id="67" name="Rectangle 64">
            <a:extLst>
              <a:ext uri="{FF2B5EF4-FFF2-40B4-BE49-F238E27FC236}">
                <a16:creationId xmlns:a16="http://schemas.microsoft.com/office/drawing/2014/main" id="{A352B1C1-DFD5-4D98-9B78-017CDDCF40F5}"/>
              </a:ext>
            </a:extLst>
          </p:cNvPr>
          <p:cNvSpPr>
            <a:spLocks noChangeArrowheads="1"/>
          </p:cNvSpPr>
          <p:nvPr/>
        </p:nvSpPr>
        <p:spPr bwMode="auto">
          <a:xfrm>
            <a:off x="1330994" y="3993332"/>
            <a:ext cx="361950"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Arial" charset="0"/>
              <a:ea typeface="宋体" pitchFamily="2" charset="-122"/>
            </a:endParaRPr>
          </a:p>
        </p:txBody>
      </p:sp>
      <p:sp>
        <p:nvSpPr>
          <p:cNvPr id="68" name="Rectangle 65">
            <a:extLst>
              <a:ext uri="{FF2B5EF4-FFF2-40B4-BE49-F238E27FC236}">
                <a16:creationId xmlns:a16="http://schemas.microsoft.com/office/drawing/2014/main" id="{1567D1FF-1FDC-4D71-A5DD-4D3798C31F41}"/>
              </a:ext>
            </a:extLst>
          </p:cNvPr>
          <p:cNvSpPr>
            <a:spLocks noChangeArrowheads="1"/>
          </p:cNvSpPr>
          <p:nvPr/>
        </p:nvSpPr>
        <p:spPr bwMode="auto">
          <a:xfrm>
            <a:off x="1692945" y="3993332"/>
            <a:ext cx="358775"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Arial" charset="0"/>
              <a:ea typeface="宋体" pitchFamily="2" charset="-122"/>
            </a:endParaRPr>
          </a:p>
        </p:txBody>
      </p:sp>
      <p:sp>
        <p:nvSpPr>
          <p:cNvPr id="69" name="Rectangle 66">
            <a:extLst>
              <a:ext uri="{FF2B5EF4-FFF2-40B4-BE49-F238E27FC236}">
                <a16:creationId xmlns:a16="http://schemas.microsoft.com/office/drawing/2014/main" id="{8B7CB186-AFF0-479A-9F4F-8E0AB8D9A6DE}"/>
              </a:ext>
            </a:extLst>
          </p:cNvPr>
          <p:cNvSpPr>
            <a:spLocks noChangeArrowheads="1"/>
          </p:cNvSpPr>
          <p:nvPr/>
        </p:nvSpPr>
        <p:spPr bwMode="auto">
          <a:xfrm>
            <a:off x="2051720" y="3993332"/>
            <a:ext cx="358775"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Arial" charset="0"/>
              <a:ea typeface="宋体" pitchFamily="2" charset="-122"/>
            </a:endParaRPr>
          </a:p>
        </p:txBody>
      </p:sp>
      <p:sp>
        <p:nvSpPr>
          <p:cNvPr id="70" name="Rectangle 67">
            <a:extLst>
              <a:ext uri="{FF2B5EF4-FFF2-40B4-BE49-F238E27FC236}">
                <a16:creationId xmlns:a16="http://schemas.microsoft.com/office/drawing/2014/main" id="{65287744-9697-44CD-BA58-B5F4E5152E6D}"/>
              </a:ext>
            </a:extLst>
          </p:cNvPr>
          <p:cNvSpPr>
            <a:spLocks noChangeArrowheads="1"/>
          </p:cNvSpPr>
          <p:nvPr/>
        </p:nvSpPr>
        <p:spPr bwMode="auto">
          <a:xfrm>
            <a:off x="2399382" y="3993332"/>
            <a:ext cx="358775"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Arial" charset="0"/>
              <a:ea typeface="宋体" pitchFamily="2" charset="-122"/>
            </a:endParaRPr>
          </a:p>
        </p:txBody>
      </p:sp>
      <p:sp>
        <p:nvSpPr>
          <p:cNvPr id="71" name="Rectangle 68">
            <a:extLst>
              <a:ext uri="{FF2B5EF4-FFF2-40B4-BE49-F238E27FC236}">
                <a16:creationId xmlns:a16="http://schemas.microsoft.com/office/drawing/2014/main" id="{D395C037-4EB2-460F-B33E-FBB764C14E44}"/>
              </a:ext>
            </a:extLst>
          </p:cNvPr>
          <p:cNvSpPr>
            <a:spLocks noChangeArrowheads="1"/>
          </p:cNvSpPr>
          <p:nvPr/>
        </p:nvSpPr>
        <p:spPr bwMode="auto">
          <a:xfrm>
            <a:off x="2758157" y="3993332"/>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Arial" charset="0"/>
              <a:ea typeface="宋体" pitchFamily="2" charset="-122"/>
            </a:endParaRPr>
          </a:p>
        </p:txBody>
      </p:sp>
      <p:sp>
        <p:nvSpPr>
          <p:cNvPr id="72" name="Rectangle 69">
            <a:extLst>
              <a:ext uri="{FF2B5EF4-FFF2-40B4-BE49-F238E27FC236}">
                <a16:creationId xmlns:a16="http://schemas.microsoft.com/office/drawing/2014/main" id="{A889BBB0-48CB-4E57-AEB7-612F1C8BBA92}"/>
              </a:ext>
            </a:extLst>
          </p:cNvPr>
          <p:cNvSpPr>
            <a:spLocks noChangeArrowheads="1"/>
          </p:cNvSpPr>
          <p:nvPr/>
        </p:nvSpPr>
        <p:spPr bwMode="auto">
          <a:xfrm>
            <a:off x="3480470" y="3993332"/>
            <a:ext cx="358775"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Arial" charset="0"/>
              <a:ea typeface="宋体" pitchFamily="2" charset="-122"/>
            </a:endParaRPr>
          </a:p>
        </p:txBody>
      </p:sp>
      <p:sp>
        <p:nvSpPr>
          <p:cNvPr id="73" name="Rectangle 70">
            <a:extLst>
              <a:ext uri="{FF2B5EF4-FFF2-40B4-BE49-F238E27FC236}">
                <a16:creationId xmlns:a16="http://schemas.microsoft.com/office/drawing/2014/main" id="{C3B14092-F164-4B8E-A32A-D60575443021}"/>
              </a:ext>
            </a:extLst>
          </p:cNvPr>
          <p:cNvSpPr>
            <a:spLocks noChangeArrowheads="1"/>
          </p:cNvSpPr>
          <p:nvPr/>
        </p:nvSpPr>
        <p:spPr bwMode="auto">
          <a:xfrm>
            <a:off x="3118519" y="3993332"/>
            <a:ext cx="361950"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Arial" charset="0"/>
              <a:ea typeface="宋体" pitchFamily="2" charset="-122"/>
            </a:endParaRPr>
          </a:p>
        </p:txBody>
      </p:sp>
      <p:sp>
        <p:nvSpPr>
          <p:cNvPr id="74" name="Rectangle 71">
            <a:extLst>
              <a:ext uri="{FF2B5EF4-FFF2-40B4-BE49-F238E27FC236}">
                <a16:creationId xmlns:a16="http://schemas.microsoft.com/office/drawing/2014/main" id="{DDFC54CF-EE34-4E19-9847-352419E5E811}"/>
              </a:ext>
            </a:extLst>
          </p:cNvPr>
          <p:cNvSpPr>
            <a:spLocks noChangeArrowheads="1"/>
          </p:cNvSpPr>
          <p:nvPr/>
        </p:nvSpPr>
        <p:spPr bwMode="auto">
          <a:xfrm>
            <a:off x="3839245" y="3993332"/>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Arial" charset="0"/>
              <a:ea typeface="宋体" pitchFamily="2" charset="-122"/>
            </a:endParaRPr>
          </a:p>
        </p:txBody>
      </p:sp>
      <p:sp>
        <p:nvSpPr>
          <p:cNvPr id="75" name="Rectangle 72">
            <a:extLst>
              <a:ext uri="{FF2B5EF4-FFF2-40B4-BE49-F238E27FC236}">
                <a16:creationId xmlns:a16="http://schemas.microsoft.com/office/drawing/2014/main" id="{B939C8D2-4B24-42BA-9D7E-AC36E9458BA3}"/>
              </a:ext>
            </a:extLst>
          </p:cNvPr>
          <p:cNvSpPr>
            <a:spLocks noChangeArrowheads="1"/>
          </p:cNvSpPr>
          <p:nvPr/>
        </p:nvSpPr>
        <p:spPr bwMode="auto">
          <a:xfrm>
            <a:off x="624557" y="4352107"/>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Arial" charset="0"/>
              <a:ea typeface="宋体" pitchFamily="2" charset="-122"/>
            </a:endParaRPr>
          </a:p>
        </p:txBody>
      </p:sp>
      <p:sp>
        <p:nvSpPr>
          <p:cNvPr id="76" name="Rectangle 73">
            <a:extLst>
              <a:ext uri="{FF2B5EF4-FFF2-40B4-BE49-F238E27FC236}">
                <a16:creationId xmlns:a16="http://schemas.microsoft.com/office/drawing/2014/main" id="{7D43DB41-D1B2-49B4-A5CE-158C37668AE2}"/>
              </a:ext>
            </a:extLst>
          </p:cNvPr>
          <p:cNvSpPr>
            <a:spLocks noChangeArrowheads="1"/>
          </p:cNvSpPr>
          <p:nvPr/>
        </p:nvSpPr>
        <p:spPr bwMode="auto">
          <a:xfrm>
            <a:off x="983332" y="4352107"/>
            <a:ext cx="358775"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Arial" charset="0"/>
              <a:ea typeface="宋体" pitchFamily="2" charset="-122"/>
            </a:endParaRPr>
          </a:p>
        </p:txBody>
      </p:sp>
      <p:sp>
        <p:nvSpPr>
          <p:cNvPr id="77" name="Rectangle 74">
            <a:extLst>
              <a:ext uri="{FF2B5EF4-FFF2-40B4-BE49-F238E27FC236}">
                <a16:creationId xmlns:a16="http://schemas.microsoft.com/office/drawing/2014/main" id="{6A04699D-B7AA-4AF8-A8C3-E0D53F8B45B0}"/>
              </a:ext>
            </a:extLst>
          </p:cNvPr>
          <p:cNvSpPr>
            <a:spLocks noChangeArrowheads="1"/>
          </p:cNvSpPr>
          <p:nvPr/>
        </p:nvSpPr>
        <p:spPr bwMode="auto">
          <a:xfrm>
            <a:off x="1330994" y="4352107"/>
            <a:ext cx="361950"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Arial" charset="0"/>
              <a:ea typeface="宋体" pitchFamily="2" charset="-122"/>
            </a:endParaRPr>
          </a:p>
        </p:txBody>
      </p:sp>
      <p:sp>
        <p:nvSpPr>
          <p:cNvPr id="78" name="Rectangle 75">
            <a:extLst>
              <a:ext uri="{FF2B5EF4-FFF2-40B4-BE49-F238E27FC236}">
                <a16:creationId xmlns:a16="http://schemas.microsoft.com/office/drawing/2014/main" id="{C532747E-95F4-436C-A036-4FA6DF6A8B5E}"/>
              </a:ext>
            </a:extLst>
          </p:cNvPr>
          <p:cNvSpPr>
            <a:spLocks noChangeArrowheads="1"/>
          </p:cNvSpPr>
          <p:nvPr/>
        </p:nvSpPr>
        <p:spPr bwMode="auto">
          <a:xfrm>
            <a:off x="1692945" y="4352107"/>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Arial" charset="0"/>
              <a:ea typeface="宋体" pitchFamily="2" charset="-122"/>
            </a:endParaRPr>
          </a:p>
        </p:txBody>
      </p:sp>
      <p:sp>
        <p:nvSpPr>
          <p:cNvPr id="79" name="Rectangle 76">
            <a:extLst>
              <a:ext uri="{FF2B5EF4-FFF2-40B4-BE49-F238E27FC236}">
                <a16:creationId xmlns:a16="http://schemas.microsoft.com/office/drawing/2014/main" id="{692A26EE-9F7A-4535-BFF8-2C12C4605D32}"/>
              </a:ext>
            </a:extLst>
          </p:cNvPr>
          <p:cNvSpPr>
            <a:spLocks noChangeArrowheads="1"/>
          </p:cNvSpPr>
          <p:nvPr/>
        </p:nvSpPr>
        <p:spPr bwMode="auto">
          <a:xfrm>
            <a:off x="2051720" y="4352107"/>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Arial" charset="0"/>
              <a:ea typeface="宋体" pitchFamily="2" charset="-122"/>
            </a:endParaRPr>
          </a:p>
        </p:txBody>
      </p:sp>
      <p:sp>
        <p:nvSpPr>
          <p:cNvPr id="80" name="Rectangle 77">
            <a:extLst>
              <a:ext uri="{FF2B5EF4-FFF2-40B4-BE49-F238E27FC236}">
                <a16:creationId xmlns:a16="http://schemas.microsoft.com/office/drawing/2014/main" id="{B67A463E-8178-43C3-BB23-884A2E3E1032}"/>
              </a:ext>
            </a:extLst>
          </p:cNvPr>
          <p:cNvSpPr>
            <a:spLocks noChangeArrowheads="1"/>
          </p:cNvSpPr>
          <p:nvPr/>
        </p:nvSpPr>
        <p:spPr bwMode="auto">
          <a:xfrm>
            <a:off x="2399382" y="4352107"/>
            <a:ext cx="358775" cy="358775"/>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l"/>
            <a:endParaRPr lang="zh-CN" altLang="zh-CN" sz="2000" b="0">
              <a:solidFill>
                <a:schemeClr val="tx1"/>
              </a:solidFill>
              <a:latin typeface="Arial" charset="0"/>
              <a:ea typeface="宋体" pitchFamily="2" charset="-122"/>
            </a:endParaRPr>
          </a:p>
        </p:txBody>
      </p:sp>
      <p:sp>
        <p:nvSpPr>
          <p:cNvPr id="81" name="Rectangle 78">
            <a:extLst>
              <a:ext uri="{FF2B5EF4-FFF2-40B4-BE49-F238E27FC236}">
                <a16:creationId xmlns:a16="http://schemas.microsoft.com/office/drawing/2014/main" id="{96B087BE-1AE1-430A-B93A-2473588F87B2}"/>
              </a:ext>
            </a:extLst>
          </p:cNvPr>
          <p:cNvSpPr>
            <a:spLocks noChangeArrowheads="1"/>
          </p:cNvSpPr>
          <p:nvPr/>
        </p:nvSpPr>
        <p:spPr bwMode="auto">
          <a:xfrm>
            <a:off x="2758157" y="4352107"/>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Arial" charset="0"/>
              <a:ea typeface="宋体" pitchFamily="2" charset="-122"/>
            </a:endParaRPr>
          </a:p>
        </p:txBody>
      </p:sp>
      <p:sp>
        <p:nvSpPr>
          <p:cNvPr id="82" name="Rectangle 79">
            <a:extLst>
              <a:ext uri="{FF2B5EF4-FFF2-40B4-BE49-F238E27FC236}">
                <a16:creationId xmlns:a16="http://schemas.microsoft.com/office/drawing/2014/main" id="{8EE82382-05EC-4CB6-9407-81CEB44FFD4E}"/>
              </a:ext>
            </a:extLst>
          </p:cNvPr>
          <p:cNvSpPr>
            <a:spLocks noChangeArrowheads="1"/>
          </p:cNvSpPr>
          <p:nvPr/>
        </p:nvSpPr>
        <p:spPr bwMode="auto">
          <a:xfrm>
            <a:off x="3480470" y="4352107"/>
            <a:ext cx="358775"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Arial" charset="0"/>
              <a:ea typeface="宋体" pitchFamily="2" charset="-122"/>
            </a:endParaRPr>
          </a:p>
        </p:txBody>
      </p:sp>
      <p:sp>
        <p:nvSpPr>
          <p:cNvPr id="83" name="Rectangle 80">
            <a:extLst>
              <a:ext uri="{FF2B5EF4-FFF2-40B4-BE49-F238E27FC236}">
                <a16:creationId xmlns:a16="http://schemas.microsoft.com/office/drawing/2014/main" id="{0AD7F4A0-5752-4D63-A2C4-A45E01FC60DD}"/>
              </a:ext>
            </a:extLst>
          </p:cNvPr>
          <p:cNvSpPr>
            <a:spLocks noChangeArrowheads="1"/>
          </p:cNvSpPr>
          <p:nvPr/>
        </p:nvSpPr>
        <p:spPr bwMode="auto">
          <a:xfrm>
            <a:off x="3118519" y="4352107"/>
            <a:ext cx="361950"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Arial" charset="0"/>
              <a:ea typeface="宋体" pitchFamily="2" charset="-122"/>
            </a:endParaRPr>
          </a:p>
        </p:txBody>
      </p:sp>
      <p:sp>
        <p:nvSpPr>
          <p:cNvPr id="84" name="Rectangle 81">
            <a:extLst>
              <a:ext uri="{FF2B5EF4-FFF2-40B4-BE49-F238E27FC236}">
                <a16:creationId xmlns:a16="http://schemas.microsoft.com/office/drawing/2014/main" id="{AA140BC5-1D14-4739-B4F4-2148EA544807}"/>
              </a:ext>
            </a:extLst>
          </p:cNvPr>
          <p:cNvSpPr>
            <a:spLocks noChangeArrowheads="1"/>
          </p:cNvSpPr>
          <p:nvPr/>
        </p:nvSpPr>
        <p:spPr bwMode="auto">
          <a:xfrm>
            <a:off x="3839245" y="4352107"/>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Arial" charset="0"/>
              <a:ea typeface="宋体" pitchFamily="2" charset="-122"/>
            </a:endParaRPr>
          </a:p>
        </p:txBody>
      </p:sp>
      <p:sp>
        <p:nvSpPr>
          <p:cNvPr id="85" name="Rectangle 82">
            <a:extLst>
              <a:ext uri="{FF2B5EF4-FFF2-40B4-BE49-F238E27FC236}">
                <a16:creationId xmlns:a16="http://schemas.microsoft.com/office/drawing/2014/main" id="{6489B2FC-38C7-42B5-B8DA-F72E25C65972}"/>
              </a:ext>
            </a:extLst>
          </p:cNvPr>
          <p:cNvSpPr>
            <a:spLocks noChangeArrowheads="1"/>
          </p:cNvSpPr>
          <p:nvPr/>
        </p:nvSpPr>
        <p:spPr bwMode="auto">
          <a:xfrm>
            <a:off x="624557" y="4712469"/>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Arial" charset="0"/>
              <a:ea typeface="宋体" pitchFamily="2" charset="-122"/>
            </a:endParaRPr>
          </a:p>
        </p:txBody>
      </p:sp>
      <p:sp>
        <p:nvSpPr>
          <p:cNvPr id="86" name="Rectangle 83">
            <a:extLst>
              <a:ext uri="{FF2B5EF4-FFF2-40B4-BE49-F238E27FC236}">
                <a16:creationId xmlns:a16="http://schemas.microsoft.com/office/drawing/2014/main" id="{9F2274A6-90A1-44B2-AB6B-DE724B335B79}"/>
              </a:ext>
            </a:extLst>
          </p:cNvPr>
          <p:cNvSpPr>
            <a:spLocks noChangeArrowheads="1"/>
          </p:cNvSpPr>
          <p:nvPr/>
        </p:nvSpPr>
        <p:spPr bwMode="auto">
          <a:xfrm>
            <a:off x="983332" y="4712469"/>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Arial" charset="0"/>
              <a:ea typeface="宋体" pitchFamily="2" charset="-122"/>
            </a:endParaRPr>
          </a:p>
        </p:txBody>
      </p:sp>
      <p:sp>
        <p:nvSpPr>
          <p:cNvPr id="87" name="Rectangle 84">
            <a:extLst>
              <a:ext uri="{FF2B5EF4-FFF2-40B4-BE49-F238E27FC236}">
                <a16:creationId xmlns:a16="http://schemas.microsoft.com/office/drawing/2014/main" id="{3FC7956E-304C-486F-9759-5664FD9CE7FE}"/>
              </a:ext>
            </a:extLst>
          </p:cNvPr>
          <p:cNvSpPr>
            <a:spLocks noChangeArrowheads="1"/>
          </p:cNvSpPr>
          <p:nvPr/>
        </p:nvSpPr>
        <p:spPr bwMode="auto">
          <a:xfrm>
            <a:off x="1330994" y="4712469"/>
            <a:ext cx="361950"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Arial" charset="0"/>
              <a:ea typeface="宋体" pitchFamily="2" charset="-122"/>
            </a:endParaRPr>
          </a:p>
        </p:txBody>
      </p:sp>
      <p:sp>
        <p:nvSpPr>
          <p:cNvPr id="88" name="Rectangle 85">
            <a:extLst>
              <a:ext uri="{FF2B5EF4-FFF2-40B4-BE49-F238E27FC236}">
                <a16:creationId xmlns:a16="http://schemas.microsoft.com/office/drawing/2014/main" id="{6BD952EB-A7D0-47C1-9BDF-B4195040A4F4}"/>
              </a:ext>
            </a:extLst>
          </p:cNvPr>
          <p:cNvSpPr>
            <a:spLocks noChangeArrowheads="1"/>
          </p:cNvSpPr>
          <p:nvPr/>
        </p:nvSpPr>
        <p:spPr bwMode="auto">
          <a:xfrm>
            <a:off x="1692945" y="4712469"/>
            <a:ext cx="358775"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Arial" charset="0"/>
              <a:ea typeface="宋体" pitchFamily="2" charset="-122"/>
            </a:endParaRPr>
          </a:p>
        </p:txBody>
      </p:sp>
      <p:sp>
        <p:nvSpPr>
          <p:cNvPr id="89" name="Rectangle 86">
            <a:extLst>
              <a:ext uri="{FF2B5EF4-FFF2-40B4-BE49-F238E27FC236}">
                <a16:creationId xmlns:a16="http://schemas.microsoft.com/office/drawing/2014/main" id="{54112FEB-6077-4D93-9E76-294D9C8775A8}"/>
              </a:ext>
            </a:extLst>
          </p:cNvPr>
          <p:cNvSpPr>
            <a:spLocks noChangeArrowheads="1"/>
          </p:cNvSpPr>
          <p:nvPr/>
        </p:nvSpPr>
        <p:spPr bwMode="auto">
          <a:xfrm>
            <a:off x="2051720" y="4712469"/>
            <a:ext cx="358775"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Arial" charset="0"/>
              <a:ea typeface="宋体" pitchFamily="2" charset="-122"/>
            </a:endParaRPr>
          </a:p>
        </p:txBody>
      </p:sp>
      <p:sp>
        <p:nvSpPr>
          <p:cNvPr id="90" name="Rectangle 87">
            <a:extLst>
              <a:ext uri="{FF2B5EF4-FFF2-40B4-BE49-F238E27FC236}">
                <a16:creationId xmlns:a16="http://schemas.microsoft.com/office/drawing/2014/main" id="{AB2A7B14-3B9A-4337-8544-99C8EB0BE64C}"/>
              </a:ext>
            </a:extLst>
          </p:cNvPr>
          <p:cNvSpPr>
            <a:spLocks noChangeArrowheads="1"/>
          </p:cNvSpPr>
          <p:nvPr/>
        </p:nvSpPr>
        <p:spPr bwMode="auto">
          <a:xfrm>
            <a:off x="2399382" y="4712469"/>
            <a:ext cx="358775"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Arial" charset="0"/>
              <a:ea typeface="宋体" pitchFamily="2" charset="-122"/>
            </a:endParaRPr>
          </a:p>
        </p:txBody>
      </p:sp>
      <p:sp>
        <p:nvSpPr>
          <p:cNvPr id="91" name="Rectangle 88">
            <a:extLst>
              <a:ext uri="{FF2B5EF4-FFF2-40B4-BE49-F238E27FC236}">
                <a16:creationId xmlns:a16="http://schemas.microsoft.com/office/drawing/2014/main" id="{786E859D-C814-4641-AD2A-3ABDC2E3B27F}"/>
              </a:ext>
            </a:extLst>
          </p:cNvPr>
          <p:cNvSpPr>
            <a:spLocks noChangeArrowheads="1"/>
          </p:cNvSpPr>
          <p:nvPr/>
        </p:nvSpPr>
        <p:spPr bwMode="auto">
          <a:xfrm>
            <a:off x="2758157" y="4712469"/>
            <a:ext cx="358775"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Arial" charset="0"/>
              <a:ea typeface="宋体" pitchFamily="2" charset="-122"/>
            </a:endParaRPr>
          </a:p>
        </p:txBody>
      </p:sp>
      <p:sp>
        <p:nvSpPr>
          <p:cNvPr id="92" name="Rectangle 89">
            <a:extLst>
              <a:ext uri="{FF2B5EF4-FFF2-40B4-BE49-F238E27FC236}">
                <a16:creationId xmlns:a16="http://schemas.microsoft.com/office/drawing/2014/main" id="{BC88E454-4A8B-44EF-84EE-5CC4ADF5D44A}"/>
              </a:ext>
            </a:extLst>
          </p:cNvPr>
          <p:cNvSpPr>
            <a:spLocks noChangeArrowheads="1"/>
          </p:cNvSpPr>
          <p:nvPr/>
        </p:nvSpPr>
        <p:spPr bwMode="auto">
          <a:xfrm>
            <a:off x="3480470" y="4712469"/>
            <a:ext cx="358775"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Arial" charset="0"/>
              <a:ea typeface="宋体" pitchFamily="2" charset="-122"/>
            </a:endParaRPr>
          </a:p>
        </p:txBody>
      </p:sp>
      <p:sp>
        <p:nvSpPr>
          <p:cNvPr id="93" name="Rectangle 90">
            <a:extLst>
              <a:ext uri="{FF2B5EF4-FFF2-40B4-BE49-F238E27FC236}">
                <a16:creationId xmlns:a16="http://schemas.microsoft.com/office/drawing/2014/main" id="{DE75C2FE-F2F5-45DF-B608-BE09CE0CBE47}"/>
              </a:ext>
            </a:extLst>
          </p:cNvPr>
          <p:cNvSpPr>
            <a:spLocks noChangeArrowheads="1"/>
          </p:cNvSpPr>
          <p:nvPr/>
        </p:nvSpPr>
        <p:spPr bwMode="auto">
          <a:xfrm>
            <a:off x="3118519" y="4712469"/>
            <a:ext cx="361950" cy="358775"/>
          </a:xfrm>
          <a:prstGeom prst="rect">
            <a:avLst/>
          </a:prstGeom>
          <a:solidFill>
            <a:schemeClr val="bg1"/>
          </a:solidFill>
          <a:ln w="9525">
            <a:solidFill>
              <a:schemeClr val="accent2"/>
            </a:solidFill>
            <a:miter lim="800000"/>
            <a:headEnd/>
            <a:tailEnd/>
          </a:ln>
        </p:spPr>
        <p:txBody>
          <a:bodyPr wrap="none" anchor="ctr"/>
          <a:lstStyle/>
          <a:p>
            <a:pPr algn="l"/>
            <a:endParaRPr lang="zh-CN" altLang="zh-CN" sz="2000" b="0">
              <a:solidFill>
                <a:schemeClr val="tx1"/>
              </a:solidFill>
              <a:latin typeface="Arial" charset="0"/>
              <a:ea typeface="宋体" pitchFamily="2" charset="-122"/>
            </a:endParaRPr>
          </a:p>
        </p:txBody>
      </p:sp>
      <p:sp>
        <p:nvSpPr>
          <p:cNvPr id="94" name="Rectangle 91">
            <a:extLst>
              <a:ext uri="{FF2B5EF4-FFF2-40B4-BE49-F238E27FC236}">
                <a16:creationId xmlns:a16="http://schemas.microsoft.com/office/drawing/2014/main" id="{D814E373-FF19-4E65-9E85-4E5EDDA3DAF3}"/>
              </a:ext>
            </a:extLst>
          </p:cNvPr>
          <p:cNvSpPr>
            <a:spLocks noChangeArrowheads="1"/>
          </p:cNvSpPr>
          <p:nvPr/>
        </p:nvSpPr>
        <p:spPr bwMode="auto">
          <a:xfrm>
            <a:off x="3839245" y="4712469"/>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Arial" charset="0"/>
              <a:ea typeface="宋体" pitchFamily="2" charset="-122"/>
            </a:endParaRPr>
          </a:p>
        </p:txBody>
      </p:sp>
      <p:sp>
        <p:nvSpPr>
          <p:cNvPr id="95" name="Rectangle 92">
            <a:extLst>
              <a:ext uri="{FF2B5EF4-FFF2-40B4-BE49-F238E27FC236}">
                <a16:creationId xmlns:a16="http://schemas.microsoft.com/office/drawing/2014/main" id="{97FCEB4C-ECDA-4BA8-9DCF-0333139758E3}"/>
              </a:ext>
            </a:extLst>
          </p:cNvPr>
          <p:cNvSpPr>
            <a:spLocks noChangeArrowheads="1"/>
          </p:cNvSpPr>
          <p:nvPr/>
        </p:nvSpPr>
        <p:spPr bwMode="auto">
          <a:xfrm>
            <a:off x="624557" y="5072832"/>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Arial" charset="0"/>
              <a:ea typeface="宋体" pitchFamily="2" charset="-122"/>
            </a:endParaRPr>
          </a:p>
        </p:txBody>
      </p:sp>
      <p:sp>
        <p:nvSpPr>
          <p:cNvPr id="96" name="Rectangle 93">
            <a:extLst>
              <a:ext uri="{FF2B5EF4-FFF2-40B4-BE49-F238E27FC236}">
                <a16:creationId xmlns:a16="http://schemas.microsoft.com/office/drawing/2014/main" id="{8A99F8C0-162E-41B9-9DEA-1BABAC142214}"/>
              </a:ext>
            </a:extLst>
          </p:cNvPr>
          <p:cNvSpPr>
            <a:spLocks noChangeArrowheads="1"/>
          </p:cNvSpPr>
          <p:nvPr/>
        </p:nvSpPr>
        <p:spPr bwMode="auto">
          <a:xfrm>
            <a:off x="983332" y="5072832"/>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Arial" charset="0"/>
              <a:ea typeface="宋体" pitchFamily="2" charset="-122"/>
            </a:endParaRPr>
          </a:p>
        </p:txBody>
      </p:sp>
      <p:sp>
        <p:nvSpPr>
          <p:cNvPr id="97" name="Rectangle 94">
            <a:extLst>
              <a:ext uri="{FF2B5EF4-FFF2-40B4-BE49-F238E27FC236}">
                <a16:creationId xmlns:a16="http://schemas.microsoft.com/office/drawing/2014/main" id="{105661BD-69BE-4F39-9F2A-AEBE15616484}"/>
              </a:ext>
            </a:extLst>
          </p:cNvPr>
          <p:cNvSpPr>
            <a:spLocks noChangeArrowheads="1"/>
          </p:cNvSpPr>
          <p:nvPr/>
        </p:nvSpPr>
        <p:spPr bwMode="auto">
          <a:xfrm>
            <a:off x="1330994" y="5072832"/>
            <a:ext cx="361950"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Arial" charset="0"/>
              <a:ea typeface="宋体" pitchFamily="2" charset="-122"/>
            </a:endParaRPr>
          </a:p>
        </p:txBody>
      </p:sp>
      <p:sp>
        <p:nvSpPr>
          <p:cNvPr id="98" name="Rectangle 95">
            <a:extLst>
              <a:ext uri="{FF2B5EF4-FFF2-40B4-BE49-F238E27FC236}">
                <a16:creationId xmlns:a16="http://schemas.microsoft.com/office/drawing/2014/main" id="{7FDC7D17-0556-4D16-903F-CE31F5BEEE56}"/>
              </a:ext>
            </a:extLst>
          </p:cNvPr>
          <p:cNvSpPr>
            <a:spLocks noChangeArrowheads="1"/>
          </p:cNvSpPr>
          <p:nvPr/>
        </p:nvSpPr>
        <p:spPr bwMode="auto">
          <a:xfrm>
            <a:off x="1692945" y="5072832"/>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Arial" charset="0"/>
              <a:ea typeface="宋体" pitchFamily="2" charset="-122"/>
            </a:endParaRPr>
          </a:p>
        </p:txBody>
      </p:sp>
      <p:sp>
        <p:nvSpPr>
          <p:cNvPr id="99" name="Rectangle 96">
            <a:extLst>
              <a:ext uri="{FF2B5EF4-FFF2-40B4-BE49-F238E27FC236}">
                <a16:creationId xmlns:a16="http://schemas.microsoft.com/office/drawing/2014/main" id="{45E1781B-1A82-4F67-B475-79BAF8B931E3}"/>
              </a:ext>
            </a:extLst>
          </p:cNvPr>
          <p:cNvSpPr>
            <a:spLocks noChangeArrowheads="1"/>
          </p:cNvSpPr>
          <p:nvPr/>
        </p:nvSpPr>
        <p:spPr bwMode="auto">
          <a:xfrm>
            <a:off x="2051720" y="5072832"/>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Arial" charset="0"/>
              <a:ea typeface="宋体" pitchFamily="2" charset="-122"/>
            </a:endParaRPr>
          </a:p>
        </p:txBody>
      </p:sp>
      <p:sp>
        <p:nvSpPr>
          <p:cNvPr id="100" name="Rectangle 97">
            <a:extLst>
              <a:ext uri="{FF2B5EF4-FFF2-40B4-BE49-F238E27FC236}">
                <a16:creationId xmlns:a16="http://schemas.microsoft.com/office/drawing/2014/main" id="{5B190C99-D125-4E43-8FCD-8CB46CECA632}"/>
              </a:ext>
            </a:extLst>
          </p:cNvPr>
          <p:cNvSpPr>
            <a:spLocks noChangeArrowheads="1"/>
          </p:cNvSpPr>
          <p:nvPr/>
        </p:nvSpPr>
        <p:spPr bwMode="auto">
          <a:xfrm>
            <a:off x="2399382" y="5072832"/>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Arial" charset="0"/>
              <a:ea typeface="宋体" pitchFamily="2" charset="-122"/>
            </a:endParaRPr>
          </a:p>
        </p:txBody>
      </p:sp>
      <p:sp>
        <p:nvSpPr>
          <p:cNvPr id="101" name="Rectangle 98">
            <a:extLst>
              <a:ext uri="{FF2B5EF4-FFF2-40B4-BE49-F238E27FC236}">
                <a16:creationId xmlns:a16="http://schemas.microsoft.com/office/drawing/2014/main" id="{7DCA5F27-9C91-4F9A-94FD-D130DA35D8FE}"/>
              </a:ext>
            </a:extLst>
          </p:cNvPr>
          <p:cNvSpPr>
            <a:spLocks noChangeArrowheads="1"/>
          </p:cNvSpPr>
          <p:nvPr/>
        </p:nvSpPr>
        <p:spPr bwMode="auto">
          <a:xfrm>
            <a:off x="2758157" y="5072832"/>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Arial" charset="0"/>
              <a:ea typeface="宋体" pitchFamily="2" charset="-122"/>
            </a:endParaRPr>
          </a:p>
        </p:txBody>
      </p:sp>
      <p:sp>
        <p:nvSpPr>
          <p:cNvPr id="102" name="Rectangle 99">
            <a:extLst>
              <a:ext uri="{FF2B5EF4-FFF2-40B4-BE49-F238E27FC236}">
                <a16:creationId xmlns:a16="http://schemas.microsoft.com/office/drawing/2014/main" id="{E1C86101-4164-4AAF-B0B5-078405CADD7D}"/>
              </a:ext>
            </a:extLst>
          </p:cNvPr>
          <p:cNvSpPr>
            <a:spLocks noChangeArrowheads="1"/>
          </p:cNvSpPr>
          <p:nvPr/>
        </p:nvSpPr>
        <p:spPr bwMode="auto">
          <a:xfrm>
            <a:off x="3480470" y="5072832"/>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Arial" charset="0"/>
              <a:ea typeface="宋体" pitchFamily="2" charset="-122"/>
            </a:endParaRPr>
          </a:p>
        </p:txBody>
      </p:sp>
      <p:sp>
        <p:nvSpPr>
          <p:cNvPr id="103" name="Rectangle 100">
            <a:extLst>
              <a:ext uri="{FF2B5EF4-FFF2-40B4-BE49-F238E27FC236}">
                <a16:creationId xmlns:a16="http://schemas.microsoft.com/office/drawing/2014/main" id="{95E0BB72-44B1-48A1-ACA1-5C24247216DD}"/>
              </a:ext>
            </a:extLst>
          </p:cNvPr>
          <p:cNvSpPr>
            <a:spLocks noChangeArrowheads="1"/>
          </p:cNvSpPr>
          <p:nvPr/>
        </p:nvSpPr>
        <p:spPr bwMode="auto">
          <a:xfrm>
            <a:off x="3118519" y="5072832"/>
            <a:ext cx="361950"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Arial" charset="0"/>
              <a:ea typeface="宋体" pitchFamily="2" charset="-122"/>
            </a:endParaRPr>
          </a:p>
        </p:txBody>
      </p:sp>
      <p:sp>
        <p:nvSpPr>
          <p:cNvPr id="104" name="Rectangle 101">
            <a:extLst>
              <a:ext uri="{FF2B5EF4-FFF2-40B4-BE49-F238E27FC236}">
                <a16:creationId xmlns:a16="http://schemas.microsoft.com/office/drawing/2014/main" id="{D94E9B51-C610-4E9A-832E-B0B2E30672F7}"/>
              </a:ext>
            </a:extLst>
          </p:cNvPr>
          <p:cNvSpPr>
            <a:spLocks noChangeArrowheads="1"/>
          </p:cNvSpPr>
          <p:nvPr/>
        </p:nvSpPr>
        <p:spPr bwMode="auto">
          <a:xfrm>
            <a:off x="3839245" y="5072832"/>
            <a:ext cx="358775" cy="35877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l"/>
            <a:endParaRPr lang="zh-CN" altLang="zh-CN" sz="2000" b="0">
              <a:solidFill>
                <a:schemeClr val="tx1"/>
              </a:solidFill>
              <a:latin typeface="Arial" charset="0"/>
              <a:ea typeface="宋体" pitchFamily="2" charset="-122"/>
            </a:endParaRPr>
          </a:p>
        </p:txBody>
      </p:sp>
      <p:sp>
        <p:nvSpPr>
          <p:cNvPr id="105" name="Text Box 103">
            <a:extLst>
              <a:ext uri="{FF2B5EF4-FFF2-40B4-BE49-F238E27FC236}">
                <a16:creationId xmlns:a16="http://schemas.microsoft.com/office/drawing/2014/main" id="{7C459BED-45FF-4E57-B9DE-2A09ECBE6896}"/>
              </a:ext>
            </a:extLst>
          </p:cNvPr>
          <p:cNvSpPr txBox="1">
            <a:spLocks noChangeArrowheads="1"/>
          </p:cNvSpPr>
          <p:nvPr/>
        </p:nvSpPr>
        <p:spPr bwMode="auto">
          <a:xfrm>
            <a:off x="657874" y="1453889"/>
            <a:ext cx="3701654" cy="400110"/>
          </a:xfrm>
          <a:prstGeom prst="rect">
            <a:avLst/>
          </a:prstGeom>
          <a:noFill/>
          <a:ln w="9525">
            <a:noFill/>
            <a:miter lim="800000"/>
            <a:headEnd/>
            <a:tailEnd/>
          </a:ln>
        </p:spPr>
        <p:txBody>
          <a:bodyPr wrap="none">
            <a:spAutoFit/>
          </a:bodyPr>
          <a:lstStyle/>
          <a:p>
            <a:pPr algn="l"/>
            <a:r>
              <a:rPr lang="en-US" altLang="zh-CN" sz="2000" dirty="0">
                <a:solidFill>
                  <a:srgbClr val="00B0F0"/>
                </a:solidFill>
                <a:latin typeface="Consolas" pitchFamily="49" charset="0"/>
                <a:ea typeface="宋体" pitchFamily="2" charset="-122"/>
                <a:cs typeface="Consolas" pitchFamily="49" charset="0"/>
              </a:rPr>
              <a:t>0</a:t>
            </a:r>
            <a:r>
              <a:rPr lang="en-US" altLang="zh-CN" sz="1600" dirty="0">
                <a:solidFill>
                  <a:srgbClr val="00B0F0"/>
                </a:solidFill>
                <a:latin typeface="Consolas" pitchFamily="49" charset="0"/>
                <a:ea typeface="宋体" pitchFamily="2" charset="-122"/>
                <a:cs typeface="Consolas" pitchFamily="49" charset="0"/>
              </a:rPr>
              <a:t>  </a:t>
            </a:r>
            <a:r>
              <a:rPr lang="en-US" altLang="zh-CN" sz="2000" dirty="0">
                <a:solidFill>
                  <a:srgbClr val="00B0F0"/>
                </a:solidFill>
                <a:latin typeface="Consolas" pitchFamily="49" charset="0"/>
                <a:ea typeface="宋体" pitchFamily="2" charset="-122"/>
                <a:cs typeface="Consolas" pitchFamily="49" charset="0"/>
              </a:rPr>
              <a:t>1</a:t>
            </a:r>
            <a:r>
              <a:rPr lang="en-US" altLang="zh-CN" sz="1600" dirty="0">
                <a:solidFill>
                  <a:srgbClr val="00B0F0"/>
                </a:solidFill>
                <a:latin typeface="Consolas" pitchFamily="49" charset="0"/>
                <a:ea typeface="宋体" pitchFamily="2" charset="-122"/>
                <a:cs typeface="Consolas" pitchFamily="49" charset="0"/>
              </a:rPr>
              <a:t>  </a:t>
            </a:r>
            <a:r>
              <a:rPr lang="en-US" altLang="zh-CN" sz="2000" dirty="0">
                <a:solidFill>
                  <a:srgbClr val="00B0F0"/>
                </a:solidFill>
                <a:latin typeface="Consolas" pitchFamily="49" charset="0"/>
                <a:ea typeface="宋体" pitchFamily="2" charset="-122"/>
                <a:cs typeface="Consolas" pitchFamily="49" charset="0"/>
              </a:rPr>
              <a:t>2</a:t>
            </a:r>
            <a:r>
              <a:rPr lang="en-US" altLang="zh-CN" sz="1600" dirty="0">
                <a:solidFill>
                  <a:srgbClr val="00B0F0"/>
                </a:solidFill>
                <a:latin typeface="Consolas" pitchFamily="49" charset="0"/>
                <a:ea typeface="宋体" pitchFamily="2" charset="-122"/>
                <a:cs typeface="Consolas" pitchFamily="49" charset="0"/>
              </a:rPr>
              <a:t>  </a:t>
            </a:r>
            <a:r>
              <a:rPr lang="en-US" altLang="zh-CN" sz="2000" dirty="0">
                <a:solidFill>
                  <a:srgbClr val="00B0F0"/>
                </a:solidFill>
                <a:latin typeface="Consolas" pitchFamily="49" charset="0"/>
                <a:ea typeface="宋体" pitchFamily="2" charset="-122"/>
                <a:cs typeface="Consolas" pitchFamily="49" charset="0"/>
              </a:rPr>
              <a:t>3</a:t>
            </a:r>
            <a:r>
              <a:rPr lang="en-US" altLang="zh-CN" sz="1600" dirty="0">
                <a:solidFill>
                  <a:srgbClr val="00B0F0"/>
                </a:solidFill>
                <a:latin typeface="Consolas" pitchFamily="49" charset="0"/>
                <a:ea typeface="宋体" pitchFamily="2" charset="-122"/>
                <a:cs typeface="Consolas" pitchFamily="49" charset="0"/>
              </a:rPr>
              <a:t>  </a:t>
            </a:r>
            <a:r>
              <a:rPr lang="en-US" altLang="zh-CN" sz="2000" dirty="0">
                <a:solidFill>
                  <a:srgbClr val="00B0F0"/>
                </a:solidFill>
                <a:latin typeface="Consolas" pitchFamily="49" charset="0"/>
                <a:ea typeface="宋体" pitchFamily="2" charset="-122"/>
                <a:cs typeface="Consolas" pitchFamily="49" charset="0"/>
              </a:rPr>
              <a:t>4</a:t>
            </a:r>
            <a:r>
              <a:rPr lang="en-US" altLang="zh-CN" sz="1600" dirty="0">
                <a:solidFill>
                  <a:srgbClr val="00B0F0"/>
                </a:solidFill>
                <a:latin typeface="Consolas" pitchFamily="49" charset="0"/>
                <a:ea typeface="宋体" pitchFamily="2" charset="-122"/>
                <a:cs typeface="Consolas" pitchFamily="49" charset="0"/>
              </a:rPr>
              <a:t>  </a:t>
            </a:r>
            <a:r>
              <a:rPr lang="en-US" altLang="zh-CN" sz="2000" dirty="0">
                <a:solidFill>
                  <a:srgbClr val="00B0F0"/>
                </a:solidFill>
                <a:latin typeface="Consolas" pitchFamily="49" charset="0"/>
                <a:ea typeface="宋体" pitchFamily="2" charset="-122"/>
                <a:cs typeface="Consolas" pitchFamily="49" charset="0"/>
              </a:rPr>
              <a:t>5</a:t>
            </a:r>
            <a:r>
              <a:rPr lang="en-US" altLang="zh-CN" sz="1600" dirty="0">
                <a:solidFill>
                  <a:srgbClr val="00B0F0"/>
                </a:solidFill>
                <a:latin typeface="Consolas" pitchFamily="49" charset="0"/>
                <a:ea typeface="宋体" pitchFamily="2" charset="-122"/>
                <a:cs typeface="Consolas" pitchFamily="49" charset="0"/>
              </a:rPr>
              <a:t>  </a:t>
            </a:r>
            <a:r>
              <a:rPr lang="en-US" altLang="zh-CN" sz="2000" dirty="0">
                <a:solidFill>
                  <a:srgbClr val="00B0F0"/>
                </a:solidFill>
                <a:latin typeface="Consolas" pitchFamily="49" charset="0"/>
                <a:ea typeface="宋体" pitchFamily="2" charset="-122"/>
                <a:cs typeface="Consolas" pitchFamily="49" charset="0"/>
              </a:rPr>
              <a:t>6</a:t>
            </a:r>
            <a:r>
              <a:rPr lang="en-US" altLang="zh-CN" sz="1600" dirty="0">
                <a:solidFill>
                  <a:srgbClr val="00B0F0"/>
                </a:solidFill>
                <a:latin typeface="Consolas" pitchFamily="49" charset="0"/>
                <a:ea typeface="宋体" pitchFamily="2" charset="-122"/>
                <a:cs typeface="Consolas" pitchFamily="49" charset="0"/>
              </a:rPr>
              <a:t>  </a:t>
            </a:r>
            <a:r>
              <a:rPr lang="en-US" altLang="zh-CN" sz="2000" dirty="0">
                <a:solidFill>
                  <a:srgbClr val="00B0F0"/>
                </a:solidFill>
                <a:latin typeface="Consolas" pitchFamily="49" charset="0"/>
                <a:ea typeface="宋体" pitchFamily="2" charset="-122"/>
                <a:cs typeface="Consolas" pitchFamily="49" charset="0"/>
              </a:rPr>
              <a:t>7</a:t>
            </a:r>
            <a:r>
              <a:rPr lang="en-US" altLang="zh-CN" sz="1600" dirty="0">
                <a:solidFill>
                  <a:srgbClr val="00B0F0"/>
                </a:solidFill>
                <a:latin typeface="Consolas" pitchFamily="49" charset="0"/>
                <a:ea typeface="宋体" pitchFamily="2" charset="-122"/>
                <a:cs typeface="Consolas" pitchFamily="49" charset="0"/>
              </a:rPr>
              <a:t>  </a:t>
            </a:r>
            <a:r>
              <a:rPr lang="en-US" altLang="zh-CN" sz="2000" dirty="0">
                <a:solidFill>
                  <a:srgbClr val="00B0F0"/>
                </a:solidFill>
                <a:latin typeface="Consolas" pitchFamily="49" charset="0"/>
                <a:ea typeface="宋体" pitchFamily="2" charset="-122"/>
                <a:cs typeface="Consolas" pitchFamily="49" charset="0"/>
              </a:rPr>
              <a:t>8</a:t>
            </a:r>
            <a:r>
              <a:rPr lang="en-US" altLang="zh-CN" sz="1600" dirty="0">
                <a:solidFill>
                  <a:srgbClr val="00B0F0"/>
                </a:solidFill>
                <a:latin typeface="Consolas" pitchFamily="49" charset="0"/>
                <a:ea typeface="宋体" pitchFamily="2" charset="-122"/>
                <a:cs typeface="Consolas" pitchFamily="49" charset="0"/>
              </a:rPr>
              <a:t>  </a:t>
            </a:r>
            <a:r>
              <a:rPr lang="en-US" altLang="zh-CN" sz="2000" dirty="0">
                <a:solidFill>
                  <a:srgbClr val="00B0F0"/>
                </a:solidFill>
                <a:latin typeface="Consolas" pitchFamily="49" charset="0"/>
                <a:ea typeface="宋体" pitchFamily="2" charset="-122"/>
                <a:cs typeface="Consolas" pitchFamily="49" charset="0"/>
              </a:rPr>
              <a:t>9</a:t>
            </a:r>
          </a:p>
        </p:txBody>
      </p:sp>
      <p:sp>
        <p:nvSpPr>
          <p:cNvPr id="106" name="Text Box 104">
            <a:extLst>
              <a:ext uri="{FF2B5EF4-FFF2-40B4-BE49-F238E27FC236}">
                <a16:creationId xmlns:a16="http://schemas.microsoft.com/office/drawing/2014/main" id="{3821BF3B-EC22-4C42-B402-7FF76EDF4DA0}"/>
              </a:ext>
            </a:extLst>
          </p:cNvPr>
          <p:cNvSpPr txBox="1">
            <a:spLocks noChangeArrowheads="1"/>
          </p:cNvSpPr>
          <p:nvPr/>
        </p:nvSpPr>
        <p:spPr bwMode="auto">
          <a:xfrm>
            <a:off x="168911" y="1840709"/>
            <a:ext cx="433388" cy="3519233"/>
          </a:xfrm>
          <a:prstGeom prst="rect">
            <a:avLst/>
          </a:prstGeom>
          <a:noFill/>
          <a:ln w="9525">
            <a:noFill/>
            <a:miter lim="800000"/>
            <a:headEnd/>
            <a:tailEnd/>
          </a:ln>
        </p:spPr>
        <p:txBody>
          <a:bodyPr>
            <a:spAutoFit/>
          </a:bodyPr>
          <a:lstStyle/>
          <a:p>
            <a:pPr algn="l">
              <a:lnSpc>
                <a:spcPct val="112000"/>
              </a:lnSpc>
              <a:spcBef>
                <a:spcPts val="200"/>
              </a:spcBef>
              <a:spcAft>
                <a:spcPts val="500"/>
              </a:spcAft>
            </a:pPr>
            <a:r>
              <a:rPr lang="en-US" altLang="zh-CN" sz="2000" dirty="0">
                <a:solidFill>
                  <a:srgbClr val="00B0F0"/>
                </a:solidFill>
                <a:latin typeface="Consolas" pitchFamily="49" charset="0"/>
                <a:ea typeface="宋体" pitchFamily="2" charset="-122"/>
                <a:cs typeface="Consolas" pitchFamily="49" charset="0"/>
              </a:rPr>
              <a:t>0   1    2    3    4   5    6    7   8    9</a:t>
            </a:r>
          </a:p>
        </p:txBody>
      </p:sp>
      <p:grpSp>
        <p:nvGrpSpPr>
          <p:cNvPr id="107" name="组合 114">
            <a:extLst>
              <a:ext uri="{FF2B5EF4-FFF2-40B4-BE49-F238E27FC236}">
                <a16:creationId xmlns:a16="http://schemas.microsoft.com/office/drawing/2014/main" id="{3DCA5D19-0773-4CD2-8EF4-AC27965BFC5D}"/>
              </a:ext>
            </a:extLst>
          </p:cNvPr>
          <p:cNvGrpSpPr/>
          <p:nvPr/>
        </p:nvGrpSpPr>
        <p:grpSpPr>
          <a:xfrm>
            <a:off x="5694413" y="2276227"/>
            <a:ext cx="2649210" cy="4232449"/>
            <a:chOff x="5464181" y="1400160"/>
            <a:chExt cx="1809763" cy="2998309"/>
          </a:xfrm>
        </p:grpSpPr>
        <p:sp>
          <p:nvSpPr>
            <p:cNvPr id="108" name="矩形 107">
              <a:extLst>
                <a:ext uri="{FF2B5EF4-FFF2-40B4-BE49-F238E27FC236}">
                  <a16:creationId xmlns:a16="http://schemas.microsoft.com/office/drawing/2014/main" id="{A15A1C2A-738A-441D-AE33-A666F1DAA38C}"/>
                </a:ext>
              </a:extLst>
            </p:cNvPr>
            <p:cNvSpPr/>
            <p:nvPr/>
          </p:nvSpPr>
          <p:spPr bwMode="auto">
            <a:xfrm>
              <a:off x="5464181" y="1400160"/>
              <a:ext cx="1809763" cy="1950494"/>
            </a:xfrm>
            <a:prstGeom prst="rect">
              <a:avLst/>
            </a:prstGeom>
            <a:noFill/>
            <a:ln w="19050">
              <a:solidFill>
                <a:srgbClr val="FF00FF"/>
              </a:solidFill>
              <a:miter lim="800000"/>
              <a:headEnd/>
              <a:tailEnd type="triangle" w="med" len="med"/>
            </a:ln>
            <a:effectLst/>
          </p:spPr>
          <p:txBody>
            <a:bodyPr wrap="none" rtlCol="0" anchor="ctr"/>
            <a:lstStyle/>
            <a:p>
              <a:pPr algn="ctr"/>
              <a:endParaRPr lang="zh-CN" altLang="en-US" sz="2800"/>
            </a:p>
          </p:txBody>
        </p:sp>
        <p:cxnSp>
          <p:nvCxnSpPr>
            <p:cNvPr id="109" name="直接连接符 108">
              <a:extLst>
                <a:ext uri="{FF2B5EF4-FFF2-40B4-BE49-F238E27FC236}">
                  <a16:creationId xmlns:a16="http://schemas.microsoft.com/office/drawing/2014/main" id="{31691413-A68E-4D0E-BC2B-8F53FEC719FA}"/>
                </a:ext>
              </a:extLst>
            </p:cNvPr>
            <p:cNvCxnSpPr>
              <a:stCxn id="108" idx="2"/>
              <a:endCxn id="110" idx="0"/>
            </p:cNvCxnSpPr>
            <p:nvPr/>
          </p:nvCxnSpPr>
          <p:spPr>
            <a:xfrm>
              <a:off x="6369063" y="3350654"/>
              <a:ext cx="4762" cy="647705"/>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sp>
          <p:nvSpPr>
            <p:cNvPr id="110" name="TextBox 113">
              <a:extLst>
                <a:ext uri="{FF2B5EF4-FFF2-40B4-BE49-F238E27FC236}">
                  <a16:creationId xmlns:a16="http://schemas.microsoft.com/office/drawing/2014/main" id="{CF49625C-E677-4D18-9ACE-547A783C5B73}"/>
                </a:ext>
              </a:extLst>
            </p:cNvPr>
            <p:cNvSpPr txBox="1"/>
            <p:nvPr/>
          </p:nvSpPr>
          <p:spPr>
            <a:xfrm>
              <a:off x="5945197" y="3998359"/>
              <a:ext cx="857256" cy="400110"/>
            </a:xfrm>
            <a:prstGeom prst="rect">
              <a:avLst/>
            </a:prstGeom>
            <a:noFill/>
            <a:ln w="12700">
              <a:noFill/>
            </a:ln>
          </p:spPr>
          <p:txBody>
            <a:bodyPr wrap="square" rtlCol="0">
              <a:spAutoFit/>
            </a:bodyPr>
            <a:lstStyle/>
            <a:p>
              <a:r>
                <a:rPr lang="en-US" sz="2000" i="1" dirty="0" err="1">
                  <a:latin typeface="Consolas" pitchFamily="49" charset="0"/>
                  <a:ea typeface="楷体" pitchFamily="49" charset="-122"/>
                  <a:cs typeface="Consolas" pitchFamily="49" charset="0"/>
                </a:rPr>
                <a:t>M</a:t>
              </a:r>
              <a:r>
                <a:rPr lang="en-US" sz="2000" dirty="0" err="1">
                  <a:latin typeface="Consolas" pitchFamily="49" charset="0"/>
                  <a:ea typeface="楷体" pitchFamily="49" charset="-122"/>
                  <a:cs typeface="Consolas" pitchFamily="49" charset="0"/>
                </a:rPr>
                <a:t>×</a:t>
              </a:r>
              <a:r>
                <a:rPr lang="en-US" sz="2000" i="1" dirty="0" err="1">
                  <a:latin typeface="Consolas" pitchFamily="49" charset="0"/>
                  <a:ea typeface="楷体" pitchFamily="49" charset="-122"/>
                  <a:cs typeface="Consolas" pitchFamily="49" charset="0"/>
                </a:rPr>
                <a:t>N</a:t>
              </a:r>
              <a:endParaRPr lang="zh-CN" altLang="en-US" sz="2000" i="1" dirty="0">
                <a:latin typeface="Consolas" pitchFamily="49" charset="0"/>
                <a:cs typeface="Consolas" pitchFamily="49" charset="0"/>
              </a:endParaRPr>
            </a:p>
          </p:txBody>
        </p:sp>
      </p:grpSp>
      <p:sp>
        <p:nvSpPr>
          <p:cNvPr id="111" name="上弧形箭头 115">
            <a:extLst>
              <a:ext uri="{FF2B5EF4-FFF2-40B4-BE49-F238E27FC236}">
                <a16:creationId xmlns:a16="http://schemas.microsoft.com/office/drawing/2014/main" id="{485200A7-307A-419F-AF79-C0C2EC4E83D9}"/>
              </a:ext>
            </a:extLst>
          </p:cNvPr>
          <p:cNvSpPr/>
          <p:nvPr/>
        </p:nvSpPr>
        <p:spPr bwMode="auto">
          <a:xfrm>
            <a:off x="2224730" y="915847"/>
            <a:ext cx="2500330" cy="400111"/>
          </a:xfrm>
          <a:prstGeom prst="curvedDownArrow">
            <a:avLst>
              <a:gd name="adj1" fmla="val 25000"/>
              <a:gd name="adj2" fmla="val 50000"/>
              <a:gd name="adj3" fmla="val 25000"/>
            </a:avLst>
          </a:prstGeom>
          <a:ln>
            <a:headEnd/>
            <a:tailEnd type="triangle" w="med" len="med"/>
          </a:ln>
        </p:spPr>
        <p:style>
          <a:lnRef idx="0">
            <a:schemeClr val="accent4"/>
          </a:lnRef>
          <a:fillRef idx="3">
            <a:schemeClr val="accent4"/>
          </a:fillRef>
          <a:effectRef idx="3">
            <a:schemeClr val="accent4"/>
          </a:effectRef>
          <a:fontRef idx="minor">
            <a:schemeClr val="lt1"/>
          </a:fontRef>
        </p:style>
        <p:txBody>
          <a:bodyPr wrap="none" rtlCol="0" anchor="ctr"/>
          <a:lstStyle/>
          <a:p>
            <a:pPr algn="ctr"/>
            <a:endParaRPr lang="zh-CN" altLang="en-US"/>
          </a:p>
        </p:txBody>
      </p:sp>
    </p:spTree>
    <p:extLst>
      <p:ext uri="{BB962C8B-B14F-4D97-AF65-F5344CB8AC3E}">
        <p14:creationId xmlns:p14="http://schemas.microsoft.com/office/powerpoint/2010/main" val="14550851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1">
            <a:extLst>
              <a:ext uri="{FF2B5EF4-FFF2-40B4-BE49-F238E27FC236}">
                <a16:creationId xmlns:a16="http://schemas.microsoft.com/office/drawing/2014/main" id="{EFF02B87-3AE4-46CA-9CB6-939D09A7A253}"/>
              </a:ext>
            </a:extLst>
          </p:cNvPr>
          <p:cNvSpPr txBox="1"/>
          <p:nvPr/>
        </p:nvSpPr>
        <p:spPr>
          <a:xfrm>
            <a:off x="3995936" y="888515"/>
            <a:ext cx="5874446" cy="1135567"/>
          </a:xfrm>
          <a:prstGeom prst="rect">
            <a:avLst/>
          </a:prstGeom>
          <a:noFill/>
        </p:spPr>
        <p:txBody>
          <a:bodyPr wrap="square" rtlCol="0">
            <a:spAutoFit/>
          </a:bodyPr>
          <a:lstStyle/>
          <a:p>
            <a:pPr algn="l">
              <a:lnSpc>
                <a:spcPct val="150000"/>
              </a:lnSpc>
            </a:pPr>
            <a:r>
              <a:rPr lang="zh-CN" altLang="en-US" dirty="0">
                <a:solidFill>
                  <a:srgbClr val="FF0000"/>
                </a:solidFill>
                <a:latin typeface="Consolas" pitchFamily="49" charset="0"/>
                <a:ea typeface="微软雅黑" pitchFamily="34" charset="-122"/>
                <a:cs typeface="Consolas" pitchFamily="49" charset="0"/>
              </a:rPr>
              <a:t>走步表达：</a:t>
            </a:r>
            <a:r>
              <a:rPr lang="zh-CN" altLang="en-US" dirty="0">
                <a:solidFill>
                  <a:srgbClr val="0000FF"/>
                </a:solidFill>
                <a:latin typeface="Consolas" pitchFamily="49" charset="0"/>
                <a:ea typeface="楷体" pitchFamily="49" charset="-122"/>
                <a:cs typeface="Consolas" pitchFamily="49" charset="0"/>
              </a:rPr>
              <a:t>坐标</a:t>
            </a:r>
            <a:endParaRPr lang="en-US" altLang="zh-CN" dirty="0">
              <a:solidFill>
                <a:srgbClr val="0000FF"/>
              </a:solidFill>
              <a:latin typeface="Consolas" pitchFamily="49" charset="0"/>
              <a:ea typeface="楷体" pitchFamily="49" charset="-122"/>
              <a:cs typeface="Consolas" pitchFamily="49" charset="0"/>
            </a:endParaRPr>
          </a:p>
          <a:p>
            <a:pPr algn="l">
              <a:lnSpc>
                <a:spcPct val="150000"/>
              </a:lnSpc>
            </a:pPr>
            <a:r>
              <a:rPr lang="zh-CN" altLang="en-US" dirty="0">
                <a:solidFill>
                  <a:srgbClr val="FF0000"/>
                </a:solidFill>
                <a:latin typeface="Consolas" pitchFamily="49" charset="0"/>
                <a:ea typeface="微软雅黑" pitchFamily="34" charset="-122"/>
                <a:cs typeface="Consolas" pitchFamily="49" charset="0"/>
              </a:rPr>
              <a:t>试探顺序：</a:t>
            </a:r>
            <a:r>
              <a:rPr lang="zh-CN" altLang="en-US" dirty="0">
                <a:solidFill>
                  <a:srgbClr val="0000FF"/>
                </a:solidFill>
                <a:latin typeface="Consolas" pitchFamily="49" charset="0"/>
                <a:ea typeface="楷体" pitchFamily="49" charset="-122"/>
                <a:cs typeface="Consolas" pitchFamily="49" charset="0"/>
              </a:rPr>
              <a:t>从方位</a:t>
            </a:r>
            <a:r>
              <a:rPr lang="en-US" altLang="zh-CN" dirty="0">
                <a:solidFill>
                  <a:srgbClr val="0000FF"/>
                </a:solidFill>
                <a:latin typeface="Consolas" pitchFamily="49" charset="0"/>
                <a:ea typeface="楷体" pitchFamily="49" charset="-122"/>
                <a:cs typeface="Consolas" pitchFamily="49" charset="0"/>
              </a:rPr>
              <a:t>0</a:t>
            </a:r>
            <a:r>
              <a:rPr lang="zh-CN" altLang="en-US" dirty="0">
                <a:solidFill>
                  <a:srgbClr val="0000FF"/>
                </a:solidFill>
                <a:latin typeface="Consolas" pitchFamily="49" charset="0"/>
                <a:ea typeface="楷体" pitchFamily="49" charset="-122"/>
                <a:cs typeface="Consolas" pitchFamily="49" charset="0"/>
              </a:rPr>
              <a:t>开始，顺时针方向</a:t>
            </a:r>
            <a:endParaRPr lang="zh-CN" altLang="en-US" dirty="0">
              <a:solidFill>
                <a:srgbClr val="0000FF"/>
              </a:solidFill>
              <a:latin typeface="Consolas" pitchFamily="49" charset="0"/>
              <a:cs typeface="Consolas" pitchFamily="49" charset="0"/>
            </a:endParaRPr>
          </a:p>
        </p:txBody>
      </p:sp>
      <p:sp>
        <p:nvSpPr>
          <p:cNvPr id="5" name="Text Box 110">
            <a:extLst>
              <a:ext uri="{FF2B5EF4-FFF2-40B4-BE49-F238E27FC236}">
                <a16:creationId xmlns:a16="http://schemas.microsoft.com/office/drawing/2014/main" id="{9229F2AC-A4F9-46C8-8C01-A5A3AC51C08A}"/>
              </a:ext>
            </a:extLst>
          </p:cNvPr>
          <p:cNvSpPr txBox="1">
            <a:spLocks noChangeArrowheads="1"/>
          </p:cNvSpPr>
          <p:nvPr/>
        </p:nvSpPr>
        <p:spPr bwMode="auto">
          <a:xfrm>
            <a:off x="5868714" y="1864986"/>
            <a:ext cx="857256" cy="400110"/>
          </a:xfrm>
          <a:prstGeom prst="rect">
            <a:avLst/>
          </a:prstGeom>
          <a:noFill/>
          <a:ln w="9525">
            <a:noFill/>
            <a:miter lim="800000"/>
            <a:headEnd/>
            <a:tailEnd/>
          </a:ln>
        </p:spPr>
        <p:txBody>
          <a:bodyPr wrap="square">
            <a:spAutoFit/>
          </a:bodyPr>
          <a:lstStyle/>
          <a:p>
            <a:pPr algn="l">
              <a:spcBef>
                <a:spcPct val="50000"/>
              </a:spcBef>
            </a:pPr>
            <a:r>
              <a:rPr lang="zh-CN" altLang="en-US" sz="2000" dirty="0">
                <a:solidFill>
                  <a:srgbClr val="0000FF"/>
                </a:solidFill>
                <a:latin typeface="Consolas" pitchFamily="49" charset="0"/>
                <a:ea typeface="仿宋" pitchFamily="49" charset="-122"/>
                <a:cs typeface="Consolas" pitchFamily="49" charset="0"/>
              </a:rPr>
              <a:t>方位</a:t>
            </a:r>
            <a:r>
              <a:rPr lang="en-US" altLang="zh-CN" sz="2000" dirty="0">
                <a:solidFill>
                  <a:srgbClr val="0000FF"/>
                </a:solidFill>
                <a:latin typeface="Consolas" pitchFamily="49" charset="0"/>
                <a:ea typeface="仿宋" pitchFamily="49" charset="-122"/>
                <a:cs typeface="Consolas" pitchFamily="49" charset="0"/>
              </a:rPr>
              <a:t>0</a:t>
            </a:r>
          </a:p>
        </p:txBody>
      </p:sp>
      <p:sp>
        <p:nvSpPr>
          <p:cNvPr id="6" name="Text Box 111">
            <a:extLst>
              <a:ext uri="{FF2B5EF4-FFF2-40B4-BE49-F238E27FC236}">
                <a16:creationId xmlns:a16="http://schemas.microsoft.com/office/drawing/2014/main" id="{49D0142C-9AAE-4B0F-B83B-16A309BB8BE0}"/>
              </a:ext>
            </a:extLst>
          </p:cNvPr>
          <p:cNvSpPr txBox="1">
            <a:spLocks noChangeArrowheads="1"/>
          </p:cNvSpPr>
          <p:nvPr/>
        </p:nvSpPr>
        <p:spPr bwMode="auto">
          <a:xfrm>
            <a:off x="5940152" y="5894032"/>
            <a:ext cx="928694" cy="400110"/>
          </a:xfrm>
          <a:prstGeom prst="rect">
            <a:avLst/>
          </a:prstGeom>
          <a:noFill/>
          <a:ln w="9525">
            <a:noFill/>
            <a:miter lim="800000"/>
            <a:headEnd/>
            <a:tailEnd/>
          </a:ln>
        </p:spPr>
        <p:txBody>
          <a:bodyPr wrap="square">
            <a:spAutoFit/>
          </a:bodyPr>
          <a:lstStyle/>
          <a:p>
            <a:pPr algn="l">
              <a:spcBef>
                <a:spcPct val="50000"/>
              </a:spcBef>
            </a:pPr>
            <a:r>
              <a:rPr lang="zh-CN" altLang="en-US" sz="2000" dirty="0">
                <a:solidFill>
                  <a:srgbClr val="0000FF"/>
                </a:solidFill>
                <a:latin typeface="Consolas" pitchFamily="49" charset="0"/>
                <a:ea typeface="仿宋" pitchFamily="49" charset="-122"/>
                <a:cs typeface="Consolas" pitchFamily="49" charset="0"/>
              </a:rPr>
              <a:t>方位</a:t>
            </a:r>
            <a:r>
              <a:rPr lang="en-US" altLang="zh-CN" sz="2000" dirty="0">
                <a:solidFill>
                  <a:srgbClr val="0000FF"/>
                </a:solidFill>
                <a:latin typeface="Consolas" pitchFamily="49" charset="0"/>
                <a:ea typeface="仿宋" pitchFamily="49" charset="-122"/>
                <a:cs typeface="Consolas" pitchFamily="49" charset="0"/>
              </a:rPr>
              <a:t>2</a:t>
            </a:r>
          </a:p>
        </p:txBody>
      </p:sp>
      <p:sp>
        <p:nvSpPr>
          <p:cNvPr id="7" name="Text Box 112">
            <a:extLst>
              <a:ext uri="{FF2B5EF4-FFF2-40B4-BE49-F238E27FC236}">
                <a16:creationId xmlns:a16="http://schemas.microsoft.com/office/drawing/2014/main" id="{2F50C3BC-1B65-4D0D-91A3-86BF18DC1733}"/>
              </a:ext>
            </a:extLst>
          </p:cNvPr>
          <p:cNvSpPr txBox="1">
            <a:spLocks noChangeArrowheads="1"/>
          </p:cNvSpPr>
          <p:nvPr/>
        </p:nvSpPr>
        <p:spPr bwMode="auto">
          <a:xfrm>
            <a:off x="8440482" y="3865250"/>
            <a:ext cx="857256" cy="400110"/>
          </a:xfrm>
          <a:prstGeom prst="rect">
            <a:avLst/>
          </a:prstGeom>
          <a:noFill/>
          <a:ln w="9525">
            <a:noFill/>
            <a:miter lim="800000"/>
            <a:headEnd/>
            <a:tailEnd/>
          </a:ln>
        </p:spPr>
        <p:txBody>
          <a:bodyPr wrap="square">
            <a:spAutoFit/>
          </a:bodyPr>
          <a:lstStyle/>
          <a:p>
            <a:pPr algn="l">
              <a:spcBef>
                <a:spcPct val="50000"/>
              </a:spcBef>
            </a:pPr>
            <a:r>
              <a:rPr lang="zh-CN" altLang="en-US" sz="2000" dirty="0">
                <a:solidFill>
                  <a:srgbClr val="0000FF"/>
                </a:solidFill>
                <a:latin typeface="Consolas" pitchFamily="49" charset="0"/>
                <a:ea typeface="仿宋" pitchFamily="49" charset="-122"/>
                <a:cs typeface="Consolas" pitchFamily="49" charset="0"/>
              </a:rPr>
              <a:t>方位</a:t>
            </a:r>
            <a:r>
              <a:rPr lang="en-US" altLang="zh-CN" sz="2000" dirty="0">
                <a:solidFill>
                  <a:srgbClr val="0000FF"/>
                </a:solidFill>
                <a:latin typeface="Consolas" pitchFamily="49" charset="0"/>
                <a:ea typeface="仿宋" pitchFamily="49" charset="-122"/>
                <a:cs typeface="Consolas" pitchFamily="49" charset="0"/>
              </a:rPr>
              <a:t>1</a:t>
            </a:r>
          </a:p>
        </p:txBody>
      </p:sp>
      <p:sp>
        <p:nvSpPr>
          <p:cNvPr id="8" name="Text Box 113">
            <a:extLst>
              <a:ext uri="{FF2B5EF4-FFF2-40B4-BE49-F238E27FC236}">
                <a16:creationId xmlns:a16="http://schemas.microsoft.com/office/drawing/2014/main" id="{E434ED7E-DDCB-4D39-A3AF-772AD16144C1}"/>
              </a:ext>
            </a:extLst>
          </p:cNvPr>
          <p:cNvSpPr txBox="1">
            <a:spLocks noChangeArrowheads="1"/>
          </p:cNvSpPr>
          <p:nvPr/>
        </p:nvSpPr>
        <p:spPr bwMode="auto">
          <a:xfrm>
            <a:off x="3296946" y="3865250"/>
            <a:ext cx="928694" cy="400110"/>
          </a:xfrm>
          <a:prstGeom prst="rect">
            <a:avLst/>
          </a:prstGeom>
          <a:noFill/>
          <a:ln w="9525">
            <a:noFill/>
            <a:miter lim="800000"/>
            <a:headEnd/>
            <a:tailEnd/>
          </a:ln>
        </p:spPr>
        <p:txBody>
          <a:bodyPr wrap="square">
            <a:spAutoFit/>
          </a:bodyPr>
          <a:lstStyle/>
          <a:p>
            <a:pPr algn="l">
              <a:spcBef>
                <a:spcPct val="50000"/>
              </a:spcBef>
            </a:pPr>
            <a:r>
              <a:rPr lang="zh-CN" altLang="en-US" sz="2000" dirty="0">
                <a:solidFill>
                  <a:srgbClr val="0000FF"/>
                </a:solidFill>
                <a:latin typeface="Consolas" pitchFamily="49" charset="0"/>
                <a:ea typeface="仿宋" pitchFamily="49" charset="-122"/>
                <a:cs typeface="Consolas" pitchFamily="49" charset="0"/>
              </a:rPr>
              <a:t>方位</a:t>
            </a:r>
            <a:r>
              <a:rPr lang="en-US" altLang="zh-CN" sz="2000" dirty="0">
                <a:solidFill>
                  <a:srgbClr val="0000FF"/>
                </a:solidFill>
                <a:latin typeface="Consolas" pitchFamily="49" charset="0"/>
                <a:ea typeface="仿宋" pitchFamily="49" charset="-122"/>
                <a:cs typeface="Consolas" pitchFamily="49" charset="0"/>
              </a:rPr>
              <a:t>3</a:t>
            </a:r>
          </a:p>
        </p:txBody>
      </p:sp>
      <p:sp>
        <p:nvSpPr>
          <p:cNvPr id="9" name="Rectangle 36">
            <a:extLst>
              <a:ext uri="{FF2B5EF4-FFF2-40B4-BE49-F238E27FC236}">
                <a16:creationId xmlns:a16="http://schemas.microsoft.com/office/drawing/2014/main" id="{7599E66D-E48E-4EB2-AE5C-5606671A3BC7}"/>
              </a:ext>
            </a:extLst>
          </p:cNvPr>
          <p:cNvSpPr>
            <a:spLocks noChangeArrowheads="1"/>
          </p:cNvSpPr>
          <p:nvPr/>
        </p:nvSpPr>
        <p:spPr bwMode="auto">
          <a:xfrm>
            <a:off x="5940152" y="3789040"/>
            <a:ext cx="720000" cy="540000"/>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i="1">
                <a:solidFill>
                  <a:srgbClr val="0000FF"/>
                </a:solidFill>
                <a:latin typeface="Consolas" pitchFamily="49" charset="0"/>
                <a:ea typeface="宋体" pitchFamily="2" charset="-122"/>
                <a:cs typeface="Consolas" pitchFamily="49" charset="0"/>
              </a:rPr>
              <a:t>i</a:t>
            </a:r>
            <a:r>
              <a:rPr lang="zh-CN" altLang="en-US" sz="1800">
                <a:solidFill>
                  <a:srgbClr val="0000FF"/>
                </a:solidFill>
                <a:latin typeface="Consolas" pitchFamily="49" charset="0"/>
                <a:ea typeface="宋体" pitchFamily="2" charset="-122"/>
                <a:cs typeface="Consolas" pitchFamily="49" charset="0"/>
              </a:rPr>
              <a:t>，</a:t>
            </a:r>
            <a:r>
              <a:rPr lang="en-US" altLang="zh-CN" sz="1800" i="1">
                <a:solidFill>
                  <a:srgbClr val="0000FF"/>
                </a:solidFill>
                <a:latin typeface="Consolas" pitchFamily="49" charset="0"/>
                <a:ea typeface="宋体" pitchFamily="2" charset="-122"/>
                <a:cs typeface="Consolas" pitchFamily="49" charset="0"/>
              </a:rPr>
              <a:t>j</a:t>
            </a:r>
            <a:endParaRPr lang="en-US" altLang="zh-CN" sz="1800" i="1" dirty="0">
              <a:solidFill>
                <a:srgbClr val="0000FF"/>
              </a:solidFill>
              <a:latin typeface="Consolas" pitchFamily="49" charset="0"/>
              <a:ea typeface="宋体" pitchFamily="2" charset="-122"/>
              <a:cs typeface="Consolas" pitchFamily="49" charset="0"/>
            </a:endParaRPr>
          </a:p>
        </p:txBody>
      </p:sp>
      <p:sp>
        <p:nvSpPr>
          <p:cNvPr id="10" name="Rectangle 36">
            <a:extLst>
              <a:ext uri="{FF2B5EF4-FFF2-40B4-BE49-F238E27FC236}">
                <a16:creationId xmlns:a16="http://schemas.microsoft.com/office/drawing/2014/main" id="{7B267499-DBA4-4CAD-92D7-FC7E11973AB2}"/>
              </a:ext>
            </a:extLst>
          </p:cNvPr>
          <p:cNvSpPr>
            <a:spLocks noChangeArrowheads="1"/>
          </p:cNvSpPr>
          <p:nvPr/>
        </p:nvSpPr>
        <p:spPr bwMode="auto">
          <a:xfrm>
            <a:off x="5940152" y="2322189"/>
            <a:ext cx="720000" cy="5400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1800" i="1">
                <a:solidFill>
                  <a:srgbClr val="0000FF"/>
                </a:solidFill>
                <a:latin typeface="Consolas" pitchFamily="49" charset="0"/>
                <a:ea typeface="宋体" pitchFamily="2" charset="-122"/>
                <a:cs typeface="Consolas" pitchFamily="49" charset="0"/>
              </a:rPr>
              <a:t>i</a:t>
            </a:r>
            <a:r>
              <a:rPr lang="en-US" altLang="zh-CN" sz="1800">
                <a:solidFill>
                  <a:srgbClr val="0000FF"/>
                </a:solidFill>
                <a:latin typeface="Consolas" pitchFamily="49" charset="0"/>
                <a:ea typeface="+mj-ea"/>
                <a:cs typeface="Consolas" pitchFamily="49" charset="0"/>
              </a:rPr>
              <a:t>-</a:t>
            </a:r>
            <a:r>
              <a:rPr lang="en-US" altLang="zh-CN" sz="1800">
                <a:solidFill>
                  <a:srgbClr val="0000FF"/>
                </a:solidFill>
                <a:latin typeface="Consolas" pitchFamily="49" charset="0"/>
                <a:ea typeface="宋体" pitchFamily="2" charset="-122"/>
                <a:cs typeface="Consolas" pitchFamily="49" charset="0"/>
              </a:rPr>
              <a:t>1</a:t>
            </a:r>
            <a:r>
              <a:rPr lang="zh-CN" altLang="en-US" sz="1800">
                <a:solidFill>
                  <a:srgbClr val="0000FF"/>
                </a:solidFill>
                <a:latin typeface="Consolas" pitchFamily="49" charset="0"/>
                <a:ea typeface="宋体" pitchFamily="2" charset="-122"/>
                <a:cs typeface="Consolas" pitchFamily="49" charset="0"/>
              </a:rPr>
              <a:t>，</a:t>
            </a:r>
            <a:r>
              <a:rPr lang="en-US" altLang="zh-CN" sz="1800" i="1">
                <a:solidFill>
                  <a:srgbClr val="0000FF"/>
                </a:solidFill>
                <a:latin typeface="Consolas" pitchFamily="49" charset="0"/>
                <a:ea typeface="宋体" pitchFamily="2" charset="-122"/>
                <a:cs typeface="Consolas" pitchFamily="49" charset="0"/>
              </a:rPr>
              <a:t>j</a:t>
            </a:r>
            <a:endParaRPr lang="en-US" altLang="zh-CN" sz="1800" i="1" dirty="0">
              <a:solidFill>
                <a:srgbClr val="0000FF"/>
              </a:solidFill>
              <a:latin typeface="Consolas" pitchFamily="49" charset="0"/>
              <a:ea typeface="宋体" pitchFamily="2" charset="-122"/>
              <a:cs typeface="Consolas" pitchFamily="49" charset="0"/>
            </a:endParaRPr>
          </a:p>
        </p:txBody>
      </p:sp>
      <p:sp>
        <p:nvSpPr>
          <p:cNvPr id="11" name="Rectangle 36">
            <a:extLst>
              <a:ext uri="{FF2B5EF4-FFF2-40B4-BE49-F238E27FC236}">
                <a16:creationId xmlns:a16="http://schemas.microsoft.com/office/drawing/2014/main" id="{627F688B-944E-43D2-AFC5-0DC8347F828C}"/>
              </a:ext>
            </a:extLst>
          </p:cNvPr>
          <p:cNvSpPr>
            <a:spLocks noChangeArrowheads="1"/>
          </p:cNvSpPr>
          <p:nvPr/>
        </p:nvSpPr>
        <p:spPr bwMode="auto">
          <a:xfrm>
            <a:off x="7635614" y="3779515"/>
            <a:ext cx="720000" cy="5400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1800" i="1">
                <a:solidFill>
                  <a:srgbClr val="0000FF"/>
                </a:solidFill>
                <a:latin typeface="Consolas" pitchFamily="49" charset="0"/>
                <a:ea typeface="宋体" pitchFamily="2" charset="-122"/>
                <a:cs typeface="Consolas" pitchFamily="49" charset="0"/>
              </a:rPr>
              <a:t>i</a:t>
            </a:r>
            <a:r>
              <a:rPr lang="zh-CN" altLang="en-US" sz="1800">
                <a:solidFill>
                  <a:srgbClr val="0000FF"/>
                </a:solidFill>
                <a:latin typeface="Consolas" pitchFamily="49" charset="0"/>
                <a:ea typeface="宋体" pitchFamily="2" charset="-122"/>
                <a:cs typeface="Consolas" pitchFamily="49" charset="0"/>
              </a:rPr>
              <a:t>，</a:t>
            </a:r>
            <a:r>
              <a:rPr lang="en-US" altLang="zh-CN" sz="1800" i="1">
                <a:solidFill>
                  <a:srgbClr val="0000FF"/>
                </a:solidFill>
                <a:latin typeface="Consolas" pitchFamily="49" charset="0"/>
                <a:ea typeface="宋体" pitchFamily="2" charset="-122"/>
                <a:cs typeface="Consolas" pitchFamily="49" charset="0"/>
              </a:rPr>
              <a:t>j</a:t>
            </a:r>
            <a:r>
              <a:rPr lang="en-US" altLang="zh-CN" sz="1800">
                <a:solidFill>
                  <a:srgbClr val="0000FF"/>
                </a:solidFill>
                <a:latin typeface="Consolas" pitchFamily="49" charset="0"/>
                <a:ea typeface="宋体" pitchFamily="2" charset="-122"/>
                <a:cs typeface="Consolas" pitchFamily="49" charset="0"/>
              </a:rPr>
              <a:t>+1</a:t>
            </a:r>
            <a:endParaRPr lang="en-US" altLang="zh-CN" sz="1800" dirty="0">
              <a:solidFill>
                <a:srgbClr val="0000FF"/>
              </a:solidFill>
              <a:latin typeface="Consolas" pitchFamily="49" charset="0"/>
              <a:ea typeface="宋体" pitchFamily="2" charset="-122"/>
              <a:cs typeface="Consolas" pitchFamily="49" charset="0"/>
            </a:endParaRPr>
          </a:p>
        </p:txBody>
      </p:sp>
      <p:sp>
        <p:nvSpPr>
          <p:cNvPr id="12" name="Rectangle 36">
            <a:extLst>
              <a:ext uri="{FF2B5EF4-FFF2-40B4-BE49-F238E27FC236}">
                <a16:creationId xmlns:a16="http://schemas.microsoft.com/office/drawing/2014/main" id="{21B8DA64-E0A8-4D19-B5FB-7B41362A888E}"/>
              </a:ext>
            </a:extLst>
          </p:cNvPr>
          <p:cNvSpPr>
            <a:spLocks noChangeArrowheads="1"/>
          </p:cNvSpPr>
          <p:nvPr/>
        </p:nvSpPr>
        <p:spPr bwMode="auto">
          <a:xfrm>
            <a:off x="4291458" y="3789040"/>
            <a:ext cx="720000" cy="5400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1800" i="1">
                <a:solidFill>
                  <a:srgbClr val="0000FF"/>
                </a:solidFill>
                <a:latin typeface="Consolas" pitchFamily="49" charset="0"/>
                <a:ea typeface="宋体" pitchFamily="2" charset="-122"/>
                <a:cs typeface="Consolas" pitchFamily="49" charset="0"/>
              </a:rPr>
              <a:t>i</a:t>
            </a:r>
            <a:r>
              <a:rPr lang="zh-CN" altLang="en-US" sz="1800">
                <a:solidFill>
                  <a:srgbClr val="0000FF"/>
                </a:solidFill>
                <a:latin typeface="Consolas" pitchFamily="49" charset="0"/>
                <a:ea typeface="宋体" pitchFamily="2" charset="-122"/>
                <a:cs typeface="Consolas" pitchFamily="49" charset="0"/>
              </a:rPr>
              <a:t>，</a:t>
            </a:r>
            <a:r>
              <a:rPr lang="en-US" altLang="zh-CN" sz="1800" i="1">
                <a:solidFill>
                  <a:srgbClr val="0000FF"/>
                </a:solidFill>
                <a:latin typeface="Consolas" pitchFamily="49" charset="0"/>
                <a:ea typeface="宋体" pitchFamily="2" charset="-122"/>
                <a:cs typeface="Consolas" pitchFamily="49" charset="0"/>
              </a:rPr>
              <a:t>j</a:t>
            </a:r>
            <a:r>
              <a:rPr lang="en-US" altLang="zh-CN" sz="1800" i="1">
                <a:solidFill>
                  <a:srgbClr val="0000FF"/>
                </a:solidFill>
                <a:latin typeface="Consolas" pitchFamily="49" charset="0"/>
                <a:ea typeface="+mj-ea"/>
                <a:cs typeface="Consolas" pitchFamily="49" charset="0"/>
              </a:rPr>
              <a:t>-</a:t>
            </a:r>
            <a:r>
              <a:rPr lang="en-US" altLang="zh-CN" sz="1800">
                <a:solidFill>
                  <a:srgbClr val="0000FF"/>
                </a:solidFill>
                <a:latin typeface="Consolas" pitchFamily="49" charset="0"/>
                <a:ea typeface="宋体" pitchFamily="2" charset="-122"/>
                <a:cs typeface="Consolas" pitchFamily="49" charset="0"/>
              </a:rPr>
              <a:t>1</a:t>
            </a:r>
            <a:endParaRPr lang="en-US" altLang="zh-CN" sz="1800" dirty="0">
              <a:solidFill>
                <a:srgbClr val="0000FF"/>
              </a:solidFill>
              <a:latin typeface="Consolas" pitchFamily="49" charset="0"/>
              <a:ea typeface="宋体" pitchFamily="2" charset="-122"/>
              <a:cs typeface="Consolas" pitchFamily="49" charset="0"/>
            </a:endParaRPr>
          </a:p>
        </p:txBody>
      </p:sp>
      <p:sp>
        <p:nvSpPr>
          <p:cNvPr id="13" name="Rectangle 36">
            <a:extLst>
              <a:ext uri="{FF2B5EF4-FFF2-40B4-BE49-F238E27FC236}">
                <a16:creationId xmlns:a16="http://schemas.microsoft.com/office/drawing/2014/main" id="{3A3B46C7-501F-4A2B-BE45-2929C637DBCC}"/>
              </a:ext>
            </a:extLst>
          </p:cNvPr>
          <p:cNvSpPr>
            <a:spLocks noChangeArrowheads="1"/>
          </p:cNvSpPr>
          <p:nvPr/>
        </p:nvSpPr>
        <p:spPr bwMode="auto">
          <a:xfrm>
            <a:off x="5940152" y="5294010"/>
            <a:ext cx="756000" cy="5400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1800" i="1">
                <a:solidFill>
                  <a:srgbClr val="0000FF"/>
                </a:solidFill>
                <a:latin typeface="Consolas" pitchFamily="49" charset="0"/>
                <a:ea typeface="宋体" pitchFamily="2" charset="-122"/>
                <a:cs typeface="Consolas" pitchFamily="49" charset="0"/>
              </a:rPr>
              <a:t>i</a:t>
            </a:r>
            <a:r>
              <a:rPr lang="en-US" altLang="zh-CN" sz="1800">
                <a:solidFill>
                  <a:srgbClr val="0000FF"/>
                </a:solidFill>
                <a:latin typeface="Consolas" pitchFamily="49" charset="0"/>
                <a:ea typeface="宋体" pitchFamily="2" charset="-122"/>
                <a:cs typeface="Consolas" pitchFamily="49" charset="0"/>
              </a:rPr>
              <a:t>+1</a:t>
            </a:r>
            <a:r>
              <a:rPr lang="zh-CN" altLang="en-US" sz="1800">
                <a:solidFill>
                  <a:srgbClr val="0000FF"/>
                </a:solidFill>
                <a:latin typeface="Consolas" pitchFamily="49" charset="0"/>
                <a:ea typeface="宋体" pitchFamily="2" charset="-122"/>
                <a:cs typeface="Consolas" pitchFamily="49" charset="0"/>
              </a:rPr>
              <a:t>，</a:t>
            </a:r>
            <a:r>
              <a:rPr lang="en-US" altLang="zh-CN" sz="1800" i="1">
                <a:solidFill>
                  <a:srgbClr val="0000FF"/>
                </a:solidFill>
                <a:latin typeface="Consolas" pitchFamily="49" charset="0"/>
                <a:ea typeface="宋体" pitchFamily="2" charset="-122"/>
                <a:cs typeface="Consolas" pitchFamily="49" charset="0"/>
              </a:rPr>
              <a:t>j</a:t>
            </a:r>
            <a:endParaRPr lang="en-US" altLang="zh-CN" sz="1800" dirty="0">
              <a:solidFill>
                <a:srgbClr val="0000FF"/>
              </a:solidFill>
              <a:latin typeface="Consolas" pitchFamily="49" charset="0"/>
              <a:ea typeface="宋体" pitchFamily="2" charset="-122"/>
              <a:cs typeface="Consolas" pitchFamily="49" charset="0"/>
            </a:endParaRPr>
          </a:p>
        </p:txBody>
      </p:sp>
      <p:cxnSp>
        <p:nvCxnSpPr>
          <p:cNvPr id="14" name="直接箭头连接符 13">
            <a:extLst>
              <a:ext uri="{FF2B5EF4-FFF2-40B4-BE49-F238E27FC236}">
                <a16:creationId xmlns:a16="http://schemas.microsoft.com/office/drawing/2014/main" id="{62A16753-B840-4705-B529-2A0CAED50A0C}"/>
              </a:ext>
            </a:extLst>
          </p:cNvPr>
          <p:cNvCxnSpPr/>
          <p:nvPr/>
        </p:nvCxnSpPr>
        <p:spPr>
          <a:xfrm rot="16200000" flipH="1">
            <a:off x="6904565" y="2829399"/>
            <a:ext cx="857256" cy="785818"/>
          </a:xfrm>
          <a:prstGeom prst="straightConnector1">
            <a:avLst/>
          </a:prstGeom>
          <a:ln w="38100">
            <a:solidFill>
              <a:srgbClr val="FF00FF"/>
            </a:solidFill>
            <a:tailEnd type="arrow"/>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B7CCB0D1-5B57-4D0C-8EFD-83E3B3B860C4}"/>
              </a:ext>
            </a:extLst>
          </p:cNvPr>
          <p:cNvCxnSpPr/>
          <p:nvPr/>
        </p:nvCxnSpPr>
        <p:spPr>
          <a:xfrm rot="10800000" flipV="1">
            <a:off x="6868846" y="4508192"/>
            <a:ext cx="1071570" cy="1000132"/>
          </a:xfrm>
          <a:prstGeom prst="straightConnector1">
            <a:avLst/>
          </a:prstGeom>
          <a:ln w="38100">
            <a:solidFill>
              <a:srgbClr val="FF00FF"/>
            </a:solidFill>
            <a:tailEnd type="arrow"/>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1231AFB6-576E-4728-ADCB-9C56782C038C}"/>
              </a:ext>
            </a:extLst>
          </p:cNvPr>
          <p:cNvCxnSpPr/>
          <p:nvPr/>
        </p:nvCxnSpPr>
        <p:spPr>
          <a:xfrm rot="10800000">
            <a:off x="4725706" y="4508192"/>
            <a:ext cx="1071570" cy="1000132"/>
          </a:xfrm>
          <a:prstGeom prst="straightConnector1">
            <a:avLst/>
          </a:prstGeom>
          <a:ln w="38100">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17" name="Text Box 2">
            <a:extLst>
              <a:ext uri="{FF2B5EF4-FFF2-40B4-BE49-F238E27FC236}">
                <a16:creationId xmlns:a16="http://schemas.microsoft.com/office/drawing/2014/main" id="{52F9B521-8417-4B9D-A82F-19865A64DDD1}"/>
              </a:ext>
            </a:extLst>
          </p:cNvPr>
          <p:cNvSpPr txBox="1">
            <a:spLocks noChangeArrowheads="1"/>
          </p:cNvSpPr>
          <p:nvPr/>
        </p:nvSpPr>
        <p:spPr bwMode="auto">
          <a:xfrm>
            <a:off x="179512" y="1044654"/>
            <a:ext cx="2557450" cy="341632"/>
          </a:xfrm>
          <a:prstGeom prst="rect">
            <a:avLst/>
          </a:prstGeom>
          <a:noFill/>
          <a:ln w="9525">
            <a:noFill/>
            <a:miter lim="800000"/>
            <a:headEnd/>
            <a:tailEnd/>
          </a:ln>
          <a:effectLst/>
        </p:spPr>
        <p:txBody>
          <a:bodyPr wrap="squar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just">
              <a:lnSpc>
                <a:spcPct val="90000"/>
              </a:lnSpc>
              <a:spcBef>
                <a:spcPct val="50000"/>
              </a:spcBef>
              <a:buFont typeface="Wingdings" pitchFamily="2" charset="2"/>
              <a:buBlip>
                <a:blip r:embed="rId2"/>
              </a:buBlip>
            </a:pPr>
            <a:r>
              <a:rPr kumimoji="1" lang="en-US" altLang="zh-CN" b="1" spc="50" dirty="0">
                <a:ln w="11430"/>
                <a:solidFill>
                  <a:srgbClr val="FF0000"/>
                </a:solidFill>
                <a:latin typeface="Consolas" pitchFamily="49" charset="0"/>
                <a:ea typeface="黑体" pitchFamily="49" charset="-122"/>
                <a:cs typeface="Consolas" pitchFamily="49" charset="0"/>
              </a:rPr>
              <a:t>  </a:t>
            </a:r>
            <a:r>
              <a:rPr kumimoji="1" lang="zh-CN" altLang="en-US" b="1" spc="50" dirty="0">
                <a:ln w="11430"/>
                <a:solidFill>
                  <a:srgbClr val="FF0000"/>
                </a:solidFill>
                <a:latin typeface="Consolas" pitchFamily="49" charset="0"/>
                <a:ea typeface="黑体" pitchFamily="49" charset="-122"/>
                <a:cs typeface="Consolas" pitchFamily="49" charset="0"/>
              </a:rPr>
              <a:t>算法设计      </a:t>
            </a:r>
          </a:p>
        </p:txBody>
      </p:sp>
      <p:sp>
        <p:nvSpPr>
          <p:cNvPr id="19" name="Text Box 6">
            <a:extLst>
              <a:ext uri="{FF2B5EF4-FFF2-40B4-BE49-F238E27FC236}">
                <a16:creationId xmlns:a16="http://schemas.microsoft.com/office/drawing/2014/main" id="{63845CD8-AA3A-44F7-AA4E-7054CDF7574A}"/>
              </a:ext>
            </a:extLst>
          </p:cNvPr>
          <p:cNvSpPr txBox="1">
            <a:spLocks noChangeArrowheads="1"/>
          </p:cNvSpPr>
          <p:nvPr/>
        </p:nvSpPr>
        <p:spPr bwMode="auto">
          <a:xfrm>
            <a:off x="262430" y="1591514"/>
            <a:ext cx="3386135" cy="4339650"/>
          </a:xfrm>
          <a:prstGeom prst="rect">
            <a:avLst/>
          </a:prstGeom>
          <a:noFill/>
          <a:ln w="38100" algn="ctr">
            <a:noFill/>
            <a:miter lim="800000"/>
            <a:headEnd/>
            <a:tailEnd/>
          </a:ln>
          <a:effectLst/>
        </p:spPr>
        <p:txBody>
          <a:bodyPr wrap="square">
            <a:spAutoFit/>
          </a:bodyPr>
          <a:lstStyle/>
          <a:p>
            <a:pPr algn="l">
              <a:spcBef>
                <a:spcPct val="50000"/>
              </a:spcBef>
            </a:pPr>
            <a:r>
              <a:rPr kumimoji="1" lang="zh-CN" altLang="en-US" sz="2400" dirty="0">
                <a:latin typeface="Consolas" pitchFamily="49" charset="0"/>
                <a:ea typeface="楷体" pitchFamily="49" charset="-122"/>
                <a:cs typeface="Consolas" pitchFamily="49" charset="0"/>
              </a:rPr>
              <a:t>求解迷宫路径：</a:t>
            </a:r>
            <a:endParaRPr kumimoji="1" lang="en-US" altLang="zh-CN" sz="2400" dirty="0">
              <a:latin typeface="Consolas" pitchFamily="49" charset="0"/>
              <a:ea typeface="楷体" pitchFamily="49" charset="-122"/>
              <a:cs typeface="Consolas" pitchFamily="49" charset="0"/>
            </a:endParaRPr>
          </a:p>
          <a:p>
            <a:pPr algn="l">
              <a:spcBef>
                <a:spcPct val="50000"/>
              </a:spcBef>
            </a:pPr>
            <a:r>
              <a:rPr kumimoji="1" lang="en-US" altLang="zh-CN" sz="2400" dirty="0">
                <a:latin typeface="Consolas" pitchFamily="49" charset="0"/>
                <a:ea typeface="楷体" pitchFamily="49" charset="-122"/>
                <a:cs typeface="Consolas" pitchFamily="49" charset="0"/>
              </a:rPr>
              <a:t>  </a:t>
            </a:r>
            <a:r>
              <a:rPr kumimoji="1" lang="zh-CN" altLang="en-US" sz="2400" dirty="0">
                <a:latin typeface="Consolas" pitchFamily="49" charset="0"/>
                <a:ea typeface="楷体" pitchFamily="49" charset="-122"/>
                <a:cs typeface="Consolas" pitchFamily="49" charset="0"/>
              </a:rPr>
              <a:t>穷举法 回溯</a:t>
            </a:r>
            <a:endParaRPr kumimoji="1" lang="en-US" altLang="zh-CN" sz="2400" dirty="0">
              <a:latin typeface="Consolas" pitchFamily="49" charset="0"/>
              <a:ea typeface="楷体" pitchFamily="49" charset="-122"/>
              <a:cs typeface="Consolas" pitchFamily="49" charset="0"/>
            </a:endParaRPr>
          </a:p>
          <a:p>
            <a:pPr algn="l">
              <a:spcBef>
                <a:spcPct val="50000"/>
              </a:spcBef>
            </a:pPr>
            <a:r>
              <a:rPr kumimoji="1" lang="zh-CN" altLang="en-US" sz="2400" dirty="0">
                <a:latin typeface="Consolas" pitchFamily="49" charset="0"/>
                <a:ea typeface="楷体" pitchFamily="49" charset="-122"/>
                <a:cs typeface="Consolas" pitchFamily="49" charset="0"/>
              </a:rPr>
              <a:t>方法：</a:t>
            </a:r>
            <a:endParaRPr kumimoji="1" lang="en-US" altLang="zh-CN" sz="2400" dirty="0">
              <a:latin typeface="Consolas" pitchFamily="49" charset="0"/>
              <a:ea typeface="楷体" pitchFamily="49" charset="-122"/>
              <a:cs typeface="Consolas" pitchFamily="49" charset="0"/>
            </a:endParaRPr>
          </a:p>
          <a:p>
            <a:pPr algn="l">
              <a:spcBef>
                <a:spcPct val="50000"/>
              </a:spcBef>
            </a:pPr>
            <a:r>
              <a:rPr kumimoji="1" lang="en-US" altLang="zh-CN" sz="2400" dirty="0">
                <a:latin typeface="Consolas" pitchFamily="49" charset="0"/>
                <a:ea typeface="楷体" pitchFamily="49" charset="-122"/>
                <a:cs typeface="Consolas" pitchFamily="49" charset="0"/>
              </a:rPr>
              <a:t>  </a:t>
            </a:r>
            <a:r>
              <a:rPr kumimoji="1" lang="zh-CN" altLang="en-US" sz="2400" dirty="0">
                <a:latin typeface="Consolas" pitchFamily="49" charset="0"/>
                <a:ea typeface="楷体" pitchFamily="49" charset="-122"/>
                <a:cs typeface="Consolas" pitchFamily="49" charset="0"/>
              </a:rPr>
              <a:t>将每一步保存在栈上</a:t>
            </a:r>
            <a:endParaRPr kumimoji="1" lang="en-US" altLang="zh-CN" sz="2400" dirty="0">
              <a:latin typeface="Consolas" pitchFamily="49" charset="0"/>
              <a:ea typeface="楷体" pitchFamily="49" charset="-122"/>
              <a:cs typeface="Consolas" pitchFamily="49" charset="0"/>
            </a:endParaRPr>
          </a:p>
          <a:p>
            <a:pPr algn="l">
              <a:spcBef>
                <a:spcPct val="50000"/>
              </a:spcBef>
            </a:pPr>
            <a:r>
              <a:rPr kumimoji="1" lang="en-US" altLang="zh-CN" sz="2400" dirty="0">
                <a:latin typeface="Consolas" pitchFamily="49" charset="0"/>
                <a:ea typeface="楷体" pitchFamily="49" charset="-122"/>
                <a:cs typeface="Consolas" pitchFamily="49" charset="0"/>
              </a:rPr>
              <a:t>  </a:t>
            </a:r>
            <a:r>
              <a:rPr kumimoji="1" lang="zh-CN" altLang="en-US" sz="2400" dirty="0">
                <a:latin typeface="Consolas" pitchFamily="49" charset="0"/>
                <a:ea typeface="楷体" pitchFamily="49" charset="-122"/>
                <a:cs typeface="Consolas" pitchFamily="49" charset="0"/>
              </a:rPr>
              <a:t>试探一条路</a:t>
            </a:r>
            <a:endParaRPr kumimoji="1" lang="en-US" altLang="zh-CN" sz="2400" dirty="0">
              <a:latin typeface="Consolas" pitchFamily="49" charset="0"/>
              <a:ea typeface="楷体" pitchFamily="49" charset="-122"/>
              <a:cs typeface="Consolas" pitchFamily="49" charset="0"/>
            </a:endParaRPr>
          </a:p>
          <a:p>
            <a:pPr algn="l">
              <a:spcBef>
                <a:spcPct val="50000"/>
              </a:spcBef>
            </a:pPr>
            <a:r>
              <a:rPr kumimoji="1" lang="en-US" altLang="zh-CN" sz="2400" dirty="0">
                <a:latin typeface="Consolas" pitchFamily="49" charset="0"/>
                <a:ea typeface="楷体" pitchFamily="49" charset="-122"/>
                <a:cs typeface="Consolas" pitchFamily="49" charset="0"/>
              </a:rPr>
              <a:t>    </a:t>
            </a:r>
            <a:r>
              <a:rPr kumimoji="1" lang="zh-CN" altLang="en-US" sz="2400" dirty="0">
                <a:latin typeface="Consolas" pitchFamily="49" charset="0"/>
                <a:ea typeface="楷体" pitchFamily="49" charset="-122"/>
                <a:cs typeface="Consolas" pitchFamily="49" charset="0"/>
              </a:rPr>
              <a:t>直到走不通为止</a:t>
            </a:r>
            <a:endParaRPr kumimoji="1" lang="en-US" altLang="zh-CN" sz="2400" dirty="0">
              <a:latin typeface="Consolas" pitchFamily="49" charset="0"/>
              <a:ea typeface="楷体" pitchFamily="49" charset="-122"/>
              <a:cs typeface="Consolas" pitchFamily="49" charset="0"/>
            </a:endParaRPr>
          </a:p>
          <a:p>
            <a:pPr algn="l">
              <a:spcBef>
                <a:spcPct val="50000"/>
              </a:spcBef>
            </a:pPr>
            <a:r>
              <a:rPr kumimoji="1" lang="en-US" altLang="zh-CN" sz="2400" dirty="0">
                <a:latin typeface="Consolas" pitchFamily="49" charset="0"/>
                <a:ea typeface="楷体" pitchFamily="49" charset="-122"/>
                <a:cs typeface="Consolas" pitchFamily="49" charset="0"/>
              </a:rPr>
              <a:t>    </a:t>
            </a:r>
            <a:r>
              <a:rPr kumimoji="1" lang="zh-CN" altLang="en-US" sz="2400" dirty="0">
                <a:latin typeface="Consolas" pitchFamily="49" charset="0"/>
                <a:ea typeface="楷体" pitchFamily="49" charset="-122"/>
                <a:cs typeface="Consolas" pitchFamily="49" charset="0"/>
              </a:rPr>
              <a:t>回溯</a:t>
            </a:r>
            <a:endParaRPr kumimoji="1" lang="en-US" altLang="zh-CN" sz="2400" dirty="0">
              <a:latin typeface="Consolas" pitchFamily="49" charset="0"/>
              <a:ea typeface="楷体" pitchFamily="49" charset="-122"/>
              <a:cs typeface="Consolas" pitchFamily="49" charset="0"/>
            </a:endParaRPr>
          </a:p>
          <a:p>
            <a:pPr algn="l">
              <a:spcBef>
                <a:spcPct val="50000"/>
              </a:spcBef>
            </a:pPr>
            <a:r>
              <a:rPr kumimoji="1" lang="en-US" altLang="zh-CN" sz="2400" dirty="0">
                <a:latin typeface="Consolas" pitchFamily="49" charset="0"/>
                <a:ea typeface="楷体" pitchFamily="49" charset="-122"/>
                <a:cs typeface="Consolas" pitchFamily="49" charset="0"/>
              </a:rPr>
              <a:t>  </a:t>
            </a:r>
            <a:r>
              <a:rPr kumimoji="1" lang="zh-CN" altLang="en-US" sz="2400" dirty="0">
                <a:latin typeface="Consolas" pitchFamily="49" charset="0"/>
                <a:ea typeface="楷体" pitchFamily="49" charset="-122"/>
                <a:cs typeface="Consolas" pitchFamily="49" charset="0"/>
              </a:rPr>
              <a:t>试探另外一条路</a:t>
            </a:r>
          </a:p>
        </p:txBody>
      </p:sp>
    </p:spTree>
    <p:extLst>
      <p:ext uri="{BB962C8B-B14F-4D97-AF65-F5344CB8AC3E}">
        <p14:creationId xmlns:p14="http://schemas.microsoft.com/office/powerpoint/2010/main" val="425777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ppt_x</p:attrName>
                                        </p:attrNameLst>
                                      </p:cBhvr>
                                      <p:tavLst>
                                        <p:tav tm="0">
                                          <p:val>
                                            <p:strVal val="#ppt_x"/>
                                          </p:val>
                                        </p:tav>
                                        <p:tav tm="100000">
                                          <p:val>
                                            <p:strVal val="#ppt_x"/>
                                          </p:val>
                                        </p:tav>
                                      </p:tavLst>
                                    </p:anim>
                                    <p:anim calcmode="lin" valueType="num">
                                      <p:cBhvr>
                                        <p:cTn id="21" dur="1000" fill="hold"/>
                                        <p:tgtEl>
                                          <p:spTgt spid="6"/>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1000"/>
                                        <p:tgtEl>
                                          <p:spTgt spid="7"/>
                                        </p:tgtEl>
                                      </p:cBhvr>
                                    </p:animEffect>
                                    <p:anim calcmode="lin" valueType="num">
                                      <p:cBhvr>
                                        <p:cTn id="25" dur="1000" fill="hold"/>
                                        <p:tgtEl>
                                          <p:spTgt spid="7"/>
                                        </p:tgtEl>
                                        <p:attrNameLst>
                                          <p:attrName>ppt_x</p:attrName>
                                        </p:attrNameLst>
                                      </p:cBhvr>
                                      <p:tavLst>
                                        <p:tav tm="0">
                                          <p:val>
                                            <p:strVal val="#ppt_x"/>
                                          </p:val>
                                        </p:tav>
                                        <p:tav tm="100000">
                                          <p:val>
                                            <p:strVal val="#ppt_x"/>
                                          </p:val>
                                        </p:tav>
                                      </p:tavLst>
                                    </p:anim>
                                    <p:anim calcmode="lin" valueType="num">
                                      <p:cBhvr>
                                        <p:cTn id="26" dur="1000" fill="hold"/>
                                        <p:tgtEl>
                                          <p:spTgt spid="7"/>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1000"/>
                                        <p:tgtEl>
                                          <p:spTgt spid="8"/>
                                        </p:tgtEl>
                                      </p:cBhvr>
                                    </p:animEffect>
                                    <p:anim calcmode="lin" valueType="num">
                                      <p:cBhvr>
                                        <p:cTn id="30" dur="1000" fill="hold"/>
                                        <p:tgtEl>
                                          <p:spTgt spid="8"/>
                                        </p:tgtEl>
                                        <p:attrNameLst>
                                          <p:attrName>ppt_x</p:attrName>
                                        </p:attrNameLst>
                                      </p:cBhvr>
                                      <p:tavLst>
                                        <p:tav tm="0">
                                          <p:val>
                                            <p:strVal val="#ppt_x"/>
                                          </p:val>
                                        </p:tav>
                                        <p:tav tm="100000">
                                          <p:val>
                                            <p:strVal val="#ppt_x"/>
                                          </p:val>
                                        </p:tav>
                                      </p:tavLst>
                                    </p:anim>
                                    <p:anim calcmode="lin" valueType="num">
                                      <p:cBhvr>
                                        <p:cTn id="31" dur="1000" fill="hold"/>
                                        <p:tgtEl>
                                          <p:spTgt spid="8"/>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1000"/>
                                        <p:tgtEl>
                                          <p:spTgt spid="9"/>
                                        </p:tgtEl>
                                      </p:cBhvr>
                                    </p:animEffect>
                                    <p:anim calcmode="lin" valueType="num">
                                      <p:cBhvr>
                                        <p:cTn id="35" dur="1000" fill="hold"/>
                                        <p:tgtEl>
                                          <p:spTgt spid="9"/>
                                        </p:tgtEl>
                                        <p:attrNameLst>
                                          <p:attrName>ppt_x</p:attrName>
                                        </p:attrNameLst>
                                      </p:cBhvr>
                                      <p:tavLst>
                                        <p:tav tm="0">
                                          <p:val>
                                            <p:strVal val="#ppt_x"/>
                                          </p:val>
                                        </p:tav>
                                        <p:tav tm="100000">
                                          <p:val>
                                            <p:strVal val="#ppt_x"/>
                                          </p:val>
                                        </p:tav>
                                      </p:tavLst>
                                    </p:anim>
                                    <p:anim calcmode="lin" valueType="num">
                                      <p:cBhvr>
                                        <p:cTn id="36" dur="1000" fill="hold"/>
                                        <p:tgtEl>
                                          <p:spTgt spid="9"/>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1000"/>
                                        <p:tgtEl>
                                          <p:spTgt spid="10"/>
                                        </p:tgtEl>
                                      </p:cBhvr>
                                    </p:animEffect>
                                    <p:anim calcmode="lin" valueType="num">
                                      <p:cBhvr>
                                        <p:cTn id="40" dur="1000" fill="hold"/>
                                        <p:tgtEl>
                                          <p:spTgt spid="10"/>
                                        </p:tgtEl>
                                        <p:attrNameLst>
                                          <p:attrName>ppt_x</p:attrName>
                                        </p:attrNameLst>
                                      </p:cBhvr>
                                      <p:tavLst>
                                        <p:tav tm="0">
                                          <p:val>
                                            <p:strVal val="#ppt_x"/>
                                          </p:val>
                                        </p:tav>
                                        <p:tav tm="100000">
                                          <p:val>
                                            <p:strVal val="#ppt_x"/>
                                          </p:val>
                                        </p:tav>
                                      </p:tavLst>
                                    </p:anim>
                                    <p:anim calcmode="lin" valueType="num">
                                      <p:cBhvr>
                                        <p:cTn id="41" dur="1000" fill="hold"/>
                                        <p:tgtEl>
                                          <p:spTgt spid="10"/>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1000"/>
                                        <p:tgtEl>
                                          <p:spTgt spid="11"/>
                                        </p:tgtEl>
                                      </p:cBhvr>
                                    </p:animEffect>
                                    <p:anim calcmode="lin" valueType="num">
                                      <p:cBhvr>
                                        <p:cTn id="45" dur="1000" fill="hold"/>
                                        <p:tgtEl>
                                          <p:spTgt spid="11"/>
                                        </p:tgtEl>
                                        <p:attrNameLst>
                                          <p:attrName>ppt_x</p:attrName>
                                        </p:attrNameLst>
                                      </p:cBhvr>
                                      <p:tavLst>
                                        <p:tav tm="0">
                                          <p:val>
                                            <p:strVal val="#ppt_x"/>
                                          </p:val>
                                        </p:tav>
                                        <p:tav tm="100000">
                                          <p:val>
                                            <p:strVal val="#ppt_x"/>
                                          </p:val>
                                        </p:tav>
                                      </p:tavLst>
                                    </p:anim>
                                    <p:anim calcmode="lin" valueType="num">
                                      <p:cBhvr>
                                        <p:cTn id="46" dur="1000" fill="hold"/>
                                        <p:tgtEl>
                                          <p:spTgt spid="11"/>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fade">
                                      <p:cBhvr>
                                        <p:cTn id="49" dur="1000"/>
                                        <p:tgtEl>
                                          <p:spTgt spid="12"/>
                                        </p:tgtEl>
                                      </p:cBhvr>
                                    </p:animEffect>
                                    <p:anim calcmode="lin" valueType="num">
                                      <p:cBhvr>
                                        <p:cTn id="50" dur="1000" fill="hold"/>
                                        <p:tgtEl>
                                          <p:spTgt spid="12"/>
                                        </p:tgtEl>
                                        <p:attrNameLst>
                                          <p:attrName>ppt_x</p:attrName>
                                        </p:attrNameLst>
                                      </p:cBhvr>
                                      <p:tavLst>
                                        <p:tav tm="0">
                                          <p:val>
                                            <p:strVal val="#ppt_x"/>
                                          </p:val>
                                        </p:tav>
                                        <p:tav tm="100000">
                                          <p:val>
                                            <p:strVal val="#ppt_x"/>
                                          </p:val>
                                        </p:tav>
                                      </p:tavLst>
                                    </p:anim>
                                    <p:anim calcmode="lin" valueType="num">
                                      <p:cBhvr>
                                        <p:cTn id="51" dur="1000" fill="hold"/>
                                        <p:tgtEl>
                                          <p:spTgt spid="12"/>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1000"/>
                                        <p:tgtEl>
                                          <p:spTgt spid="13"/>
                                        </p:tgtEl>
                                      </p:cBhvr>
                                    </p:animEffect>
                                    <p:anim calcmode="lin" valueType="num">
                                      <p:cBhvr>
                                        <p:cTn id="55" dur="1000" fill="hold"/>
                                        <p:tgtEl>
                                          <p:spTgt spid="13"/>
                                        </p:tgtEl>
                                        <p:attrNameLst>
                                          <p:attrName>ppt_x</p:attrName>
                                        </p:attrNameLst>
                                      </p:cBhvr>
                                      <p:tavLst>
                                        <p:tav tm="0">
                                          <p:val>
                                            <p:strVal val="#ppt_x"/>
                                          </p:val>
                                        </p:tav>
                                        <p:tav tm="100000">
                                          <p:val>
                                            <p:strVal val="#ppt_x"/>
                                          </p:val>
                                        </p:tav>
                                      </p:tavLst>
                                    </p:anim>
                                    <p:anim calcmode="lin" valueType="num">
                                      <p:cBhvr>
                                        <p:cTn id="56" dur="1000" fill="hold"/>
                                        <p:tgtEl>
                                          <p:spTgt spid="13"/>
                                        </p:tgtEl>
                                        <p:attrNameLst>
                                          <p:attrName>ppt_y</p:attrName>
                                        </p:attrNameLst>
                                      </p:cBhvr>
                                      <p:tavLst>
                                        <p:tav tm="0">
                                          <p:val>
                                            <p:strVal val="#ppt_y+.1"/>
                                          </p:val>
                                        </p:tav>
                                        <p:tav tm="100000">
                                          <p:val>
                                            <p:strVal val="#ppt_y"/>
                                          </p:val>
                                        </p:tav>
                                      </p:tavLst>
                                    </p:anim>
                                  </p:childTnLst>
                                </p:cTn>
                              </p:par>
                              <p:par>
                                <p:cTn id="57" presetID="42" presetClass="entr" presetSubtype="0" fill="hold" nodeType="withEffect">
                                  <p:stCondLst>
                                    <p:cond delay="0"/>
                                  </p:stCondLst>
                                  <p:childTnLst>
                                    <p:set>
                                      <p:cBhvr>
                                        <p:cTn id="58" dur="1" fill="hold">
                                          <p:stCondLst>
                                            <p:cond delay="0"/>
                                          </p:stCondLst>
                                        </p:cTn>
                                        <p:tgtEl>
                                          <p:spTgt spid="14"/>
                                        </p:tgtEl>
                                        <p:attrNameLst>
                                          <p:attrName>style.visibility</p:attrName>
                                        </p:attrNameLst>
                                      </p:cBhvr>
                                      <p:to>
                                        <p:strVal val="visible"/>
                                      </p:to>
                                    </p:set>
                                    <p:animEffect transition="in" filter="fade">
                                      <p:cBhvr>
                                        <p:cTn id="59" dur="1000"/>
                                        <p:tgtEl>
                                          <p:spTgt spid="14"/>
                                        </p:tgtEl>
                                      </p:cBhvr>
                                    </p:animEffect>
                                    <p:anim calcmode="lin" valueType="num">
                                      <p:cBhvr>
                                        <p:cTn id="60" dur="1000" fill="hold"/>
                                        <p:tgtEl>
                                          <p:spTgt spid="14"/>
                                        </p:tgtEl>
                                        <p:attrNameLst>
                                          <p:attrName>ppt_x</p:attrName>
                                        </p:attrNameLst>
                                      </p:cBhvr>
                                      <p:tavLst>
                                        <p:tav tm="0">
                                          <p:val>
                                            <p:strVal val="#ppt_x"/>
                                          </p:val>
                                        </p:tav>
                                        <p:tav tm="100000">
                                          <p:val>
                                            <p:strVal val="#ppt_x"/>
                                          </p:val>
                                        </p:tav>
                                      </p:tavLst>
                                    </p:anim>
                                    <p:anim calcmode="lin" valueType="num">
                                      <p:cBhvr>
                                        <p:cTn id="61" dur="1000" fill="hold"/>
                                        <p:tgtEl>
                                          <p:spTgt spid="14"/>
                                        </p:tgtEl>
                                        <p:attrNameLst>
                                          <p:attrName>ppt_y</p:attrName>
                                        </p:attrNameLst>
                                      </p:cBhvr>
                                      <p:tavLst>
                                        <p:tav tm="0">
                                          <p:val>
                                            <p:strVal val="#ppt_y+.1"/>
                                          </p:val>
                                        </p:tav>
                                        <p:tav tm="100000">
                                          <p:val>
                                            <p:strVal val="#ppt_y"/>
                                          </p:val>
                                        </p:tav>
                                      </p:tavLst>
                                    </p:anim>
                                  </p:childTnLst>
                                </p:cTn>
                              </p:par>
                              <p:par>
                                <p:cTn id="62" presetID="42" presetClass="entr" presetSubtype="0" fill="hold" nodeType="withEffect">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1000"/>
                                        <p:tgtEl>
                                          <p:spTgt spid="15"/>
                                        </p:tgtEl>
                                      </p:cBhvr>
                                    </p:animEffect>
                                    <p:anim calcmode="lin" valueType="num">
                                      <p:cBhvr>
                                        <p:cTn id="65" dur="1000" fill="hold"/>
                                        <p:tgtEl>
                                          <p:spTgt spid="15"/>
                                        </p:tgtEl>
                                        <p:attrNameLst>
                                          <p:attrName>ppt_x</p:attrName>
                                        </p:attrNameLst>
                                      </p:cBhvr>
                                      <p:tavLst>
                                        <p:tav tm="0">
                                          <p:val>
                                            <p:strVal val="#ppt_x"/>
                                          </p:val>
                                        </p:tav>
                                        <p:tav tm="100000">
                                          <p:val>
                                            <p:strVal val="#ppt_x"/>
                                          </p:val>
                                        </p:tav>
                                      </p:tavLst>
                                    </p:anim>
                                    <p:anim calcmode="lin" valueType="num">
                                      <p:cBhvr>
                                        <p:cTn id="66" dur="1000" fill="hold"/>
                                        <p:tgtEl>
                                          <p:spTgt spid="15"/>
                                        </p:tgtEl>
                                        <p:attrNameLst>
                                          <p:attrName>ppt_y</p:attrName>
                                        </p:attrNameLst>
                                      </p:cBhvr>
                                      <p:tavLst>
                                        <p:tav tm="0">
                                          <p:val>
                                            <p:strVal val="#ppt_y+.1"/>
                                          </p:val>
                                        </p:tav>
                                        <p:tav tm="100000">
                                          <p:val>
                                            <p:strVal val="#ppt_y"/>
                                          </p:val>
                                        </p:tav>
                                      </p:tavLst>
                                    </p:anim>
                                  </p:childTnLst>
                                </p:cTn>
                              </p:par>
                              <p:par>
                                <p:cTn id="67" presetID="42" presetClass="entr" presetSubtype="0" fill="hold" nodeType="withEffect">
                                  <p:stCondLst>
                                    <p:cond delay="0"/>
                                  </p:stCondLst>
                                  <p:childTnLst>
                                    <p:set>
                                      <p:cBhvr>
                                        <p:cTn id="68" dur="1" fill="hold">
                                          <p:stCondLst>
                                            <p:cond delay="0"/>
                                          </p:stCondLst>
                                        </p:cTn>
                                        <p:tgtEl>
                                          <p:spTgt spid="16"/>
                                        </p:tgtEl>
                                        <p:attrNameLst>
                                          <p:attrName>style.visibility</p:attrName>
                                        </p:attrNameLst>
                                      </p:cBhvr>
                                      <p:to>
                                        <p:strVal val="visible"/>
                                      </p:to>
                                    </p:set>
                                    <p:animEffect transition="in" filter="fade">
                                      <p:cBhvr>
                                        <p:cTn id="69" dur="1000"/>
                                        <p:tgtEl>
                                          <p:spTgt spid="16"/>
                                        </p:tgtEl>
                                      </p:cBhvr>
                                    </p:animEffect>
                                    <p:anim calcmode="lin" valueType="num">
                                      <p:cBhvr>
                                        <p:cTn id="70" dur="1000" fill="hold"/>
                                        <p:tgtEl>
                                          <p:spTgt spid="16"/>
                                        </p:tgtEl>
                                        <p:attrNameLst>
                                          <p:attrName>ppt_x</p:attrName>
                                        </p:attrNameLst>
                                      </p:cBhvr>
                                      <p:tavLst>
                                        <p:tav tm="0">
                                          <p:val>
                                            <p:strVal val="#ppt_x"/>
                                          </p:val>
                                        </p:tav>
                                        <p:tav tm="100000">
                                          <p:val>
                                            <p:strVal val="#ppt_x"/>
                                          </p:val>
                                        </p:tav>
                                      </p:tavLst>
                                    </p:anim>
                                    <p:anim calcmode="lin" valueType="num">
                                      <p:cBhvr>
                                        <p:cTn id="71"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animBg="1"/>
      <p:bldP spid="10" grpId="0" animBg="1"/>
      <p:bldP spid="11" grpId="0" animBg="1"/>
      <p:bldP spid="12" grpId="0" animBg="1"/>
      <p:bldP spid="13"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en-US" altLang="zh-CN" b="1" dirty="0"/>
              <a:t>3.3.2 </a:t>
            </a:r>
            <a:r>
              <a:rPr lang="zh-CN" altLang="zh-CN" b="1" dirty="0"/>
              <a:t>栈与递归</a:t>
            </a:r>
            <a:endParaRPr lang="zh-CN" altLang="en-US" dirty="0"/>
          </a:p>
        </p:txBody>
      </p:sp>
      <p:sp>
        <p:nvSpPr>
          <p:cNvPr id="4" name="内容占位符 3"/>
          <p:cNvSpPr>
            <a:spLocks noGrp="1"/>
          </p:cNvSpPr>
          <p:nvPr>
            <p:ph idx="1"/>
          </p:nvPr>
        </p:nvSpPr>
        <p:spPr>
          <a:xfrm>
            <a:off x="827584" y="1628800"/>
            <a:ext cx="7520940" cy="4514844"/>
          </a:xfrm>
        </p:spPr>
        <p:txBody>
          <a:bodyPr>
            <a:normAutofit/>
          </a:bodyPr>
          <a:lstStyle/>
          <a:p>
            <a:pPr algn="just"/>
            <a:r>
              <a:rPr lang="zh-CN" altLang="en-US" dirty="0">
                <a:solidFill>
                  <a:srgbClr val="FF0000"/>
                </a:solidFill>
              </a:rPr>
              <a:t>递归算法包括递推和回归两部分</a:t>
            </a:r>
            <a:r>
              <a:rPr lang="zh-CN" altLang="en-US" dirty="0"/>
              <a:t>：</a:t>
            </a:r>
          </a:p>
          <a:p>
            <a:pPr algn="just"/>
            <a:r>
              <a:rPr lang="zh-CN" altLang="en-US" b="0" dirty="0"/>
              <a:t>（</a:t>
            </a:r>
            <a:r>
              <a:rPr lang="en-US" b="0" dirty="0"/>
              <a:t>1</a:t>
            </a:r>
            <a:r>
              <a:rPr lang="zh-CN" altLang="en-US" b="0" dirty="0"/>
              <a:t>）递推：将规模较大的原问题分解为一个或多个规模较小而又类似的原问题的子问题，确定一个或多个不需要分解、可直接求解的最小子问题。</a:t>
            </a:r>
          </a:p>
          <a:p>
            <a:pPr algn="just"/>
            <a:r>
              <a:rPr lang="zh-CN" altLang="en-US" b="0" dirty="0"/>
              <a:t>（</a:t>
            </a:r>
            <a:r>
              <a:rPr lang="en-US" b="0" dirty="0"/>
              <a:t>2</a:t>
            </a:r>
            <a:r>
              <a:rPr lang="zh-CN" altLang="en-US" b="0" dirty="0"/>
              <a:t>）回归：当最小子问题得到解后，回归到原问题的解上。</a:t>
            </a:r>
            <a:endParaRPr lang="en-US" altLang="zh-CN" b="0" dirty="0"/>
          </a:p>
          <a:p>
            <a:pPr algn="just"/>
            <a:r>
              <a:rPr lang="zh-CN" altLang="en-US" dirty="0">
                <a:solidFill>
                  <a:srgbClr val="FF0000"/>
                </a:solidFill>
              </a:rPr>
              <a:t>求阶乘算法是非常典型的递归问题</a:t>
            </a:r>
            <a:r>
              <a:rPr lang="zh-CN" altLang="en-US" dirty="0"/>
              <a:t>：</a:t>
            </a:r>
            <a:endParaRPr lang="en-US" altLang="zh-CN" dirty="0"/>
          </a:p>
          <a:p>
            <a:pPr algn="just"/>
            <a:r>
              <a:rPr lang="zh-CN" altLang="en-US" b="0" dirty="0"/>
              <a:t>求</a:t>
            </a:r>
            <a:r>
              <a:rPr lang="en-US" b="0" dirty="0"/>
              <a:t>n</a:t>
            </a:r>
            <a:r>
              <a:rPr lang="zh-CN" altLang="en-US" b="0" dirty="0"/>
              <a:t>的阶乘可递归地定义为：</a:t>
            </a:r>
          </a:p>
          <a:p>
            <a:pPr algn="just"/>
            <a:endParaRPr lang="zh-CN" altLang="en-US" dirty="0"/>
          </a:p>
        </p:txBody>
      </p:sp>
      <p:sp>
        <p:nvSpPr>
          <p:cNvPr id="8397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pic>
        <p:nvPicPr>
          <p:cNvPr id="83972" name="Picture 4"/>
          <p:cNvPicPr>
            <a:picLocks noChangeAspect="1" noChangeArrowheads="1"/>
          </p:cNvPicPr>
          <p:nvPr/>
        </p:nvPicPr>
        <p:blipFill>
          <a:blip r:embed="rId2" cstate="print"/>
          <a:srcRect/>
          <a:stretch>
            <a:fillRect/>
          </a:stretch>
        </p:blipFill>
        <p:spPr bwMode="auto">
          <a:xfrm>
            <a:off x="4714876" y="5143512"/>
            <a:ext cx="3705225" cy="876300"/>
          </a:xfrm>
          <a:prstGeom prst="rect">
            <a:avLst/>
          </a:prstGeom>
          <a:noFill/>
          <a:ln w="9525">
            <a:noFill/>
            <a:miter lim="800000"/>
            <a:headEnd/>
            <a:tailEnd/>
          </a:ln>
          <a:effectLst/>
        </p:spPr>
      </p:pic>
    </p:spTree>
    <p:extLst>
      <p:ext uri="{BB962C8B-B14F-4D97-AF65-F5344CB8AC3E}">
        <p14:creationId xmlns:p14="http://schemas.microsoft.com/office/powerpoint/2010/main" val="31945728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764704"/>
            <a:ext cx="8101564" cy="5736130"/>
          </a:xfrm>
        </p:spPr>
        <p:txBody>
          <a:bodyPr>
            <a:noAutofit/>
          </a:bodyPr>
          <a:lstStyle/>
          <a:p>
            <a:pPr algn="just">
              <a:lnSpc>
                <a:spcPct val="110000"/>
              </a:lnSpc>
              <a:spcBef>
                <a:spcPts val="0"/>
              </a:spcBef>
            </a:pPr>
            <a:r>
              <a:rPr lang="zh-CN" altLang="zh-CN" sz="1800" dirty="0"/>
              <a:t>算法</a:t>
            </a:r>
            <a:r>
              <a:rPr lang="en-US" altLang="zh-CN" sz="1800" dirty="0"/>
              <a:t>:3.14</a:t>
            </a:r>
            <a:r>
              <a:rPr lang="zh-CN" altLang="zh-CN" sz="1800" dirty="0"/>
              <a:t>：</a:t>
            </a:r>
            <a:r>
              <a:rPr lang="en-US" altLang="zh-CN" sz="1800" dirty="0"/>
              <a:t>n</a:t>
            </a:r>
            <a:r>
              <a:rPr lang="zh-CN" altLang="zh-CN" sz="1800" dirty="0"/>
              <a:t>的阶乘</a:t>
            </a:r>
          </a:p>
          <a:p>
            <a:pPr algn="just">
              <a:lnSpc>
                <a:spcPct val="110000"/>
              </a:lnSpc>
              <a:spcBef>
                <a:spcPts val="0"/>
              </a:spcBef>
            </a:pPr>
            <a:r>
              <a:rPr lang="en-US" altLang="zh-CN" sz="1800" b="0" dirty="0"/>
              <a:t>class Factorial{ </a:t>
            </a:r>
            <a:endParaRPr lang="zh-CN" altLang="zh-CN" sz="1800" b="0" dirty="0"/>
          </a:p>
          <a:p>
            <a:pPr algn="just">
              <a:lnSpc>
                <a:spcPct val="110000"/>
              </a:lnSpc>
              <a:spcBef>
                <a:spcPts val="0"/>
              </a:spcBef>
            </a:pPr>
            <a:r>
              <a:rPr lang="en-US" altLang="zh-CN" sz="1800" b="0" dirty="0"/>
              <a:t>public:</a:t>
            </a:r>
            <a:endParaRPr lang="zh-CN" altLang="zh-CN" sz="1800" b="0" dirty="0"/>
          </a:p>
          <a:p>
            <a:pPr algn="just">
              <a:lnSpc>
                <a:spcPct val="110000"/>
              </a:lnSpc>
              <a:spcBef>
                <a:spcPts val="0"/>
              </a:spcBef>
            </a:pPr>
            <a:r>
              <a:rPr lang="en-US" altLang="zh-CN" sz="1800" b="0" dirty="0"/>
              <a:t>	long Fa(</a:t>
            </a:r>
            <a:r>
              <a:rPr lang="en-US" altLang="zh-CN" sz="1800" b="0" dirty="0" err="1"/>
              <a:t>int</a:t>
            </a:r>
            <a:r>
              <a:rPr lang="en-US" altLang="zh-CN" sz="1800" b="0" dirty="0"/>
              <a:t> n);       //</a:t>
            </a:r>
            <a:r>
              <a:rPr lang="zh-CN" altLang="zh-CN" sz="1800" b="0" dirty="0"/>
              <a:t>声明求阶乘的递归函数</a:t>
            </a:r>
          </a:p>
          <a:p>
            <a:pPr algn="just">
              <a:lnSpc>
                <a:spcPct val="110000"/>
              </a:lnSpc>
              <a:spcBef>
                <a:spcPts val="0"/>
              </a:spcBef>
            </a:pPr>
            <a:r>
              <a:rPr lang="en-US" altLang="zh-CN" sz="1800" b="0" dirty="0"/>
              <a:t>};</a:t>
            </a:r>
            <a:endParaRPr lang="zh-CN" altLang="zh-CN" sz="1800" b="0" dirty="0"/>
          </a:p>
          <a:p>
            <a:pPr algn="just">
              <a:lnSpc>
                <a:spcPct val="110000"/>
              </a:lnSpc>
              <a:spcBef>
                <a:spcPts val="0"/>
              </a:spcBef>
            </a:pPr>
            <a:r>
              <a:rPr lang="en-US" altLang="zh-CN" sz="1800" b="0" dirty="0"/>
              <a:t>long Factorial::Fa(</a:t>
            </a:r>
            <a:r>
              <a:rPr lang="en-US" altLang="zh-CN" sz="1800" b="0" dirty="0" err="1"/>
              <a:t>int</a:t>
            </a:r>
            <a:r>
              <a:rPr lang="en-US" altLang="zh-CN" sz="1800" b="0" dirty="0"/>
              <a:t> n)    //</a:t>
            </a:r>
            <a:r>
              <a:rPr lang="zh-CN" altLang="zh-CN" sz="1800" b="0" dirty="0"/>
              <a:t>定义求阶乘的递归函数</a:t>
            </a:r>
          </a:p>
          <a:p>
            <a:pPr algn="just">
              <a:lnSpc>
                <a:spcPct val="110000"/>
              </a:lnSpc>
              <a:spcBef>
                <a:spcPts val="0"/>
              </a:spcBef>
            </a:pPr>
            <a:r>
              <a:rPr lang="en-US" altLang="zh-CN" sz="1800" b="0" dirty="0"/>
              <a:t>{   </a:t>
            </a:r>
            <a:r>
              <a:rPr lang="en-US" altLang="zh-CN" sz="1800" b="0" dirty="0" err="1"/>
              <a:t>int</a:t>
            </a:r>
            <a:r>
              <a:rPr lang="en-US" altLang="zh-CN" sz="1800" b="0" dirty="0"/>
              <a:t> m;</a:t>
            </a:r>
            <a:endParaRPr lang="zh-CN" altLang="zh-CN" sz="1800" b="0" dirty="0"/>
          </a:p>
          <a:p>
            <a:pPr algn="just">
              <a:lnSpc>
                <a:spcPct val="110000"/>
              </a:lnSpc>
              <a:spcBef>
                <a:spcPts val="0"/>
              </a:spcBef>
            </a:pPr>
            <a:r>
              <a:rPr lang="en-US" altLang="zh-CN" sz="1800" b="0" dirty="0"/>
              <a:t>    if (n==0) return 1;     //n=0</a:t>
            </a:r>
            <a:r>
              <a:rPr lang="zh-CN" altLang="zh-CN" sz="1800" b="0" dirty="0"/>
              <a:t>时，直接返回</a:t>
            </a:r>
            <a:r>
              <a:rPr lang="en-US" altLang="zh-CN" sz="1800" b="0" dirty="0"/>
              <a:t>1</a:t>
            </a:r>
            <a:r>
              <a:rPr lang="zh-CN" altLang="zh-CN" sz="1800" b="0" dirty="0"/>
              <a:t>，同时也是递归的终止条件</a:t>
            </a:r>
          </a:p>
          <a:p>
            <a:pPr algn="just">
              <a:lnSpc>
                <a:spcPct val="110000"/>
              </a:lnSpc>
              <a:spcBef>
                <a:spcPts val="0"/>
              </a:spcBef>
            </a:pPr>
            <a:r>
              <a:rPr lang="en-US" altLang="zh-CN" sz="1800" b="0" dirty="0"/>
              <a:t>    else m = n*Fa(n-1);  //</a:t>
            </a:r>
            <a:r>
              <a:rPr lang="zh-CN" altLang="zh-CN" sz="1800" b="0" dirty="0"/>
              <a:t>递归算式，实现直接递归调用。</a:t>
            </a:r>
            <a:r>
              <a:rPr lang="zh-CN" altLang="zh-CN" sz="1800" b="0" dirty="0">
                <a:solidFill>
                  <a:srgbClr val="FF0000"/>
                </a:solidFill>
              </a:rPr>
              <a:t>标记该地址为</a:t>
            </a:r>
            <a:r>
              <a:rPr lang="en-US" altLang="zh-CN" sz="1800" b="0" dirty="0">
                <a:solidFill>
                  <a:srgbClr val="FF0000"/>
                </a:solidFill>
              </a:rPr>
              <a:t>a2</a:t>
            </a:r>
            <a:endParaRPr lang="zh-CN" altLang="zh-CN" sz="1800" b="0" dirty="0">
              <a:solidFill>
                <a:srgbClr val="FF0000"/>
              </a:solidFill>
            </a:endParaRPr>
          </a:p>
          <a:p>
            <a:pPr algn="just">
              <a:lnSpc>
                <a:spcPct val="110000"/>
              </a:lnSpc>
              <a:spcBef>
                <a:spcPts val="0"/>
              </a:spcBef>
            </a:pPr>
            <a:r>
              <a:rPr lang="en-US" altLang="zh-CN" sz="1800" b="0" dirty="0"/>
              <a:t>    return m;</a:t>
            </a:r>
            <a:endParaRPr lang="zh-CN" altLang="zh-CN" sz="1800" b="0" dirty="0"/>
          </a:p>
          <a:p>
            <a:pPr algn="just">
              <a:lnSpc>
                <a:spcPct val="110000"/>
              </a:lnSpc>
              <a:spcBef>
                <a:spcPts val="0"/>
              </a:spcBef>
            </a:pPr>
            <a:r>
              <a:rPr lang="en-US" altLang="zh-CN" sz="1800" b="0" dirty="0"/>
              <a:t>}</a:t>
            </a:r>
            <a:endParaRPr lang="zh-CN" altLang="zh-CN" sz="1800" b="0" dirty="0"/>
          </a:p>
          <a:p>
            <a:pPr algn="just">
              <a:lnSpc>
                <a:spcPct val="110000"/>
              </a:lnSpc>
              <a:spcBef>
                <a:spcPts val="0"/>
              </a:spcBef>
            </a:pPr>
            <a:r>
              <a:rPr lang="en-US" altLang="zh-CN" sz="1800" b="0" dirty="0" err="1"/>
              <a:t>int</a:t>
            </a:r>
            <a:r>
              <a:rPr lang="en-US" altLang="zh-CN" sz="1800" b="0" dirty="0"/>
              <a:t> main()</a:t>
            </a:r>
            <a:endParaRPr lang="zh-CN" altLang="zh-CN" sz="1800" b="0" dirty="0"/>
          </a:p>
          <a:p>
            <a:pPr algn="just">
              <a:lnSpc>
                <a:spcPct val="110000"/>
              </a:lnSpc>
              <a:spcBef>
                <a:spcPts val="0"/>
              </a:spcBef>
            </a:pPr>
            <a:r>
              <a:rPr lang="en-US" altLang="zh-CN" sz="1800" b="0" dirty="0"/>
              <a:t>{   Factorial f; </a:t>
            </a:r>
            <a:endParaRPr lang="zh-CN" altLang="zh-CN" sz="1800" b="0" dirty="0"/>
          </a:p>
          <a:p>
            <a:pPr algn="just">
              <a:lnSpc>
                <a:spcPct val="110000"/>
              </a:lnSpc>
              <a:spcBef>
                <a:spcPts val="0"/>
              </a:spcBef>
            </a:pPr>
            <a:r>
              <a:rPr lang="en-US" altLang="zh-CN" sz="1800" b="0" dirty="0"/>
              <a:t>     </a:t>
            </a:r>
            <a:r>
              <a:rPr lang="en-US" altLang="zh-CN" sz="1800" b="0" dirty="0" err="1"/>
              <a:t>int</a:t>
            </a:r>
            <a:r>
              <a:rPr lang="en-US" altLang="zh-CN" sz="1800" b="0" dirty="0"/>
              <a:t> n=4; </a:t>
            </a:r>
            <a:endParaRPr lang="zh-CN" altLang="zh-CN" sz="1800" b="0" dirty="0"/>
          </a:p>
          <a:p>
            <a:pPr algn="just">
              <a:lnSpc>
                <a:spcPct val="110000"/>
              </a:lnSpc>
              <a:spcBef>
                <a:spcPts val="0"/>
              </a:spcBef>
            </a:pPr>
            <a:r>
              <a:rPr lang="en-US" altLang="zh-CN" sz="1800" b="0" dirty="0"/>
              <a:t>     long </a:t>
            </a:r>
            <a:r>
              <a:rPr lang="en-US" altLang="zh-CN" sz="1800" b="0" dirty="0" err="1"/>
              <a:t>fn</a:t>
            </a:r>
            <a:r>
              <a:rPr lang="en-US" altLang="zh-CN" sz="1800" b="0" dirty="0"/>
              <a:t> = </a:t>
            </a:r>
            <a:r>
              <a:rPr lang="en-US" altLang="zh-CN" sz="1800" b="0" dirty="0" err="1"/>
              <a:t>f.Fa</a:t>
            </a:r>
            <a:r>
              <a:rPr lang="en-US" altLang="zh-CN" sz="1800" b="0" dirty="0"/>
              <a:t>(n);          //</a:t>
            </a:r>
            <a:r>
              <a:rPr lang="zh-CN" altLang="zh-CN" sz="1800" b="0" dirty="0">
                <a:solidFill>
                  <a:srgbClr val="FF0000"/>
                </a:solidFill>
              </a:rPr>
              <a:t>标记该地址为</a:t>
            </a:r>
            <a:r>
              <a:rPr lang="en-US" altLang="zh-CN" sz="1800" b="0" dirty="0">
                <a:solidFill>
                  <a:srgbClr val="FF0000"/>
                </a:solidFill>
              </a:rPr>
              <a:t>a1</a:t>
            </a:r>
            <a:endParaRPr lang="zh-CN" altLang="zh-CN" sz="1800" b="0" dirty="0">
              <a:solidFill>
                <a:srgbClr val="FF0000"/>
              </a:solidFill>
            </a:endParaRPr>
          </a:p>
          <a:p>
            <a:pPr algn="just">
              <a:lnSpc>
                <a:spcPct val="110000"/>
              </a:lnSpc>
              <a:spcBef>
                <a:spcPts val="0"/>
              </a:spcBef>
            </a:pPr>
            <a:r>
              <a:rPr lang="en-US" altLang="zh-CN" sz="1800" b="0" dirty="0"/>
              <a:t>     </a:t>
            </a:r>
            <a:r>
              <a:rPr lang="en-US" altLang="zh-CN" sz="1800" b="0" dirty="0" err="1"/>
              <a:t>cout</a:t>
            </a:r>
            <a:r>
              <a:rPr lang="en-US" altLang="zh-CN" sz="1800" b="0" dirty="0"/>
              <a:t>&lt;&lt;n&lt;&lt;"!="&lt;&lt;</a:t>
            </a:r>
            <a:r>
              <a:rPr lang="en-US" altLang="zh-CN" sz="1800" b="0" dirty="0" err="1"/>
              <a:t>fn</a:t>
            </a:r>
            <a:r>
              <a:rPr lang="en-US" altLang="zh-CN" sz="1800" b="0" dirty="0"/>
              <a:t>&lt;&lt;</a:t>
            </a:r>
            <a:r>
              <a:rPr lang="en-US" altLang="zh-CN" sz="1800" b="0" dirty="0" err="1"/>
              <a:t>endl</a:t>
            </a:r>
            <a:r>
              <a:rPr lang="en-US" altLang="zh-CN" sz="1800" b="0" dirty="0"/>
              <a:t>;</a:t>
            </a:r>
            <a:endParaRPr lang="zh-CN" altLang="zh-CN" sz="1800" b="0" dirty="0"/>
          </a:p>
          <a:p>
            <a:pPr algn="just">
              <a:lnSpc>
                <a:spcPct val="110000"/>
              </a:lnSpc>
              <a:spcBef>
                <a:spcPts val="0"/>
              </a:spcBef>
            </a:pPr>
            <a:r>
              <a:rPr lang="en-US" altLang="zh-CN" sz="1800" b="0" dirty="0"/>
              <a:t>     return 0;</a:t>
            </a:r>
            <a:endParaRPr lang="zh-CN" altLang="zh-CN" sz="1800" b="0" dirty="0"/>
          </a:p>
          <a:p>
            <a:pPr algn="just">
              <a:lnSpc>
                <a:spcPct val="110000"/>
              </a:lnSpc>
              <a:spcBef>
                <a:spcPts val="0"/>
              </a:spcBef>
            </a:pPr>
            <a:r>
              <a:rPr lang="en-US" altLang="zh-CN" sz="1800" b="0" dirty="0"/>
              <a:t>}</a:t>
            </a:r>
            <a:endParaRPr lang="zh-CN" altLang="zh-CN" sz="1800" b="0" dirty="0"/>
          </a:p>
          <a:p>
            <a:pPr algn="just">
              <a:lnSpc>
                <a:spcPct val="110000"/>
              </a:lnSpc>
              <a:spcBef>
                <a:spcPts val="0"/>
              </a:spcBef>
            </a:pPr>
            <a:endParaRPr lang="zh-CN" altLang="en-US" sz="1800" dirty="0"/>
          </a:p>
        </p:txBody>
      </p:sp>
    </p:spTree>
    <p:extLst>
      <p:ext uri="{BB962C8B-B14F-4D97-AF65-F5344CB8AC3E}">
        <p14:creationId xmlns:p14="http://schemas.microsoft.com/office/powerpoint/2010/main" val="2453185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7704856" cy="4227921"/>
          </a:xfrm>
        </p:spPr>
        <p:txBody>
          <a:bodyPr>
            <a:normAutofit/>
          </a:bodyPr>
          <a:lstStyle/>
          <a:p>
            <a:pPr algn="just">
              <a:buFont typeface="Arial" panose="020B0604020202020204" pitchFamily="34" charset="0"/>
              <a:buChar char="•"/>
            </a:pPr>
            <a:r>
              <a:rPr lang="zh-CN" altLang="zh-CN" b="0" dirty="0"/>
              <a:t>递归过程是借助栈来实现的，这个栈称为递归工作栈。在递归执行过程中，每次调用都在栈顶保存一个工作记录，包括返回地址、参数、局部变量；当调用结束后则从栈顶释放相应的工作记录。</a:t>
            </a:r>
            <a:endParaRPr lang="en-US" altLang="zh-CN" b="0" dirty="0"/>
          </a:p>
          <a:p>
            <a:pPr algn="just">
              <a:buFont typeface="Arial" panose="020B0604020202020204" pitchFamily="34" charset="0"/>
              <a:buChar char="•"/>
            </a:pPr>
            <a:r>
              <a:rPr lang="zh-CN" altLang="zh-CN" b="0" dirty="0"/>
              <a:t>程序中使用了两个地址标记</a:t>
            </a:r>
            <a:r>
              <a:rPr lang="en-US" altLang="zh-CN" b="0" dirty="0"/>
              <a:t>a1</a:t>
            </a:r>
            <a:r>
              <a:rPr lang="zh-CN" altLang="zh-CN" b="0" dirty="0"/>
              <a:t>、</a:t>
            </a:r>
            <a:r>
              <a:rPr lang="en-US" altLang="zh-CN" b="0" dirty="0"/>
              <a:t>a2</a:t>
            </a:r>
            <a:r>
              <a:rPr lang="zh-CN" altLang="zh-CN" b="0" dirty="0"/>
              <a:t>，它们分别表示主函数调用递归函数和递归函数递归调用的返回地址</a:t>
            </a:r>
            <a:r>
              <a:rPr lang="en-US" altLang="zh-CN" b="0" dirty="0"/>
              <a:t>.</a:t>
            </a:r>
            <a:endParaRPr lang="zh-CN" altLang="en-US" b="0" dirty="0"/>
          </a:p>
        </p:txBody>
      </p:sp>
      <p:graphicFrame>
        <p:nvGraphicFramePr>
          <p:cNvPr id="4" name="表格 3"/>
          <p:cNvGraphicFramePr>
            <a:graphicFrameLocks noGrp="1"/>
          </p:cNvGraphicFramePr>
          <p:nvPr/>
        </p:nvGraphicFramePr>
        <p:xfrm>
          <a:off x="1857356" y="4286256"/>
          <a:ext cx="5214974" cy="1795950"/>
        </p:xfrm>
        <a:graphic>
          <a:graphicData uri="http://schemas.openxmlformats.org/drawingml/2006/table">
            <a:tbl>
              <a:tblPr/>
              <a:tblGrid>
                <a:gridCol w="829963">
                  <a:extLst>
                    <a:ext uri="{9D8B030D-6E8A-4147-A177-3AD203B41FA5}">
                      <a16:colId xmlns:a16="http://schemas.microsoft.com/office/drawing/2014/main" val="20000"/>
                    </a:ext>
                  </a:extLst>
                </a:gridCol>
                <a:gridCol w="640753">
                  <a:extLst>
                    <a:ext uri="{9D8B030D-6E8A-4147-A177-3AD203B41FA5}">
                      <a16:colId xmlns:a16="http://schemas.microsoft.com/office/drawing/2014/main" val="20001"/>
                    </a:ext>
                  </a:extLst>
                </a:gridCol>
                <a:gridCol w="747796">
                  <a:extLst>
                    <a:ext uri="{9D8B030D-6E8A-4147-A177-3AD203B41FA5}">
                      <a16:colId xmlns:a16="http://schemas.microsoft.com/office/drawing/2014/main" val="20002"/>
                    </a:ext>
                  </a:extLst>
                </a:gridCol>
                <a:gridCol w="859363">
                  <a:extLst>
                    <a:ext uri="{9D8B030D-6E8A-4147-A177-3AD203B41FA5}">
                      <a16:colId xmlns:a16="http://schemas.microsoft.com/office/drawing/2014/main" val="20003"/>
                    </a:ext>
                  </a:extLst>
                </a:gridCol>
                <a:gridCol w="748550">
                  <a:extLst>
                    <a:ext uri="{9D8B030D-6E8A-4147-A177-3AD203B41FA5}">
                      <a16:colId xmlns:a16="http://schemas.microsoft.com/office/drawing/2014/main" val="20004"/>
                    </a:ext>
                  </a:extLst>
                </a:gridCol>
                <a:gridCol w="1388549">
                  <a:extLst>
                    <a:ext uri="{9D8B030D-6E8A-4147-A177-3AD203B41FA5}">
                      <a16:colId xmlns:a16="http://schemas.microsoft.com/office/drawing/2014/main" val="20005"/>
                    </a:ext>
                  </a:extLst>
                </a:gridCol>
              </a:tblGrid>
              <a:tr h="273846">
                <a:tc>
                  <a:txBody>
                    <a:bodyPr/>
                    <a:lstStyle/>
                    <a:p>
                      <a:pPr algn="ctr">
                        <a:spcAft>
                          <a:spcPts val="0"/>
                        </a:spcAft>
                        <a:tabLst>
                          <a:tab pos="1028700" algn="l"/>
                        </a:tabLst>
                      </a:pPr>
                      <a:r>
                        <a:rPr lang="zh-CN" sz="1400" kern="100">
                          <a:solidFill>
                            <a:srgbClr val="000000"/>
                          </a:solidFill>
                          <a:latin typeface="Times New Roman"/>
                          <a:ea typeface="宋体"/>
                          <a:cs typeface="Times New Roman"/>
                        </a:rPr>
                        <a:t>调用层次</a:t>
                      </a:r>
                      <a:endParaRPr lang="zh-CN" sz="1400" kern="100">
                        <a:latin typeface="Calibri"/>
                        <a:ea typeface="宋体"/>
                        <a:cs typeface="Times New Roman"/>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1028700" algn="l"/>
                        </a:tabLst>
                      </a:pPr>
                      <a:r>
                        <a:rPr lang="zh-CN" sz="1400" kern="100">
                          <a:solidFill>
                            <a:srgbClr val="000000"/>
                          </a:solidFill>
                          <a:latin typeface="Times New Roman"/>
                          <a:ea typeface="宋体"/>
                          <a:cs typeface="Times New Roman"/>
                        </a:rPr>
                        <a:t>调用</a:t>
                      </a:r>
                      <a:endParaRPr lang="zh-CN" sz="1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1028700" algn="l"/>
                        </a:tabLst>
                      </a:pPr>
                      <a:r>
                        <a:rPr lang="zh-CN" sz="1400" kern="100">
                          <a:solidFill>
                            <a:srgbClr val="000000"/>
                          </a:solidFill>
                          <a:latin typeface="Times New Roman"/>
                          <a:ea typeface="宋体"/>
                          <a:cs typeface="Times New Roman"/>
                        </a:rPr>
                        <a:t>参数</a:t>
                      </a:r>
                      <a:r>
                        <a:rPr lang="en-US" sz="1400" kern="100">
                          <a:solidFill>
                            <a:srgbClr val="000000"/>
                          </a:solidFill>
                          <a:latin typeface="Times New Roman"/>
                          <a:ea typeface="宋体"/>
                          <a:cs typeface="Times New Roman"/>
                        </a:rPr>
                        <a:t>n</a:t>
                      </a:r>
                      <a:endParaRPr lang="zh-CN" sz="1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1028700" algn="l"/>
                        </a:tabLst>
                      </a:pPr>
                      <a:r>
                        <a:rPr lang="zh-CN" sz="1400" kern="100" dirty="0">
                          <a:solidFill>
                            <a:srgbClr val="000000"/>
                          </a:solidFill>
                          <a:latin typeface="Times New Roman"/>
                          <a:ea typeface="宋体"/>
                          <a:cs typeface="Times New Roman"/>
                        </a:rPr>
                        <a:t>返回地址</a:t>
                      </a:r>
                      <a:endParaRPr lang="zh-CN" sz="1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1028700" algn="l"/>
                        </a:tabLst>
                      </a:pPr>
                      <a:r>
                        <a:rPr lang="en-US" sz="1400" kern="100">
                          <a:solidFill>
                            <a:srgbClr val="000000"/>
                          </a:solidFill>
                          <a:latin typeface="Times New Roman"/>
                          <a:ea typeface="宋体"/>
                          <a:cs typeface="Times New Roman"/>
                        </a:rPr>
                        <a:t>m</a:t>
                      </a:r>
                      <a:r>
                        <a:rPr lang="zh-CN" sz="1400" kern="100">
                          <a:solidFill>
                            <a:srgbClr val="000000"/>
                          </a:solidFill>
                          <a:latin typeface="Times New Roman"/>
                          <a:ea typeface="宋体"/>
                          <a:cs typeface="Times New Roman"/>
                        </a:rPr>
                        <a:t>值</a:t>
                      </a:r>
                      <a:endParaRPr lang="zh-CN" sz="1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1028700" algn="l"/>
                        </a:tabLst>
                      </a:pPr>
                      <a:r>
                        <a:rPr lang="zh-CN" sz="1400" kern="100">
                          <a:solidFill>
                            <a:srgbClr val="000000"/>
                          </a:solidFill>
                          <a:latin typeface="Times New Roman"/>
                          <a:ea typeface="宋体"/>
                          <a:cs typeface="Times New Roman"/>
                        </a:rPr>
                        <a:t>退栈时计算结果</a:t>
                      </a:r>
                      <a:endParaRPr lang="zh-CN" sz="1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73846">
                <a:tc>
                  <a:txBody>
                    <a:bodyPr/>
                    <a:lstStyle/>
                    <a:p>
                      <a:pPr algn="ctr">
                        <a:spcAft>
                          <a:spcPts val="0"/>
                        </a:spcAft>
                        <a:tabLst>
                          <a:tab pos="1028700" algn="l"/>
                        </a:tabLst>
                      </a:pPr>
                      <a:r>
                        <a:rPr lang="en-US" sz="1400" kern="100">
                          <a:solidFill>
                            <a:srgbClr val="000000"/>
                          </a:solidFill>
                          <a:latin typeface="Times New Roman"/>
                          <a:ea typeface="宋体"/>
                          <a:cs typeface="Times New Roman"/>
                        </a:rPr>
                        <a:t>↑4</a:t>
                      </a:r>
                      <a:endParaRPr lang="zh-CN" sz="1400" kern="100">
                        <a:latin typeface="Calibri"/>
                        <a:ea typeface="宋体"/>
                        <a:cs typeface="Times New Roman"/>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1028700" algn="l"/>
                        </a:tabLst>
                      </a:pPr>
                      <a:r>
                        <a:rPr lang="en-US" sz="1400" kern="100">
                          <a:solidFill>
                            <a:srgbClr val="000000"/>
                          </a:solidFill>
                          <a:latin typeface="Times New Roman"/>
                          <a:ea typeface="宋体"/>
                          <a:cs typeface="Times New Roman"/>
                        </a:rPr>
                        <a:t>Fa(0)</a:t>
                      </a:r>
                      <a:endParaRPr lang="zh-CN" sz="1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1028700" algn="l"/>
                        </a:tabLst>
                      </a:pPr>
                      <a:r>
                        <a:rPr lang="en-US" sz="1400" kern="100">
                          <a:solidFill>
                            <a:srgbClr val="000000"/>
                          </a:solidFill>
                          <a:latin typeface="Times New Roman"/>
                          <a:ea typeface="宋体"/>
                          <a:cs typeface="Times New Roman"/>
                        </a:rPr>
                        <a:t>0</a:t>
                      </a:r>
                      <a:endParaRPr lang="zh-CN" sz="1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1028700" algn="l"/>
                        </a:tabLst>
                      </a:pPr>
                      <a:r>
                        <a:rPr lang="en-US" sz="1400" kern="100">
                          <a:solidFill>
                            <a:srgbClr val="000000"/>
                          </a:solidFill>
                          <a:latin typeface="Times New Roman"/>
                          <a:ea typeface="宋体"/>
                          <a:cs typeface="Times New Roman"/>
                        </a:rPr>
                        <a:t>a2</a:t>
                      </a:r>
                      <a:endParaRPr lang="zh-CN" sz="1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1028700" algn="l"/>
                        </a:tabLst>
                      </a:pPr>
                      <a:r>
                        <a:rPr lang="en-US" sz="1400" kern="100">
                          <a:solidFill>
                            <a:srgbClr val="000000"/>
                          </a:solidFill>
                          <a:latin typeface="Times New Roman"/>
                          <a:ea typeface="宋体"/>
                          <a:cs typeface="Times New Roman"/>
                        </a:rPr>
                        <a:t>1</a:t>
                      </a:r>
                      <a:endParaRPr lang="zh-CN" sz="1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1028700" algn="l"/>
                        </a:tabLst>
                      </a:pPr>
                      <a:r>
                        <a:rPr lang="en-US" sz="1400" kern="100">
                          <a:solidFill>
                            <a:srgbClr val="000000"/>
                          </a:solidFill>
                          <a:latin typeface="Times New Roman"/>
                          <a:ea typeface="宋体"/>
                          <a:cs typeface="Times New Roman"/>
                        </a:rPr>
                        <a:t>         ↓</a:t>
                      </a:r>
                      <a:endParaRPr lang="zh-CN" sz="1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73846">
                <a:tc>
                  <a:txBody>
                    <a:bodyPr/>
                    <a:lstStyle/>
                    <a:p>
                      <a:pPr algn="ctr">
                        <a:spcAft>
                          <a:spcPts val="0"/>
                        </a:spcAft>
                        <a:tabLst>
                          <a:tab pos="1028700" algn="l"/>
                        </a:tabLst>
                      </a:pPr>
                      <a:r>
                        <a:rPr lang="en-US" sz="1400" kern="100">
                          <a:solidFill>
                            <a:srgbClr val="000000"/>
                          </a:solidFill>
                          <a:latin typeface="Times New Roman"/>
                          <a:ea typeface="宋体"/>
                          <a:cs typeface="Times New Roman"/>
                        </a:rPr>
                        <a:t>↑3</a:t>
                      </a:r>
                      <a:endParaRPr lang="zh-CN" sz="1400" kern="100">
                        <a:latin typeface="Calibri"/>
                        <a:ea typeface="宋体"/>
                        <a:cs typeface="Times New Roman"/>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1028700" algn="l"/>
                        </a:tabLst>
                      </a:pPr>
                      <a:r>
                        <a:rPr lang="en-US" sz="1400" kern="100">
                          <a:solidFill>
                            <a:srgbClr val="000000"/>
                          </a:solidFill>
                          <a:latin typeface="Times New Roman"/>
                          <a:ea typeface="宋体"/>
                          <a:cs typeface="Times New Roman"/>
                        </a:rPr>
                        <a:t>Fa(1)</a:t>
                      </a:r>
                      <a:endParaRPr lang="zh-CN" sz="1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1028700" algn="l"/>
                        </a:tabLst>
                      </a:pPr>
                      <a:r>
                        <a:rPr lang="en-US" sz="1400" kern="100">
                          <a:solidFill>
                            <a:srgbClr val="000000"/>
                          </a:solidFill>
                          <a:latin typeface="Times New Roman"/>
                          <a:ea typeface="宋体"/>
                          <a:cs typeface="Times New Roman"/>
                        </a:rPr>
                        <a:t>1</a:t>
                      </a:r>
                      <a:endParaRPr lang="zh-CN" sz="1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1028700" algn="l"/>
                        </a:tabLst>
                      </a:pPr>
                      <a:r>
                        <a:rPr lang="en-US" sz="1400" kern="100">
                          <a:solidFill>
                            <a:srgbClr val="000000"/>
                          </a:solidFill>
                          <a:latin typeface="Times New Roman"/>
                          <a:ea typeface="宋体"/>
                          <a:cs typeface="Times New Roman"/>
                        </a:rPr>
                        <a:t>a2</a:t>
                      </a:r>
                      <a:endParaRPr lang="zh-CN" sz="1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1028700" algn="l"/>
                        </a:tabLst>
                      </a:pPr>
                      <a:r>
                        <a:rPr lang="en-US" sz="1400" kern="100">
                          <a:solidFill>
                            <a:srgbClr val="000000"/>
                          </a:solidFill>
                          <a:latin typeface="Times New Roman"/>
                          <a:ea typeface="宋体"/>
                          <a:cs typeface="Times New Roman"/>
                        </a:rPr>
                        <a:t>1* Fa(0)</a:t>
                      </a:r>
                      <a:endParaRPr lang="zh-CN" sz="1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1028700" algn="l"/>
                        </a:tabLst>
                      </a:pPr>
                      <a:r>
                        <a:rPr lang="en-US" sz="1400" kern="100">
                          <a:solidFill>
                            <a:srgbClr val="000000"/>
                          </a:solidFill>
                          <a:latin typeface="Times New Roman"/>
                          <a:ea typeface="宋体"/>
                          <a:cs typeface="Times New Roman"/>
                        </a:rPr>
                        <a:t>1*1=1    ↓</a:t>
                      </a:r>
                      <a:endParaRPr lang="zh-CN" sz="1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73846">
                <a:tc>
                  <a:txBody>
                    <a:bodyPr/>
                    <a:lstStyle/>
                    <a:p>
                      <a:pPr algn="ctr">
                        <a:spcAft>
                          <a:spcPts val="0"/>
                        </a:spcAft>
                        <a:tabLst>
                          <a:tab pos="1028700" algn="l"/>
                        </a:tabLst>
                      </a:pPr>
                      <a:r>
                        <a:rPr lang="en-US" sz="1400" kern="100">
                          <a:solidFill>
                            <a:srgbClr val="000000"/>
                          </a:solidFill>
                          <a:latin typeface="Times New Roman"/>
                          <a:ea typeface="宋体"/>
                          <a:cs typeface="Times New Roman"/>
                        </a:rPr>
                        <a:t>↑2</a:t>
                      </a:r>
                      <a:endParaRPr lang="zh-CN" sz="1400" kern="100">
                        <a:latin typeface="Calibri"/>
                        <a:ea typeface="宋体"/>
                        <a:cs typeface="Times New Roman"/>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1028700" algn="l"/>
                        </a:tabLst>
                      </a:pPr>
                      <a:r>
                        <a:rPr lang="en-US" sz="1400" kern="100">
                          <a:solidFill>
                            <a:srgbClr val="000000"/>
                          </a:solidFill>
                          <a:latin typeface="Times New Roman"/>
                          <a:ea typeface="宋体"/>
                          <a:cs typeface="Times New Roman"/>
                        </a:rPr>
                        <a:t>Fa(2)</a:t>
                      </a:r>
                      <a:endParaRPr lang="zh-CN" sz="1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1028700" algn="l"/>
                        </a:tabLst>
                      </a:pPr>
                      <a:r>
                        <a:rPr lang="en-US" sz="1400" kern="100">
                          <a:solidFill>
                            <a:srgbClr val="000000"/>
                          </a:solidFill>
                          <a:latin typeface="Times New Roman"/>
                          <a:ea typeface="宋体"/>
                          <a:cs typeface="Times New Roman"/>
                        </a:rPr>
                        <a:t>2</a:t>
                      </a:r>
                      <a:endParaRPr lang="zh-CN" sz="1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1028700" algn="l"/>
                        </a:tabLst>
                      </a:pPr>
                      <a:r>
                        <a:rPr lang="en-US" sz="1400" kern="100">
                          <a:solidFill>
                            <a:srgbClr val="000000"/>
                          </a:solidFill>
                          <a:latin typeface="Times New Roman"/>
                          <a:ea typeface="宋体"/>
                          <a:cs typeface="Times New Roman"/>
                        </a:rPr>
                        <a:t>a2</a:t>
                      </a:r>
                      <a:endParaRPr lang="zh-CN" sz="1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1028700" algn="l"/>
                        </a:tabLst>
                      </a:pPr>
                      <a:r>
                        <a:rPr lang="en-US" sz="1400" kern="100">
                          <a:solidFill>
                            <a:srgbClr val="000000"/>
                          </a:solidFill>
                          <a:latin typeface="Times New Roman"/>
                          <a:ea typeface="宋体"/>
                          <a:cs typeface="Times New Roman"/>
                        </a:rPr>
                        <a:t>2 *Fa(1)</a:t>
                      </a:r>
                      <a:endParaRPr lang="zh-CN" sz="1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1028700" algn="l"/>
                        </a:tabLst>
                      </a:pPr>
                      <a:r>
                        <a:rPr lang="en-US" sz="1400" kern="100">
                          <a:solidFill>
                            <a:srgbClr val="000000"/>
                          </a:solidFill>
                          <a:latin typeface="Times New Roman"/>
                          <a:ea typeface="宋体"/>
                          <a:cs typeface="Times New Roman"/>
                        </a:rPr>
                        <a:t>2*1=2    ↓</a:t>
                      </a:r>
                      <a:endParaRPr lang="zh-CN" sz="1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73846">
                <a:tc>
                  <a:txBody>
                    <a:bodyPr/>
                    <a:lstStyle/>
                    <a:p>
                      <a:pPr algn="ctr">
                        <a:spcAft>
                          <a:spcPts val="0"/>
                        </a:spcAft>
                        <a:tabLst>
                          <a:tab pos="1028700" algn="l"/>
                        </a:tabLst>
                      </a:pPr>
                      <a:r>
                        <a:rPr lang="en-US" sz="1400" kern="100">
                          <a:solidFill>
                            <a:srgbClr val="000000"/>
                          </a:solidFill>
                          <a:latin typeface="Times New Roman"/>
                          <a:ea typeface="宋体"/>
                          <a:cs typeface="Times New Roman"/>
                        </a:rPr>
                        <a:t>↑1</a:t>
                      </a:r>
                      <a:endParaRPr lang="zh-CN" sz="1400" kern="100">
                        <a:latin typeface="Calibri"/>
                        <a:ea typeface="宋体"/>
                        <a:cs typeface="Times New Roman"/>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1028700" algn="l"/>
                        </a:tabLst>
                      </a:pPr>
                      <a:r>
                        <a:rPr lang="en-US" sz="1400" kern="100">
                          <a:solidFill>
                            <a:srgbClr val="000000"/>
                          </a:solidFill>
                          <a:latin typeface="Times New Roman"/>
                          <a:ea typeface="宋体"/>
                          <a:cs typeface="Times New Roman"/>
                        </a:rPr>
                        <a:t>Fa(3)</a:t>
                      </a:r>
                      <a:endParaRPr lang="zh-CN" sz="1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1028700" algn="l"/>
                        </a:tabLst>
                      </a:pPr>
                      <a:r>
                        <a:rPr lang="en-US" sz="1400" kern="100">
                          <a:solidFill>
                            <a:srgbClr val="000000"/>
                          </a:solidFill>
                          <a:latin typeface="Times New Roman"/>
                          <a:ea typeface="宋体"/>
                          <a:cs typeface="Times New Roman"/>
                        </a:rPr>
                        <a:t>3</a:t>
                      </a:r>
                      <a:endParaRPr lang="zh-CN" sz="1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1028700" algn="l"/>
                        </a:tabLst>
                      </a:pPr>
                      <a:r>
                        <a:rPr lang="en-US" sz="1400" kern="100">
                          <a:solidFill>
                            <a:srgbClr val="000000"/>
                          </a:solidFill>
                          <a:latin typeface="Times New Roman"/>
                          <a:ea typeface="宋体"/>
                          <a:cs typeface="Times New Roman"/>
                        </a:rPr>
                        <a:t>a2</a:t>
                      </a:r>
                      <a:endParaRPr lang="zh-CN" sz="1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1028700" algn="l"/>
                        </a:tabLst>
                      </a:pPr>
                      <a:r>
                        <a:rPr lang="en-US" sz="1400" kern="100">
                          <a:solidFill>
                            <a:srgbClr val="000000"/>
                          </a:solidFill>
                          <a:latin typeface="Times New Roman"/>
                          <a:ea typeface="宋体"/>
                          <a:cs typeface="Times New Roman"/>
                        </a:rPr>
                        <a:t>3*Fa(2)</a:t>
                      </a:r>
                      <a:endParaRPr lang="zh-CN" sz="1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1028700" algn="l"/>
                        </a:tabLst>
                      </a:pPr>
                      <a:r>
                        <a:rPr lang="en-US" sz="1400" kern="100">
                          <a:solidFill>
                            <a:srgbClr val="000000"/>
                          </a:solidFill>
                          <a:latin typeface="Times New Roman"/>
                          <a:ea typeface="宋体"/>
                          <a:cs typeface="Times New Roman"/>
                        </a:rPr>
                        <a:t>3*2=6    ↓</a:t>
                      </a:r>
                      <a:endParaRPr lang="zh-CN" sz="1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73846">
                <a:tc>
                  <a:txBody>
                    <a:bodyPr/>
                    <a:lstStyle/>
                    <a:p>
                      <a:pPr algn="ctr">
                        <a:spcAft>
                          <a:spcPts val="0"/>
                        </a:spcAft>
                        <a:tabLst>
                          <a:tab pos="1028700" algn="l"/>
                        </a:tabLst>
                      </a:pPr>
                      <a:r>
                        <a:rPr lang="en-US" sz="1400" kern="100">
                          <a:solidFill>
                            <a:srgbClr val="000000"/>
                          </a:solidFill>
                          <a:latin typeface="Times New Roman"/>
                          <a:ea typeface="宋体"/>
                          <a:cs typeface="Times New Roman"/>
                        </a:rPr>
                        <a:t>↑0</a:t>
                      </a:r>
                      <a:endParaRPr lang="zh-CN" sz="1400" kern="100">
                        <a:latin typeface="Calibri"/>
                        <a:ea typeface="宋体"/>
                        <a:cs typeface="Times New Roman"/>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1028700" algn="l"/>
                        </a:tabLst>
                      </a:pPr>
                      <a:r>
                        <a:rPr lang="en-US" sz="1400" kern="100">
                          <a:solidFill>
                            <a:srgbClr val="000000"/>
                          </a:solidFill>
                          <a:latin typeface="Times New Roman"/>
                          <a:ea typeface="宋体"/>
                          <a:cs typeface="Times New Roman"/>
                        </a:rPr>
                        <a:t>Fa(4)</a:t>
                      </a:r>
                      <a:endParaRPr lang="zh-CN" sz="1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1028700" algn="l"/>
                        </a:tabLst>
                      </a:pPr>
                      <a:r>
                        <a:rPr lang="en-US" sz="1400" kern="100">
                          <a:solidFill>
                            <a:srgbClr val="000000"/>
                          </a:solidFill>
                          <a:latin typeface="Times New Roman"/>
                          <a:ea typeface="宋体"/>
                          <a:cs typeface="Times New Roman"/>
                        </a:rPr>
                        <a:t>4</a:t>
                      </a:r>
                      <a:endParaRPr lang="zh-CN" sz="1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1028700" algn="l"/>
                        </a:tabLst>
                      </a:pPr>
                      <a:r>
                        <a:rPr lang="en-US" sz="1400" kern="100" dirty="0">
                          <a:solidFill>
                            <a:srgbClr val="000000"/>
                          </a:solidFill>
                          <a:latin typeface="Times New Roman"/>
                          <a:ea typeface="宋体"/>
                          <a:cs typeface="Times New Roman"/>
                        </a:rPr>
                        <a:t>a1</a:t>
                      </a:r>
                      <a:endParaRPr lang="zh-CN" sz="1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1028700" algn="l"/>
                        </a:tabLst>
                      </a:pPr>
                      <a:r>
                        <a:rPr lang="en-US" sz="1400" kern="100" dirty="0">
                          <a:solidFill>
                            <a:srgbClr val="000000"/>
                          </a:solidFill>
                          <a:latin typeface="Times New Roman"/>
                          <a:ea typeface="宋体"/>
                          <a:cs typeface="Times New Roman"/>
                        </a:rPr>
                        <a:t>4 *Fa(3)</a:t>
                      </a:r>
                      <a:endParaRPr lang="zh-CN" sz="1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1028700" algn="l"/>
                        </a:tabLst>
                      </a:pPr>
                      <a:r>
                        <a:rPr lang="en-US" sz="1400" kern="100" dirty="0">
                          <a:solidFill>
                            <a:srgbClr val="000000"/>
                          </a:solidFill>
                          <a:latin typeface="Times New Roman"/>
                          <a:ea typeface="宋体"/>
                          <a:cs typeface="Times New Roman"/>
                        </a:rPr>
                        <a:t>4*6=24  </a:t>
                      </a:r>
                      <a:r>
                        <a:rPr lang="zh-CN" sz="1400" kern="100" dirty="0">
                          <a:solidFill>
                            <a:srgbClr val="000000"/>
                          </a:solidFill>
                          <a:latin typeface="Times New Roman"/>
                          <a:ea typeface="宋体"/>
                          <a:cs typeface="Times New Roman"/>
                        </a:rPr>
                        <a:t>返回</a:t>
                      </a:r>
                      <a:endParaRPr lang="zh-CN" sz="1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0388884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42910" y="928670"/>
            <a:ext cx="7992888" cy="5400600"/>
          </a:xfrm>
        </p:spPr>
        <p:txBody>
          <a:bodyPr>
            <a:normAutofit fontScale="92500" lnSpcReduction="10000"/>
          </a:bodyPr>
          <a:lstStyle/>
          <a:p>
            <a:pPr algn="just">
              <a:buFont typeface="Arial" panose="020B0604020202020204" pitchFamily="34" charset="0"/>
              <a:buChar char="•"/>
            </a:pPr>
            <a:r>
              <a:rPr lang="zh-CN" altLang="zh-CN" b="0" dirty="0"/>
              <a:t>事实上，计算机系统中函数或过程调用都是借助栈实现的。</a:t>
            </a:r>
            <a:endParaRPr lang="en-US" altLang="zh-CN" b="0" dirty="0"/>
          </a:p>
          <a:p>
            <a:pPr algn="just">
              <a:buFont typeface="Arial" panose="020B0604020202020204" pitchFamily="34" charset="0"/>
              <a:buChar char="•"/>
            </a:pPr>
            <a:r>
              <a:rPr lang="zh-CN" altLang="zh-CN" b="0" dirty="0"/>
              <a:t>当有多个函数构成的嵌套调用时，总是遵循</a:t>
            </a:r>
            <a:r>
              <a:rPr lang="en-US" altLang="zh-CN" b="0" dirty="0"/>
              <a:t>“</a:t>
            </a:r>
            <a:r>
              <a:rPr lang="zh-CN" altLang="zh-CN" b="0" dirty="0"/>
              <a:t>先调用、后返回</a:t>
            </a:r>
            <a:r>
              <a:rPr lang="en-US" altLang="zh-CN" b="0" dirty="0"/>
              <a:t>”</a:t>
            </a:r>
            <a:r>
              <a:rPr lang="zh-CN" altLang="zh-CN" b="0" dirty="0"/>
              <a:t>的原则，因此调用函数和被调用函数之间的信息传递和控制转移都可以利用栈来实现。</a:t>
            </a:r>
            <a:endParaRPr lang="en-US" altLang="zh-CN" b="0" dirty="0"/>
          </a:p>
          <a:p>
            <a:pPr algn="just">
              <a:buFont typeface="Arial" panose="020B0604020202020204" pitchFamily="34" charset="0"/>
              <a:buChar char="•"/>
            </a:pPr>
            <a:r>
              <a:rPr lang="zh-CN" altLang="zh-CN" b="0" dirty="0"/>
              <a:t>每当一个函数被调用时，就为它在栈顶分配一个存储区，存储相应的工作记录；每当一个函数返回时，就要从栈顶释放它所占用的存储区。</a:t>
            </a:r>
            <a:endParaRPr lang="en-US" altLang="zh-CN" b="0" dirty="0"/>
          </a:p>
          <a:p>
            <a:pPr algn="just">
              <a:buFont typeface="Arial" panose="020B0604020202020204" pitchFamily="34" charset="0"/>
              <a:buChar char="•"/>
            </a:pPr>
            <a:r>
              <a:rPr lang="zh-CN" altLang="zh-CN" b="0" dirty="0"/>
              <a:t>一般通过以下几个步骤来完成调用函数的返回</a:t>
            </a:r>
            <a:r>
              <a:rPr lang="zh-CN" altLang="en-US" b="0" dirty="0"/>
              <a:t>：</a:t>
            </a:r>
            <a:endParaRPr lang="en-US" altLang="zh-CN" b="0" dirty="0"/>
          </a:p>
          <a:p>
            <a:pPr algn="just"/>
            <a:r>
              <a:rPr lang="en-US" altLang="zh-CN" b="0" dirty="0"/>
              <a:t>	  (1) </a:t>
            </a:r>
            <a:r>
              <a:rPr lang="zh-CN" altLang="zh-CN" b="0" dirty="0"/>
              <a:t>从栈中弹出工作记录；</a:t>
            </a:r>
          </a:p>
          <a:p>
            <a:pPr lvl="3" algn="just">
              <a:buNone/>
            </a:pPr>
            <a:r>
              <a:rPr lang="en-US" altLang="zh-CN" b="0" dirty="0"/>
              <a:t>(2) </a:t>
            </a:r>
            <a:r>
              <a:rPr lang="zh-CN" altLang="zh-CN" b="0" dirty="0"/>
              <a:t>将工作记录中的参数值赋给对应的变量；</a:t>
            </a:r>
          </a:p>
          <a:p>
            <a:pPr lvl="3" algn="just">
              <a:buNone/>
            </a:pPr>
            <a:r>
              <a:rPr lang="en-US" altLang="zh-CN" b="0" dirty="0"/>
              <a:t>(3) </a:t>
            </a:r>
            <a:r>
              <a:rPr lang="zh-CN" altLang="zh-CN" b="0" dirty="0"/>
              <a:t>将函数值赋给相应的变量；</a:t>
            </a:r>
          </a:p>
          <a:p>
            <a:pPr lvl="3" algn="just">
              <a:buNone/>
            </a:pPr>
            <a:r>
              <a:rPr lang="en-US" altLang="zh-CN" b="0" dirty="0"/>
              <a:t>(4) </a:t>
            </a:r>
            <a:r>
              <a:rPr lang="zh-CN" altLang="zh-CN" b="0" dirty="0"/>
              <a:t>转移至返回地址。</a:t>
            </a:r>
            <a:endParaRPr lang="zh-CN" altLang="en-US" b="0" dirty="0"/>
          </a:p>
        </p:txBody>
      </p:sp>
    </p:spTree>
    <p:extLst>
      <p:ext uri="{BB962C8B-B14F-4D97-AF65-F5344CB8AC3E}">
        <p14:creationId xmlns:p14="http://schemas.microsoft.com/office/powerpoint/2010/main" val="41837274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zh-CN" altLang="zh-CN" sz="2400" dirty="0">
                <a:solidFill>
                  <a:srgbClr val="FF0000"/>
                </a:solidFill>
              </a:rPr>
              <a:t>汉诺塔问题</a:t>
            </a:r>
            <a:endParaRPr lang="zh-CN" altLang="en-US" sz="2400" dirty="0">
              <a:solidFill>
                <a:srgbClr val="FF0000"/>
              </a:solidFill>
            </a:endParaRPr>
          </a:p>
        </p:txBody>
      </p:sp>
      <p:sp>
        <p:nvSpPr>
          <p:cNvPr id="3" name="内容占位符 2"/>
          <p:cNvSpPr>
            <a:spLocks noGrp="1"/>
          </p:cNvSpPr>
          <p:nvPr>
            <p:ph idx="1"/>
          </p:nvPr>
        </p:nvSpPr>
        <p:spPr>
          <a:xfrm>
            <a:off x="395536" y="1500174"/>
            <a:ext cx="8135194" cy="3300398"/>
          </a:xfrm>
        </p:spPr>
        <p:txBody>
          <a:bodyPr>
            <a:normAutofit/>
          </a:bodyPr>
          <a:lstStyle/>
          <a:p>
            <a:pPr algn="just"/>
            <a:r>
              <a:rPr lang="en-US" altLang="zh-CN" dirty="0"/>
              <a:t>	</a:t>
            </a:r>
            <a:r>
              <a:rPr lang="zh-CN" altLang="zh-CN" sz="2000" b="0" dirty="0"/>
              <a:t>设有三个分别命名为</a:t>
            </a:r>
            <a:r>
              <a:rPr lang="en-US" altLang="zh-CN" sz="2000" b="0" dirty="0"/>
              <a:t>A</a:t>
            </a:r>
            <a:r>
              <a:rPr lang="zh-CN" altLang="zh-CN" sz="2000" b="0" dirty="0"/>
              <a:t>、</a:t>
            </a:r>
            <a:r>
              <a:rPr lang="en-US" altLang="zh-CN" sz="2000" b="0" dirty="0"/>
              <a:t>B</a:t>
            </a:r>
            <a:r>
              <a:rPr lang="zh-CN" altLang="zh-CN" sz="2000" b="0" dirty="0"/>
              <a:t>、</a:t>
            </a:r>
            <a:r>
              <a:rPr lang="en-US" altLang="zh-CN" sz="2000" b="0" dirty="0"/>
              <a:t>C</a:t>
            </a:r>
            <a:r>
              <a:rPr lang="zh-CN" altLang="zh-CN" sz="2000" b="0" dirty="0"/>
              <a:t>的塔座，在塔座</a:t>
            </a:r>
            <a:r>
              <a:rPr lang="en-US" altLang="zh-CN" sz="2000" b="0" dirty="0"/>
              <a:t>A</a:t>
            </a:r>
            <a:r>
              <a:rPr lang="zh-CN" altLang="zh-CN" sz="2000" b="0" dirty="0"/>
              <a:t>上从上到下插有</a:t>
            </a:r>
            <a:r>
              <a:rPr lang="en-US" altLang="zh-CN" sz="2000" b="0" dirty="0"/>
              <a:t>n</a:t>
            </a:r>
            <a:r>
              <a:rPr lang="zh-CN" altLang="zh-CN" sz="2000" b="0" dirty="0"/>
              <a:t>个直径由小到大、各不相同的圆盘，编号分别为</a:t>
            </a:r>
            <a:r>
              <a:rPr lang="en-US" altLang="zh-CN" sz="2000" b="0" dirty="0"/>
              <a:t>1</a:t>
            </a:r>
            <a:r>
              <a:rPr lang="zh-CN" altLang="zh-CN" sz="2000" b="0" dirty="0"/>
              <a:t>、</a:t>
            </a:r>
            <a:r>
              <a:rPr lang="en-US" altLang="zh-CN" sz="2000" b="0" dirty="0"/>
              <a:t>2</a:t>
            </a:r>
            <a:r>
              <a:rPr lang="zh-CN" altLang="zh-CN" sz="2000" b="0" dirty="0"/>
              <a:t>、</a:t>
            </a:r>
            <a:r>
              <a:rPr lang="en-US" altLang="zh-CN" sz="2000" b="0" dirty="0"/>
              <a:t>3</a:t>
            </a:r>
            <a:r>
              <a:rPr lang="zh-CN" altLang="zh-CN" sz="2000" b="0" dirty="0"/>
              <a:t>、</a:t>
            </a:r>
            <a:r>
              <a:rPr lang="en-US" altLang="zh-CN" sz="2000" b="0" dirty="0"/>
              <a:t>…</a:t>
            </a:r>
            <a:r>
              <a:rPr lang="zh-CN" altLang="zh-CN" sz="2000" b="0" dirty="0"/>
              <a:t>、</a:t>
            </a:r>
            <a:r>
              <a:rPr lang="en-US" altLang="zh-CN" sz="2000" b="0" dirty="0"/>
              <a:t>n</a:t>
            </a:r>
            <a:r>
              <a:rPr lang="zh-CN" altLang="zh-CN" sz="2000" b="0" dirty="0"/>
              <a:t>（如图</a:t>
            </a:r>
            <a:r>
              <a:rPr lang="en-US" altLang="zh-CN" sz="2000" b="0" dirty="0"/>
              <a:t>3-5</a:t>
            </a:r>
            <a:r>
              <a:rPr lang="zh-CN" altLang="zh-CN" sz="2000" b="0" dirty="0"/>
              <a:t>）。现要求将</a:t>
            </a:r>
            <a:r>
              <a:rPr lang="en-US" altLang="zh-CN" sz="2000" b="0" dirty="0"/>
              <a:t>A</a:t>
            </a:r>
            <a:r>
              <a:rPr lang="zh-CN" altLang="zh-CN" sz="2000" b="0" dirty="0"/>
              <a:t>塔座上的</a:t>
            </a:r>
            <a:r>
              <a:rPr lang="en-US" altLang="zh-CN" sz="2000" b="0" dirty="0"/>
              <a:t>n</a:t>
            </a:r>
            <a:r>
              <a:rPr lang="zh-CN" altLang="zh-CN" sz="2000" b="0" dirty="0"/>
              <a:t>个圆盘全部移至塔座</a:t>
            </a:r>
            <a:r>
              <a:rPr lang="en-US" altLang="zh-CN" sz="2000" b="0" dirty="0"/>
              <a:t>B</a:t>
            </a:r>
            <a:r>
              <a:rPr lang="zh-CN" altLang="zh-CN" sz="2000" b="0" dirty="0"/>
              <a:t>上，并仍按相同的顺序叠放。在移动圆盘时，必须遵循下列规则：</a:t>
            </a:r>
          </a:p>
          <a:p>
            <a:pPr lvl="2" algn="just">
              <a:buNone/>
            </a:pPr>
            <a:r>
              <a:rPr lang="zh-CN" altLang="zh-CN" sz="2000" b="0" dirty="0"/>
              <a:t>（</a:t>
            </a:r>
            <a:r>
              <a:rPr lang="en-US" altLang="zh-CN" sz="2000" b="0" dirty="0"/>
              <a:t>1</a:t>
            </a:r>
            <a:r>
              <a:rPr lang="zh-CN" altLang="zh-CN" sz="2000" b="0" dirty="0"/>
              <a:t>）每次只能移动一个圆盘；</a:t>
            </a:r>
            <a:r>
              <a:rPr lang="en-US" altLang="zh-CN" sz="2000" b="0" dirty="0"/>
              <a:t> </a:t>
            </a:r>
            <a:endParaRPr lang="zh-CN" altLang="zh-CN" sz="2000" b="0" dirty="0"/>
          </a:p>
          <a:p>
            <a:pPr lvl="2" algn="just">
              <a:buNone/>
            </a:pPr>
            <a:r>
              <a:rPr lang="zh-CN" altLang="zh-CN" sz="2000" b="0" dirty="0"/>
              <a:t>（</a:t>
            </a:r>
            <a:r>
              <a:rPr lang="en-US" altLang="zh-CN" sz="2000" b="0" dirty="0"/>
              <a:t>2</a:t>
            </a:r>
            <a:r>
              <a:rPr lang="zh-CN" altLang="zh-CN" sz="2000" b="0" dirty="0"/>
              <a:t>）圆盘可以插入</a:t>
            </a:r>
            <a:r>
              <a:rPr lang="en-US" altLang="zh-CN" sz="2000" b="0" dirty="0"/>
              <a:t>A</a:t>
            </a:r>
            <a:r>
              <a:rPr lang="zh-CN" altLang="zh-CN" sz="2000" b="0" dirty="0"/>
              <a:t>、</a:t>
            </a:r>
            <a:r>
              <a:rPr lang="en-US" altLang="zh-CN" sz="2000" b="0" dirty="0"/>
              <a:t>B</a:t>
            </a:r>
            <a:r>
              <a:rPr lang="zh-CN" altLang="zh-CN" sz="2000" b="0" dirty="0"/>
              <a:t>、</a:t>
            </a:r>
            <a:r>
              <a:rPr lang="en-US" altLang="zh-CN" sz="2000" b="0" dirty="0"/>
              <a:t>C</a:t>
            </a:r>
            <a:r>
              <a:rPr lang="zh-CN" altLang="zh-CN" sz="2000" b="0" dirty="0"/>
              <a:t>的任一个塔座上；</a:t>
            </a:r>
          </a:p>
          <a:p>
            <a:pPr lvl="2" algn="just">
              <a:buNone/>
            </a:pPr>
            <a:r>
              <a:rPr lang="zh-CN" altLang="zh-CN" sz="2000" b="0" dirty="0"/>
              <a:t>（</a:t>
            </a:r>
            <a:r>
              <a:rPr lang="en-US" altLang="zh-CN" sz="2000" b="0" dirty="0"/>
              <a:t>3</a:t>
            </a:r>
            <a:r>
              <a:rPr lang="zh-CN" altLang="zh-CN" sz="2000" b="0" dirty="0"/>
              <a:t>）任何时候都不能将一个较大的圆盘放在一个较小的圆盘上。</a:t>
            </a:r>
          </a:p>
          <a:p>
            <a:pPr algn="just"/>
            <a:endParaRPr lang="zh-CN" altLang="en-US" dirty="0"/>
          </a:p>
        </p:txBody>
      </p:sp>
      <p:sp>
        <p:nvSpPr>
          <p:cNvPr id="798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79873" name="Object 1"/>
          <p:cNvGraphicFramePr>
            <a:graphicFrameLocks noChangeAspect="1"/>
          </p:cNvGraphicFramePr>
          <p:nvPr/>
        </p:nvGraphicFramePr>
        <p:xfrm>
          <a:off x="1187624" y="4509120"/>
          <a:ext cx="7227713" cy="1491648"/>
        </p:xfrm>
        <a:graphic>
          <a:graphicData uri="http://schemas.openxmlformats.org/presentationml/2006/ole">
            <mc:AlternateContent xmlns:mc="http://schemas.openxmlformats.org/markup-compatibility/2006">
              <mc:Choice xmlns:v="urn:schemas-microsoft-com:vml" Requires="v">
                <p:oleObj spid="_x0000_s1098" r:id="rId3" imgW="5068651" imgH="1048649" progId="">
                  <p:embed/>
                </p:oleObj>
              </mc:Choice>
              <mc:Fallback>
                <p:oleObj r:id="rId3" imgW="5068651" imgH="1048649" progId="">
                  <p:embed/>
                  <p:pic>
                    <p:nvPicPr>
                      <p:cNvPr id="0"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624" y="4509120"/>
                        <a:ext cx="7227713" cy="14916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7194091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14941" y="1071546"/>
            <a:ext cx="7989508" cy="4247317"/>
          </a:xfrm>
          <a:prstGeom prst="rect">
            <a:avLst/>
          </a:prstGeom>
        </p:spPr>
        <p:txBody>
          <a:bodyPr wrap="square">
            <a:spAutoFit/>
          </a:bodyPr>
          <a:lstStyle/>
          <a:p>
            <a:pPr>
              <a:lnSpc>
                <a:spcPct val="120000"/>
              </a:lnSpc>
              <a:spcBef>
                <a:spcPts val="600"/>
              </a:spcBef>
            </a:pP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这个问题可以用递归的方法考虑。</a:t>
            </a: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spcBef>
                <a:spcPts val="600"/>
              </a:spcBef>
              <a:buFont typeface="Arial" pitchFamily="34" charset="0"/>
              <a:buChar char="•"/>
            </a:pP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当</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n=1</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时，问题可以直接求解，可直接将编号为</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1</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的圆盘从塔座</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A</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上移至塔座</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B</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上；</a:t>
            </a: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spcBef>
                <a:spcPts val="600"/>
              </a:spcBef>
              <a:buFont typeface="Arial" pitchFamily="34" charset="0"/>
              <a:buChar char="•"/>
            </a:pP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当</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n&gt;1</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时，从上述移动过程中可以看出，汉诺塔问题可以分成三个步骤完成：</a:t>
            </a: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lvl="1">
              <a:lnSpc>
                <a:spcPct val="120000"/>
              </a:lnSpc>
              <a:spcBef>
                <a:spcPts val="600"/>
              </a:spcBef>
            </a:pP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1</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）将塔座</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A</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上最上面的</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n-1</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个圆盘移至塔座</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C</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上；</a:t>
            </a: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lvl="1">
              <a:lnSpc>
                <a:spcPct val="120000"/>
              </a:lnSpc>
              <a:spcBef>
                <a:spcPts val="600"/>
              </a:spcBef>
            </a:pP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2</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）将圆盘</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n</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从塔座</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A</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移至塔座</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B</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上；</a:t>
            </a: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lvl="1">
              <a:lnSpc>
                <a:spcPct val="120000"/>
              </a:lnSpc>
              <a:spcBef>
                <a:spcPts val="600"/>
              </a:spcBef>
            </a:pP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3</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）将塔座</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C</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上的</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n-1</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个圆盘全部移至塔座</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B</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上。</a:t>
            </a: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lvl="1">
              <a:lnSpc>
                <a:spcPct val="120000"/>
              </a:lnSpc>
              <a:spcBef>
                <a:spcPts val="600"/>
              </a:spcBef>
            </a:pP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其中（</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1</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）和（</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3</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）是汉诺塔问题的两个子问题，而（</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2</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）可通过一次移动直接完成</a:t>
            </a:r>
            <a:r>
              <a:rPr lang="zh-CN" altLang="zh-CN" sz="2000" dirty="0"/>
              <a:t>。</a:t>
            </a:r>
            <a:endParaRPr lang="zh-CN" altLang="en-US" sz="2000" dirty="0"/>
          </a:p>
        </p:txBody>
      </p:sp>
      <p:graphicFrame>
        <p:nvGraphicFramePr>
          <p:cNvPr id="3" name="Object 1">
            <a:extLst>
              <a:ext uri="{FF2B5EF4-FFF2-40B4-BE49-F238E27FC236}">
                <a16:creationId xmlns:a16="http://schemas.microsoft.com/office/drawing/2014/main" id="{BB95E923-B07D-4EE5-B8C3-6B56E2222673}"/>
              </a:ext>
            </a:extLst>
          </p:cNvPr>
          <p:cNvGraphicFramePr>
            <a:graphicFrameLocks noChangeAspect="1"/>
          </p:cNvGraphicFramePr>
          <p:nvPr>
            <p:extLst>
              <p:ext uri="{D42A27DB-BD31-4B8C-83A1-F6EECF244321}">
                <p14:modId xmlns:p14="http://schemas.microsoft.com/office/powerpoint/2010/main" val="1617198840"/>
              </p:ext>
            </p:extLst>
          </p:nvPr>
        </p:nvGraphicFramePr>
        <p:xfrm>
          <a:off x="3419872" y="5085184"/>
          <a:ext cx="5067473" cy="1045820"/>
        </p:xfrm>
        <a:graphic>
          <a:graphicData uri="http://schemas.openxmlformats.org/presentationml/2006/ole">
            <mc:AlternateContent xmlns:mc="http://schemas.openxmlformats.org/markup-compatibility/2006">
              <mc:Choice xmlns:v="urn:schemas-microsoft-com:vml" Requires="v">
                <p:oleObj spid="_x0000_s6164" r:id="rId3" imgW="5068651" imgH="1048649" progId="">
                  <p:embed/>
                </p:oleObj>
              </mc:Choice>
              <mc:Fallback>
                <p:oleObj r:id="rId3" imgW="5068651" imgH="1048649" progId="">
                  <p:embed/>
                  <p:pic>
                    <p:nvPicPr>
                      <p:cNvPr id="79873"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19872" y="5085184"/>
                        <a:ext cx="5067473" cy="1045820"/>
                      </a:xfrm>
                      <a:prstGeom prst="rect">
                        <a:avLst/>
                      </a:prstGeom>
                      <a:noFill/>
                    </p:spPr>
                  </p:pic>
                </p:oleObj>
              </mc:Fallback>
            </mc:AlternateContent>
          </a:graphicData>
        </a:graphic>
      </p:graphicFrame>
    </p:spTree>
    <p:extLst>
      <p:ext uri="{BB962C8B-B14F-4D97-AF65-F5344CB8AC3E}">
        <p14:creationId xmlns:p14="http://schemas.microsoft.com/office/powerpoint/2010/main" val="399835014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85786" y="836712"/>
            <a:ext cx="8316416" cy="5688632"/>
          </a:xfrm>
        </p:spPr>
        <p:txBody>
          <a:bodyPr>
            <a:noAutofit/>
          </a:bodyPr>
          <a:lstStyle/>
          <a:p>
            <a:pPr algn="just">
              <a:lnSpc>
                <a:spcPct val="100000"/>
              </a:lnSpc>
              <a:spcBef>
                <a:spcPts val="0"/>
              </a:spcBef>
            </a:pPr>
            <a:r>
              <a:rPr lang="zh-CN" altLang="zh-CN" sz="1800" dirty="0"/>
              <a:t>算法</a:t>
            </a:r>
            <a:r>
              <a:rPr lang="en-US" altLang="zh-CN" sz="1800" dirty="0"/>
              <a:t>3.15</a:t>
            </a:r>
            <a:r>
              <a:rPr lang="zh-CN" altLang="zh-CN" sz="1800" dirty="0"/>
              <a:t>：</a:t>
            </a:r>
            <a:r>
              <a:rPr lang="zh-CN" altLang="zh-CN" sz="1800" dirty="0">
                <a:solidFill>
                  <a:srgbClr val="FF0000"/>
                </a:solidFill>
              </a:rPr>
              <a:t>汉诺塔问题的递归算法</a:t>
            </a:r>
          </a:p>
          <a:p>
            <a:pPr algn="just">
              <a:lnSpc>
                <a:spcPct val="100000"/>
              </a:lnSpc>
              <a:spcBef>
                <a:spcPts val="0"/>
              </a:spcBef>
            </a:pPr>
            <a:r>
              <a:rPr lang="en-US" altLang="zh-CN" sz="1800" b="0" dirty="0"/>
              <a:t>#include &lt;</a:t>
            </a:r>
            <a:r>
              <a:rPr lang="en-US" altLang="zh-CN" sz="1800" b="0" dirty="0" err="1"/>
              <a:t>iostream</a:t>
            </a:r>
            <a:r>
              <a:rPr lang="en-US" altLang="zh-CN" sz="1800" b="0" dirty="0"/>
              <a:t>&gt;</a:t>
            </a:r>
            <a:endParaRPr lang="zh-CN" altLang="zh-CN" sz="1800" b="0" dirty="0"/>
          </a:p>
          <a:p>
            <a:pPr algn="just">
              <a:lnSpc>
                <a:spcPct val="100000"/>
              </a:lnSpc>
              <a:spcBef>
                <a:spcPts val="0"/>
              </a:spcBef>
            </a:pPr>
            <a:r>
              <a:rPr lang="en-US" altLang="zh-CN" sz="1800" b="0" dirty="0"/>
              <a:t>using namespace </a:t>
            </a:r>
            <a:r>
              <a:rPr lang="en-US" altLang="zh-CN" sz="1800" b="0" dirty="0" err="1"/>
              <a:t>std</a:t>
            </a:r>
            <a:r>
              <a:rPr lang="en-US" altLang="zh-CN" sz="1800" b="0" dirty="0"/>
              <a:t>;</a:t>
            </a:r>
            <a:endParaRPr lang="zh-CN" altLang="zh-CN" sz="1800" b="0" dirty="0"/>
          </a:p>
          <a:p>
            <a:pPr algn="just">
              <a:lnSpc>
                <a:spcPct val="100000"/>
              </a:lnSpc>
              <a:spcBef>
                <a:spcPts val="0"/>
              </a:spcBef>
            </a:pPr>
            <a:r>
              <a:rPr lang="en-US" altLang="zh-CN" sz="1800" b="0" dirty="0"/>
              <a:t>class Hanoi{   	//</a:t>
            </a:r>
            <a:r>
              <a:rPr lang="zh-CN" altLang="zh-CN" sz="1800" b="0" dirty="0"/>
              <a:t>定义汉诺塔类</a:t>
            </a:r>
          </a:p>
          <a:p>
            <a:pPr algn="just">
              <a:lnSpc>
                <a:spcPct val="100000"/>
              </a:lnSpc>
              <a:spcBef>
                <a:spcPts val="0"/>
              </a:spcBef>
            </a:pPr>
            <a:r>
              <a:rPr lang="en-US" altLang="zh-CN" sz="1800" b="0" dirty="0"/>
              <a:t>public:</a:t>
            </a:r>
            <a:endParaRPr lang="zh-CN" altLang="zh-CN" sz="1800" b="0" dirty="0"/>
          </a:p>
          <a:p>
            <a:pPr algn="just">
              <a:lnSpc>
                <a:spcPct val="100000"/>
              </a:lnSpc>
              <a:spcBef>
                <a:spcPts val="0"/>
              </a:spcBef>
            </a:pPr>
            <a:r>
              <a:rPr lang="en-US" altLang="zh-CN" sz="1800" b="0" dirty="0"/>
              <a:t>   void </a:t>
            </a:r>
            <a:r>
              <a:rPr lang="en-US" altLang="zh-CN" sz="1800" b="0" dirty="0" err="1"/>
              <a:t>HanoiTowers</a:t>
            </a:r>
            <a:r>
              <a:rPr lang="en-US" altLang="zh-CN" sz="1800" b="0" dirty="0"/>
              <a:t>(</a:t>
            </a:r>
            <a:r>
              <a:rPr lang="en-US" altLang="zh-CN" sz="1800" b="0" dirty="0" err="1"/>
              <a:t>int</a:t>
            </a:r>
            <a:r>
              <a:rPr lang="en-US" altLang="zh-CN" sz="1800" b="0" dirty="0"/>
              <a:t> n, char a, char b, char c);     //</a:t>
            </a:r>
            <a:r>
              <a:rPr lang="zh-CN" altLang="zh-CN" sz="1800" b="0" dirty="0"/>
              <a:t>声明递归函数</a:t>
            </a:r>
          </a:p>
          <a:p>
            <a:pPr algn="just">
              <a:lnSpc>
                <a:spcPct val="100000"/>
              </a:lnSpc>
              <a:spcBef>
                <a:spcPts val="0"/>
              </a:spcBef>
            </a:pPr>
            <a:r>
              <a:rPr lang="en-US" altLang="zh-CN" sz="1800" b="0" dirty="0"/>
              <a:t>   void Move(</a:t>
            </a:r>
            <a:r>
              <a:rPr lang="en-US" altLang="zh-CN" sz="1800" b="0" dirty="0" err="1"/>
              <a:t>int</a:t>
            </a:r>
            <a:r>
              <a:rPr lang="en-US" altLang="zh-CN" sz="1800" b="0" dirty="0"/>
              <a:t> n, char s, char t);   //</a:t>
            </a:r>
            <a:r>
              <a:rPr lang="zh-CN" altLang="zh-CN" sz="1800" b="0" dirty="0"/>
              <a:t>声明移动函数，将圆盘</a:t>
            </a:r>
            <a:r>
              <a:rPr lang="en-US" altLang="zh-CN" sz="1800" b="0" dirty="0"/>
              <a:t>n</a:t>
            </a:r>
            <a:r>
              <a:rPr lang="zh-CN" altLang="zh-CN" sz="1800" b="0" dirty="0"/>
              <a:t>从塔座</a:t>
            </a:r>
            <a:r>
              <a:rPr lang="en-US" altLang="zh-CN" sz="1800" b="0" dirty="0"/>
              <a:t>s</a:t>
            </a:r>
            <a:r>
              <a:rPr lang="zh-CN" altLang="zh-CN" sz="1800" b="0" dirty="0"/>
              <a:t>移至塔座</a:t>
            </a:r>
            <a:r>
              <a:rPr lang="en-US" altLang="zh-CN" sz="1800" b="0" dirty="0"/>
              <a:t>t</a:t>
            </a:r>
            <a:r>
              <a:rPr lang="zh-CN" altLang="zh-CN" sz="1800" b="0" dirty="0"/>
              <a:t>上</a:t>
            </a:r>
          </a:p>
          <a:p>
            <a:pPr algn="just">
              <a:lnSpc>
                <a:spcPct val="100000"/>
              </a:lnSpc>
              <a:spcBef>
                <a:spcPts val="0"/>
              </a:spcBef>
            </a:pPr>
            <a:r>
              <a:rPr lang="en-US" altLang="zh-CN" sz="1800" b="0" dirty="0"/>
              <a:t>};</a:t>
            </a:r>
            <a:endParaRPr lang="zh-CN" altLang="zh-CN" sz="1800" b="0" dirty="0"/>
          </a:p>
          <a:p>
            <a:pPr algn="just">
              <a:lnSpc>
                <a:spcPct val="100000"/>
              </a:lnSpc>
              <a:spcBef>
                <a:spcPts val="0"/>
              </a:spcBef>
            </a:pPr>
            <a:r>
              <a:rPr lang="en-US" altLang="zh-CN" sz="1800" b="0" dirty="0"/>
              <a:t>void Hanoi::</a:t>
            </a:r>
            <a:r>
              <a:rPr lang="en-US" altLang="zh-CN" sz="1800" b="0" dirty="0" err="1"/>
              <a:t>HanoiTowers</a:t>
            </a:r>
            <a:r>
              <a:rPr lang="en-US" altLang="zh-CN" sz="1800" b="0" dirty="0"/>
              <a:t>(</a:t>
            </a:r>
            <a:r>
              <a:rPr lang="en-US" altLang="zh-CN" sz="1800" b="0" dirty="0" err="1"/>
              <a:t>int</a:t>
            </a:r>
            <a:r>
              <a:rPr lang="en-US" altLang="zh-CN" sz="1800" b="0" dirty="0"/>
              <a:t> n, char a, char b, char c) {   //</a:t>
            </a:r>
            <a:r>
              <a:rPr lang="zh-CN" altLang="zh-CN" sz="1800" b="0" dirty="0"/>
              <a:t>定义递归函数</a:t>
            </a:r>
          </a:p>
          <a:p>
            <a:pPr algn="just">
              <a:lnSpc>
                <a:spcPct val="100000"/>
              </a:lnSpc>
              <a:spcBef>
                <a:spcPts val="0"/>
              </a:spcBef>
            </a:pPr>
            <a:r>
              <a:rPr lang="en-US" altLang="zh-CN" sz="1800" b="0" dirty="0"/>
              <a:t>    	if(n==1)  //</a:t>
            </a:r>
            <a:r>
              <a:rPr lang="zh-CN" altLang="zh-CN" sz="1800" b="0" dirty="0"/>
              <a:t>定义终止条件</a:t>
            </a:r>
          </a:p>
          <a:p>
            <a:pPr algn="just">
              <a:lnSpc>
                <a:spcPct val="100000"/>
              </a:lnSpc>
              <a:spcBef>
                <a:spcPts val="0"/>
              </a:spcBef>
            </a:pPr>
            <a:r>
              <a:rPr lang="en-US" altLang="zh-CN" sz="1800" b="0" dirty="0"/>
              <a:t>		Move(1,a,b);                   	//</a:t>
            </a:r>
            <a:r>
              <a:rPr lang="zh-CN" altLang="zh-CN" sz="1800" b="0" dirty="0"/>
              <a:t>①</a:t>
            </a:r>
          </a:p>
          <a:p>
            <a:pPr algn="just">
              <a:lnSpc>
                <a:spcPct val="100000"/>
              </a:lnSpc>
              <a:spcBef>
                <a:spcPts val="0"/>
              </a:spcBef>
            </a:pPr>
            <a:r>
              <a:rPr lang="en-US" altLang="zh-CN" sz="1800" b="0" dirty="0"/>
              <a:t>    	else {                             		//</a:t>
            </a:r>
            <a:r>
              <a:rPr lang="zh-CN" altLang="zh-CN" sz="1800" b="0" dirty="0"/>
              <a:t>②</a:t>
            </a:r>
          </a:p>
          <a:p>
            <a:pPr algn="just">
              <a:lnSpc>
                <a:spcPct val="100000"/>
              </a:lnSpc>
              <a:spcBef>
                <a:spcPts val="0"/>
              </a:spcBef>
            </a:pPr>
            <a:r>
              <a:rPr lang="en-US" altLang="zh-CN" sz="1800" b="0" dirty="0"/>
              <a:t>  		</a:t>
            </a:r>
            <a:r>
              <a:rPr lang="en-US" altLang="zh-CN" sz="1800" b="0" dirty="0" err="1"/>
              <a:t>HanoiTowers</a:t>
            </a:r>
            <a:r>
              <a:rPr lang="en-US" altLang="zh-CN" sz="1800" b="0" dirty="0"/>
              <a:t>(n-1,a,c,b);         //</a:t>
            </a:r>
            <a:r>
              <a:rPr lang="zh-CN" altLang="zh-CN" sz="1800" b="0" dirty="0"/>
              <a:t>③</a:t>
            </a:r>
          </a:p>
          <a:p>
            <a:pPr algn="just">
              <a:lnSpc>
                <a:spcPct val="100000"/>
              </a:lnSpc>
              <a:spcBef>
                <a:spcPts val="0"/>
              </a:spcBef>
            </a:pPr>
            <a:r>
              <a:rPr lang="en-US" altLang="zh-CN" sz="1800" b="0" dirty="0"/>
              <a:t>		Move(</a:t>
            </a:r>
            <a:r>
              <a:rPr lang="en-US" altLang="zh-CN" sz="1800" b="0" dirty="0" err="1"/>
              <a:t>n,a,b</a:t>
            </a:r>
            <a:r>
              <a:rPr lang="en-US" altLang="zh-CN" sz="1800" b="0" dirty="0"/>
              <a:t>);                   	//</a:t>
            </a:r>
            <a:r>
              <a:rPr lang="zh-CN" altLang="zh-CN" sz="1800" b="0" dirty="0"/>
              <a:t>④</a:t>
            </a:r>
          </a:p>
          <a:p>
            <a:pPr algn="just">
              <a:lnSpc>
                <a:spcPct val="100000"/>
              </a:lnSpc>
              <a:spcBef>
                <a:spcPts val="0"/>
              </a:spcBef>
            </a:pPr>
            <a:r>
              <a:rPr lang="en-US" altLang="zh-CN" sz="1800" b="0" dirty="0"/>
              <a:t>		</a:t>
            </a:r>
            <a:r>
              <a:rPr lang="en-US" altLang="zh-CN" sz="1800" b="0" dirty="0" err="1"/>
              <a:t>HanoiTowers</a:t>
            </a:r>
            <a:r>
              <a:rPr lang="en-US" altLang="zh-CN" sz="1800" b="0" dirty="0"/>
              <a:t>(n-1,c,b,a);         //</a:t>
            </a:r>
            <a:r>
              <a:rPr lang="zh-CN" altLang="zh-CN" sz="1800" b="0" dirty="0"/>
              <a:t>⑤</a:t>
            </a:r>
          </a:p>
          <a:p>
            <a:pPr algn="just">
              <a:lnSpc>
                <a:spcPct val="100000"/>
              </a:lnSpc>
              <a:spcBef>
                <a:spcPts val="0"/>
              </a:spcBef>
            </a:pPr>
            <a:r>
              <a:rPr lang="en-US" altLang="zh-CN" sz="1800" b="0" dirty="0"/>
              <a:t>	}                                		//</a:t>
            </a:r>
            <a:r>
              <a:rPr lang="zh-CN" altLang="zh-CN" sz="1800" b="0" dirty="0"/>
              <a:t>⑥</a:t>
            </a:r>
          </a:p>
          <a:p>
            <a:pPr algn="just">
              <a:lnSpc>
                <a:spcPct val="100000"/>
              </a:lnSpc>
              <a:spcBef>
                <a:spcPts val="0"/>
              </a:spcBef>
            </a:pPr>
            <a:r>
              <a:rPr lang="en-US" altLang="zh-CN" sz="1800" b="0" dirty="0"/>
              <a:t>    	return;                            		//</a:t>
            </a:r>
            <a:r>
              <a:rPr lang="zh-CN" altLang="zh-CN" sz="1800" b="0" dirty="0"/>
              <a:t>⑦</a:t>
            </a:r>
          </a:p>
          <a:p>
            <a:pPr algn="just">
              <a:lnSpc>
                <a:spcPct val="100000"/>
              </a:lnSpc>
              <a:spcBef>
                <a:spcPts val="0"/>
              </a:spcBef>
            </a:pPr>
            <a:r>
              <a:rPr lang="en-US" altLang="zh-CN" sz="1800" b="0" dirty="0"/>
              <a:t>} </a:t>
            </a:r>
            <a:endParaRPr lang="zh-CN" altLang="zh-CN" sz="1800" b="0" dirty="0"/>
          </a:p>
          <a:p>
            <a:pPr algn="just">
              <a:lnSpc>
                <a:spcPct val="100000"/>
              </a:lnSpc>
              <a:spcBef>
                <a:spcPts val="0"/>
              </a:spcBef>
            </a:pPr>
            <a:endParaRPr lang="zh-CN" altLang="en-US" sz="1800" dirty="0"/>
          </a:p>
        </p:txBody>
      </p:sp>
      <p:graphicFrame>
        <p:nvGraphicFramePr>
          <p:cNvPr id="4" name="Object 1">
            <a:extLst>
              <a:ext uri="{FF2B5EF4-FFF2-40B4-BE49-F238E27FC236}">
                <a16:creationId xmlns:a16="http://schemas.microsoft.com/office/drawing/2014/main" id="{542A257F-4A4C-4DBB-843B-3882040D205E}"/>
              </a:ext>
            </a:extLst>
          </p:cNvPr>
          <p:cNvGraphicFramePr>
            <a:graphicFrameLocks noChangeAspect="1"/>
          </p:cNvGraphicFramePr>
          <p:nvPr>
            <p:extLst>
              <p:ext uri="{D42A27DB-BD31-4B8C-83A1-F6EECF244321}">
                <p14:modId xmlns:p14="http://schemas.microsoft.com/office/powerpoint/2010/main" val="1383680711"/>
              </p:ext>
            </p:extLst>
          </p:nvPr>
        </p:nvGraphicFramePr>
        <p:xfrm>
          <a:off x="4427984" y="5301208"/>
          <a:ext cx="4851449" cy="1001237"/>
        </p:xfrm>
        <a:graphic>
          <a:graphicData uri="http://schemas.openxmlformats.org/presentationml/2006/ole">
            <mc:AlternateContent xmlns:mc="http://schemas.openxmlformats.org/markup-compatibility/2006">
              <mc:Choice xmlns:v="urn:schemas-microsoft-com:vml" Requires="v">
                <p:oleObj spid="_x0000_s7186" r:id="rId3" imgW="5068651" imgH="1048649" progId="">
                  <p:embed/>
                </p:oleObj>
              </mc:Choice>
              <mc:Fallback>
                <p:oleObj r:id="rId3" imgW="5068651" imgH="1048649" progId="">
                  <p:embed/>
                  <p:pic>
                    <p:nvPicPr>
                      <p:cNvPr id="3" name="Object 1">
                        <a:extLst>
                          <a:ext uri="{FF2B5EF4-FFF2-40B4-BE49-F238E27FC236}">
                            <a16:creationId xmlns:a16="http://schemas.microsoft.com/office/drawing/2014/main" id="{BB95E923-B07D-4EE5-B8C3-6B56E222267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27984" y="5301208"/>
                        <a:ext cx="4851449" cy="1001237"/>
                      </a:xfrm>
                      <a:prstGeom prst="rect">
                        <a:avLst/>
                      </a:prstGeom>
                      <a:noFill/>
                    </p:spPr>
                  </p:pic>
                </p:oleObj>
              </mc:Fallback>
            </mc:AlternateContent>
          </a:graphicData>
        </a:graphic>
      </p:graphicFrame>
    </p:spTree>
    <p:extLst>
      <p:ext uri="{BB962C8B-B14F-4D97-AF65-F5344CB8AC3E}">
        <p14:creationId xmlns:p14="http://schemas.microsoft.com/office/powerpoint/2010/main" val="61352287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052736"/>
            <a:ext cx="8030696" cy="5376660"/>
          </a:xfrm>
        </p:spPr>
        <p:txBody>
          <a:bodyPr>
            <a:normAutofit fontScale="85000" lnSpcReduction="20000"/>
          </a:bodyPr>
          <a:lstStyle/>
          <a:p>
            <a:pPr algn="just"/>
            <a:r>
              <a:rPr lang="en-US" altLang="zh-CN" b="0" dirty="0"/>
              <a:t>void Hanoi::Move(</a:t>
            </a:r>
            <a:r>
              <a:rPr lang="en-US" altLang="zh-CN" b="0" dirty="0" err="1"/>
              <a:t>int</a:t>
            </a:r>
            <a:r>
              <a:rPr lang="en-US" altLang="zh-CN" b="0" dirty="0"/>
              <a:t> n, char s, char t){   </a:t>
            </a:r>
            <a:endParaRPr lang="zh-CN" altLang="zh-CN" b="0" dirty="0"/>
          </a:p>
          <a:p>
            <a:pPr algn="just"/>
            <a:r>
              <a:rPr lang="en-US" altLang="zh-CN" b="0" dirty="0"/>
              <a:t>	</a:t>
            </a:r>
            <a:r>
              <a:rPr lang="en-US" altLang="zh-CN" b="0" dirty="0" err="1"/>
              <a:t>cout</a:t>
            </a:r>
            <a:r>
              <a:rPr lang="en-US" altLang="zh-CN" b="0" dirty="0"/>
              <a:t>&lt;&lt;”</a:t>
            </a:r>
            <a:r>
              <a:rPr lang="zh-CN" altLang="zh-CN" b="0" dirty="0"/>
              <a:t>将圆盘</a:t>
            </a:r>
            <a:r>
              <a:rPr lang="en-US" altLang="zh-CN" b="0" dirty="0"/>
              <a:t>”&lt;&lt;n&lt;&lt;”</a:t>
            </a:r>
            <a:r>
              <a:rPr lang="zh-CN" altLang="zh-CN" b="0" dirty="0"/>
              <a:t>从塔座</a:t>
            </a:r>
            <a:r>
              <a:rPr lang="en-US" altLang="zh-CN" b="0" dirty="0"/>
              <a:t>”&lt;&lt;s&lt;&lt;”</a:t>
            </a:r>
            <a:r>
              <a:rPr lang="zh-CN" altLang="zh-CN" b="0" dirty="0"/>
              <a:t>移动至塔座</a:t>
            </a:r>
            <a:r>
              <a:rPr lang="en-US" altLang="zh-CN" b="0" dirty="0"/>
              <a:t>”&lt;&lt;t&lt;&lt;</a:t>
            </a:r>
            <a:r>
              <a:rPr lang="en-US" altLang="zh-CN" b="0" dirty="0" err="1"/>
              <a:t>endl</a:t>
            </a:r>
            <a:r>
              <a:rPr lang="en-US" altLang="zh-CN" b="0" dirty="0"/>
              <a:t>;</a:t>
            </a:r>
            <a:endParaRPr lang="zh-CN" altLang="zh-CN" b="0" dirty="0"/>
          </a:p>
          <a:p>
            <a:pPr algn="just"/>
            <a:r>
              <a:rPr lang="en-US" altLang="zh-CN" b="0" dirty="0"/>
              <a:t>	return;</a:t>
            </a:r>
            <a:endParaRPr lang="zh-CN" altLang="zh-CN" b="0" dirty="0"/>
          </a:p>
          <a:p>
            <a:pPr algn="just"/>
            <a:r>
              <a:rPr lang="en-US" altLang="zh-CN" b="0" dirty="0"/>
              <a:t>}</a:t>
            </a:r>
          </a:p>
          <a:p>
            <a:pPr algn="just"/>
            <a:endParaRPr lang="zh-CN" altLang="zh-CN" b="0" dirty="0"/>
          </a:p>
          <a:p>
            <a:pPr algn="just"/>
            <a:r>
              <a:rPr lang="en-US" altLang="zh-CN" b="0" dirty="0" err="1"/>
              <a:t>int</a:t>
            </a:r>
            <a:r>
              <a:rPr lang="en-US" altLang="zh-CN" b="0" dirty="0"/>
              <a:t> main(){</a:t>
            </a:r>
            <a:endParaRPr lang="zh-CN" altLang="zh-CN" b="0" dirty="0"/>
          </a:p>
          <a:p>
            <a:pPr algn="just"/>
            <a:r>
              <a:rPr lang="en-US" altLang="zh-CN" b="0" dirty="0"/>
              <a:t>Hanoi h; </a:t>
            </a:r>
            <a:endParaRPr lang="zh-CN" altLang="zh-CN" b="0" dirty="0"/>
          </a:p>
          <a:p>
            <a:pPr algn="just"/>
            <a:r>
              <a:rPr lang="en-US" altLang="zh-CN" b="0" dirty="0" err="1"/>
              <a:t>int</a:t>
            </a:r>
            <a:r>
              <a:rPr lang="en-US" altLang="zh-CN" b="0" dirty="0"/>
              <a:t> n;</a:t>
            </a:r>
            <a:endParaRPr lang="zh-CN" altLang="zh-CN" b="0" dirty="0"/>
          </a:p>
          <a:p>
            <a:pPr algn="just"/>
            <a:r>
              <a:rPr lang="en-US" altLang="zh-CN" b="0" dirty="0"/>
              <a:t>	</a:t>
            </a:r>
            <a:r>
              <a:rPr lang="en-US" altLang="zh-CN" b="0" dirty="0" err="1"/>
              <a:t>cout</a:t>
            </a:r>
            <a:r>
              <a:rPr lang="en-US" altLang="zh-CN" b="0" dirty="0"/>
              <a:t>&lt;&lt;"</a:t>
            </a:r>
            <a:r>
              <a:rPr lang="zh-CN" altLang="zh-CN" b="0" dirty="0"/>
              <a:t>请输入圆盘的个数：</a:t>
            </a:r>
            <a:r>
              <a:rPr lang="en-US" altLang="zh-CN" b="0" dirty="0"/>
              <a:t>";</a:t>
            </a:r>
            <a:endParaRPr lang="zh-CN" altLang="zh-CN" b="0" dirty="0"/>
          </a:p>
          <a:p>
            <a:pPr algn="just"/>
            <a:r>
              <a:rPr lang="en-US" altLang="zh-CN" b="0" dirty="0"/>
              <a:t>	</a:t>
            </a:r>
            <a:r>
              <a:rPr lang="en-US" altLang="zh-CN" b="0" dirty="0" err="1"/>
              <a:t>cin</a:t>
            </a:r>
            <a:r>
              <a:rPr lang="en-US" altLang="zh-CN" b="0" dirty="0"/>
              <a:t>&gt;&gt;n;</a:t>
            </a:r>
            <a:endParaRPr lang="zh-CN" altLang="zh-CN" b="0" dirty="0"/>
          </a:p>
          <a:p>
            <a:pPr algn="just"/>
            <a:r>
              <a:rPr lang="en-US" altLang="zh-CN" b="0" dirty="0"/>
              <a:t>	</a:t>
            </a:r>
            <a:r>
              <a:rPr lang="en-US" altLang="zh-CN" b="0" dirty="0" err="1"/>
              <a:t>h.HanoiTowers</a:t>
            </a:r>
            <a:r>
              <a:rPr lang="en-US" altLang="zh-CN" b="0" dirty="0"/>
              <a:t>(n, ’A’, ’B’, ‘C’);     	//</a:t>
            </a:r>
            <a:r>
              <a:rPr lang="zh-CN" altLang="zh-CN" b="0" dirty="0"/>
              <a:t>⑧</a:t>
            </a:r>
          </a:p>
          <a:p>
            <a:pPr algn="just"/>
            <a:r>
              <a:rPr lang="en-US" altLang="zh-CN" b="0" dirty="0"/>
              <a:t>	return 0;                        			//</a:t>
            </a:r>
            <a:r>
              <a:rPr lang="zh-CN" altLang="zh-CN" b="0" dirty="0"/>
              <a:t>⑨</a:t>
            </a:r>
          </a:p>
          <a:p>
            <a:pPr algn="just"/>
            <a:r>
              <a:rPr lang="en-US" altLang="zh-CN" b="0" dirty="0"/>
              <a:t>}</a:t>
            </a:r>
            <a:endParaRPr lang="zh-CN" altLang="zh-CN" b="0" dirty="0"/>
          </a:p>
          <a:p>
            <a:pPr algn="just"/>
            <a:endParaRPr lang="zh-CN" altLang="en-US" dirty="0"/>
          </a:p>
        </p:txBody>
      </p:sp>
    </p:spTree>
    <p:extLst>
      <p:ext uri="{BB962C8B-B14F-4D97-AF65-F5344CB8AC3E}">
        <p14:creationId xmlns:p14="http://schemas.microsoft.com/office/powerpoint/2010/main" val="21810598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0" y="404664"/>
            <a:ext cx="2815722" cy="805198"/>
          </a:xfrm>
        </p:spPr>
        <p:txBody>
          <a:bodyPr/>
          <a:lstStyle/>
          <a:p>
            <a:pPr algn="just"/>
            <a:r>
              <a:rPr lang="zh-CN" altLang="zh-CN" b="0" dirty="0"/>
              <a:t>状态栈的变化过程</a:t>
            </a:r>
          </a:p>
          <a:p>
            <a:pPr algn="just"/>
            <a:endParaRPr lang="zh-CN" altLang="en-US" dirty="0"/>
          </a:p>
        </p:txBody>
      </p:sp>
      <p:pic>
        <p:nvPicPr>
          <p:cNvPr id="75818" name="Picture 42"/>
          <p:cNvPicPr>
            <a:picLocks noChangeAspect="1" noChangeArrowheads="1"/>
          </p:cNvPicPr>
          <p:nvPr/>
        </p:nvPicPr>
        <p:blipFill>
          <a:blip r:embed="rId2" cstate="print"/>
          <a:srcRect/>
          <a:stretch>
            <a:fillRect/>
          </a:stretch>
        </p:blipFill>
        <p:spPr bwMode="auto">
          <a:xfrm>
            <a:off x="2995599" y="1142984"/>
            <a:ext cx="6148401" cy="5162991"/>
          </a:xfrm>
          <a:prstGeom prst="rect">
            <a:avLst/>
          </a:prstGeom>
          <a:noFill/>
          <a:ln w="9525">
            <a:noFill/>
            <a:miter lim="800000"/>
            <a:headEnd/>
            <a:tailEnd/>
          </a:ln>
          <a:effectLst/>
        </p:spPr>
      </p:pic>
      <p:sp>
        <p:nvSpPr>
          <p:cNvPr id="5" name="文本框 4">
            <a:extLst>
              <a:ext uri="{FF2B5EF4-FFF2-40B4-BE49-F238E27FC236}">
                <a16:creationId xmlns:a16="http://schemas.microsoft.com/office/drawing/2014/main" id="{32D06BB4-6C86-42EE-A005-560CABE8D5FD}"/>
              </a:ext>
            </a:extLst>
          </p:cNvPr>
          <p:cNvSpPr txBox="1"/>
          <p:nvPr/>
        </p:nvSpPr>
        <p:spPr>
          <a:xfrm>
            <a:off x="35496" y="3262332"/>
            <a:ext cx="2743713" cy="3046988"/>
          </a:xfrm>
          <a:prstGeom prst="rect">
            <a:avLst/>
          </a:prstGeom>
          <a:noFill/>
        </p:spPr>
        <p:txBody>
          <a:bodyPr wrap="square">
            <a:spAutoFit/>
          </a:bodyPr>
          <a:lstStyle/>
          <a:p>
            <a:pPr marL="347345" indent="-347345" algn="just"/>
            <a:r>
              <a:rPr lang="zh-CN" altLang="zh-CN" sz="600" b="1" kern="12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算法</a:t>
            </a:r>
            <a:r>
              <a:rPr lang="en-US" altLang="zh-CN" sz="600" b="1" kern="1200" dirty="0">
                <a:solidFill>
                  <a:srgbClr val="000000"/>
                </a:solidFill>
                <a:effectLst/>
                <a:latin typeface="Times New Roman" panose="02020603050405020304" pitchFamily="18" charset="0"/>
                <a:ea typeface="楷体" panose="02010609060101010101" pitchFamily="49" charset="-122"/>
                <a:cs typeface="宋体" panose="02010600030101010101" pitchFamily="2" charset="-122"/>
              </a:rPr>
              <a:t>3.15</a:t>
            </a:r>
            <a:r>
              <a:rPr lang="zh-CN" altLang="zh-CN" sz="600" b="1" kern="12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a:t>
            </a:r>
            <a:r>
              <a:rPr lang="zh-CN" altLang="zh-CN" sz="600" b="1" kern="1200" dirty="0">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rPr>
              <a:t>汉诺塔问题的递归算法</a:t>
            </a:r>
            <a:endParaRPr lang="zh-CN" altLang="zh-CN" sz="600" dirty="0">
              <a:effectLst/>
              <a:latin typeface="宋体" panose="02010600030101010101" pitchFamily="2" charset="-122"/>
              <a:ea typeface="宋体" panose="02010600030101010101" pitchFamily="2" charset="-122"/>
              <a:cs typeface="宋体" panose="02010600030101010101" pitchFamily="2" charset="-122"/>
            </a:endParaRPr>
          </a:p>
          <a:p>
            <a:pPr marL="347345" indent="-347345" algn="just"/>
            <a:r>
              <a:rPr lang="en-US" altLang="zh-CN" sz="600" kern="1200" dirty="0">
                <a:solidFill>
                  <a:srgbClr val="000000"/>
                </a:solidFill>
                <a:effectLst/>
                <a:latin typeface="Times New Roman" panose="02020603050405020304" pitchFamily="18" charset="0"/>
                <a:ea typeface="楷体" panose="02010609060101010101" pitchFamily="49" charset="-122"/>
                <a:cs typeface="宋体" panose="02010600030101010101" pitchFamily="2" charset="-122"/>
              </a:rPr>
              <a:t>#include &lt;iostream&gt;</a:t>
            </a:r>
            <a:endParaRPr lang="zh-CN" altLang="zh-CN" sz="600" dirty="0">
              <a:effectLst/>
              <a:latin typeface="宋体" panose="02010600030101010101" pitchFamily="2" charset="-122"/>
              <a:ea typeface="宋体" panose="02010600030101010101" pitchFamily="2" charset="-122"/>
              <a:cs typeface="宋体" panose="02010600030101010101" pitchFamily="2" charset="-122"/>
            </a:endParaRPr>
          </a:p>
          <a:p>
            <a:pPr marL="347345" indent="-347345" algn="just"/>
            <a:r>
              <a:rPr lang="en-US" altLang="zh-CN" sz="600" kern="1200" dirty="0">
                <a:solidFill>
                  <a:srgbClr val="000000"/>
                </a:solidFill>
                <a:effectLst/>
                <a:latin typeface="Times New Roman" panose="02020603050405020304" pitchFamily="18" charset="0"/>
                <a:ea typeface="楷体" panose="02010609060101010101" pitchFamily="49" charset="-122"/>
                <a:cs typeface="宋体" panose="02010600030101010101" pitchFamily="2" charset="-122"/>
              </a:rPr>
              <a:t>using namespace std;</a:t>
            </a:r>
            <a:endParaRPr lang="zh-CN" altLang="zh-CN" sz="600" dirty="0">
              <a:effectLst/>
              <a:latin typeface="宋体" panose="02010600030101010101" pitchFamily="2" charset="-122"/>
              <a:ea typeface="宋体" panose="02010600030101010101" pitchFamily="2" charset="-122"/>
              <a:cs typeface="宋体" panose="02010600030101010101" pitchFamily="2" charset="-122"/>
            </a:endParaRPr>
          </a:p>
          <a:p>
            <a:pPr marL="347345" indent="-347345" algn="just"/>
            <a:r>
              <a:rPr lang="en-US" altLang="zh-CN" sz="600" kern="1200" dirty="0">
                <a:solidFill>
                  <a:srgbClr val="000000"/>
                </a:solidFill>
                <a:effectLst/>
                <a:latin typeface="Times New Roman" panose="02020603050405020304" pitchFamily="18" charset="0"/>
                <a:ea typeface="楷体" panose="02010609060101010101" pitchFamily="49" charset="-122"/>
                <a:cs typeface="宋体" panose="02010600030101010101" pitchFamily="2" charset="-122"/>
              </a:rPr>
              <a:t>class Hanoi{   	//</a:t>
            </a:r>
            <a:r>
              <a:rPr lang="zh-CN" altLang="zh-CN" sz="600" kern="12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定义汉诺塔类</a:t>
            </a:r>
            <a:endParaRPr lang="zh-CN" altLang="zh-CN" sz="600" dirty="0">
              <a:effectLst/>
              <a:latin typeface="宋体" panose="02010600030101010101" pitchFamily="2" charset="-122"/>
              <a:ea typeface="宋体" panose="02010600030101010101" pitchFamily="2" charset="-122"/>
              <a:cs typeface="宋体" panose="02010600030101010101" pitchFamily="2" charset="-122"/>
            </a:endParaRPr>
          </a:p>
          <a:p>
            <a:pPr marL="347345" indent="-347345" algn="just"/>
            <a:r>
              <a:rPr lang="en-US" altLang="zh-CN" sz="600" kern="1200" dirty="0">
                <a:solidFill>
                  <a:srgbClr val="000000"/>
                </a:solidFill>
                <a:effectLst/>
                <a:latin typeface="Times New Roman" panose="02020603050405020304" pitchFamily="18" charset="0"/>
                <a:ea typeface="楷体" panose="02010609060101010101" pitchFamily="49" charset="-122"/>
                <a:cs typeface="宋体" panose="02010600030101010101" pitchFamily="2" charset="-122"/>
              </a:rPr>
              <a:t>public:</a:t>
            </a:r>
            <a:endParaRPr lang="zh-CN" altLang="zh-CN" sz="600" dirty="0">
              <a:effectLst/>
              <a:latin typeface="宋体" panose="02010600030101010101" pitchFamily="2" charset="-122"/>
              <a:ea typeface="宋体" panose="02010600030101010101" pitchFamily="2" charset="-122"/>
              <a:cs typeface="宋体" panose="02010600030101010101" pitchFamily="2" charset="-122"/>
            </a:endParaRPr>
          </a:p>
          <a:p>
            <a:pPr marL="347345" indent="-347345" algn="just"/>
            <a:r>
              <a:rPr lang="en-US" altLang="zh-CN" sz="600" kern="1200" dirty="0">
                <a:solidFill>
                  <a:srgbClr val="000000"/>
                </a:solidFill>
                <a:effectLst/>
                <a:latin typeface="Times New Roman" panose="02020603050405020304" pitchFamily="18" charset="0"/>
                <a:ea typeface="楷体" panose="02010609060101010101" pitchFamily="49" charset="-122"/>
                <a:cs typeface="宋体" panose="02010600030101010101" pitchFamily="2" charset="-122"/>
              </a:rPr>
              <a:t>   void </a:t>
            </a:r>
            <a:r>
              <a:rPr lang="en-US" altLang="zh-CN" sz="600" kern="1200" dirty="0" err="1">
                <a:solidFill>
                  <a:srgbClr val="000000"/>
                </a:solidFill>
                <a:effectLst/>
                <a:latin typeface="Times New Roman" panose="02020603050405020304" pitchFamily="18" charset="0"/>
                <a:ea typeface="楷体" panose="02010609060101010101" pitchFamily="49" charset="-122"/>
                <a:cs typeface="宋体" panose="02010600030101010101" pitchFamily="2" charset="-122"/>
              </a:rPr>
              <a:t>HanoiTowers</a:t>
            </a:r>
            <a:r>
              <a:rPr lang="en-US" altLang="zh-CN" sz="600" kern="1200" dirty="0">
                <a:solidFill>
                  <a:srgbClr val="000000"/>
                </a:solidFill>
                <a:effectLst/>
                <a:latin typeface="Times New Roman" panose="02020603050405020304" pitchFamily="18" charset="0"/>
                <a:ea typeface="楷体" panose="02010609060101010101" pitchFamily="49" charset="-122"/>
                <a:cs typeface="宋体" panose="02010600030101010101" pitchFamily="2" charset="-122"/>
              </a:rPr>
              <a:t>(int n, char a, char b, char c);     //</a:t>
            </a:r>
            <a:r>
              <a:rPr lang="zh-CN" altLang="zh-CN" sz="600" kern="12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声明递归函数</a:t>
            </a:r>
            <a:endParaRPr lang="zh-CN" altLang="zh-CN" sz="600" dirty="0">
              <a:effectLst/>
              <a:latin typeface="宋体" panose="02010600030101010101" pitchFamily="2" charset="-122"/>
              <a:ea typeface="宋体" panose="02010600030101010101" pitchFamily="2" charset="-122"/>
              <a:cs typeface="宋体" panose="02010600030101010101" pitchFamily="2" charset="-122"/>
            </a:endParaRPr>
          </a:p>
          <a:p>
            <a:pPr marL="347345" indent="-347345" algn="just"/>
            <a:r>
              <a:rPr lang="en-US" altLang="zh-CN" sz="600" kern="1200" dirty="0">
                <a:solidFill>
                  <a:srgbClr val="000000"/>
                </a:solidFill>
                <a:effectLst/>
                <a:latin typeface="Times New Roman" panose="02020603050405020304" pitchFamily="18" charset="0"/>
                <a:ea typeface="楷体" panose="02010609060101010101" pitchFamily="49" charset="-122"/>
                <a:cs typeface="宋体" panose="02010600030101010101" pitchFamily="2" charset="-122"/>
              </a:rPr>
              <a:t>   void Move(int n, char s, char t);   //</a:t>
            </a:r>
            <a:r>
              <a:rPr lang="zh-CN" altLang="zh-CN" sz="600" kern="12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声明移动函数，将圆盘</a:t>
            </a:r>
            <a:r>
              <a:rPr lang="en-US" altLang="zh-CN" sz="600" kern="1200" dirty="0">
                <a:solidFill>
                  <a:srgbClr val="000000"/>
                </a:solidFill>
                <a:effectLst/>
                <a:latin typeface="Times New Roman" panose="02020603050405020304" pitchFamily="18" charset="0"/>
                <a:ea typeface="楷体" panose="02010609060101010101" pitchFamily="49" charset="-122"/>
                <a:cs typeface="宋体" panose="02010600030101010101" pitchFamily="2" charset="-122"/>
              </a:rPr>
              <a:t>n</a:t>
            </a:r>
            <a:r>
              <a:rPr lang="zh-CN" altLang="zh-CN" sz="600" kern="12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从塔座</a:t>
            </a:r>
            <a:r>
              <a:rPr lang="en-US" altLang="zh-CN" sz="600" kern="1200" dirty="0">
                <a:solidFill>
                  <a:srgbClr val="000000"/>
                </a:solidFill>
                <a:effectLst/>
                <a:latin typeface="Times New Roman" panose="02020603050405020304" pitchFamily="18" charset="0"/>
                <a:ea typeface="楷体" panose="02010609060101010101" pitchFamily="49" charset="-122"/>
                <a:cs typeface="宋体" panose="02010600030101010101" pitchFamily="2" charset="-122"/>
              </a:rPr>
              <a:t>s</a:t>
            </a:r>
            <a:r>
              <a:rPr lang="zh-CN" altLang="zh-CN" sz="600" kern="12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移至塔座</a:t>
            </a:r>
            <a:r>
              <a:rPr lang="en-US" altLang="zh-CN" sz="600" kern="1200" dirty="0">
                <a:solidFill>
                  <a:srgbClr val="000000"/>
                </a:solidFill>
                <a:effectLst/>
                <a:latin typeface="Times New Roman" panose="02020603050405020304" pitchFamily="18" charset="0"/>
                <a:ea typeface="楷体" panose="02010609060101010101" pitchFamily="49" charset="-122"/>
                <a:cs typeface="宋体" panose="02010600030101010101" pitchFamily="2" charset="-122"/>
              </a:rPr>
              <a:t>t</a:t>
            </a:r>
            <a:r>
              <a:rPr lang="zh-CN" altLang="zh-CN" sz="600" kern="12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上</a:t>
            </a:r>
            <a:endParaRPr lang="zh-CN" altLang="zh-CN" sz="600" dirty="0">
              <a:effectLst/>
              <a:latin typeface="宋体" panose="02010600030101010101" pitchFamily="2" charset="-122"/>
              <a:ea typeface="宋体" panose="02010600030101010101" pitchFamily="2" charset="-122"/>
              <a:cs typeface="宋体" panose="02010600030101010101" pitchFamily="2" charset="-122"/>
            </a:endParaRPr>
          </a:p>
          <a:p>
            <a:pPr marL="347345" indent="-347345" algn="just"/>
            <a:r>
              <a:rPr lang="en-US" altLang="zh-CN" sz="600" kern="1200" dirty="0">
                <a:solidFill>
                  <a:srgbClr val="000000"/>
                </a:solidFill>
                <a:effectLst/>
                <a:latin typeface="Times New Roman" panose="02020603050405020304" pitchFamily="18" charset="0"/>
                <a:ea typeface="楷体" panose="02010609060101010101" pitchFamily="49" charset="-122"/>
                <a:cs typeface="宋体" panose="02010600030101010101" pitchFamily="2" charset="-122"/>
              </a:rPr>
              <a:t>};</a:t>
            </a:r>
            <a:endParaRPr lang="zh-CN" altLang="zh-CN" sz="600" dirty="0">
              <a:effectLst/>
              <a:latin typeface="宋体" panose="02010600030101010101" pitchFamily="2" charset="-122"/>
              <a:ea typeface="宋体" panose="02010600030101010101" pitchFamily="2" charset="-122"/>
              <a:cs typeface="宋体" panose="02010600030101010101" pitchFamily="2" charset="-122"/>
            </a:endParaRPr>
          </a:p>
          <a:p>
            <a:pPr marL="347345" indent="-347345" algn="just"/>
            <a:r>
              <a:rPr lang="en-US" altLang="zh-CN" sz="600" kern="1200" dirty="0">
                <a:solidFill>
                  <a:srgbClr val="000000"/>
                </a:solidFill>
                <a:effectLst/>
                <a:latin typeface="Times New Roman" panose="02020603050405020304" pitchFamily="18" charset="0"/>
                <a:ea typeface="楷体" panose="02010609060101010101" pitchFamily="49" charset="-122"/>
                <a:cs typeface="宋体" panose="02010600030101010101" pitchFamily="2" charset="-122"/>
              </a:rPr>
              <a:t>void Hanoi::</a:t>
            </a:r>
            <a:r>
              <a:rPr lang="en-US" altLang="zh-CN" sz="600" kern="1200" dirty="0" err="1">
                <a:solidFill>
                  <a:srgbClr val="000000"/>
                </a:solidFill>
                <a:effectLst/>
                <a:latin typeface="Times New Roman" panose="02020603050405020304" pitchFamily="18" charset="0"/>
                <a:ea typeface="楷体" panose="02010609060101010101" pitchFamily="49" charset="-122"/>
                <a:cs typeface="宋体" panose="02010600030101010101" pitchFamily="2" charset="-122"/>
              </a:rPr>
              <a:t>HanoiTowers</a:t>
            </a:r>
            <a:r>
              <a:rPr lang="en-US" altLang="zh-CN" sz="600" kern="1200" dirty="0">
                <a:solidFill>
                  <a:srgbClr val="000000"/>
                </a:solidFill>
                <a:effectLst/>
                <a:latin typeface="Times New Roman" panose="02020603050405020304" pitchFamily="18" charset="0"/>
                <a:ea typeface="楷体" panose="02010609060101010101" pitchFamily="49" charset="-122"/>
                <a:cs typeface="宋体" panose="02010600030101010101" pitchFamily="2" charset="-122"/>
              </a:rPr>
              <a:t>(int n, char a, char b, char c) {   //</a:t>
            </a:r>
            <a:r>
              <a:rPr lang="zh-CN" altLang="zh-CN" sz="600" kern="12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定义递归函数</a:t>
            </a:r>
            <a:endParaRPr lang="zh-CN" altLang="zh-CN" sz="600" dirty="0">
              <a:effectLst/>
              <a:latin typeface="宋体" panose="02010600030101010101" pitchFamily="2" charset="-122"/>
              <a:ea typeface="宋体" panose="02010600030101010101" pitchFamily="2" charset="-122"/>
              <a:cs typeface="宋体" panose="02010600030101010101" pitchFamily="2" charset="-122"/>
            </a:endParaRPr>
          </a:p>
          <a:p>
            <a:pPr marL="347345" indent="-347345" algn="just"/>
            <a:r>
              <a:rPr lang="en-US" altLang="zh-CN" sz="600" kern="1200" dirty="0">
                <a:solidFill>
                  <a:srgbClr val="000000"/>
                </a:solidFill>
                <a:effectLst/>
                <a:latin typeface="Times New Roman" panose="02020603050405020304" pitchFamily="18" charset="0"/>
                <a:ea typeface="楷体" panose="02010609060101010101" pitchFamily="49" charset="-122"/>
                <a:cs typeface="宋体" panose="02010600030101010101" pitchFamily="2" charset="-122"/>
              </a:rPr>
              <a:t>    	if(n==1)  //</a:t>
            </a:r>
            <a:r>
              <a:rPr lang="zh-CN" altLang="zh-CN" sz="600" kern="12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定义终止条件</a:t>
            </a:r>
            <a:endParaRPr lang="zh-CN" altLang="zh-CN" sz="600" dirty="0">
              <a:effectLst/>
              <a:latin typeface="宋体" panose="02010600030101010101" pitchFamily="2" charset="-122"/>
              <a:ea typeface="宋体" panose="02010600030101010101" pitchFamily="2" charset="-122"/>
              <a:cs typeface="宋体" panose="02010600030101010101" pitchFamily="2" charset="-122"/>
            </a:endParaRPr>
          </a:p>
          <a:p>
            <a:pPr marL="347345" indent="-347345" algn="just"/>
            <a:r>
              <a:rPr lang="en-US" altLang="zh-CN" sz="600" kern="1200" dirty="0">
                <a:solidFill>
                  <a:srgbClr val="000000"/>
                </a:solidFill>
                <a:effectLst/>
                <a:latin typeface="Times New Roman" panose="02020603050405020304" pitchFamily="18" charset="0"/>
                <a:ea typeface="楷体" panose="02010609060101010101" pitchFamily="49" charset="-122"/>
                <a:cs typeface="宋体" panose="02010600030101010101" pitchFamily="2" charset="-122"/>
              </a:rPr>
              <a:t>		Move(1,a,b);                   	//</a:t>
            </a:r>
            <a:r>
              <a:rPr lang="zh-CN" altLang="zh-CN" sz="600" kern="1200" dirty="0">
                <a:solidFill>
                  <a:srgbClr val="000000"/>
                </a:solidFill>
                <a:effectLst/>
                <a:latin typeface="宋体" panose="02010600030101010101" pitchFamily="2" charset="-122"/>
                <a:ea typeface="宋体" panose="02010600030101010101" pitchFamily="2" charset="-122"/>
                <a:cs typeface="宋体" panose="02010600030101010101" pitchFamily="2" charset="-122"/>
              </a:rPr>
              <a:t>①</a:t>
            </a:r>
            <a:endParaRPr lang="zh-CN" altLang="zh-CN" sz="600" dirty="0">
              <a:effectLst/>
              <a:latin typeface="宋体" panose="02010600030101010101" pitchFamily="2" charset="-122"/>
              <a:ea typeface="宋体" panose="02010600030101010101" pitchFamily="2" charset="-122"/>
              <a:cs typeface="宋体" panose="02010600030101010101" pitchFamily="2" charset="-122"/>
            </a:endParaRPr>
          </a:p>
          <a:p>
            <a:pPr marL="347345" indent="-347345" algn="just"/>
            <a:r>
              <a:rPr lang="en-US" altLang="zh-CN" sz="600" kern="1200" dirty="0">
                <a:solidFill>
                  <a:srgbClr val="000000"/>
                </a:solidFill>
                <a:effectLst/>
                <a:latin typeface="Times New Roman" panose="02020603050405020304" pitchFamily="18" charset="0"/>
                <a:ea typeface="楷体" panose="02010609060101010101" pitchFamily="49" charset="-122"/>
                <a:cs typeface="宋体" panose="02010600030101010101" pitchFamily="2" charset="-122"/>
              </a:rPr>
              <a:t>    	else {                             	//</a:t>
            </a:r>
            <a:r>
              <a:rPr lang="zh-CN" altLang="zh-CN" sz="600" kern="1200" dirty="0">
                <a:solidFill>
                  <a:srgbClr val="000000"/>
                </a:solidFill>
                <a:effectLst/>
                <a:latin typeface="宋体" panose="02010600030101010101" pitchFamily="2" charset="-122"/>
                <a:ea typeface="宋体" panose="02010600030101010101" pitchFamily="2" charset="-122"/>
                <a:cs typeface="宋体" panose="02010600030101010101" pitchFamily="2" charset="-122"/>
              </a:rPr>
              <a:t>②</a:t>
            </a:r>
            <a:endParaRPr lang="zh-CN" altLang="zh-CN" sz="600" dirty="0">
              <a:effectLst/>
              <a:latin typeface="宋体" panose="02010600030101010101" pitchFamily="2" charset="-122"/>
              <a:ea typeface="宋体" panose="02010600030101010101" pitchFamily="2" charset="-122"/>
              <a:cs typeface="宋体" panose="02010600030101010101" pitchFamily="2" charset="-122"/>
            </a:endParaRPr>
          </a:p>
          <a:p>
            <a:pPr marL="347345" indent="-347345" algn="just"/>
            <a:r>
              <a:rPr lang="en-US" altLang="zh-CN" sz="600" kern="1200" dirty="0">
                <a:solidFill>
                  <a:srgbClr val="000000"/>
                </a:solidFill>
                <a:effectLst/>
                <a:latin typeface="Times New Roman" panose="02020603050405020304" pitchFamily="18" charset="0"/>
                <a:ea typeface="楷体" panose="02010609060101010101" pitchFamily="49" charset="-122"/>
                <a:cs typeface="宋体" panose="02010600030101010101" pitchFamily="2" charset="-122"/>
              </a:rPr>
              <a:t>  		</a:t>
            </a:r>
            <a:r>
              <a:rPr lang="en-US" altLang="zh-CN" sz="600" kern="1200" dirty="0" err="1">
                <a:solidFill>
                  <a:srgbClr val="000000"/>
                </a:solidFill>
                <a:effectLst/>
                <a:latin typeface="Times New Roman" panose="02020603050405020304" pitchFamily="18" charset="0"/>
                <a:ea typeface="楷体" panose="02010609060101010101" pitchFamily="49" charset="-122"/>
                <a:cs typeface="宋体" panose="02010600030101010101" pitchFamily="2" charset="-122"/>
              </a:rPr>
              <a:t>HanoiTowers</a:t>
            </a:r>
            <a:r>
              <a:rPr lang="en-US" altLang="zh-CN" sz="600" kern="1200" dirty="0">
                <a:solidFill>
                  <a:srgbClr val="000000"/>
                </a:solidFill>
                <a:effectLst/>
                <a:latin typeface="Times New Roman" panose="02020603050405020304" pitchFamily="18" charset="0"/>
                <a:ea typeface="楷体" panose="02010609060101010101" pitchFamily="49" charset="-122"/>
                <a:cs typeface="宋体" panose="02010600030101010101" pitchFamily="2" charset="-122"/>
              </a:rPr>
              <a:t>(n-1,a,c,b);         //</a:t>
            </a:r>
            <a:r>
              <a:rPr lang="zh-CN" altLang="zh-CN" sz="600" kern="1200" dirty="0">
                <a:solidFill>
                  <a:srgbClr val="000000"/>
                </a:solidFill>
                <a:effectLst/>
                <a:latin typeface="宋体" panose="02010600030101010101" pitchFamily="2" charset="-122"/>
                <a:ea typeface="宋体" panose="02010600030101010101" pitchFamily="2" charset="-122"/>
                <a:cs typeface="宋体" panose="02010600030101010101" pitchFamily="2" charset="-122"/>
              </a:rPr>
              <a:t>③</a:t>
            </a:r>
            <a:endParaRPr lang="zh-CN" altLang="zh-CN" sz="600" dirty="0">
              <a:effectLst/>
              <a:latin typeface="宋体" panose="02010600030101010101" pitchFamily="2" charset="-122"/>
              <a:ea typeface="宋体" panose="02010600030101010101" pitchFamily="2" charset="-122"/>
              <a:cs typeface="宋体" panose="02010600030101010101" pitchFamily="2" charset="-122"/>
            </a:endParaRPr>
          </a:p>
          <a:p>
            <a:pPr marL="347345" indent="-347345" algn="just"/>
            <a:r>
              <a:rPr lang="en-US" altLang="zh-CN" sz="600" kern="1200" dirty="0">
                <a:solidFill>
                  <a:srgbClr val="000000"/>
                </a:solidFill>
                <a:effectLst/>
                <a:latin typeface="Times New Roman" panose="02020603050405020304" pitchFamily="18" charset="0"/>
                <a:ea typeface="楷体" panose="02010609060101010101" pitchFamily="49" charset="-122"/>
                <a:cs typeface="宋体" panose="02010600030101010101" pitchFamily="2" charset="-122"/>
              </a:rPr>
              <a:t>		Move(</a:t>
            </a:r>
            <a:r>
              <a:rPr lang="en-US" altLang="zh-CN" sz="600" kern="1200" dirty="0" err="1">
                <a:solidFill>
                  <a:srgbClr val="000000"/>
                </a:solidFill>
                <a:effectLst/>
                <a:latin typeface="Times New Roman" panose="02020603050405020304" pitchFamily="18" charset="0"/>
                <a:ea typeface="楷体" panose="02010609060101010101" pitchFamily="49" charset="-122"/>
                <a:cs typeface="宋体" panose="02010600030101010101" pitchFamily="2" charset="-122"/>
              </a:rPr>
              <a:t>n,a,b</a:t>
            </a:r>
            <a:r>
              <a:rPr lang="en-US" altLang="zh-CN" sz="600" kern="1200" dirty="0">
                <a:solidFill>
                  <a:srgbClr val="000000"/>
                </a:solidFill>
                <a:effectLst/>
                <a:latin typeface="Times New Roman" panose="02020603050405020304" pitchFamily="18" charset="0"/>
                <a:ea typeface="楷体" panose="02010609060101010101" pitchFamily="49" charset="-122"/>
                <a:cs typeface="宋体" panose="02010600030101010101" pitchFamily="2" charset="-122"/>
              </a:rPr>
              <a:t>);                   	//</a:t>
            </a:r>
            <a:r>
              <a:rPr lang="zh-CN" altLang="zh-CN" sz="600" kern="1200" dirty="0">
                <a:solidFill>
                  <a:srgbClr val="000000"/>
                </a:solidFill>
                <a:effectLst/>
                <a:latin typeface="宋体" panose="02010600030101010101" pitchFamily="2" charset="-122"/>
                <a:ea typeface="宋体" panose="02010600030101010101" pitchFamily="2" charset="-122"/>
                <a:cs typeface="宋体" panose="02010600030101010101" pitchFamily="2" charset="-122"/>
              </a:rPr>
              <a:t>④</a:t>
            </a:r>
            <a:endParaRPr lang="zh-CN" altLang="zh-CN" sz="600" dirty="0">
              <a:effectLst/>
              <a:latin typeface="宋体" panose="02010600030101010101" pitchFamily="2" charset="-122"/>
              <a:ea typeface="宋体" panose="02010600030101010101" pitchFamily="2" charset="-122"/>
              <a:cs typeface="宋体" panose="02010600030101010101" pitchFamily="2" charset="-122"/>
            </a:endParaRPr>
          </a:p>
          <a:p>
            <a:pPr marL="347345" indent="-347345" algn="just"/>
            <a:r>
              <a:rPr lang="en-US" altLang="zh-CN" sz="600" kern="1200" dirty="0">
                <a:solidFill>
                  <a:srgbClr val="000000"/>
                </a:solidFill>
                <a:effectLst/>
                <a:latin typeface="Times New Roman" panose="02020603050405020304" pitchFamily="18" charset="0"/>
                <a:ea typeface="楷体" panose="02010609060101010101" pitchFamily="49" charset="-122"/>
                <a:cs typeface="宋体" panose="02010600030101010101" pitchFamily="2" charset="-122"/>
              </a:rPr>
              <a:t>		</a:t>
            </a:r>
            <a:r>
              <a:rPr lang="en-US" altLang="zh-CN" sz="600" kern="1200" dirty="0" err="1">
                <a:solidFill>
                  <a:srgbClr val="000000"/>
                </a:solidFill>
                <a:effectLst/>
                <a:latin typeface="Times New Roman" panose="02020603050405020304" pitchFamily="18" charset="0"/>
                <a:ea typeface="楷体" panose="02010609060101010101" pitchFamily="49" charset="-122"/>
                <a:cs typeface="宋体" panose="02010600030101010101" pitchFamily="2" charset="-122"/>
              </a:rPr>
              <a:t>HanoiTowers</a:t>
            </a:r>
            <a:r>
              <a:rPr lang="en-US" altLang="zh-CN" sz="600" kern="1200" dirty="0">
                <a:solidFill>
                  <a:srgbClr val="000000"/>
                </a:solidFill>
                <a:effectLst/>
                <a:latin typeface="Times New Roman" panose="02020603050405020304" pitchFamily="18" charset="0"/>
                <a:ea typeface="楷体" panose="02010609060101010101" pitchFamily="49" charset="-122"/>
                <a:cs typeface="宋体" panose="02010600030101010101" pitchFamily="2" charset="-122"/>
              </a:rPr>
              <a:t>(n-1,c,b,a);         //</a:t>
            </a:r>
            <a:r>
              <a:rPr lang="zh-CN" altLang="zh-CN" sz="600" kern="1200" dirty="0">
                <a:solidFill>
                  <a:srgbClr val="000000"/>
                </a:solidFill>
                <a:effectLst/>
                <a:latin typeface="宋体" panose="02010600030101010101" pitchFamily="2" charset="-122"/>
                <a:ea typeface="宋体" panose="02010600030101010101" pitchFamily="2" charset="-122"/>
                <a:cs typeface="宋体" panose="02010600030101010101" pitchFamily="2" charset="-122"/>
              </a:rPr>
              <a:t>⑤</a:t>
            </a:r>
            <a:endParaRPr lang="zh-CN" altLang="zh-CN" sz="600" dirty="0">
              <a:effectLst/>
              <a:latin typeface="宋体" panose="02010600030101010101" pitchFamily="2" charset="-122"/>
              <a:ea typeface="宋体" panose="02010600030101010101" pitchFamily="2" charset="-122"/>
              <a:cs typeface="宋体" panose="02010600030101010101" pitchFamily="2" charset="-122"/>
            </a:endParaRPr>
          </a:p>
          <a:p>
            <a:pPr marL="347345" indent="-347345" algn="just"/>
            <a:r>
              <a:rPr lang="en-US" altLang="zh-CN" sz="600" kern="1200" dirty="0">
                <a:solidFill>
                  <a:srgbClr val="000000"/>
                </a:solidFill>
                <a:effectLst/>
                <a:latin typeface="Times New Roman" panose="02020603050405020304" pitchFamily="18" charset="0"/>
                <a:ea typeface="楷体" panose="02010609060101010101" pitchFamily="49" charset="-122"/>
                <a:cs typeface="宋体" panose="02010600030101010101" pitchFamily="2" charset="-122"/>
              </a:rPr>
              <a:t>	}                                	//</a:t>
            </a:r>
            <a:r>
              <a:rPr lang="zh-CN" altLang="zh-CN" sz="600" kern="1200" dirty="0">
                <a:solidFill>
                  <a:srgbClr val="000000"/>
                </a:solidFill>
                <a:effectLst/>
                <a:latin typeface="宋体" panose="02010600030101010101" pitchFamily="2" charset="-122"/>
                <a:ea typeface="宋体" panose="02010600030101010101" pitchFamily="2" charset="-122"/>
                <a:cs typeface="宋体" panose="02010600030101010101" pitchFamily="2" charset="-122"/>
              </a:rPr>
              <a:t>⑥</a:t>
            </a:r>
            <a:endParaRPr lang="zh-CN" altLang="zh-CN" sz="600" dirty="0">
              <a:effectLst/>
              <a:latin typeface="宋体" panose="02010600030101010101" pitchFamily="2" charset="-122"/>
              <a:ea typeface="宋体" panose="02010600030101010101" pitchFamily="2" charset="-122"/>
              <a:cs typeface="宋体" panose="02010600030101010101" pitchFamily="2" charset="-122"/>
            </a:endParaRPr>
          </a:p>
          <a:p>
            <a:pPr marL="347345" indent="-347345" algn="just"/>
            <a:r>
              <a:rPr lang="en-US" altLang="zh-CN" sz="600" kern="1200" dirty="0">
                <a:solidFill>
                  <a:srgbClr val="000000"/>
                </a:solidFill>
                <a:effectLst/>
                <a:latin typeface="Times New Roman" panose="02020603050405020304" pitchFamily="18" charset="0"/>
                <a:ea typeface="楷体" panose="02010609060101010101" pitchFamily="49" charset="-122"/>
                <a:cs typeface="宋体" panose="02010600030101010101" pitchFamily="2" charset="-122"/>
              </a:rPr>
              <a:t>    	return;                            	//</a:t>
            </a:r>
            <a:r>
              <a:rPr lang="zh-CN" altLang="zh-CN" sz="600" kern="1200" dirty="0">
                <a:solidFill>
                  <a:srgbClr val="000000"/>
                </a:solidFill>
                <a:effectLst/>
                <a:latin typeface="宋体" panose="02010600030101010101" pitchFamily="2" charset="-122"/>
                <a:ea typeface="宋体" panose="02010600030101010101" pitchFamily="2" charset="-122"/>
                <a:cs typeface="宋体" panose="02010600030101010101" pitchFamily="2" charset="-122"/>
              </a:rPr>
              <a:t>⑦</a:t>
            </a:r>
            <a:endParaRPr lang="zh-CN" altLang="zh-CN" sz="600" dirty="0">
              <a:effectLst/>
              <a:latin typeface="宋体" panose="02010600030101010101" pitchFamily="2" charset="-122"/>
              <a:ea typeface="宋体" panose="02010600030101010101" pitchFamily="2" charset="-122"/>
              <a:cs typeface="宋体" panose="02010600030101010101" pitchFamily="2" charset="-122"/>
            </a:endParaRPr>
          </a:p>
          <a:p>
            <a:pPr marL="347345" indent="-347345" algn="just"/>
            <a:r>
              <a:rPr lang="en-US" altLang="zh-CN" sz="600" kern="1200" dirty="0">
                <a:solidFill>
                  <a:srgbClr val="000000"/>
                </a:solidFill>
                <a:effectLst/>
                <a:latin typeface="Times New Roman" panose="02020603050405020304" pitchFamily="18" charset="0"/>
                <a:ea typeface="楷体" panose="02010609060101010101" pitchFamily="49" charset="-122"/>
                <a:cs typeface="宋体" panose="02010600030101010101" pitchFamily="2" charset="-122"/>
              </a:rPr>
              <a:t>} </a:t>
            </a:r>
            <a:endParaRPr lang="zh-CN" altLang="zh-CN" sz="600" dirty="0">
              <a:effectLst/>
              <a:latin typeface="宋体" panose="02010600030101010101" pitchFamily="2" charset="-122"/>
              <a:ea typeface="宋体" panose="02010600030101010101" pitchFamily="2" charset="-122"/>
              <a:cs typeface="宋体" panose="02010600030101010101" pitchFamily="2" charset="-122"/>
            </a:endParaRPr>
          </a:p>
          <a:p>
            <a:pPr algn="just"/>
            <a:r>
              <a:rPr lang="en-US" altLang="zh-CN" sz="600" kern="100" dirty="0">
                <a:effectLst/>
                <a:latin typeface="Times New Roman" panose="02020603050405020304" pitchFamily="18" charset="0"/>
                <a:ea typeface="楷体" panose="02010609060101010101" pitchFamily="49" charset="-122"/>
                <a:cs typeface="Times New Roman" panose="02020603050405020304" pitchFamily="18" charset="0"/>
              </a:rPr>
              <a:t>void Hanoi::Move(int n, char s, char t){   </a:t>
            </a:r>
            <a:endParaRPr lang="zh-CN" altLang="zh-CN" sz="6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600" kern="100" dirty="0">
                <a:effectLst/>
                <a:latin typeface="Times New Roman" panose="02020603050405020304" pitchFamily="18" charset="0"/>
                <a:ea typeface="楷体" panose="02010609060101010101" pitchFamily="49" charset="-122"/>
                <a:cs typeface="Times New Roman" panose="02020603050405020304" pitchFamily="18" charset="0"/>
              </a:rPr>
              <a:t>	</a:t>
            </a:r>
            <a:r>
              <a:rPr lang="en-US" altLang="zh-CN" sz="600" kern="100" dirty="0" err="1">
                <a:effectLst/>
                <a:latin typeface="Times New Roman" panose="02020603050405020304" pitchFamily="18" charset="0"/>
                <a:ea typeface="楷体" panose="02010609060101010101" pitchFamily="49" charset="-122"/>
                <a:cs typeface="Times New Roman" panose="02020603050405020304" pitchFamily="18" charset="0"/>
              </a:rPr>
              <a:t>cout</a:t>
            </a:r>
            <a:r>
              <a:rPr lang="en-US" altLang="zh-CN" sz="600" kern="100" dirty="0">
                <a:effectLst/>
                <a:latin typeface="Times New Roman" panose="02020603050405020304" pitchFamily="18" charset="0"/>
                <a:ea typeface="楷体" panose="02010609060101010101" pitchFamily="49" charset="-122"/>
                <a:cs typeface="Times New Roman" panose="02020603050405020304" pitchFamily="18" charset="0"/>
              </a:rPr>
              <a:t>&lt;&lt;”</a:t>
            </a:r>
            <a:r>
              <a:rPr lang="zh-CN" altLang="zh-CN" sz="600" kern="100" dirty="0">
                <a:effectLst/>
                <a:latin typeface="Times New Roman" panose="02020603050405020304" pitchFamily="18" charset="0"/>
                <a:ea typeface="楷体" panose="02010609060101010101" pitchFamily="49" charset="-122"/>
                <a:cs typeface="Times New Roman" panose="02020603050405020304" pitchFamily="18" charset="0"/>
              </a:rPr>
              <a:t>将圆盘</a:t>
            </a:r>
            <a:r>
              <a:rPr lang="en-US" altLang="zh-CN" sz="600" kern="100" dirty="0">
                <a:effectLst/>
                <a:latin typeface="Times New Roman" panose="02020603050405020304" pitchFamily="18" charset="0"/>
                <a:ea typeface="楷体" panose="02010609060101010101" pitchFamily="49" charset="-122"/>
                <a:cs typeface="Times New Roman" panose="02020603050405020304" pitchFamily="18" charset="0"/>
              </a:rPr>
              <a:t>”&lt;&lt;n&lt;&lt;”</a:t>
            </a:r>
            <a:r>
              <a:rPr lang="zh-CN" altLang="zh-CN" sz="600" kern="100" dirty="0">
                <a:effectLst/>
                <a:latin typeface="Times New Roman" panose="02020603050405020304" pitchFamily="18" charset="0"/>
                <a:ea typeface="楷体" panose="02010609060101010101" pitchFamily="49" charset="-122"/>
                <a:cs typeface="Times New Roman" panose="02020603050405020304" pitchFamily="18" charset="0"/>
              </a:rPr>
              <a:t>从塔座</a:t>
            </a:r>
            <a:r>
              <a:rPr lang="en-US" altLang="zh-CN" sz="600" kern="100" dirty="0">
                <a:effectLst/>
                <a:latin typeface="Times New Roman" panose="02020603050405020304" pitchFamily="18" charset="0"/>
                <a:ea typeface="楷体" panose="02010609060101010101" pitchFamily="49" charset="-122"/>
                <a:cs typeface="Times New Roman" panose="02020603050405020304" pitchFamily="18" charset="0"/>
              </a:rPr>
              <a:t>”&lt;&lt;s&lt;&lt;”</a:t>
            </a:r>
            <a:r>
              <a:rPr lang="zh-CN" altLang="zh-CN" sz="600" kern="100" dirty="0">
                <a:effectLst/>
                <a:latin typeface="Times New Roman" panose="02020603050405020304" pitchFamily="18" charset="0"/>
                <a:ea typeface="楷体" panose="02010609060101010101" pitchFamily="49" charset="-122"/>
                <a:cs typeface="Times New Roman" panose="02020603050405020304" pitchFamily="18" charset="0"/>
              </a:rPr>
              <a:t>移动至塔座</a:t>
            </a:r>
            <a:r>
              <a:rPr lang="en-US" altLang="zh-CN" sz="600" kern="100" dirty="0">
                <a:effectLst/>
                <a:latin typeface="Times New Roman" panose="02020603050405020304" pitchFamily="18" charset="0"/>
                <a:ea typeface="楷体" panose="02010609060101010101" pitchFamily="49" charset="-122"/>
                <a:cs typeface="Times New Roman" panose="02020603050405020304" pitchFamily="18" charset="0"/>
              </a:rPr>
              <a:t>”&lt;&lt;t&lt;&lt;</a:t>
            </a:r>
            <a:r>
              <a:rPr lang="en-US" altLang="zh-CN" sz="600" kern="100" dirty="0" err="1">
                <a:effectLst/>
                <a:latin typeface="Times New Roman" panose="02020603050405020304" pitchFamily="18" charset="0"/>
                <a:ea typeface="楷体" panose="02010609060101010101" pitchFamily="49" charset="-122"/>
                <a:cs typeface="Times New Roman" panose="02020603050405020304" pitchFamily="18" charset="0"/>
              </a:rPr>
              <a:t>endl</a:t>
            </a:r>
            <a:r>
              <a:rPr lang="en-US" altLang="zh-CN" sz="600" kern="100" dirty="0">
                <a:effectLst/>
                <a:latin typeface="Times New Roman" panose="02020603050405020304" pitchFamily="18" charset="0"/>
                <a:ea typeface="楷体" panose="02010609060101010101" pitchFamily="49" charset="-122"/>
                <a:cs typeface="Times New Roman" panose="02020603050405020304" pitchFamily="18" charset="0"/>
              </a:rPr>
              <a:t>;</a:t>
            </a:r>
            <a:endParaRPr lang="zh-CN" altLang="zh-CN" sz="6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600" kern="100" dirty="0">
                <a:effectLst/>
                <a:latin typeface="Times New Roman" panose="02020603050405020304" pitchFamily="18" charset="0"/>
                <a:ea typeface="楷体" panose="02010609060101010101" pitchFamily="49" charset="-122"/>
                <a:cs typeface="Times New Roman" panose="02020603050405020304" pitchFamily="18" charset="0"/>
              </a:rPr>
              <a:t>	return;</a:t>
            </a:r>
            <a:endParaRPr lang="zh-CN" altLang="zh-CN" sz="6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600" kern="100" dirty="0">
                <a:effectLst/>
                <a:latin typeface="Times New Roman" panose="02020603050405020304" pitchFamily="18" charset="0"/>
                <a:ea typeface="楷体" panose="02010609060101010101" pitchFamily="49" charset="-122"/>
                <a:cs typeface="Times New Roman" panose="02020603050405020304" pitchFamily="18" charset="0"/>
              </a:rPr>
              <a:t>}</a:t>
            </a:r>
            <a:endParaRPr lang="zh-CN" altLang="zh-CN" sz="6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600" kern="100" dirty="0">
                <a:effectLst/>
                <a:latin typeface="Times New Roman" panose="02020603050405020304" pitchFamily="18" charset="0"/>
                <a:ea typeface="楷体" panose="02010609060101010101" pitchFamily="49" charset="-122"/>
                <a:cs typeface="Times New Roman" panose="02020603050405020304" pitchFamily="18" charset="0"/>
              </a:rPr>
              <a:t>int main(){</a:t>
            </a:r>
            <a:endParaRPr lang="zh-CN" altLang="zh-CN" sz="6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600" kern="100" dirty="0">
                <a:effectLst/>
                <a:latin typeface="Times New Roman" panose="02020603050405020304" pitchFamily="18" charset="0"/>
                <a:ea typeface="楷体" panose="02010609060101010101" pitchFamily="49" charset="-122"/>
                <a:cs typeface="Times New Roman" panose="02020603050405020304" pitchFamily="18" charset="0"/>
              </a:rPr>
              <a:t>Hanoi h; </a:t>
            </a:r>
            <a:endParaRPr lang="zh-CN" altLang="zh-CN" sz="6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600" kern="100" dirty="0">
                <a:effectLst/>
                <a:latin typeface="Times New Roman" panose="02020603050405020304" pitchFamily="18" charset="0"/>
                <a:ea typeface="楷体" panose="02010609060101010101" pitchFamily="49" charset="-122"/>
                <a:cs typeface="Times New Roman" panose="02020603050405020304" pitchFamily="18" charset="0"/>
              </a:rPr>
              <a:t>int n;</a:t>
            </a:r>
            <a:endParaRPr lang="zh-CN" altLang="zh-CN" sz="6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600" kern="100" dirty="0">
                <a:effectLst/>
                <a:latin typeface="Times New Roman" panose="02020603050405020304" pitchFamily="18" charset="0"/>
                <a:ea typeface="楷体" panose="02010609060101010101" pitchFamily="49" charset="-122"/>
                <a:cs typeface="Times New Roman" panose="02020603050405020304" pitchFamily="18" charset="0"/>
              </a:rPr>
              <a:t>	</a:t>
            </a:r>
            <a:r>
              <a:rPr lang="en-US" altLang="zh-CN" sz="600" kern="100" dirty="0" err="1">
                <a:effectLst/>
                <a:latin typeface="Times New Roman" panose="02020603050405020304" pitchFamily="18" charset="0"/>
                <a:ea typeface="楷体" panose="02010609060101010101" pitchFamily="49" charset="-122"/>
                <a:cs typeface="Times New Roman" panose="02020603050405020304" pitchFamily="18" charset="0"/>
              </a:rPr>
              <a:t>cout</a:t>
            </a:r>
            <a:r>
              <a:rPr lang="en-US" altLang="zh-CN" sz="600" kern="100" dirty="0">
                <a:effectLst/>
                <a:latin typeface="Times New Roman" panose="02020603050405020304" pitchFamily="18" charset="0"/>
                <a:ea typeface="楷体" panose="02010609060101010101" pitchFamily="49" charset="-122"/>
                <a:cs typeface="Times New Roman" panose="02020603050405020304" pitchFamily="18" charset="0"/>
              </a:rPr>
              <a:t>&lt;&lt;"</a:t>
            </a:r>
            <a:r>
              <a:rPr lang="zh-CN" altLang="zh-CN" sz="600" kern="100" dirty="0">
                <a:effectLst/>
                <a:latin typeface="Times New Roman" panose="02020603050405020304" pitchFamily="18" charset="0"/>
                <a:ea typeface="楷体" panose="02010609060101010101" pitchFamily="49" charset="-122"/>
                <a:cs typeface="Times New Roman" panose="02020603050405020304" pitchFamily="18" charset="0"/>
              </a:rPr>
              <a:t>请输入圆盘的个数：</a:t>
            </a:r>
            <a:r>
              <a:rPr lang="en-US" altLang="zh-CN" sz="600" kern="100" dirty="0">
                <a:effectLst/>
                <a:latin typeface="Times New Roman" panose="02020603050405020304" pitchFamily="18" charset="0"/>
                <a:ea typeface="楷体" panose="02010609060101010101" pitchFamily="49" charset="-122"/>
                <a:cs typeface="Times New Roman" panose="02020603050405020304" pitchFamily="18" charset="0"/>
              </a:rPr>
              <a:t>";</a:t>
            </a:r>
            <a:endParaRPr lang="zh-CN" altLang="zh-CN" sz="6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600" kern="100" dirty="0">
                <a:effectLst/>
                <a:latin typeface="Times New Roman" panose="02020603050405020304" pitchFamily="18" charset="0"/>
                <a:ea typeface="楷体" panose="02010609060101010101" pitchFamily="49" charset="-122"/>
                <a:cs typeface="Times New Roman" panose="02020603050405020304" pitchFamily="18" charset="0"/>
              </a:rPr>
              <a:t>	</a:t>
            </a:r>
            <a:r>
              <a:rPr lang="en-US" altLang="zh-CN" sz="600" kern="100" dirty="0" err="1">
                <a:effectLst/>
                <a:latin typeface="Times New Roman" panose="02020603050405020304" pitchFamily="18" charset="0"/>
                <a:ea typeface="楷体" panose="02010609060101010101" pitchFamily="49" charset="-122"/>
                <a:cs typeface="Times New Roman" panose="02020603050405020304" pitchFamily="18" charset="0"/>
              </a:rPr>
              <a:t>cin</a:t>
            </a:r>
            <a:r>
              <a:rPr lang="en-US" altLang="zh-CN" sz="600" kern="100" dirty="0">
                <a:effectLst/>
                <a:latin typeface="Times New Roman" panose="02020603050405020304" pitchFamily="18" charset="0"/>
                <a:ea typeface="楷体" panose="02010609060101010101" pitchFamily="49" charset="-122"/>
                <a:cs typeface="Times New Roman" panose="02020603050405020304" pitchFamily="18" charset="0"/>
              </a:rPr>
              <a:t>&gt;&gt;n;</a:t>
            </a:r>
            <a:endParaRPr lang="zh-CN" altLang="zh-CN" sz="6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600" kern="100" dirty="0">
                <a:effectLst/>
                <a:latin typeface="Times New Roman" panose="02020603050405020304" pitchFamily="18" charset="0"/>
                <a:ea typeface="楷体" panose="02010609060101010101" pitchFamily="49" charset="-122"/>
                <a:cs typeface="Times New Roman" panose="02020603050405020304" pitchFamily="18" charset="0"/>
              </a:rPr>
              <a:t>	</a:t>
            </a:r>
            <a:r>
              <a:rPr lang="en-US" altLang="zh-CN" sz="600" kern="100" dirty="0" err="1">
                <a:effectLst/>
                <a:latin typeface="Times New Roman" panose="02020603050405020304" pitchFamily="18" charset="0"/>
                <a:ea typeface="楷体" panose="02010609060101010101" pitchFamily="49" charset="-122"/>
                <a:cs typeface="Times New Roman" panose="02020603050405020304" pitchFamily="18" charset="0"/>
              </a:rPr>
              <a:t>h.HanoiTowers</a:t>
            </a:r>
            <a:r>
              <a:rPr lang="en-US" altLang="zh-CN" sz="600" kern="100" dirty="0">
                <a:effectLst/>
                <a:latin typeface="Times New Roman" panose="02020603050405020304" pitchFamily="18" charset="0"/>
                <a:ea typeface="楷体" panose="02010609060101010101" pitchFamily="49" charset="-122"/>
                <a:cs typeface="Times New Roman" panose="02020603050405020304" pitchFamily="18" charset="0"/>
              </a:rPr>
              <a:t>(n, ’A’, ’B’, ‘C’);     //</a:t>
            </a:r>
            <a:r>
              <a:rPr lang="zh-CN" altLang="zh-CN" sz="600" kern="100" dirty="0">
                <a:effectLst/>
                <a:latin typeface="等线" panose="02010600030101010101" pitchFamily="2" charset="-122"/>
                <a:ea typeface="宋体" panose="02010600030101010101" pitchFamily="2" charset="-122"/>
                <a:cs typeface="宋体" panose="02010600030101010101" pitchFamily="2" charset="-122"/>
              </a:rPr>
              <a:t>⑧</a:t>
            </a:r>
            <a:endParaRPr lang="zh-CN" altLang="zh-CN" sz="6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600" kern="100" dirty="0">
                <a:effectLst/>
                <a:latin typeface="Times New Roman" panose="02020603050405020304" pitchFamily="18" charset="0"/>
                <a:ea typeface="楷体" panose="02010609060101010101" pitchFamily="49" charset="-122"/>
                <a:cs typeface="Times New Roman" panose="02020603050405020304" pitchFamily="18" charset="0"/>
              </a:rPr>
              <a:t>	return 0;                        	         //</a:t>
            </a:r>
            <a:r>
              <a:rPr lang="zh-CN" altLang="zh-CN" sz="600" kern="100" dirty="0">
                <a:effectLst/>
                <a:latin typeface="等线" panose="02010600030101010101" pitchFamily="2" charset="-122"/>
                <a:ea typeface="宋体" panose="02010600030101010101" pitchFamily="2" charset="-122"/>
                <a:cs typeface="宋体" panose="02010600030101010101" pitchFamily="2" charset="-122"/>
              </a:rPr>
              <a:t>⑨</a:t>
            </a:r>
            <a:endParaRPr lang="zh-CN" altLang="zh-CN" sz="6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600" kern="100" dirty="0">
                <a:effectLst/>
                <a:latin typeface="Times New Roman" panose="02020603050405020304" pitchFamily="18" charset="0"/>
                <a:ea typeface="楷体" panose="02010609060101010101" pitchFamily="49" charset="-122"/>
                <a:cs typeface="Times New Roman" panose="02020603050405020304" pitchFamily="18" charset="0"/>
              </a:rPr>
              <a:t>}</a:t>
            </a:r>
            <a:endParaRPr lang="zh-CN" altLang="zh-CN" sz="6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7" name="文本框 6">
            <a:extLst>
              <a:ext uri="{FF2B5EF4-FFF2-40B4-BE49-F238E27FC236}">
                <a16:creationId xmlns:a16="http://schemas.microsoft.com/office/drawing/2014/main" id="{CC2125A2-BD48-4F9B-B49A-AEC5CD1B4D55}"/>
              </a:ext>
            </a:extLst>
          </p:cNvPr>
          <p:cNvSpPr txBox="1"/>
          <p:nvPr/>
        </p:nvSpPr>
        <p:spPr>
          <a:xfrm>
            <a:off x="35495" y="908720"/>
            <a:ext cx="2924491" cy="2296526"/>
          </a:xfrm>
          <a:prstGeom prst="rect">
            <a:avLst/>
          </a:prstGeom>
          <a:noFill/>
        </p:spPr>
        <p:txBody>
          <a:bodyPr wrap="square">
            <a:spAutoFit/>
          </a:bodyPr>
          <a:lstStyle/>
          <a:p>
            <a:pPr indent="266700" algn="just">
              <a:lnSpc>
                <a:spcPct val="120000"/>
              </a:lnSpc>
            </a:pPr>
            <a:r>
              <a:rPr lang="zh-CN" altLang="zh-CN" sz="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在利用递归方式解决汉诺塔问题的过程中，函数</a:t>
            </a:r>
            <a:r>
              <a:rPr lang="en-US" altLang="zh-CN" sz="800"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HanoiTowers</a:t>
            </a:r>
            <a:r>
              <a:rPr lang="en-US" altLang="zh-CN" sz="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(int n, char a, char b, char c)</a:t>
            </a:r>
            <a:r>
              <a:rPr lang="zh-CN" altLang="zh-CN" sz="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主要控制递归过程。为了便于说明算法的执行过程，对算法中的几个特殊语句进行编号，见程序代码。现在以</a:t>
            </a:r>
            <a:r>
              <a:rPr lang="en-US" altLang="zh-CN" sz="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 = 3</a:t>
            </a:r>
            <a:r>
              <a:rPr lang="zh-CN" altLang="zh-CN" sz="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讨论递归函数的调用过程以及递归栈的变化过程，该函数的递归工作栈的工作记录表示为（</a:t>
            </a:r>
            <a:r>
              <a:rPr lang="zh-CN" altLang="zh-CN" sz="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返回地址</a:t>
            </a:r>
            <a:r>
              <a:rPr lang="zh-CN" altLang="zh-CN" sz="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a:t>
            </a:r>
            <a:r>
              <a:rPr lang="zh-CN" altLang="zh-CN" sz="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值，</a:t>
            </a:r>
            <a:r>
              <a:rPr lang="en-US" altLang="zh-CN" sz="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a:t>
            </a:r>
            <a:r>
              <a:rPr lang="zh-CN" altLang="zh-CN" sz="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值，</a:t>
            </a:r>
            <a:r>
              <a:rPr lang="en-US" altLang="zh-CN" sz="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b</a:t>
            </a:r>
            <a:r>
              <a:rPr lang="zh-CN" altLang="zh-CN" sz="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值，</a:t>
            </a:r>
            <a:r>
              <a:rPr lang="en-US" altLang="zh-CN" sz="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c</a:t>
            </a:r>
            <a:r>
              <a:rPr lang="zh-CN" altLang="zh-CN" sz="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值）。</a:t>
            </a:r>
            <a:endParaRPr lang="zh-CN" altLang="zh-CN" sz="800" kern="100" dirty="0">
              <a:effectLst/>
              <a:latin typeface="Calibri" panose="020F0502020204030204" pitchFamily="34" charset="0"/>
              <a:ea typeface="宋体" panose="02010600030101010101" pitchFamily="2" charset="-122"/>
              <a:cs typeface="Times New Roman" panose="02020603050405020304" pitchFamily="18" charset="0"/>
            </a:endParaRPr>
          </a:p>
          <a:p>
            <a:pPr indent="266700" algn="just">
              <a:lnSpc>
                <a:spcPct val="120000"/>
              </a:lnSpc>
            </a:pPr>
            <a:r>
              <a:rPr lang="zh-CN" altLang="zh-CN" sz="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在主函数运行到语句</a:t>
            </a:r>
            <a:r>
              <a:rPr lang="zh-CN" altLang="zh-CN" sz="800" kern="100" dirty="0">
                <a:solidFill>
                  <a:srgbClr val="000000"/>
                </a:solidFill>
                <a:effectLst/>
                <a:latin typeface="Calibri" panose="020F0502020204030204" pitchFamily="34" charset="0"/>
                <a:ea typeface="宋体" panose="02010600030101010101" pitchFamily="2" charset="-122"/>
                <a:cs typeface="宋体" panose="02010600030101010101" pitchFamily="2" charset="-122"/>
              </a:rPr>
              <a:t>⑧</a:t>
            </a:r>
            <a:r>
              <a:rPr lang="zh-CN" altLang="zh-CN" sz="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时，开始调用递归函数</a:t>
            </a:r>
            <a:r>
              <a:rPr lang="en-US" altLang="zh-CN" sz="800"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HanoiTowers</a:t>
            </a:r>
            <a:r>
              <a:rPr lang="en-US" altLang="zh-CN" sz="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 ‘A’, ‘B’, ‘C’)</a:t>
            </a:r>
            <a:r>
              <a:rPr lang="zh-CN" altLang="zh-CN" sz="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，进入第一层递归，并将工作记录</a:t>
            </a:r>
            <a:r>
              <a:rPr lang="en-US" altLang="zh-CN" sz="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800" kern="100" dirty="0">
                <a:solidFill>
                  <a:srgbClr val="000000"/>
                </a:solidFill>
                <a:effectLst/>
                <a:latin typeface="Calibri" panose="020F0502020204030204" pitchFamily="34" charset="0"/>
                <a:ea typeface="宋体" panose="02010600030101010101" pitchFamily="2" charset="-122"/>
                <a:cs typeface="宋体" panose="02010600030101010101" pitchFamily="2" charset="-122"/>
              </a:rPr>
              <a:t>⑨</a:t>
            </a:r>
            <a:r>
              <a:rPr lang="en-US" altLang="zh-CN" sz="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3, ’A’, ‘B’, ‘C’)</a:t>
            </a:r>
            <a:r>
              <a:rPr lang="zh-CN" altLang="zh-CN" sz="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压入递归工作栈。在执行递归函数</a:t>
            </a:r>
            <a:r>
              <a:rPr lang="en-US" altLang="zh-CN" sz="800"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HanoiTowers</a:t>
            </a:r>
            <a:r>
              <a:rPr lang="zh-CN" altLang="zh-CN" sz="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过程中，每当执行到语句</a:t>
            </a:r>
            <a:r>
              <a:rPr lang="zh-CN" altLang="zh-CN" sz="800" kern="100" dirty="0">
                <a:solidFill>
                  <a:srgbClr val="000000"/>
                </a:solidFill>
                <a:effectLst/>
                <a:latin typeface="Calibri" panose="020F0502020204030204" pitchFamily="34" charset="0"/>
                <a:ea typeface="宋体" panose="02010600030101010101" pitchFamily="2" charset="-122"/>
                <a:cs typeface="宋体" panose="02010600030101010101" pitchFamily="2" charset="-122"/>
              </a:rPr>
              <a:t>③</a:t>
            </a:r>
            <a:r>
              <a:rPr lang="zh-CN" altLang="zh-CN" sz="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时和语句</a:t>
            </a:r>
            <a:r>
              <a:rPr lang="zh-CN" altLang="zh-CN" sz="800" kern="100" dirty="0">
                <a:solidFill>
                  <a:srgbClr val="000000"/>
                </a:solidFill>
                <a:effectLst/>
                <a:latin typeface="Calibri" panose="020F0502020204030204" pitchFamily="34" charset="0"/>
                <a:ea typeface="宋体" panose="02010600030101010101" pitchFamily="2" charset="-122"/>
                <a:cs typeface="宋体" panose="02010600030101010101" pitchFamily="2" charset="-122"/>
              </a:rPr>
              <a:t>⑤</a:t>
            </a:r>
            <a:r>
              <a:rPr lang="zh-CN" altLang="zh-CN" sz="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时，递归调用</a:t>
            </a:r>
            <a:r>
              <a:rPr lang="en-US" altLang="zh-CN" sz="800"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HanoiTowers</a:t>
            </a:r>
            <a:r>
              <a:rPr lang="zh-CN" altLang="zh-CN" sz="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进入下一层递归，并将相应的工作记录压入递归工作栈；当递归函数</a:t>
            </a:r>
            <a:r>
              <a:rPr lang="en-US" altLang="zh-CN" sz="800"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HanoiTowers</a:t>
            </a:r>
            <a:r>
              <a:rPr lang="zh-CN" altLang="zh-CN" sz="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执行结束时，将栈顶工作记录出栈，并根据工作记录中的返回地址转到相应的语句，退回至上一层递归继续执行，直到程序整体执行完成。状态栈的变化过程</a:t>
            </a:r>
            <a:r>
              <a:rPr lang="zh-CN" altLang="en-US" sz="800"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右</a:t>
            </a:r>
            <a:r>
              <a:rPr lang="zh-CN" altLang="zh-CN" sz="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图。</a:t>
            </a:r>
            <a:endParaRPr lang="zh-CN" altLang="zh-CN" sz="800" kern="100" dirty="0">
              <a:effectLst/>
              <a:latin typeface="Calibri" panose="020F0502020204030204" pitchFamily="34"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5568925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en-US" altLang="zh-CN" b="1" dirty="0"/>
              <a:t>3.4 </a:t>
            </a:r>
            <a:r>
              <a:rPr lang="zh-CN" altLang="zh-CN" b="1" dirty="0">
                <a:solidFill>
                  <a:srgbClr val="FF0000"/>
                </a:solidFill>
              </a:rPr>
              <a:t>操作受限线性表</a:t>
            </a:r>
            <a:r>
              <a:rPr lang="en-US" altLang="zh-CN" b="1" dirty="0">
                <a:solidFill>
                  <a:srgbClr val="FF0000"/>
                </a:solidFill>
              </a:rPr>
              <a:t>---</a:t>
            </a:r>
            <a:r>
              <a:rPr lang="zh-CN" altLang="zh-CN" b="1" dirty="0">
                <a:solidFill>
                  <a:srgbClr val="FF0000"/>
                </a:solidFill>
              </a:rPr>
              <a:t>队列</a:t>
            </a:r>
            <a:endParaRPr lang="zh-CN" altLang="en-US" dirty="0">
              <a:solidFill>
                <a:srgbClr val="FF0000"/>
              </a:solidFill>
            </a:endParaRPr>
          </a:p>
        </p:txBody>
      </p:sp>
      <p:sp>
        <p:nvSpPr>
          <p:cNvPr id="3" name="内容占位符 2"/>
          <p:cNvSpPr>
            <a:spLocks noGrp="1"/>
          </p:cNvSpPr>
          <p:nvPr>
            <p:ph idx="1"/>
          </p:nvPr>
        </p:nvSpPr>
        <p:spPr>
          <a:xfrm>
            <a:off x="827584" y="1484784"/>
            <a:ext cx="7704856" cy="3816424"/>
          </a:xfrm>
        </p:spPr>
        <p:txBody>
          <a:bodyPr>
            <a:normAutofit/>
          </a:bodyPr>
          <a:lstStyle/>
          <a:p>
            <a:pPr algn="just">
              <a:buFont typeface="Arial" panose="020B0604020202020204" pitchFamily="34" charset="0"/>
              <a:buChar char="•"/>
            </a:pPr>
            <a:r>
              <a:rPr lang="zh-CN" altLang="zh-CN" b="0" dirty="0"/>
              <a:t>队列是限定只能在一端进行插入操作而在另一端进行删除操作的线性表。</a:t>
            </a:r>
            <a:endParaRPr lang="en-US" altLang="zh-CN" b="0" dirty="0"/>
          </a:p>
          <a:p>
            <a:pPr algn="just">
              <a:buFont typeface="Arial" panose="020B0604020202020204" pitchFamily="34" charset="0"/>
              <a:buChar char="•"/>
            </a:pPr>
            <a:r>
              <a:rPr lang="zh-CN" altLang="zh-CN" b="0" dirty="0"/>
              <a:t>可以进行插入操作的一端称为</a:t>
            </a:r>
            <a:r>
              <a:rPr lang="zh-CN" altLang="zh-CN" b="0" dirty="0">
                <a:solidFill>
                  <a:srgbClr val="FF0000"/>
                </a:solidFill>
              </a:rPr>
              <a:t>队列尾</a:t>
            </a:r>
            <a:r>
              <a:rPr lang="zh-CN" altLang="zh-CN" b="0" dirty="0"/>
              <a:t>（</a:t>
            </a:r>
            <a:r>
              <a:rPr lang="en-US" altLang="zh-CN" b="0" dirty="0"/>
              <a:t>rear</a:t>
            </a:r>
            <a:r>
              <a:rPr lang="zh-CN" altLang="zh-CN" b="0" dirty="0"/>
              <a:t>）</a:t>
            </a:r>
            <a:endParaRPr lang="en-US" altLang="zh-CN" b="0" dirty="0"/>
          </a:p>
          <a:p>
            <a:pPr algn="just">
              <a:buFont typeface="Arial" panose="020B0604020202020204" pitchFamily="34" charset="0"/>
              <a:buChar char="•"/>
            </a:pPr>
            <a:r>
              <a:rPr lang="zh-CN" altLang="zh-CN" b="0" dirty="0"/>
              <a:t>可以进行删除操作的一端称为</a:t>
            </a:r>
            <a:r>
              <a:rPr lang="zh-CN" altLang="zh-CN" b="0" dirty="0">
                <a:solidFill>
                  <a:srgbClr val="FF0000"/>
                </a:solidFill>
              </a:rPr>
              <a:t>队列头</a:t>
            </a:r>
            <a:r>
              <a:rPr lang="zh-CN" altLang="zh-CN" b="0" dirty="0"/>
              <a:t>（</a:t>
            </a:r>
            <a:r>
              <a:rPr lang="en-US" altLang="zh-CN" b="0" dirty="0"/>
              <a:t>front</a:t>
            </a:r>
            <a:r>
              <a:rPr lang="zh-CN" altLang="zh-CN" b="0" dirty="0"/>
              <a:t>）</a:t>
            </a:r>
            <a:endParaRPr lang="en-US" altLang="zh-CN" b="0" dirty="0"/>
          </a:p>
          <a:p>
            <a:pPr algn="just">
              <a:buFont typeface="Arial" panose="020B0604020202020204" pitchFamily="34" charset="0"/>
              <a:buChar char="•"/>
            </a:pPr>
            <a:r>
              <a:rPr lang="zh-CN" altLang="zh-CN" b="0" dirty="0"/>
              <a:t>插入操作又称为</a:t>
            </a:r>
            <a:r>
              <a:rPr lang="zh-CN" altLang="zh-CN" b="0" dirty="0">
                <a:solidFill>
                  <a:srgbClr val="FF0000"/>
                </a:solidFill>
              </a:rPr>
              <a:t>入队列操作</a:t>
            </a:r>
            <a:endParaRPr lang="en-US" altLang="zh-CN" b="0" dirty="0"/>
          </a:p>
          <a:p>
            <a:pPr algn="just">
              <a:buFont typeface="Arial" panose="020B0604020202020204" pitchFamily="34" charset="0"/>
              <a:buChar char="•"/>
            </a:pPr>
            <a:r>
              <a:rPr lang="zh-CN" altLang="zh-CN" b="0" dirty="0"/>
              <a:t>删除操作又称为</a:t>
            </a:r>
            <a:r>
              <a:rPr lang="zh-CN" altLang="zh-CN" b="0" dirty="0">
                <a:solidFill>
                  <a:srgbClr val="FF0000"/>
                </a:solidFill>
              </a:rPr>
              <a:t>出队列操作</a:t>
            </a:r>
            <a:endParaRPr lang="en-US" altLang="zh-CN" b="0" dirty="0"/>
          </a:p>
          <a:p>
            <a:pPr algn="just">
              <a:buFont typeface="Arial" panose="020B0604020202020204" pitchFamily="34" charset="0"/>
              <a:buChar char="•"/>
            </a:pPr>
            <a:r>
              <a:rPr lang="zh-CN" altLang="en-US" b="0" dirty="0"/>
              <a:t>队列性质：“</a:t>
            </a:r>
            <a:r>
              <a:rPr lang="zh-CN" altLang="en-US" dirty="0">
                <a:solidFill>
                  <a:srgbClr val="FF0000"/>
                </a:solidFill>
              </a:rPr>
              <a:t>先进先出</a:t>
            </a:r>
            <a:r>
              <a:rPr lang="zh-CN" altLang="en-US" b="0" dirty="0"/>
              <a:t>”</a:t>
            </a:r>
            <a:r>
              <a:rPr lang="en-US" altLang="zh-CN" b="0" dirty="0">
                <a:solidFill>
                  <a:srgbClr val="FF0000"/>
                </a:solidFill>
              </a:rPr>
              <a:t>FIFO</a:t>
            </a:r>
            <a:r>
              <a:rPr lang="en-US" altLang="zh-CN" b="0" dirty="0"/>
              <a:t>(First In First Out)</a:t>
            </a:r>
            <a:endParaRPr lang="zh-CN" altLang="en-US" b="0" dirty="0"/>
          </a:p>
        </p:txBody>
      </p:sp>
      <p:sp>
        <p:nvSpPr>
          <p:cNvPr id="7475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74753" name="Object 1"/>
          <p:cNvGraphicFramePr>
            <a:graphicFrameLocks noChangeAspect="1"/>
          </p:cNvGraphicFramePr>
          <p:nvPr/>
        </p:nvGraphicFramePr>
        <p:xfrm>
          <a:off x="1500165" y="5301208"/>
          <a:ext cx="6830395" cy="928694"/>
        </p:xfrm>
        <a:graphic>
          <a:graphicData uri="http://schemas.openxmlformats.org/presentationml/2006/ole">
            <mc:AlternateContent xmlns:mc="http://schemas.openxmlformats.org/markup-compatibility/2006">
              <mc:Choice xmlns:v="urn:schemas-microsoft-com:vml" Requires="v">
                <p:oleObj spid="_x0000_s2123" r:id="rId3" imgW="4042923" imgH="508689" progId="">
                  <p:embed/>
                </p:oleObj>
              </mc:Choice>
              <mc:Fallback>
                <p:oleObj r:id="rId3" imgW="4042923" imgH="508689" progId="">
                  <p:embed/>
                  <p:pic>
                    <p:nvPicPr>
                      <p:cNvPr id="0"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0165" y="5301208"/>
                        <a:ext cx="6830395" cy="92869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17816446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928670"/>
            <a:ext cx="8568952" cy="5452658"/>
          </a:xfrm>
          <a:ln>
            <a:noFill/>
            <a:prstDash val="dash"/>
          </a:ln>
        </p:spPr>
        <p:txBody>
          <a:bodyPr>
            <a:noAutofit/>
          </a:bodyPr>
          <a:lstStyle/>
          <a:p>
            <a:pPr algn="just">
              <a:spcBef>
                <a:spcPts val="0"/>
              </a:spcBef>
            </a:pPr>
            <a:r>
              <a:rPr lang="zh-CN" altLang="zh-CN" sz="1800" dirty="0"/>
              <a:t>算法</a:t>
            </a:r>
            <a:r>
              <a:rPr lang="en-US" altLang="zh-CN" sz="1800" dirty="0"/>
              <a:t>3.16</a:t>
            </a:r>
            <a:r>
              <a:rPr lang="zh-CN" altLang="zh-CN" sz="1800" dirty="0"/>
              <a:t>：</a:t>
            </a:r>
            <a:r>
              <a:rPr lang="zh-CN" altLang="zh-CN" sz="1800" dirty="0">
                <a:solidFill>
                  <a:srgbClr val="FF0000"/>
                </a:solidFill>
              </a:rPr>
              <a:t>队列的抽象数据类型</a:t>
            </a:r>
            <a:r>
              <a:rPr lang="zh-CN" altLang="zh-CN" sz="1800" dirty="0"/>
              <a:t>定义</a:t>
            </a:r>
          </a:p>
          <a:p>
            <a:pPr algn="just">
              <a:spcBef>
                <a:spcPts val="0"/>
              </a:spcBef>
            </a:pPr>
            <a:r>
              <a:rPr lang="en-US" altLang="zh-CN" sz="1800" b="0" dirty="0"/>
              <a:t>ADT </a:t>
            </a:r>
            <a:r>
              <a:rPr lang="en-US" altLang="zh-CN" sz="1800" b="0" dirty="0" err="1"/>
              <a:t>Quene</a:t>
            </a:r>
            <a:r>
              <a:rPr lang="en-US" altLang="zh-CN" sz="1800" b="0" dirty="0"/>
              <a:t>{</a:t>
            </a:r>
            <a:endParaRPr lang="zh-CN" altLang="zh-CN" sz="1800" b="0" dirty="0"/>
          </a:p>
          <a:p>
            <a:pPr algn="just">
              <a:spcBef>
                <a:spcPts val="0"/>
              </a:spcBef>
            </a:pPr>
            <a:r>
              <a:rPr lang="zh-CN" altLang="zh-CN" sz="1800" b="0" dirty="0"/>
              <a:t>数据对象：</a:t>
            </a:r>
            <a:r>
              <a:rPr lang="en-US" altLang="zh-CN" sz="1800" b="0" dirty="0"/>
              <a:t>D={ </a:t>
            </a:r>
            <a:r>
              <a:rPr lang="en-US" altLang="zh-CN" sz="1800" b="0" dirty="0" err="1"/>
              <a:t>a</a:t>
            </a:r>
            <a:r>
              <a:rPr lang="en-US" altLang="zh-CN" sz="1800" b="0" baseline="-25000" dirty="0" err="1"/>
              <a:t>i</a:t>
            </a:r>
            <a:r>
              <a:rPr lang="en-US" altLang="zh-CN" sz="1800" b="0" baseline="-25000" dirty="0"/>
              <a:t> </a:t>
            </a:r>
            <a:r>
              <a:rPr lang="en-US" altLang="zh-CN" sz="1800" b="0" dirty="0"/>
              <a:t>| </a:t>
            </a:r>
            <a:r>
              <a:rPr lang="en-US" altLang="zh-CN" sz="1800" b="0" dirty="0" err="1"/>
              <a:t>a</a:t>
            </a:r>
            <a:r>
              <a:rPr lang="en-US" altLang="zh-CN" sz="1800" b="0" baseline="-25000" dirty="0" err="1"/>
              <a:t>i</a:t>
            </a:r>
            <a:r>
              <a:rPr lang="en-US" altLang="zh-CN" sz="1800" b="0" dirty="0"/>
              <a:t> </a:t>
            </a:r>
            <a:r>
              <a:rPr lang="zh-CN" altLang="zh-CN" sz="1800" b="0" dirty="0"/>
              <a:t>∈</a:t>
            </a:r>
            <a:r>
              <a:rPr lang="en-US" altLang="zh-CN" sz="1800" b="0" dirty="0" err="1"/>
              <a:t>ElemSet,i</a:t>
            </a:r>
            <a:r>
              <a:rPr lang="en-US" altLang="zh-CN" sz="1800" b="0" dirty="0"/>
              <a:t>=1,2,3,…,n, n≥0}</a:t>
            </a:r>
            <a:endParaRPr lang="zh-CN" altLang="zh-CN" sz="1800" b="0" dirty="0"/>
          </a:p>
          <a:p>
            <a:pPr algn="just">
              <a:spcBef>
                <a:spcPts val="0"/>
              </a:spcBef>
            </a:pPr>
            <a:r>
              <a:rPr lang="zh-CN" altLang="zh-CN" sz="1800" b="0" dirty="0"/>
              <a:t>数据关系：</a:t>
            </a:r>
            <a:r>
              <a:rPr lang="en-US" altLang="zh-CN" sz="1800" b="0" dirty="0"/>
              <a:t>R={ &lt;a</a:t>
            </a:r>
            <a:r>
              <a:rPr lang="en-US" altLang="zh-CN" sz="1800" b="0" baseline="-25000" dirty="0"/>
              <a:t>i-1</a:t>
            </a:r>
            <a:r>
              <a:rPr lang="en-US" altLang="zh-CN" sz="1800" b="0" dirty="0"/>
              <a:t>,a</a:t>
            </a:r>
            <a:r>
              <a:rPr lang="en-US" altLang="zh-CN" sz="1800" b="0" baseline="-25000" dirty="0"/>
              <a:t>i</a:t>
            </a:r>
            <a:r>
              <a:rPr lang="en-US" altLang="zh-CN" sz="1800" b="0" dirty="0"/>
              <a:t>,&gt; | a</a:t>
            </a:r>
            <a:r>
              <a:rPr lang="en-US" altLang="zh-CN" sz="1800" b="0" baseline="-25000" dirty="0"/>
              <a:t>i-1</a:t>
            </a:r>
            <a:r>
              <a:rPr lang="en-US" altLang="zh-CN" sz="1800" b="0" dirty="0"/>
              <a:t>,a</a:t>
            </a:r>
            <a:r>
              <a:rPr lang="en-US" altLang="zh-CN" sz="1800" b="0" baseline="-25000" dirty="0"/>
              <a:t>i</a:t>
            </a:r>
            <a:r>
              <a:rPr lang="zh-CN" altLang="zh-CN" sz="1800" b="0" dirty="0"/>
              <a:t>∈</a:t>
            </a:r>
            <a:r>
              <a:rPr lang="en-US" altLang="zh-CN" sz="1800" b="0" dirty="0" err="1"/>
              <a:t>D,i</a:t>
            </a:r>
            <a:r>
              <a:rPr lang="en-US" altLang="zh-CN" sz="1800" b="0" dirty="0"/>
              <a:t>=2,3,…,n}     //a</a:t>
            </a:r>
            <a:r>
              <a:rPr lang="en-US" altLang="zh-CN" sz="1800" b="0" baseline="-25000" dirty="0"/>
              <a:t>1</a:t>
            </a:r>
            <a:r>
              <a:rPr lang="zh-CN" altLang="zh-CN" sz="1800" b="0" dirty="0"/>
              <a:t>为队列头元素，</a:t>
            </a:r>
            <a:r>
              <a:rPr lang="en-US" altLang="zh-CN" sz="1800" b="0" dirty="0"/>
              <a:t>a</a:t>
            </a:r>
            <a:r>
              <a:rPr lang="en-US" altLang="zh-CN" sz="1800" b="0" baseline="-25000" dirty="0"/>
              <a:t>n</a:t>
            </a:r>
            <a:r>
              <a:rPr lang="zh-CN" altLang="zh-CN" sz="1800" b="0" dirty="0"/>
              <a:t>为队列尾元素</a:t>
            </a:r>
          </a:p>
          <a:p>
            <a:pPr algn="just">
              <a:spcBef>
                <a:spcPts val="0"/>
              </a:spcBef>
            </a:pPr>
            <a:r>
              <a:rPr lang="zh-CN" altLang="zh-CN" sz="1800" b="0" dirty="0"/>
              <a:t>基本操作：</a:t>
            </a:r>
          </a:p>
          <a:p>
            <a:pPr algn="just">
              <a:spcBef>
                <a:spcPts val="0"/>
              </a:spcBef>
            </a:pPr>
            <a:r>
              <a:rPr lang="en-US" altLang="zh-CN" sz="1800" b="0" dirty="0"/>
              <a:t>QueueInit( &amp;Q );    //</a:t>
            </a:r>
            <a:r>
              <a:rPr lang="zh-CN" altLang="zh-CN" sz="1800" b="0" dirty="0"/>
              <a:t>构造一个空队列</a:t>
            </a:r>
            <a:r>
              <a:rPr lang="en-US" altLang="zh-CN" sz="1800" b="0" dirty="0"/>
              <a:t>Q</a:t>
            </a:r>
            <a:endParaRPr lang="zh-CN" altLang="zh-CN" sz="1800" b="0" dirty="0"/>
          </a:p>
          <a:p>
            <a:pPr algn="just">
              <a:spcBef>
                <a:spcPts val="0"/>
              </a:spcBef>
            </a:pPr>
            <a:r>
              <a:rPr lang="en-US" altLang="zh-CN" sz="1800" b="0" dirty="0"/>
              <a:t>IsEmpty( Q );         	//</a:t>
            </a:r>
            <a:r>
              <a:rPr lang="zh-CN" altLang="zh-CN" sz="1800" b="0" dirty="0"/>
              <a:t>判断队列</a:t>
            </a:r>
            <a:r>
              <a:rPr lang="en-US" altLang="zh-CN" sz="1800" b="0" dirty="0"/>
              <a:t>Q</a:t>
            </a:r>
            <a:r>
              <a:rPr lang="zh-CN" altLang="zh-CN" sz="1800" b="0" dirty="0"/>
              <a:t>是否为空队列，若是，则返回</a:t>
            </a:r>
            <a:r>
              <a:rPr lang="en-US" altLang="zh-CN" sz="1800" b="0" dirty="0"/>
              <a:t>1</a:t>
            </a:r>
            <a:r>
              <a:rPr lang="zh-CN" altLang="zh-CN" sz="1800" b="0" dirty="0"/>
              <a:t>；否则返回</a:t>
            </a:r>
            <a:r>
              <a:rPr lang="en-US" altLang="zh-CN" sz="1800" b="0" dirty="0"/>
              <a:t>0</a:t>
            </a:r>
            <a:endParaRPr lang="zh-CN" altLang="zh-CN" sz="1800" b="0" dirty="0"/>
          </a:p>
          <a:p>
            <a:pPr algn="just">
              <a:spcBef>
                <a:spcPts val="0"/>
              </a:spcBef>
            </a:pPr>
            <a:r>
              <a:rPr lang="en-US" altLang="zh-CN" sz="1800" b="0" dirty="0"/>
              <a:t>IsFull( Q );           	//</a:t>
            </a:r>
            <a:r>
              <a:rPr lang="zh-CN" altLang="zh-CN" sz="1800" b="0" dirty="0"/>
              <a:t>判断队列</a:t>
            </a:r>
            <a:r>
              <a:rPr lang="en-US" altLang="zh-CN" sz="1800" b="0" dirty="0"/>
              <a:t>Q</a:t>
            </a:r>
            <a:r>
              <a:rPr lang="zh-CN" altLang="zh-CN" sz="1800" b="0" dirty="0"/>
              <a:t>是否为满队列，若满返回</a:t>
            </a:r>
            <a:r>
              <a:rPr lang="en-US" altLang="zh-CN" sz="1800" b="0" dirty="0"/>
              <a:t>1</a:t>
            </a:r>
            <a:r>
              <a:rPr lang="zh-CN" altLang="zh-CN" sz="1800" b="0" dirty="0"/>
              <a:t>，否则返回</a:t>
            </a:r>
            <a:r>
              <a:rPr lang="en-US" altLang="zh-CN" sz="1800" b="0" dirty="0"/>
              <a:t>0</a:t>
            </a:r>
            <a:endParaRPr lang="zh-CN" altLang="zh-CN" sz="1800" b="0" dirty="0"/>
          </a:p>
          <a:p>
            <a:pPr algn="just">
              <a:spcBef>
                <a:spcPts val="0"/>
              </a:spcBef>
            </a:pPr>
            <a:r>
              <a:rPr lang="en-US" altLang="zh-CN" sz="1800" b="0" dirty="0"/>
              <a:t>QueueClear( &amp;Q );    	//</a:t>
            </a:r>
            <a:r>
              <a:rPr lang="zh-CN" altLang="zh-CN" sz="1800" b="0" dirty="0"/>
              <a:t>将队列</a:t>
            </a:r>
            <a:r>
              <a:rPr lang="en-US" altLang="zh-CN" sz="1800" b="0" dirty="0"/>
              <a:t>Q</a:t>
            </a:r>
            <a:r>
              <a:rPr lang="zh-CN" altLang="zh-CN" sz="1800" b="0" dirty="0"/>
              <a:t>清空</a:t>
            </a:r>
          </a:p>
          <a:p>
            <a:pPr algn="just">
              <a:spcBef>
                <a:spcPts val="0"/>
              </a:spcBef>
            </a:pPr>
            <a:r>
              <a:rPr lang="en-US" altLang="zh-CN" sz="1800" b="0" dirty="0"/>
              <a:t>QueueDestroy( &amp;Q);  	//</a:t>
            </a:r>
            <a:r>
              <a:rPr lang="zh-CN" altLang="zh-CN" sz="1800" b="0" dirty="0"/>
              <a:t>销毁队列</a:t>
            </a:r>
            <a:r>
              <a:rPr lang="en-US" altLang="zh-CN" sz="1800" b="0" dirty="0"/>
              <a:t>Q</a:t>
            </a:r>
            <a:endParaRPr lang="zh-CN" altLang="zh-CN" sz="1800" b="0" dirty="0"/>
          </a:p>
          <a:p>
            <a:pPr algn="just">
              <a:spcBef>
                <a:spcPts val="0"/>
              </a:spcBef>
            </a:pPr>
            <a:r>
              <a:rPr lang="en-US" altLang="zh-CN" sz="1800" b="0" dirty="0"/>
              <a:t>QueueLength( Q );    	//</a:t>
            </a:r>
            <a:r>
              <a:rPr lang="zh-CN" altLang="zh-CN" sz="1800" b="0" dirty="0"/>
              <a:t>求队列</a:t>
            </a:r>
            <a:r>
              <a:rPr lang="en-US" altLang="zh-CN" sz="1800" b="0" dirty="0"/>
              <a:t>Q</a:t>
            </a:r>
            <a:r>
              <a:rPr lang="zh-CN" altLang="zh-CN" sz="1800" b="0" dirty="0"/>
              <a:t>的长度，即队列</a:t>
            </a:r>
            <a:r>
              <a:rPr lang="en-US" altLang="zh-CN" sz="1800" b="0" dirty="0"/>
              <a:t>Q</a:t>
            </a:r>
            <a:r>
              <a:rPr lang="zh-CN" altLang="zh-CN" sz="1800" b="0" dirty="0"/>
              <a:t>中的元素的个数</a:t>
            </a:r>
          </a:p>
          <a:p>
            <a:pPr algn="just">
              <a:spcBef>
                <a:spcPts val="0"/>
              </a:spcBef>
            </a:pPr>
            <a:r>
              <a:rPr lang="en-US" altLang="zh-CN" sz="1800" b="0" dirty="0"/>
              <a:t>GetFirst( Q );        		//</a:t>
            </a:r>
            <a:r>
              <a:rPr lang="zh-CN" altLang="zh-CN" sz="1800" b="0" dirty="0"/>
              <a:t>返回队列</a:t>
            </a:r>
            <a:r>
              <a:rPr lang="en-US" altLang="zh-CN" sz="1800" b="0" dirty="0"/>
              <a:t>Q</a:t>
            </a:r>
            <a:r>
              <a:rPr lang="zh-CN" altLang="zh-CN" sz="1800" b="0" dirty="0"/>
              <a:t>第一个元素的值</a:t>
            </a:r>
          </a:p>
          <a:p>
            <a:pPr algn="just">
              <a:spcBef>
                <a:spcPts val="0"/>
              </a:spcBef>
            </a:pPr>
            <a:r>
              <a:rPr lang="en-US" altLang="zh-CN" sz="1800" b="0" dirty="0">
                <a:solidFill>
                  <a:srgbClr val="FF0000"/>
                </a:solidFill>
              </a:rPr>
              <a:t>InQueue(&amp;Q , e);    </a:t>
            </a:r>
            <a:r>
              <a:rPr lang="en-US" altLang="zh-CN" sz="1800" b="0" dirty="0"/>
              <a:t>	//</a:t>
            </a:r>
            <a:r>
              <a:rPr lang="zh-CN" altLang="zh-CN" sz="1800" b="0" dirty="0"/>
              <a:t>入队列操作，将数据元素</a:t>
            </a:r>
            <a:r>
              <a:rPr lang="en-US" altLang="zh-CN" sz="1800" b="0" dirty="0"/>
              <a:t>e</a:t>
            </a:r>
            <a:r>
              <a:rPr lang="zh-CN" altLang="zh-CN" sz="1800" b="0" dirty="0"/>
              <a:t>插入队列</a:t>
            </a:r>
            <a:r>
              <a:rPr lang="en-US" altLang="zh-CN" sz="1800" b="0" dirty="0"/>
              <a:t>Q</a:t>
            </a:r>
            <a:r>
              <a:rPr lang="zh-CN" altLang="zh-CN" sz="1800" b="0" dirty="0"/>
              <a:t>的队列尾</a:t>
            </a:r>
          </a:p>
          <a:p>
            <a:pPr algn="just">
              <a:spcBef>
                <a:spcPts val="0"/>
              </a:spcBef>
            </a:pPr>
            <a:r>
              <a:rPr lang="en-US" altLang="zh-CN" sz="1800" b="0" dirty="0">
                <a:solidFill>
                  <a:srgbClr val="FF0000"/>
                </a:solidFill>
              </a:rPr>
              <a:t>OutQueue( &amp;Q );    </a:t>
            </a:r>
            <a:r>
              <a:rPr lang="en-US" altLang="zh-CN" sz="1800" b="0" dirty="0"/>
              <a:t>	//</a:t>
            </a:r>
            <a:r>
              <a:rPr lang="zh-CN" altLang="zh-CN" sz="1800" b="0" dirty="0"/>
              <a:t>出队列操作，删除队列</a:t>
            </a:r>
            <a:r>
              <a:rPr lang="en-US" altLang="zh-CN" sz="1800" b="0" dirty="0"/>
              <a:t>Q</a:t>
            </a:r>
            <a:r>
              <a:rPr lang="zh-CN" altLang="zh-CN" sz="1800" b="0" dirty="0"/>
              <a:t>的队列头元素，并返回其值</a:t>
            </a:r>
          </a:p>
          <a:p>
            <a:pPr algn="just">
              <a:spcBef>
                <a:spcPts val="0"/>
              </a:spcBef>
            </a:pPr>
            <a:r>
              <a:rPr lang="en-US" altLang="zh-CN" sz="1800" b="0" dirty="0"/>
              <a:t>} ADT Queue</a:t>
            </a:r>
            <a:endParaRPr lang="zh-CN" altLang="zh-CN" sz="1800" b="0" dirty="0"/>
          </a:p>
          <a:p>
            <a:pPr algn="just">
              <a:spcBef>
                <a:spcPts val="0"/>
              </a:spcBef>
            </a:pPr>
            <a:endParaRPr lang="zh-CN" altLang="en-US" sz="1800" dirty="0"/>
          </a:p>
        </p:txBody>
      </p:sp>
    </p:spTree>
    <p:extLst>
      <p:ext uri="{BB962C8B-B14F-4D97-AF65-F5344CB8AC3E}">
        <p14:creationId xmlns:p14="http://schemas.microsoft.com/office/powerpoint/2010/main" val="36991515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en-US" altLang="zh-CN" b="1" dirty="0"/>
              <a:t> 3.5 </a:t>
            </a:r>
            <a:r>
              <a:rPr lang="zh-CN" altLang="zh-CN" b="1" dirty="0"/>
              <a:t>队列的存储结构及实现</a:t>
            </a:r>
            <a:endParaRPr lang="zh-CN" altLang="en-US" dirty="0"/>
          </a:p>
        </p:txBody>
      </p:sp>
      <p:sp>
        <p:nvSpPr>
          <p:cNvPr id="3" name="内容占位符 2"/>
          <p:cNvSpPr>
            <a:spLocks noGrp="1"/>
          </p:cNvSpPr>
          <p:nvPr>
            <p:ph idx="1"/>
          </p:nvPr>
        </p:nvSpPr>
        <p:spPr/>
        <p:txBody>
          <a:bodyPr/>
          <a:lstStyle/>
          <a:p>
            <a:pPr algn="just"/>
            <a:r>
              <a:rPr lang="en-US" altLang="zh-CN" dirty="0"/>
              <a:t>3.5.1 </a:t>
            </a:r>
            <a:r>
              <a:rPr lang="zh-CN" altLang="zh-CN" dirty="0">
                <a:solidFill>
                  <a:srgbClr val="FF0000"/>
                </a:solidFill>
              </a:rPr>
              <a:t>顺序队列</a:t>
            </a:r>
            <a:r>
              <a:rPr lang="zh-CN" altLang="zh-CN" dirty="0"/>
              <a:t>的定义及实现</a:t>
            </a:r>
            <a:endParaRPr lang="en-US" altLang="zh-CN" dirty="0"/>
          </a:p>
          <a:p>
            <a:pPr algn="just">
              <a:buFont typeface="Arial" panose="020B0604020202020204" pitchFamily="34" charset="0"/>
              <a:buChar char="•"/>
            </a:pPr>
            <a:r>
              <a:rPr lang="zh-CN" altLang="zh-CN" b="0" dirty="0"/>
              <a:t>队列的顺序存储结构是用一组地址连续的存储空间，依次存放从队列头到队列尾的所有数据元素</a:t>
            </a:r>
            <a:r>
              <a:rPr lang="zh-CN" altLang="en-US" b="0" dirty="0"/>
              <a:t>；</a:t>
            </a:r>
            <a:endParaRPr lang="en-US" altLang="zh-CN" b="0" dirty="0"/>
          </a:p>
          <a:p>
            <a:pPr algn="just">
              <a:buFont typeface="Arial" panose="020B0604020202020204" pitchFamily="34" charset="0"/>
              <a:buChar char="•"/>
            </a:pPr>
            <a:r>
              <a:rPr lang="zh-CN" altLang="zh-CN" b="0" dirty="0"/>
              <a:t>使用</a:t>
            </a:r>
            <a:r>
              <a:rPr lang="zh-CN" altLang="zh-CN" dirty="0"/>
              <a:t>队列头指针</a:t>
            </a:r>
            <a:r>
              <a:rPr lang="zh-CN" altLang="zh-CN" b="0" dirty="0"/>
              <a:t>（</a:t>
            </a:r>
            <a:r>
              <a:rPr lang="en-US" altLang="zh-CN" b="0" dirty="0"/>
              <a:t>front</a:t>
            </a:r>
            <a:r>
              <a:rPr lang="zh-CN" altLang="zh-CN" b="0" dirty="0"/>
              <a:t>）和</a:t>
            </a:r>
            <a:r>
              <a:rPr lang="zh-CN" altLang="zh-CN" dirty="0"/>
              <a:t>队列尾指针</a:t>
            </a:r>
            <a:r>
              <a:rPr lang="zh-CN" altLang="zh-CN" b="0" dirty="0"/>
              <a:t>（</a:t>
            </a:r>
            <a:r>
              <a:rPr lang="en-US" altLang="zh-CN" b="0" dirty="0"/>
              <a:t>rear</a:t>
            </a:r>
            <a:r>
              <a:rPr lang="zh-CN" altLang="zh-CN" b="0" dirty="0"/>
              <a:t>）分别记录队列头和队列尾的位置。</a:t>
            </a:r>
            <a:endParaRPr lang="en-US" altLang="zh-CN" b="0" dirty="0"/>
          </a:p>
          <a:p>
            <a:pPr algn="just">
              <a:buFont typeface="Arial" panose="020B0604020202020204" pitchFamily="34" charset="0"/>
              <a:buChar char="•"/>
            </a:pPr>
            <a:r>
              <a:rPr lang="zh-CN" altLang="zh-CN" b="0" dirty="0"/>
              <a:t>具有顺序存储结构的队列称为</a:t>
            </a:r>
            <a:r>
              <a:rPr lang="zh-CN" altLang="zh-CN" dirty="0">
                <a:solidFill>
                  <a:srgbClr val="FF0000"/>
                </a:solidFill>
              </a:rPr>
              <a:t>顺序队列</a:t>
            </a:r>
            <a:r>
              <a:rPr lang="zh-CN" altLang="zh-CN" b="0" dirty="0"/>
              <a:t>。</a:t>
            </a:r>
            <a:endParaRPr lang="zh-CN" altLang="en-US" b="0" dirty="0"/>
          </a:p>
        </p:txBody>
      </p:sp>
    </p:spTree>
    <p:extLst>
      <p:ext uri="{BB962C8B-B14F-4D97-AF65-F5344CB8AC3E}">
        <p14:creationId xmlns:p14="http://schemas.microsoft.com/office/powerpoint/2010/main" val="169026491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7848872" cy="5328592"/>
          </a:xfrm>
        </p:spPr>
        <p:txBody>
          <a:bodyPr>
            <a:normAutofit/>
          </a:bodyPr>
          <a:lstStyle/>
          <a:p>
            <a:pPr algn="just">
              <a:buFont typeface="Arial" panose="020B0604020202020204" pitchFamily="34" charset="0"/>
              <a:buChar char="•"/>
            </a:pPr>
            <a:r>
              <a:rPr lang="zh-CN" altLang="zh-CN" b="0" dirty="0"/>
              <a:t>在顺序队列中，队列头指针始终指向队列头元素的位置，而队列尾指针指向队列尾元素的下一个元素位置。</a:t>
            </a:r>
            <a:endParaRPr lang="en-US" altLang="zh-CN" b="0" dirty="0"/>
          </a:p>
          <a:p>
            <a:pPr algn="just">
              <a:buFont typeface="Arial" panose="020B0604020202020204" pitchFamily="34" charset="0"/>
              <a:buChar char="•"/>
            </a:pPr>
            <a:r>
              <a:rPr lang="zh-CN" altLang="zh-CN" b="0" dirty="0"/>
              <a:t>在顺序队列初始化的时候，通常将队列头指针</a:t>
            </a:r>
            <a:r>
              <a:rPr lang="en-US" altLang="zh-CN" b="0" dirty="0"/>
              <a:t>front</a:t>
            </a:r>
            <a:r>
              <a:rPr lang="zh-CN" altLang="zh-CN" b="0" dirty="0"/>
              <a:t>和队列尾指针</a:t>
            </a:r>
            <a:r>
              <a:rPr lang="en-US" altLang="zh-CN" b="0" dirty="0"/>
              <a:t>rear</a:t>
            </a:r>
            <a:r>
              <a:rPr lang="zh-CN" altLang="zh-CN" b="0" dirty="0"/>
              <a:t>初始化为</a:t>
            </a:r>
            <a:r>
              <a:rPr lang="en-US" altLang="zh-CN" b="0" dirty="0"/>
              <a:t>0</a:t>
            </a:r>
            <a:r>
              <a:rPr lang="zh-CN" altLang="zh-CN" b="0" dirty="0"/>
              <a:t>。</a:t>
            </a:r>
            <a:endParaRPr lang="en-US" altLang="zh-CN" b="0" dirty="0"/>
          </a:p>
          <a:p>
            <a:pPr algn="just">
              <a:buFont typeface="Arial" panose="020B0604020202020204" pitchFamily="34" charset="0"/>
              <a:buChar char="•"/>
            </a:pPr>
            <a:r>
              <a:rPr lang="zh-CN" altLang="zh-CN" b="0" dirty="0"/>
              <a:t>一般情况下，当队列头指针和队列尾指针指向同一个位置时，顺序队列是空队列。</a:t>
            </a:r>
            <a:endParaRPr lang="en-US" altLang="zh-CN" b="0" dirty="0"/>
          </a:p>
          <a:p>
            <a:pPr algn="just">
              <a:buFont typeface="Arial" panose="020B0604020202020204" pitchFamily="34" charset="0"/>
              <a:buChar char="•"/>
            </a:pPr>
            <a:r>
              <a:rPr lang="zh-CN" altLang="zh-CN" b="0" dirty="0"/>
              <a:t>当一个数据元素入队列时，先将入队列的数据元素添加到</a:t>
            </a:r>
            <a:r>
              <a:rPr lang="en-US" altLang="zh-CN" b="0" dirty="0"/>
              <a:t>rear</a:t>
            </a:r>
            <a:r>
              <a:rPr lang="zh-CN" altLang="zh-CN" b="0" dirty="0"/>
              <a:t>指向的位置，再对队列尾指针</a:t>
            </a:r>
            <a:r>
              <a:rPr lang="en-US" altLang="zh-CN" b="0" dirty="0"/>
              <a:t>rear</a:t>
            </a:r>
            <a:r>
              <a:rPr lang="zh-CN" altLang="zh-CN" b="0" dirty="0"/>
              <a:t>进行加</a:t>
            </a:r>
            <a:r>
              <a:rPr lang="en-US" altLang="zh-CN" b="0" dirty="0"/>
              <a:t>1</a:t>
            </a:r>
            <a:r>
              <a:rPr lang="zh-CN" altLang="zh-CN" b="0" dirty="0"/>
              <a:t>操作，使其后移一个位置，队列头指针</a:t>
            </a:r>
            <a:r>
              <a:rPr lang="en-US" altLang="zh-CN" b="0" dirty="0"/>
              <a:t>front</a:t>
            </a:r>
            <a:r>
              <a:rPr lang="zh-CN" altLang="zh-CN" b="0" dirty="0"/>
              <a:t>不变；</a:t>
            </a:r>
            <a:endParaRPr lang="en-US" altLang="zh-CN" b="0" dirty="0"/>
          </a:p>
          <a:p>
            <a:pPr algn="just">
              <a:buFont typeface="Arial" panose="020B0604020202020204" pitchFamily="34" charset="0"/>
              <a:buChar char="•"/>
            </a:pPr>
            <a:r>
              <a:rPr lang="zh-CN" altLang="zh-CN" b="0" dirty="0"/>
              <a:t>当一个数据元素出队列时，队列头指针</a:t>
            </a:r>
            <a:r>
              <a:rPr lang="en-US" altLang="zh-CN" b="0" dirty="0"/>
              <a:t>front</a:t>
            </a:r>
            <a:r>
              <a:rPr lang="zh-CN" altLang="zh-CN" b="0" dirty="0"/>
              <a:t>后移一个位置，队列尾指针</a:t>
            </a:r>
            <a:r>
              <a:rPr lang="en-US" altLang="zh-CN" b="0" dirty="0"/>
              <a:t>rear</a:t>
            </a:r>
            <a:r>
              <a:rPr lang="zh-CN" altLang="zh-CN" b="0" dirty="0"/>
              <a:t>不变。</a:t>
            </a:r>
            <a:endParaRPr lang="zh-CN" altLang="en-US" b="0" dirty="0"/>
          </a:p>
        </p:txBody>
      </p:sp>
    </p:spTree>
    <p:extLst>
      <p:ext uri="{BB962C8B-B14F-4D97-AF65-F5344CB8AC3E}">
        <p14:creationId xmlns:p14="http://schemas.microsoft.com/office/powerpoint/2010/main" val="299660447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tx1">
            <a:alpha val="0"/>
          </a:schemeClr>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611560" y="1052736"/>
            <a:ext cx="7488832" cy="1008112"/>
          </a:xfrm>
        </p:spPr>
        <p:txBody>
          <a:bodyPr/>
          <a:lstStyle/>
          <a:p>
            <a:pPr algn="just">
              <a:buFont typeface="Arial" panose="020B0604020202020204" pitchFamily="34" charset="0"/>
              <a:buChar char="•"/>
            </a:pPr>
            <a:r>
              <a:rPr lang="zh-CN" altLang="zh-CN" b="0" dirty="0"/>
              <a:t>在数据元素进</a:t>
            </a:r>
            <a:r>
              <a:rPr lang="en-US" altLang="zh-CN" b="0" dirty="0"/>
              <a:t>/</a:t>
            </a:r>
            <a:r>
              <a:rPr lang="zh-CN" altLang="zh-CN" b="0" dirty="0"/>
              <a:t>出队列时，顺序队列的队列头指针和队列尾指针的移动情况</a:t>
            </a:r>
            <a:r>
              <a:rPr lang="zh-CN" altLang="en-US" b="0" dirty="0"/>
              <a:t>：</a:t>
            </a:r>
          </a:p>
        </p:txBody>
      </p:sp>
      <p:sp>
        <p:nvSpPr>
          <p:cNvPr id="7065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70657" name="Object 1"/>
          <p:cNvGraphicFramePr>
            <a:graphicFrameLocks noChangeAspect="1"/>
          </p:cNvGraphicFramePr>
          <p:nvPr/>
        </p:nvGraphicFramePr>
        <p:xfrm>
          <a:off x="352612" y="2204864"/>
          <a:ext cx="8791388" cy="2153970"/>
        </p:xfrm>
        <a:graphic>
          <a:graphicData uri="http://schemas.openxmlformats.org/presentationml/2006/ole">
            <mc:AlternateContent xmlns:mc="http://schemas.openxmlformats.org/markup-compatibility/2006">
              <mc:Choice xmlns:v="urn:schemas-microsoft-com:vml" Requires="v">
                <p:oleObj spid="_x0000_s3147" r:id="rId3" imgW="5249153" imgH="1268622" progId="">
                  <p:embed/>
                </p:oleObj>
              </mc:Choice>
              <mc:Fallback>
                <p:oleObj r:id="rId3" imgW="5249153" imgH="1268622"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2612" y="2204864"/>
                        <a:ext cx="8791388" cy="215397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矩形 4"/>
          <p:cNvSpPr/>
          <p:nvPr/>
        </p:nvSpPr>
        <p:spPr>
          <a:xfrm>
            <a:off x="179512" y="4437112"/>
            <a:ext cx="1584176" cy="1477328"/>
          </a:xfrm>
          <a:prstGeom prst="rect">
            <a:avLst/>
          </a:prstGeom>
        </p:spPr>
        <p:txBody>
          <a:bodyPr wrap="square">
            <a:spAutoFit/>
          </a:bodyPr>
          <a:lstStyle/>
          <a:p>
            <a:r>
              <a:rPr lang="zh-CN" altLang="zh-CN" dirty="0">
                <a:latin typeface="Times New Roman" pitchFamily="18" charset="0"/>
                <a:ea typeface="楷体" pitchFamily="49" charset="-122"/>
                <a:cs typeface="Times New Roman" pitchFamily="18" charset="0"/>
              </a:rPr>
              <a:t>初始化时</a:t>
            </a:r>
            <a:r>
              <a:rPr lang="zh-CN" altLang="en-US" dirty="0">
                <a:latin typeface="Times New Roman" pitchFamily="18" charset="0"/>
                <a:ea typeface="楷体" pitchFamily="49" charset="-122"/>
                <a:cs typeface="Times New Roman" pitchFamily="18" charset="0"/>
              </a:rPr>
              <a:t>：</a:t>
            </a:r>
            <a:endParaRPr lang="en-US" altLang="zh-CN" dirty="0">
              <a:latin typeface="Times New Roman" pitchFamily="18" charset="0"/>
              <a:ea typeface="楷体" pitchFamily="49" charset="-122"/>
              <a:cs typeface="Times New Roman" pitchFamily="18" charset="0"/>
            </a:endParaRPr>
          </a:p>
          <a:p>
            <a:pPr>
              <a:buFont typeface="Arial" panose="020B0604020202020204" pitchFamily="34" charset="0"/>
              <a:buChar char="•"/>
            </a:pPr>
            <a:r>
              <a:rPr lang="zh-CN" altLang="en-US" dirty="0">
                <a:latin typeface="Times New Roman" pitchFamily="18" charset="0"/>
                <a:ea typeface="楷体" pitchFamily="49" charset="-122"/>
                <a:cs typeface="Times New Roman" pitchFamily="18" charset="0"/>
              </a:rPr>
              <a:t>队</a:t>
            </a:r>
            <a:r>
              <a:rPr lang="zh-CN" altLang="zh-CN" dirty="0">
                <a:latin typeface="Times New Roman" pitchFamily="18" charset="0"/>
                <a:ea typeface="楷体" pitchFamily="49" charset="-122"/>
                <a:cs typeface="Times New Roman" pitchFamily="18" charset="0"/>
              </a:rPr>
              <a:t>头指针</a:t>
            </a:r>
            <a:endParaRPr lang="en-US" altLang="zh-CN" dirty="0">
              <a:latin typeface="Times New Roman" pitchFamily="18" charset="0"/>
              <a:ea typeface="楷体" pitchFamily="49" charset="-122"/>
              <a:cs typeface="Times New Roman" pitchFamily="18" charset="0"/>
            </a:endParaRPr>
          </a:p>
          <a:p>
            <a:r>
              <a:rPr lang="en-US" altLang="zh-CN" dirty="0">
                <a:latin typeface="Times New Roman" pitchFamily="18" charset="0"/>
                <a:ea typeface="楷体" pitchFamily="49" charset="-122"/>
                <a:cs typeface="Times New Roman" pitchFamily="18" charset="0"/>
              </a:rPr>
              <a:t>  front=0</a:t>
            </a:r>
          </a:p>
          <a:p>
            <a:pPr>
              <a:buFont typeface="Arial" panose="020B0604020202020204" pitchFamily="34" charset="0"/>
              <a:buChar char="•"/>
            </a:pPr>
            <a:r>
              <a:rPr lang="zh-CN" altLang="en-US" dirty="0">
                <a:latin typeface="Times New Roman" pitchFamily="18" charset="0"/>
                <a:ea typeface="楷体" pitchFamily="49" charset="-122"/>
                <a:cs typeface="Times New Roman" pitchFamily="18" charset="0"/>
              </a:rPr>
              <a:t>队</a:t>
            </a:r>
            <a:r>
              <a:rPr lang="zh-CN" altLang="zh-CN" dirty="0">
                <a:latin typeface="Times New Roman" pitchFamily="18" charset="0"/>
                <a:ea typeface="楷体" pitchFamily="49" charset="-122"/>
                <a:cs typeface="Times New Roman" pitchFamily="18" charset="0"/>
              </a:rPr>
              <a:t>尾指针</a:t>
            </a:r>
            <a:endParaRPr lang="en-US" altLang="zh-CN" dirty="0">
              <a:latin typeface="Times New Roman" pitchFamily="18" charset="0"/>
              <a:ea typeface="楷体" pitchFamily="49" charset="-122"/>
              <a:cs typeface="Times New Roman" pitchFamily="18" charset="0"/>
            </a:endParaRPr>
          </a:p>
          <a:p>
            <a:r>
              <a:rPr lang="en-US" altLang="zh-CN" dirty="0">
                <a:latin typeface="Times New Roman" pitchFamily="18" charset="0"/>
                <a:ea typeface="楷体" pitchFamily="49" charset="-122"/>
                <a:cs typeface="Times New Roman" pitchFamily="18" charset="0"/>
              </a:rPr>
              <a:t>  rear=0</a:t>
            </a:r>
            <a:r>
              <a:rPr lang="zh-CN" altLang="zh-CN" dirty="0">
                <a:latin typeface="Times New Roman" pitchFamily="18" charset="0"/>
                <a:ea typeface="楷体" pitchFamily="49" charset="-122"/>
                <a:cs typeface="Times New Roman" pitchFamily="18" charset="0"/>
              </a:rPr>
              <a:t>。</a:t>
            </a:r>
            <a:endParaRPr lang="en-US" altLang="zh-CN" dirty="0">
              <a:latin typeface="Times New Roman" pitchFamily="18" charset="0"/>
              <a:ea typeface="楷体" pitchFamily="49" charset="-122"/>
              <a:cs typeface="Times New Roman" pitchFamily="18" charset="0"/>
            </a:endParaRPr>
          </a:p>
        </p:txBody>
      </p:sp>
      <p:sp>
        <p:nvSpPr>
          <p:cNvPr id="6" name="矩形 5"/>
          <p:cNvSpPr/>
          <p:nvPr/>
        </p:nvSpPr>
        <p:spPr>
          <a:xfrm>
            <a:off x="2483768" y="4509120"/>
            <a:ext cx="1584176" cy="923330"/>
          </a:xfrm>
          <a:prstGeom prst="rect">
            <a:avLst/>
          </a:prstGeom>
        </p:spPr>
        <p:txBody>
          <a:bodyPr wrap="square">
            <a:spAutoFit/>
          </a:bodyPr>
          <a:lstStyle/>
          <a:p>
            <a:r>
              <a:rPr lang="zh-CN" altLang="en-US" dirty="0">
                <a:latin typeface="Times New Roman" pitchFamily="18" charset="0"/>
                <a:ea typeface="楷体" pitchFamily="49" charset="-122"/>
                <a:cs typeface="Times New Roman" pitchFamily="18" charset="0"/>
              </a:rPr>
              <a:t>入队元素</a:t>
            </a:r>
            <a:r>
              <a:rPr lang="en-US" altLang="zh-CN" dirty="0">
                <a:latin typeface="Times New Roman" pitchFamily="18" charset="0"/>
                <a:ea typeface="楷体" pitchFamily="49" charset="-122"/>
                <a:cs typeface="Times New Roman" pitchFamily="18" charset="0"/>
              </a:rPr>
              <a:t>1</a:t>
            </a:r>
            <a:r>
              <a:rPr lang="zh-CN" altLang="zh-CN" dirty="0">
                <a:latin typeface="Times New Roman" pitchFamily="18" charset="0"/>
                <a:ea typeface="楷体" pitchFamily="49" charset="-122"/>
                <a:cs typeface="Times New Roman" pitchFamily="18" charset="0"/>
              </a:rPr>
              <a:t>时</a:t>
            </a:r>
            <a:r>
              <a:rPr lang="zh-CN" altLang="en-US" dirty="0">
                <a:latin typeface="Times New Roman" pitchFamily="18" charset="0"/>
                <a:ea typeface="楷体" pitchFamily="49" charset="-122"/>
                <a:cs typeface="Times New Roman" pitchFamily="18" charset="0"/>
              </a:rPr>
              <a:t>：</a:t>
            </a:r>
            <a:endParaRPr lang="en-US" altLang="zh-CN" dirty="0">
              <a:latin typeface="Times New Roman" pitchFamily="18" charset="0"/>
              <a:ea typeface="楷体" pitchFamily="49" charset="-122"/>
              <a:cs typeface="Times New Roman" pitchFamily="18" charset="0"/>
            </a:endParaRPr>
          </a:p>
          <a:p>
            <a:r>
              <a:rPr lang="en-US" altLang="zh-CN" dirty="0">
                <a:latin typeface="Times New Roman" pitchFamily="18" charset="0"/>
                <a:ea typeface="楷体" pitchFamily="49" charset="-122"/>
                <a:cs typeface="Times New Roman" pitchFamily="18" charset="0"/>
              </a:rPr>
              <a:t>  front=0</a:t>
            </a:r>
          </a:p>
          <a:p>
            <a:r>
              <a:rPr lang="en-US" altLang="zh-CN" dirty="0">
                <a:latin typeface="Times New Roman" pitchFamily="18" charset="0"/>
                <a:ea typeface="楷体" pitchFamily="49" charset="-122"/>
                <a:cs typeface="Times New Roman" pitchFamily="18" charset="0"/>
              </a:rPr>
              <a:t>  rear  =1</a:t>
            </a:r>
            <a:r>
              <a:rPr lang="zh-CN" altLang="zh-CN" dirty="0">
                <a:latin typeface="Times New Roman" pitchFamily="18" charset="0"/>
                <a:ea typeface="楷体" pitchFamily="49" charset="-122"/>
                <a:cs typeface="Times New Roman" pitchFamily="18" charset="0"/>
              </a:rPr>
              <a:t>。</a:t>
            </a:r>
            <a:endParaRPr lang="en-US" altLang="zh-CN" dirty="0">
              <a:latin typeface="Times New Roman" pitchFamily="18" charset="0"/>
              <a:ea typeface="楷体" pitchFamily="49" charset="-122"/>
              <a:cs typeface="Times New Roman" pitchFamily="18" charset="0"/>
            </a:endParaRPr>
          </a:p>
        </p:txBody>
      </p:sp>
      <p:sp>
        <p:nvSpPr>
          <p:cNvPr id="7" name="矩形 6"/>
          <p:cNvSpPr/>
          <p:nvPr/>
        </p:nvSpPr>
        <p:spPr>
          <a:xfrm>
            <a:off x="4716016" y="4437112"/>
            <a:ext cx="1584176" cy="923330"/>
          </a:xfrm>
          <a:prstGeom prst="rect">
            <a:avLst/>
          </a:prstGeom>
        </p:spPr>
        <p:txBody>
          <a:bodyPr wrap="square">
            <a:spAutoFit/>
          </a:bodyPr>
          <a:lstStyle/>
          <a:p>
            <a:r>
              <a:rPr lang="en-US" altLang="zh-CN" dirty="0">
                <a:latin typeface="Times New Roman" pitchFamily="18" charset="0"/>
                <a:ea typeface="楷体" pitchFamily="49" charset="-122"/>
                <a:cs typeface="Times New Roman" pitchFamily="18" charset="0"/>
              </a:rPr>
              <a:t>2</a:t>
            </a:r>
            <a:r>
              <a:rPr lang="zh-CN" altLang="en-US" dirty="0">
                <a:latin typeface="Times New Roman" pitchFamily="18" charset="0"/>
                <a:ea typeface="楷体" pitchFamily="49" charset="-122"/>
                <a:cs typeface="Times New Roman" pitchFamily="18" charset="0"/>
              </a:rPr>
              <a:t>、</a:t>
            </a:r>
            <a:r>
              <a:rPr lang="en-US" altLang="zh-CN" dirty="0">
                <a:latin typeface="Times New Roman" pitchFamily="18" charset="0"/>
                <a:ea typeface="楷体" pitchFamily="49" charset="-122"/>
                <a:cs typeface="Times New Roman" pitchFamily="18" charset="0"/>
              </a:rPr>
              <a:t>3</a:t>
            </a:r>
            <a:r>
              <a:rPr lang="zh-CN" altLang="en-US" dirty="0">
                <a:latin typeface="Times New Roman" pitchFamily="18" charset="0"/>
                <a:ea typeface="楷体" pitchFamily="49" charset="-122"/>
                <a:cs typeface="Times New Roman" pitchFamily="18" charset="0"/>
              </a:rPr>
              <a:t>入队后：</a:t>
            </a:r>
            <a:endParaRPr lang="en-US" altLang="zh-CN" dirty="0">
              <a:latin typeface="Times New Roman" pitchFamily="18" charset="0"/>
              <a:ea typeface="楷体" pitchFamily="49" charset="-122"/>
              <a:cs typeface="Times New Roman" pitchFamily="18" charset="0"/>
            </a:endParaRPr>
          </a:p>
          <a:p>
            <a:r>
              <a:rPr lang="en-US" altLang="zh-CN" dirty="0">
                <a:latin typeface="Times New Roman" pitchFamily="18" charset="0"/>
                <a:ea typeface="楷体" pitchFamily="49" charset="-122"/>
                <a:cs typeface="Times New Roman" pitchFamily="18" charset="0"/>
              </a:rPr>
              <a:t>  front=0</a:t>
            </a:r>
          </a:p>
          <a:p>
            <a:r>
              <a:rPr lang="en-US" altLang="zh-CN" dirty="0">
                <a:latin typeface="Times New Roman" pitchFamily="18" charset="0"/>
                <a:ea typeface="楷体" pitchFamily="49" charset="-122"/>
                <a:cs typeface="Times New Roman" pitchFamily="18" charset="0"/>
              </a:rPr>
              <a:t>  rear  =3</a:t>
            </a:r>
            <a:r>
              <a:rPr lang="zh-CN" altLang="zh-CN" dirty="0">
                <a:latin typeface="Times New Roman" pitchFamily="18" charset="0"/>
                <a:ea typeface="楷体" pitchFamily="49" charset="-122"/>
                <a:cs typeface="Times New Roman" pitchFamily="18" charset="0"/>
              </a:rPr>
              <a:t>。</a:t>
            </a:r>
            <a:endParaRPr lang="en-US" altLang="zh-CN" dirty="0">
              <a:latin typeface="Times New Roman" pitchFamily="18" charset="0"/>
              <a:ea typeface="楷体" pitchFamily="49" charset="-122"/>
              <a:cs typeface="Times New Roman" pitchFamily="18" charset="0"/>
            </a:endParaRPr>
          </a:p>
        </p:txBody>
      </p:sp>
      <p:sp>
        <p:nvSpPr>
          <p:cNvPr id="8" name="矩形 7"/>
          <p:cNvSpPr/>
          <p:nvPr/>
        </p:nvSpPr>
        <p:spPr>
          <a:xfrm>
            <a:off x="7020272" y="4437112"/>
            <a:ext cx="1872208" cy="923330"/>
          </a:xfrm>
          <a:prstGeom prst="rect">
            <a:avLst/>
          </a:prstGeom>
        </p:spPr>
        <p:txBody>
          <a:bodyPr wrap="square">
            <a:spAutoFit/>
          </a:bodyPr>
          <a:lstStyle/>
          <a:p>
            <a:r>
              <a:rPr lang="en-US" altLang="zh-CN" dirty="0">
                <a:latin typeface="Times New Roman" pitchFamily="18" charset="0"/>
                <a:ea typeface="楷体" pitchFamily="49" charset="-122"/>
                <a:cs typeface="Times New Roman" pitchFamily="18" charset="0"/>
              </a:rPr>
              <a:t>4</a:t>
            </a:r>
            <a:r>
              <a:rPr lang="zh-CN" altLang="en-US" dirty="0">
                <a:latin typeface="Times New Roman" pitchFamily="18" charset="0"/>
                <a:ea typeface="楷体" pitchFamily="49" charset="-122"/>
                <a:cs typeface="Times New Roman" pitchFamily="18" charset="0"/>
              </a:rPr>
              <a:t>入队，</a:t>
            </a:r>
            <a:r>
              <a:rPr lang="en-US" altLang="zh-CN" dirty="0">
                <a:latin typeface="Times New Roman" pitchFamily="18" charset="0"/>
                <a:ea typeface="楷体" pitchFamily="49" charset="-122"/>
                <a:cs typeface="Times New Roman" pitchFamily="18" charset="0"/>
              </a:rPr>
              <a:t>1</a:t>
            </a:r>
            <a:r>
              <a:rPr lang="zh-CN" altLang="en-US" dirty="0">
                <a:latin typeface="Times New Roman" pitchFamily="18" charset="0"/>
                <a:ea typeface="楷体" pitchFamily="49" charset="-122"/>
                <a:cs typeface="Times New Roman" pitchFamily="18" charset="0"/>
              </a:rPr>
              <a:t>出队后：</a:t>
            </a:r>
            <a:endParaRPr lang="en-US" altLang="zh-CN" dirty="0">
              <a:latin typeface="Times New Roman" pitchFamily="18" charset="0"/>
              <a:ea typeface="楷体" pitchFamily="49" charset="-122"/>
              <a:cs typeface="Times New Roman" pitchFamily="18" charset="0"/>
            </a:endParaRPr>
          </a:p>
          <a:p>
            <a:r>
              <a:rPr lang="en-US" altLang="zh-CN" dirty="0">
                <a:latin typeface="Times New Roman" pitchFamily="18" charset="0"/>
                <a:ea typeface="楷体" pitchFamily="49" charset="-122"/>
                <a:cs typeface="Times New Roman" pitchFamily="18" charset="0"/>
              </a:rPr>
              <a:t>  front=1</a:t>
            </a:r>
          </a:p>
          <a:p>
            <a:r>
              <a:rPr lang="en-US" altLang="zh-CN" dirty="0">
                <a:latin typeface="Times New Roman" pitchFamily="18" charset="0"/>
                <a:ea typeface="楷体" pitchFamily="49" charset="-122"/>
                <a:cs typeface="Times New Roman" pitchFamily="18" charset="0"/>
              </a:rPr>
              <a:t>  rear  =4</a:t>
            </a:r>
            <a:r>
              <a:rPr lang="zh-CN" altLang="zh-CN" dirty="0">
                <a:latin typeface="Times New Roman" pitchFamily="18" charset="0"/>
                <a:ea typeface="楷体" pitchFamily="49" charset="-122"/>
                <a:cs typeface="Times New Roman" pitchFamily="18" charset="0"/>
              </a:rPr>
              <a:t>。</a:t>
            </a:r>
            <a:endParaRPr lang="en-US" altLang="zh-CN" dirty="0">
              <a:latin typeface="Times New Roman" pitchFamily="18" charset="0"/>
              <a:ea typeface="楷体" pitchFamily="49" charset="-122"/>
              <a:cs typeface="Times New Roman" pitchFamily="18" charset="0"/>
            </a:endParaRPr>
          </a:p>
        </p:txBody>
      </p:sp>
      <p:sp>
        <p:nvSpPr>
          <p:cNvPr id="2" name="文本框 1"/>
          <p:cNvSpPr txBox="1"/>
          <p:nvPr/>
        </p:nvSpPr>
        <p:spPr>
          <a:xfrm>
            <a:off x="2411760" y="2204864"/>
            <a:ext cx="2088232" cy="3227586"/>
          </a:xfrm>
          <a:prstGeom prst="rect">
            <a:avLst/>
          </a:prstGeom>
          <a:noFill/>
        </p:spPr>
        <p:txBody>
          <a:bodyPr wrap="square" rtlCol="0">
            <a:spAutoFit/>
          </a:bodyPr>
          <a:lstStyle/>
          <a:p>
            <a:endParaRPr lang="zh-CN" altLang="en-US" dirty="0"/>
          </a:p>
        </p:txBody>
      </p:sp>
      <p:sp>
        <p:nvSpPr>
          <p:cNvPr id="10" name="文本框 9"/>
          <p:cNvSpPr txBox="1"/>
          <p:nvPr/>
        </p:nvSpPr>
        <p:spPr>
          <a:xfrm>
            <a:off x="4788024" y="2139735"/>
            <a:ext cx="2088232" cy="3227586"/>
          </a:xfrm>
          <a:prstGeom prst="rect">
            <a:avLst/>
          </a:prstGeom>
          <a:noFill/>
        </p:spPr>
        <p:txBody>
          <a:bodyPr wrap="square" rtlCol="0">
            <a:spAutoFit/>
          </a:bodyPr>
          <a:lstStyle/>
          <a:p>
            <a:endParaRPr lang="zh-CN" altLang="en-US" dirty="0"/>
          </a:p>
        </p:txBody>
      </p:sp>
      <p:sp>
        <p:nvSpPr>
          <p:cNvPr id="11" name="文本框 10"/>
          <p:cNvSpPr txBox="1"/>
          <p:nvPr/>
        </p:nvSpPr>
        <p:spPr>
          <a:xfrm>
            <a:off x="6948264" y="2204864"/>
            <a:ext cx="2088232" cy="3227586"/>
          </a:xfrm>
          <a:prstGeom prst="rect">
            <a:avLst/>
          </a:prstGeom>
          <a:noFill/>
        </p:spPr>
        <p:txBody>
          <a:bodyPr wrap="square" rtlCol="0">
            <a:spAutoFit/>
          </a:bodyPr>
          <a:lstStyle/>
          <a:p>
            <a:endParaRPr lang="zh-CN" altLang="en-US" dirty="0"/>
          </a:p>
        </p:txBody>
      </p:sp>
      <p:sp>
        <p:nvSpPr>
          <p:cNvPr id="4" name="文本框 3"/>
          <p:cNvSpPr txBox="1"/>
          <p:nvPr/>
        </p:nvSpPr>
        <p:spPr>
          <a:xfrm>
            <a:off x="1439144" y="5484351"/>
            <a:ext cx="7704856" cy="830997"/>
          </a:xfrm>
          <a:prstGeom prst="rect">
            <a:avLst/>
          </a:prstGeom>
          <a:noFill/>
          <a:ln>
            <a:noFill/>
          </a:ln>
        </p:spPr>
        <p:txBody>
          <a:bodyPr wrap="square" rtlCol="0">
            <a:spAutoFit/>
          </a:bodyPr>
          <a:lstStyle/>
          <a:p>
            <a:pPr algn="just"/>
            <a:r>
              <a:rPr lang="zh-CN" altLang="zh-CN" sz="1600" dirty="0">
                <a:solidFill>
                  <a:srgbClr val="FF0000"/>
                </a:solidFill>
              </a:rPr>
              <a:t>假</a:t>
            </a:r>
            <a:r>
              <a:rPr lang="en-US" altLang="zh-CN" sz="1600" dirty="0">
                <a:solidFill>
                  <a:srgbClr val="FF0000"/>
                </a:solidFill>
              </a:rPr>
              <a:t>“</a:t>
            </a:r>
            <a:r>
              <a:rPr lang="zh-CN" altLang="zh-CN" sz="1600" dirty="0">
                <a:solidFill>
                  <a:srgbClr val="FF0000"/>
                </a:solidFill>
              </a:rPr>
              <a:t>溢出</a:t>
            </a:r>
            <a:r>
              <a:rPr lang="en-US" altLang="zh-CN" sz="1600" dirty="0">
                <a:solidFill>
                  <a:srgbClr val="FF0000"/>
                </a:solidFill>
              </a:rPr>
              <a:t>”</a:t>
            </a:r>
            <a:r>
              <a:rPr lang="zh-CN" altLang="zh-CN" sz="1600" dirty="0"/>
              <a:t>现象，这是因为尽管</a:t>
            </a:r>
            <a:r>
              <a:rPr lang="en-US" altLang="zh-CN" sz="1600" dirty="0"/>
              <a:t>rear</a:t>
            </a:r>
            <a:r>
              <a:rPr lang="zh-CN" altLang="zh-CN" sz="1600" dirty="0"/>
              <a:t>指针指向了</a:t>
            </a:r>
            <a:r>
              <a:rPr lang="en-US" altLang="zh-CN" sz="1600" dirty="0" err="1"/>
              <a:t>maxSize</a:t>
            </a:r>
            <a:r>
              <a:rPr lang="zh-CN" altLang="zh-CN" sz="1600" dirty="0"/>
              <a:t>的位置，但是</a:t>
            </a:r>
            <a:r>
              <a:rPr lang="en-US" altLang="zh-CN" sz="1600" dirty="0"/>
              <a:t>front</a:t>
            </a:r>
            <a:r>
              <a:rPr lang="zh-CN" altLang="zh-CN" sz="1600" dirty="0"/>
              <a:t>指针指向的位置可能在</a:t>
            </a:r>
            <a:r>
              <a:rPr lang="en-US" altLang="zh-CN" sz="1600" dirty="0"/>
              <a:t>0</a:t>
            </a:r>
            <a:r>
              <a:rPr lang="zh-CN" altLang="zh-CN" sz="1600" dirty="0"/>
              <a:t>到</a:t>
            </a:r>
            <a:r>
              <a:rPr lang="en-US" altLang="zh-CN" sz="1600" dirty="0"/>
              <a:t>MaxSize-1</a:t>
            </a:r>
            <a:r>
              <a:rPr lang="zh-CN" altLang="zh-CN" sz="1600" dirty="0"/>
              <a:t>中的任何一个位置，只有当</a:t>
            </a:r>
            <a:r>
              <a:rPr lang="en-US" altLang="zh-CN" sz="1600" dirty="0"/>
              <a:t>front</a:t>
            </a:r>
            <a:r>
              <a:rPr lang="zh-CN" altLang="zh-CN" sz="1600" dirty="0"/>
              <a:t>指针指向</a:t>
            </a:r>
            <a:r>
              <a:rPr lang="en-US" altLang="zh-CN" sz="1600" dirty="0"/>
              <a:t>0</a:t>
            </a:r>
            <a:r>
              <a:rPr lang="zh-CN" altLang="zh-CN" sz="1600" dirty="0"/>
              <a:t>位置时，顺序队列才是满，否则，顺序队列中仍然存在空闲空间。</a:t>
            </a:r>
            <a:endParaRPr lang="zh-CN" altLang="en-US" sz="1600" dirty="0"/>
          </a:p>
        </p:txBody>
      </p:sp>
    </p:spTree>
    <p:extLst>
      <p:ext uri="{BB962C8B-B14F-4D97-AF65-F5344CB8AC3E}">
        <p14:creationId xmlns:p14="http://schemas.microsoft.com/office/powerpoint/2010/main" val="1570499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9552" y="908720"/>
            <a:ext cx="8208912" cy="5256584"/>
          </a:xfrm>
        </p:spPr>
        <p:txBody>
          <a:bodyPr>
            <a:normAutofit fontScale="92500"/>
          </a:bodyPr>
          <a:lstStyle/>
          <a:p>
            <a:pPr algn="just">
              <a:buFont typeface="Arial" panose="020B0604020202020204" pitchFamily="34" charset="0"/>
              <a:buChar char="•"/>
            </a:pPr>
            <a:r>
              <a:rPr lang="zh-CN" altLang="zh-CN" b="0" dirty="0"/>
              <a:t>解决顺序队列出现假溢出现象的一种有效途径是采用循环队列。</a:t>
            </a:r>
            <a:endParaRPr lang="en-US" altLang="zh-CN" b="0" dirty="0"/>
          </a:p>
          <a:p>
            <a:pPr algn="just">
              <a:buFont typeface="Arial" panose="020B0604020202020204" pitchFamily="34" charset="0"/>
              <a:buChar char="•"/>
            </a:pPr>
            <a:r>
              <a:rPr lang="zh-CN" altLang="zh-CN" dirty="0">
                <a:solidFill>
                  <a:srgbClr val="FF0000"/>
                </a:solidFill>
              </a:rPr>
              <a:t>循环队列</a:t>
            </a:r>
            <a:r>
              <a:rPr lang="zh-CN" altLang="zh-CN" b="0" dirty="0"/>
              <a:t>就是将存放队列元素的存储空间首尾连接起来，构成一个</a:t>
            </a:r>
            <a:r>
              <a:rPr lang="zh-CN" altLang="en-US" b="0" dirty="0"/>
              <a:t>顺序的</a:t>
            </a:r>
            <a:r>
              <a:rPr lang="zh-CN" altLang="zh-CN" b="0" dirty="0"/>
              <a:t>环形结构。</a:t>
            </a:r>
            <a:endParaRPr lang="en-US" altLang="zh-CN" b="0" dirty="0"/>
          </a:p>
          <a:p>
            <a:pPr algn="just">
              <a:buFont typeface="Arial" panose="020B0604020202020204" pitchFamily="34" charset="0"/>
              <a:buChar char="•"/>
            </a:pPr>
            <a:r>
              <a:rPr lang="zh-CN" altLang="zh-CN" b="0" dirty="0"/>
              <a:t>在循环队列中，</a:t>
            </a:r>
            <a:r>
              <a:rPr lang="en-US" altLang="zh-CN" b="0" dirty="0"/>
              <a:t>0</a:t>
            </a:r>
            <a:r>
              <a:rPr lang="zh-CN" altLang="zh-CN" b="0" dirty="0"/>
              <a:t>位置于数组</a:t>
            </a:r>
            <a:r>
              <a:rPr lang="en-US" altLang="zh-CN" b="0" dirty="0"/>
              <a:t>MaxSize-1</a:t>
            </a:r>
            <a:r>
              <a:rPr lang="zh-CN" altLang="zh-CN" b="0" dirty="0"/>
              <a:t>之后，即，当队列头指针或队列尾指针等于</a:t>
            </a:r>
            <a:r>
              <a:rPr lang="en-US" altLang="zh-CN" b="0" dirty="0"/>
              <a:t>MaxSize-1</a:t>
            </a:r>
            <a:r>
              <a:rPr lang="zh-CN" altLang="zh-CN" b="0" dirty="0"/>
              <a:t>时，再向后移就是</a:t>
            </a:r>
            <a:r>
              <a:rPr lang="en-US" altLang="zh-CN" b="0" dirty="0"/>
              <a:t>0</a:t>
            </a:r>
            <a:r>
              <a:rPr lang="zh-CN" altLang="zh-CN" b="0" dirty="0"/>
              <a:t>位置。</a:t>
            </a:r>
            <a:endParaRPr lang="en-US" altLang="zh-CN" b="0" dirty="0"/>
          </a:p>
          <a:p>
            <a:pPr algn="just">
              <a:buFont typeface="Arial" panose="020B0604020202020204" pitchFamily="34" charset="0"/>
              <a:buChar char="•"/>
            </a:pPr>
            <a:r>
              <a:rPr lang="zh-CN" altLang="zh-CN" b="0" dirty="0"/>
              <a:t>循环队列中指针</a:t>
            </a:r>
            <a:r>
              <a:rPr lang="en-US" altLang="zh-CN" b="0" dirty="0"/>
              <a:t>front</a:t>
            </a:r>
            <a:r>
              <a:rPr lang="zh-CN" altLang="zh-CN" b="0" dirty="0"/>
              <a:t>和指针</a:t>
            </a:r>
            <a:r>
              <a:rPr lang="en-US" altLang="zh-CN" b="0" dirty="0"/>
              <a:t>rear</a:t>
            </a:r>
            <a:r>
              <a:rPr lang="zh-CN" altLang="zh-CN" b="0" dirty="0"/>
              <a:t>的循环后移可以通过对指针用</a:t>
            </a:r>
            <a:r>
              <a:rPr lang="en-US" altLang="zh-CN" b="0" dirty="0" err="1"/>
              <a:t>MaxSize</a:t>
            </a:r>
            <a:r>
              <a:rPr lang="zh-CN" altLang="zh-CN" b="0" dirty="0"/>
              <a:t>进行取余运算来实现。</a:t>
            </a:r>
          </a:p>
          <a:p>
            <a:pPr algn="just"/>
            <a:r>
              <a:rPr lang="zh-CN" altLang="zh-CN" dirty="0">
                <a:solidFill>
                  <a:srgbClr val="FF0000"/>
                </a:solidFill>
              </a:rPr>
              <a:t>队列头指针</a:t>
            </a:r>
            <a:r>
              <a:rPr lang="en-US" altLang="zh-CN" dirty="0">
                <a:solidFill>
                  <a:srgbClr val="FF0000"/>
                </a:solidFill>
              </a:rPr>
              <a:t>front</a:t>
            </a:r>
            <a:r>
              <a:rPr lang="zh-CN" altLang="zh-CN" dirty="0">
                <a:solidFill>
                  <a:srgbClr val="FF0000"/>
                </a:solidFill>
              </a:rPr>
              <a:t>后移一个位置</a:t>
            </a:r>
            <a:r>
              <a:rPr lang="zh-CN" altLang="zh-CN" b="0" dirty="0"/>
              <a:t>：</a:t>
            </a:r>
            <a:r>
              <a:rPr lang="en-US" altLang="zh-CN" b="0" dirty="0"/>
              <a:t> front = ( front + 1 ) % </a:t>
            </a:r>
            <a:r>
              <a:rPr lang="en-US" altLang="zh-CN" b="0" dirty="0" err="1"/>
              <a:t>MaxSize</a:t>
            </a:r>
            <a:endParaRPr lang="zh-CN" altLang="zh-CN" b="0" dirty="0"/>
          </a:p>
          <a:p>
            <a:pPr algn="just"/>
            <a:r>
              <a:rPr lang="zh-CN" altLang="zh-CN" dirty="0">
                <a:solidFill>
                  <a:srgbClr val="FF0000"/>
                </a:solidFill>
              </a:rPr>
              <a:t>队列尾指针</a:t>
            </a:r>
            <a:r>
              <a:rPr lang="en-US" altLang="zh-CN" dirty="0">
                <a:solidFill>
                  <a:srgbClr val="FF0000"/>
                </a:solidFill>
              </a:rPr>
              <a:t>rear</a:t>
            </a:r>
            <a:r>
              <a:rPr lang="zh-CN" altLang="zh-CN" dirty="0">
                <a:solidFill>
                  <a:srgbClr val="FF0000"/>
                </a:solidFill>
              </a:rPr>
              <a:t>后移一个位置</a:t>
            </a:r>
            <a:r>
              <a:rPr lang="zh-CN" altLang="zh-CN" b="0" dirty="0"/>
              <a:t>：</a:t>
            </a:r>
            <a:r>
              <a:rPr lang="en-US" altLang="zh-CN" b="0" dirty="0"/>
              <a:t>  rear = ( rear + 1 ) % </a:t>
            </a:r>
            <a:r>
              <a:rPr lang="en-US" altLang="zh-CN" b="0" dirty="0" err="1"/>
              <a:t>MaxSize</a:t>
            </a:r>
            <a:endParaRPr lang="zh-CN" altLang="zh-CN" b="0" dirty="0"/>
          </a:p>
          <a:p>
            <a:pPr algn="just"/>
            <a:r>
              <a:rPr lang="zh-CN" altLang="en-US" dirty="0">
                <a:solidFill>
                  <a:srgbClr val="FF0000"/>
                </a:solidFill>
              </a:rPr>
              <a:t>队列为空的判断条件为</a:t>
            </a:r>
            <a:r>
              <a:rPr lang="zh-CN" altLang="en-US" dirty="0"/>
              <a:t>：</a:t>
            </a:r>
            <a:r>
              <a:rPr lang="en-US" altLang="zh-CN" b="0" dirty="0"/>
              <a:t> front == rear </a:t>
            </a:r>
            <a:endParaRPr lang="en-US" altLang="zh-CN" dirty="0"/>
          </a:p>
          <a:p>
            <a:pPr algn="just"/>
            <a:r>
              <a:rPr lang="zh-CN" altLang="en-US" dirty="0">
                <a:solidFill>
                  <a:srgbClr val="FF0000"/>
                </a:solidFill>
              </a:rPr>
              <a:t>队列为满的判断条件为</a:t>
            </a:r>
            <a:r>
              <a:rPr lang="zh-CN" altLang="en-US" dirty="0"/>
              <a:t>：</a:t>
            </a:r>
            <a:r>
              <a:rPr lang="en-US" altLang="zh-CN" b="0" dirty="0"/>
              <a:t> front == (rear + 1 ) % </a:t>
            </a:r>
            <a:r>
              <a:rPr lang="en-US" altLang="zh-CN" b="0" dirty="0" err="1"/>
              <a:t>MaxSize</a:t>
            </a:r>
            <a:endParaRPr lang="zh-CN" altLang="en-US" dirty="0"/>
          </a:p>
        </p:txBody>
      </p:sp>
    </p:spTree>
    <p:extLst>
      <p:ext uri="{BB962C8B-B14F-4D97-AF65-F5344CB8AC3E}">
        <p14:creationId xmlns:p14="http://schemas.microsoft.com/office/powerpoint/2010/main" val="49303418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620688"/>
            <a:ext cx="7272808" cy="1008112"/>
          </a:xfrm>
        </p:spPr>
        <p:txBody>
          <a:bodyPr/>
          <a:lstStyle/>
          <a:p>
            <a:pPr algn="just">
              <a:buFont typeface="Arial" panose="020B0604020202020204" pitchFamily="34" charset="0"/>
              <a:buChar char="•"/>
            </a:pPr>
            <a:r>
              <a:rPr lang="zh-CN" altLang="zh-CN" b="0" dirty="0"/>
              <a:t>在数据元素进出队列时，循环队列的队列头指针和队列尾指针的移动情况</a:t>
            </a:r>
            <a:r>
              <a:rPr lang="zh-CN" altLang="en-US" b="0" dirty="0"/>
              <a:t>：</a:t>
            </a:r>
            <a:endParaRPr lang="zh-CN" altLang="zh-CN" b="0" dirty="0"/>
          </a:p>
          <a:p>
            <a:pPr algn="just"/>
            <a:endParaRPr lang="zh-CN" altLang="en-US" dirty="0"/>
          </a:p>
        </p:txBody>
      </p:sp>
      <p:sp>
        <p:nvSpPr>
          <p:cNvPr id="686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8609" name="Object 1"/>
          <p:cNvGraphicFramePr>
            <a:graphicFrameLocks noChangeAspect="1"/>
          </p:cNvGraphicFramePr>
          <p:nvPr>
            <p:extLst>
              <p:ext uri="{D42A27DB-BD31-4B8C-83A1-F6EECF244321}">
                <p14:modId xmlns:p14="http://schemas.microsoft.com/office/powerpoint/2010/main" val="3035540001"/>
              </p:ext>
            </p:extLst>
          </p:nvPr>
        </p:nvGraphicFramePr>
        <p:xfrm>
          <a:off x="2084971" y="1340768"/>
          <a:ext cx="6303453" cy="4966816"/>
        </p:xfrm>
        <a:graphic>
          <a:graphicData uri="http://schemas.openxmlformats.org/presentationml/2006/ole">
            <mc:AlternateContent xmlns:mc="http://schemas.openxmlformats.org/markup-compatibility/2006">
              <mc:Choice xmlns:v="urn:schemas-microsoft-com:vml" Requires="v">
                <p:oleObj spid="_x0000_s4170" r:id="rId3" imgW="4674314" imgH="4040429" progId="">
                  <p:embed/>
                </p:oleObj>
              </mc:Choice>
              <mc:Fallback>
                <p:oleObj r:id="rId3" imgW="4674314" imgH="4040429"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84971" y="1340768"/>
                        <a:ext cx="6303453" cy="49668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文本框 5">
            <a:extLst>
              <a:ext uri="{FF2B5EF4-FFF2-40B4-BE49-F238E27FC236}">
                <a16:creationId xmlns:a16="http://schemas.microsoft.com/office/drawing/2014/main" id="{12FC5EC6-7B17-4204-A2F5-EFAB0964BF09}"/>
              </a:ext>
            </a:extLst>
          </p:cNvPr>
          <p:cNvSpPr txBox="1"/>
          <p:nvPr/>
        </p:nvSpPr>
        <p:spPr>
          <a:xfrm>
            <a:off x="15497" y="3068960"/>
            <a:ext cx="1882208" cy="1323439"/>
          </a:xfrm>
          <a:prstGeom prst="rect">
            <a:avLst/>
          </a:prstGeom>
          <a:noFill/>
        </p:spPr>
        <p:txBody>
          <a:bodyPr wrap="square">
            <a:spAutoFit/>
          </a:bodyPr>
          <a:lstStyle/>
          <a:p>
            <a:pPr algn="just"/>
            <a:r>
              <a:rPr lang="zh-CN" altLang="zh-CN" sz="1000" dirty="0">
                <a:solidFill>
                  <a:srgbClr val="FF0000"/>
                </a:solidFill>
              </a:rPr>
              <a:t>队列头指针</a:t>
            </a:r>
            <a:r>
              <a:rPr lang="en-US" altLang="zh-CN" sz="1000" dirty="0">
                <a:solidFill>
                  <a:srgbClr val="FF0000"/>
                </a:solidFill>
              </a:rPr>
              <a:t>front</a:t>
            </a:r>
            <a:r>
              <a:rPr lang="zh-CN" altLang="zh-CN" sz="1000" dirty="0">
                <a:solidFill>
                  <a:srgbClr val="FF0000"/>
                </a:solidFill>
              </a:rPr>
              <a:t>后移一个位置</a:t>
            </a:r>
            <a:r>
              <a:rPr lang="zh-CN" altLang="zh-CN" sz="1000" b="0" dirty="0"/>
              <a:t>：</a:t>
            </a:r>
            <a:r>
              <a:rPr lang="en-US" altLang="zh-CN" sz="1000" b="0" dirty="0"/>
              <a:t> </a:t>
            </a:r>
          </a:p>
          <a:p>
            <a:pPr algn="just"/>
            <a:r>
              <a:rPr lang="en-US" altLang="zh-CN" sz="1000" b="0" dirty="0"/>
              <a:t>front = ( front + 1 ) % </a:t>
            </a:r>
            <a:r>
              <a:rPr lang="en-US" altLang="zh-CN" sz="1000" b="0" dirty="0" err="1"/>
              <a:t>MaxSize</a:t>
            </a:r>
            <a:endParaRPr lang="zh-CN" altLang="zh-CN" sz="1000" b="0" dirty="0"/>
          </a:p>
          <a:p>
            <a:pPr algn="just"/>
            <a:r>
              <a:rPr lang="zh-CN" altLang="zh-CN" sz="1000" dirty="0">
                <a:solidFill>
                  <a:srgbClr val="FF0000"/>
                </a:solidFill>
              </a:rPr>
              <a:t>队列尾指针</a:t>
            </a:r>
            <a:r>
              <a:rPr lang="en-US" altLang="zh-CN" sz="1000" dirty="0">
                <a:solidFill>
                  <a:srgbClr val="FF0000"/>
                </a:solidFill>
              </a:rPr>
              <a:t>rear</a:t>
            </a:r>
            <a:r>
              <a:rPr lang="zh-CN" altLang="zh-CN" sz="1000" dirty="0">
                <a:solidFill>
                  <a:srgbClr val="FF0000"/>
                </a:solidFill>
              </a:rPr>
              <a:t>后移一个位置</a:t>
            </a:r>
            <a:r>
              <a:rPr lang="zh-CN" altLang="zh-CN" sz="1000" b="0" dirty="0"/>
              <a:t>：</a:t>
            </a:r>
            <a:r>
              <a:rPr lang="en-US" altLang="zh-CN" sz="1000" b="0" dirty="0"/>
              <a:t>  </a:t>
            </a:r>
          </a:p>
          <a:p>
            <a:pPr algn="just"/>
            <a:r>
              <a:rPr lang="en-US" altLang="zh-CN" sz="1000" b="0" dirty="0"/>
              <a:t>rear = ( rear + 1 ) % </a:t>
            </a:r>
            <a:r>
              <a:rPr lang="en-US" altLang="zh-CN" sz="1000" b="0" dirty="0" err="1"/>
              <a:t>MaxSize</a:t>
            </a:r>
            <a:endParaRPr lang="zh-CN" altLang="zh-CN" sz="1000" b="0" dirty="0"/>
          </a:p>
          <a:p>
            <a:pPr algn="just"/>
            <a:r>
              <a:rPr lang="zh-CN" altLang="en-US" sz="1000" dirty="0">
                <a:solidFill>
                  <a:srgbClr val="FF0000"/>
                </a:solidFill>
              </a:rPr>
              <a:t>队列为空的判断条件为</a:t>
            </a:r>
            <a:r>
              <a:rPr lang="zh-CN" altLang="en-US" sz="1000" dirty="0"/>
              <a:t>：</a:t>
            </a:r>
            <a:endParaRPr lang="en-US" altLang="zh-CN" sz="1000" dirty="0"/>
          </a:p>
          <a:p>
            <a:pPr algn="just"/>
            <a:r>
              <a:rPr lang="en-US" altLang="zh-CN" sz="1000" b="0" dirty="0"/>
              <a:t> front == rear </a:t>
            </a:r>
            <a:endParaRPr lang="en-US" altLang="zh-CN" sz="1000" dirty="0"/>
          </a:p>
          <a:p>
            <a:pPr algn="just"/>
            <a:r>
              <a:rPr lang="zh-CN" altLang="en-US" sz="1000" dirty="0">
                <a:solidFill>
                  <a:srgbClr val="FF0000"/>
                </a:solidFill>
              </a:rPr>
              <a:t>队列为满的判断条件为</a:t>
            </a:r>
            <a:r>
              <a:rPr lang="zh-CN" altLang="en-US" sz="1000" dirty="0"/>
              <a:t>：</a:t>
            </a:r>
            <a:r>
              <a:rPr lang="en-US" altLang="zh-CN" sz="1000" b="0" dirty="0"/>
              <a:t> </a:t>
            </a:r>
          </a:p>
          <a:p>
            <a:pPr algn="just"/>
            <a:r>
              <a:rPr lang="en-US" altLang="zh-CN" sz="1000" b="0" dirty="0"/>
              <a:t>front == (rear + 1 ) % </a:t>
            </a:r>
            <a:r>
              <a:rPr lang="en-US" altLang="zh-CN" sz="1000" b="0" dirty="0" err="1"/>
              <a:t>MaxSize</a:t>
            </a:r>
            <a:endParaRPr lang="zh-CN" altLang="en-US" sz="1000" dirty="0"/>
          </a:p>
        </p:txBody>
      </p:sp>
    </p:spTree>
    <p:extLst>
      <p:ext uri="{BB962C8B-B14F-4D97-AF65-F5344CB8AC3E}">
        <p14:creationId xmlns:p14="http://schemas.microsoft.com/office/powerpoint/2010/main" val="79065659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55576" y="908720"/>
            <a:ext cx="8352928" cy="5400600"/>
          </a:xfrm>
          <a:ln>
            <a:noFill/>
            <a:prstDash val="dash"/>
          </a:ln>
        </p:spPr>
        <p:txBody>
          <a:bodyPr>
            <a:noAutofit/>
          </a:bodyPr>
          <a:lstStyle/>
          <a:p>
            <a:pPr algn="just">
              <a:lnSpc>
                <a:spcPct val="110000"/>
              </a:lnSpc>
              <a:spcBef>
                <a:spcPts val="0"/>
              </a:spcBef>
            </a:pPr>
            <a:r>
              <a:rPr lang="zh-CN" altLang="zh-CN" sz="1800" dirty="0"/>
              <a:t>算法</a:t>
            </a:r>
            <a:r>
              <a:rPr lang="en-US" altLang="zh-CN" sz="1800" dirty="0"/>
              <a:t>3.17</a:t>
            </a:r>
            <a:r>
              <a:rPr lang="zh-CN" altLang="zh-CN" sz="1800" dirty="0"/>
              <a:t>：</a:t>
            </a:r>
            <a:r>
              <a:rPr lang="zh-CN" altLang="zh-CN" sz="1800" dirty="0">
                <a:solidFill>
                  <a:srgbClr val="FF0000"/>
                </a:solidFill>
              </a:rPr>
              <a:t>循环队列的数据类型</a:t>
            </a:r>
            <a:r>
              <a:rPr lang="zh-CN" altLang="zh-CN" sz="1800" dirty="0"/>
              <a:t>定义</a:t>
            </a:r>
          </a:p>
          <a:p>
            <a:pPr algn="just">
              <a:lnSpc>
                <a:spcPct val="110000"/>
              </a:lnSpc>
              <a:spcBef>
                <a:spcPts val="0"/>
              </a:spcBef>
            </a:pPr>
            <a:r>
              <a:rPr lang="en-US" altLang="zh-CN" sz="1800" b="0" dirty="0"/>
              <a:t>class </a:t>
            </a:r>
            <a:r>
              <a:rPr lang="en-US" altLang="zh-CN" sz="1800" b="0" dirty="0" err="1"/>
              <a:t>SeqQueue</a:t>
            </a:r>
            <a:r>
              <a:rPr lang="en-US" altLang="zh-CN" sz="1800" b="0" dirty="0"/>
              <a:t>{</a:t>
            </a:r>
            <a:endParaRPr lang="zh-CN" altLang="zh-CN" sz="1800" b="0" dirty="0"/>
          </a:p>
          <a:p>
            <a:pPr algn="just">
              <a:lnSpc>
                <a:spcPct val="110000"/>
              </a:lnSpc>
              <a:spcBef>
                <a:spcPts val="0"/>
              </a:spcBef>
            </a:pPr>
            <a:r>
              <a:rPr lang="en-US" altLang="zh-CN" sz="1800" b="0" dirty="0"/>
              <a:t>  private:</a:t>
            </a:r>
            <a:endParaRPr lang="zh-CN" altLang="zh-CN" sz="1800" b="0" dirty="0"/>
          </a:p>
          <a:p>
            <a:pPr algn="just">
              <a:lnSpc>
                <a:spcPct val="110000"/>
              </a:lnSpc>
              <a:spcBef>
                <a:spcPts val="0"/>
              </a:spcBef>
            </a:pPr>
            <a:r>
              <a:rPr lang="en-US" altLang="zh-CN" sz="1800" b="0" dirty="0"/>
              <a:t>    	int front,rear;             //</a:t>
            </a:r>
            <a:r>
              <a:rPr lang="zh-CN" altLang="zh-CN" sz="1800" b="0" dirty="0"/>
              <a:t>定义</a:t>
            </a:r>
            <a:r>
              <a:rPr lang="zh-CN" altLang="zh-CN" sz="1800" b="0" dirty="0">
                <a:solidFill>
                  <a:srgbClr val="FF0000"/>
                </a:solidFill>
              </a:rPr>
              <a:t>队列头指针、队列尾指针</a:t>
            </a:r>
          </a:p>
          <a:p>
            <a:pPr algn="just">
              <a:lnSpc>
                <a:spcPct val="110000"/>
              </a:lnSpc>
              <a:spcBef>
                <a:spcPts val="0"/>
              </a:spcBef>
            </a:pPr>
            <a:r>
              <a:rPr lang="en-US" altLang="zh-CN" sz="1800" b="0" dirty="0"/>
              <a:t>    	Type *queue;             //</a:t>
            </a:r>
            <a:r>
              <a:rPr lang="zh-CN" altLang="zh-CN" sz="1800" b="0" dirty="0">
                <a:solidFill>
                  <a:srgbClr val="FF0000"/>
                </a:solidFill>
              </a:rPr>
              <a:t>顺序队列</a:t>
            </a:r>
            <a:r>
              <a:rPr lang="zh-CN" altLang="en-US" sz="1800" b="0" dirty="0">
                <a:solidFill>
                  <a:srgbClr val="FF0000"/>
                </a:solidFill>
              </a:rPr>
              <a:t>存区</a:t>
            </a:r>
            <a:r>
              <a:rPr lang="zh-CN" altLang="zh-CN" sz="1800" b="0" dirty="0">
                <a:solidFill>
                  <a:srgbClr val="FF0000"/>
                </a:solidFill>
              </a:rPr>
              <a:t>指针</a:t>
            </a:r>
            <a:r>
              <a:rPr lang="zh-CN" altLang="zh-CN" sz="1800" b="0" dirty="0"/>
              <a:t>，用来指向存放队列元素的数组</a:t>
            </a:r>
          </a:p>
          <a:p>
            <a:pPr algn="just">
              <a:lnSpc>
                <a:spcPct val="110000"/>
              </a:lnSpc>
              <a:spcBef>
                <a:spcPts val="0"/>
              </a:spcBef>
            </a:pPr>
            <a:r>
              <a:rPr lang="en-US" altLang="zh-CN" sz="1800" b="0" dirty="0"/>
              <a:t>    	int maxsize;               //</a:t>
            </a:r>
            <a:r>
              <a:rPr lang="zh-CN" altLang="en-US" sz="1800" b="0" dirty="0">
                <a:solidFill>
                  <a:srgbClr val="FF0000"/>
                </a:solidFill>
              </a:rPr>
              <a:t>存区</a:t>
            </a:r>
            <a:r>
              <a:rPr lang="zh-CN" altLang="zh-CN" sz="1800" b="0" dirty="0">
                <a:solidFill>
                  <a:srgbClr val="FF0000"/>
                </a:solidFill>
              </a:rPr>
              <a:t>的容量</a:t>
            </a:r>
            <a:r>
              <a:rPr lang="zh-CN" altLang="en-US" sz="1800" b="0" dirty="0">
                <a:solidFill>
                  <a:srgbClr val="FF0000"/>
                </a:solidFill>
              </a:rPr>
              <a:t>，即最大元素个数</a:t>
            </a:r>
            <a:endParaRPr lang="zh-CN" altLang="zh-CN" sz="1800" b="0" dirty="0">
              <a:solidFill>
                <a:srgbClr val="FF0000"/>
              </a:solidFill>
            </a:endParaRPr>
          </a:p>
          <a:p>
            <a:pPr algn="just">
              <a:lnSpc>
                <a:spcPct val="110000"/>
              </a:lnSpc>
              <a:spcBef>
                <a:spcPts val="0"/>
              </a:spcBef>
            </a:pPr>
            <a:r>
              <a:rPr lang="en-US" altLang="zh-CN" sz="1800" b="0" dirty="0"/>
              <a:t>  public:</a:t>
            </a:r>
            <a:endParaRPr lang="zh-CN" altLang="zh-CN" sz="1800" b="0" dirty="0"/>
          </a:p>
          <a:p>
            <a:pPr algn="just">
              <a:lnSpc>
                <a:spcPct val="110000"/>
              </a:lnSpc>
              <a:spcBef>
                <a:spcPts val="0"/>
              </a:spcBef>
            </a:pPr>
            <a:r>
              <a:rPr lang="en-US" altLang="zh-CN" sz="1800" b="0" dirty="0"/>
              <a:t>    	SeqQueue(int size);         //</a:t>
            </a:r>
            <a:r>
              <a:rPr lang="zh-CN" altLang="zh-CN" sz="1800" b="0" dirty="0"/>
              <a:t>构造一个最大存储</a:t>
            </a:r>
            <a:r>
              <a:rPr lang="en-US" altLang="zh-CN" sz="1800" b="0" dirty="0"/>
              <a:t>size</a:t>
            </a:r>
            <a:r>
              <a:rPr lang="zh-CN" altLang="zh-CN" sz="1800" b="0" dirty="0"/>
              <a:t>个元素的空队列</a:t>
            </a:r>
          </a:p>
          <a:p>
            <a:pPr algn="just">
              <a:lnSpc>
                <a:spcPct val="110000"/>
              </a:lnSpc>
              <a:spcBef>
                <a:spcPts val="0"/>
              </a:spcBef>
            </a:pPr>
            <a:r>
              <a:rPr lang="en-US" altLang="zh-CN" sz="1800" b="0" dirty="0"/>
              <a:t>    	~SeqQueue(){ delete [] elem; } //</a:t>
            </a:r>
            <a:r>
              <a:rPr lang="zh-CN" altLang="zh-CN" sz="1800" b="0" dirty="0"/>
              <a:t>析构函数，销毁队列，释放队列空间</a:t>
            </a:r>
          </a:p>
          <a:p>
            <a:pPr algn="just">
              <a:lnSpc>
                <a:spcPct val="110000"/>
              </a:lnSpc>
              <a:spcBef>
                <a:spcPts val="0"/>
              </a:spcBef>
            </a:pPr>
            <a:r>
              <a:rPr lang="en-US" altLang="zh-CN" sz="1800" b="0" dirty="0"/>
              <a:t>    	int IsEmpty() const { return front == rear; } //</a:t>
            </a:r>
            <a:r>
              <a:rPr lang="zh-CN" altLang="zh-CN" sz="1800" b="0" dirty="0"/>
              <a:t>判断队列是否为空</a:t>
            </a:r>
          </a:p>
          <a:p>
            <a:pPr algn="just">
              <a:lnSpc>
                <a:spcPct val="110000"/>
              </a:lnSpc>
              <a:spcBef>
                <a:spcPts val="0"/>
              </a:spcBef>
            </a:pPr>
            <a:r>
              <a:rPr lang="en-US" altLang="zh-CN" sz="1800" b="0" dirty="0"/>
              <a:t>    	int IsFull() const { return (rear + 1)%maxsize == front; } //</a:t>
            </a:r>
            <a:r>
              <a:rPr lang="zh-CN" altLang="zh-CN" sz="1800" b="0" dirty="0"/>
              <a:t>判断队列是否是满队列</a:t>
            </a:r>
            <a:endParaRPr lang="en-US" altLang="zh-CN" sz="1800" b="0" dirty="0"/>
          </a:p>
          <a:p>
            <a:pPr algn="just">
              <a:lnSpc>
                <a:spcPct val="110000"/>
              </a:lnSpc>
              <a:spcBef>
                <a:spcPts val="0"/>
              </a:spcBef>
            </a:pPr>
            <a:r>
              <a:rPr lang="en-US" altLang="zh-CN" sz="1800" b="0" dirty="0"/>
              <a:t>	void SeqQueueClear(Type &amp;Q){front = rear =0;}	//</a:t>
            </a:r>
            <a:r>
              <a:rPr lang="zh-CN" altLang="zh-CN" sz="1800" b="0" dirty="0"/>
              <a:t>将队列清空</a:t>
            </a:r>
          </a:p>
          <a:p>
            <a:pPr algn="just">
              <a:lnSpc>
                <a:spcPct val="110000"/>
              </a:lnSpc>
              <a:spcBef>
                <a:spcPts val="0"/>
              </a:spcBef>
            </a:pPr>
            <a:r>
              <a:rPr lang="en-US" altLang="zh-CN" sz="1800" b="0" dirty="0"/>
              <a:t> 	void SeqQueueLength() const {return (rear - front + maxsize)%maxsize;}   </a:t>
            </a:r>
            <a:endParaRPr lang="zh-CN" altLang="zh-CN" sz="1800" b="0" dirty="0"/>
          </a:p>
          <a:p>
            <a:pPr algn="just">
              <a:lnSpc>
                <a:spcPct val="110000"/>
              </a:lnSpc>
              <a:spcBef>
                <a:spcPts val="0"/>
              </a:spcBef>
            </a:pPr>
            <a:r>
              <a:rPr lang="en-US" altLang="zh-CN" sz="1800" b="0" dirty="0"/>
              <a:t>	</a:t>
            </a:r>
            <a:r>
              <a:rPr lang="en-US" altLang="zh-CN" sz="1800" b="0" dirty="0">
                <a:solidFill>
                  <a:srgbClr val="FF0000"/>
                </a:solidFill>
              </a:rPr>
              <a:t>void InQueue(Type &amp;e);   </a:t>
            </a:r>
            <a:r>
              <a:rPr lang="en-US" altLang="zh-CN" sz="1800" b="0" dirty="0"/>
              <a:t>//</a:t>
            </a:r>
            <a:r>
              <a:rPr lang="zh-CN" altLang="zh-CN" sz="1800" b="0" dirty="0"/>
              <a:t>入队列操作，将元素</a:t>
            </a:r>
            <a:r>
              <a:rPr lang="en-US" altLang="zh-CN" sz="1800" b="0" dirty="0"/>
              <a:t>e</a:t>
            </a:r>
            <a:r>
              <a:rPr lang="zh-CN" altLang="zh-CN" sz="1800" b="0" dirty="0"/>
              <a:t>从队列尾插入队列</a:t>
            </a:r>
          </a:p>
          <a:p>
            <a:pPr algn="just">
              <a:lnSpc>
                <a:spcPct val="110000"/>
              </a:lnSpc>
              <a:spcBef>
                <a:spcPts val="0"/>
              </a:spcBef>
            </a:pPr>
            <a:r>
              <a:rPr lang="en-US" altLang="zh-CN" sz="1800" b="0" dirty="0"/>
              <a:t>	</a:t>
            </a:r>
            <a:r>
              <a:rPr lang="en-US" altLang="zh-CN" sz="1800" b="0" dirty="0">
                <a:solidFill>
                  <a:srgbClr val="FF0000"/>
                </a:solidFill>
              </a:rPr>
              <a:t>Type &amp;OutQueue();</a:t>
            </a:r>
            <a:r>
              <a:rPr lang="en-US" altLang="zh-CN" sz="1800" b="0" dirty="0"/>
              <a:t>	//</a:t>
            </a:r>
            <a:r>
              <a:rPr lang="zh-CN" altLang="zh-CN" sz="1800" b="0" dirty="0"/>
              <a:t>出队列操作，将当前队列头元素删除，并返回其值</a:t>
            </a:r>
          </a:p>
          <a:p>
            <a:pPr algn="just">
              <a:lnSpc>
                <a:spcPct val="110000"/>
              </a:lnSpc>
              <a:spcBef>
                <a:spcPts val="0"/>
              </a:spcBef>
            </a:pPr>
            <a:r>
              <a:rPr lang="en-US" altLang="zh-CN" sz="1800" b="0" dirty="0"/>
              <a:t>	Type &amp;GetFront();          	//</a:t>
            </a:r>
            <a:r>
              <a:rPr lang="zh-CN" altLang="zh-CN" sz="1800" b="0" dirty="0"/>
              <a:t>返回队列头元素</a:t>
            </a:r>
          </a:p>
          <a:p>
            <a:pPr algn="just">
              <a:lnSpc>
                <a:spcPct val="110000"/>
              </a:lnSpc>
              <a:spcBef>
                <a:spcPts val="0"/>
              </a:spcBef>
            </a:pPr>
            <a:r>
              <a:rPr lang="en-US" altLang="zh-CN" sz="1800" b="0" dirty="0"/>
              <a:t>}</a:t>
            </a:r>
            <a:endParaRPr lang="zh-CN" altLang="en-US" sz="1800" dirty="0"/>
          </a:p>
        </p:txBody>
      </p:sp>
      <p:sp>
        <p:nvSpPr>
          <p:cNvPr id="4" name="矩形 3"/>
          <p:cNvSpPr/>
          <p:nvPr/>
        </p:nvSpPr>
        <p:spPr>
          <a:xfrm>
            <a:off x="3203848" y="85157"/>
            <a:ext cx="5040560" cy="535531"/>
          </a:xfrm>
          <a:prstGeom prst="rect">
            <a:avLst/>
          </a:prstGeom>
        </p:spPr>
        <p:txBody>
          <a:bodyPr wrap="square">
            <a:spAutoFit/>
          </a:bodyPr>
          <a:lstStyle/>
          <a:p>
            <a:pPr marL="342900" lvl="0" indent="-342900" algn="ctr">
              <a:lnSpc>
                <a:spcPct val="120000"/>
              </a:lnSpc>
              <a:spcBef>
                <a:spcPts val="800"/>
              </a:spcBef>
            </a:pPr>
            <a:r>
              <a:rPr lang="en-US" altLang="zh-CN" sz="2400" b="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zh-CN" sz="2400" b="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循环队列的数据类型定义</a:t>
            </a:r>
            <a:r>
              <a:rPr lang="zh-CN" altLang="en-US" sz="2400" b="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endParaRPr lang="zh-CN" altLang="zh-CN" sz="2400" b="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55621642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7959258" cy="5184576"/>
          </a:xfrm>
        </p:spPr>
        <p:txBody>
          <a:bodyPr>
            <a:normAutofit/>
          </a:bodyPr>
          <a:lstStyle/>
          <a:p>
            <a:pPr algn="just"/>
            <a:r>
              <a:rPr lang="zh-CN" altLang="zh-CN" dirty="0"/>
              <a:t>（</a:t>
            </a:r>
            <a:r>
              <a:rPr lang="en-US" altLang="zh-CN" dirty="0"/>
              <a:t>1</a:t>
            </a:r>
            <a:r>
              <a:rPr lang="zh-CN" altLang="zh-CN" dirty="0"/>
              <a:t>）</a:t>
            </a:r>
            <a:r>
              <a:rPr lang="zh-CN" altLang="zh-CN" dirty="0">
                <a:solidFill>
                  <a:srgbClr val="FF0000"/>
                </a:solidFill>
              </a:rPr>
              <a:t>循环队列的创建</a:t>
            </a:r>
            <a:r>
              <a:rPr lang="zh-CN" altLang="zh-CN" dirty="0"/>
              <a:t>操作</a:t>
            </a:r>
            <a:r>
              <a:rPr lang="zh-CN" altLang="en-US" dirty="0"/>
              <a:t>：</a:t>
            </a:r>
            <a:r>
              <a:rPr lang="zh-CN" altLang="zh-CN" b="0" dirty="0"/>
              <a:t>函数</a:t>
            </a:r>
            <a:r>
              <a:rPr lang="en-US" altLang="zh-CN" b="0" dirty="0"/>
              <a:t>new()</a:t>
            </a:r>
            <a:endParaRPr lang="zh-CN" altLang="zh-CN" dirty="0"/>
          </a:p>
          <a:p>
            <a:pPr algn="just">
              <a:buFont typeface="Arial" panose="020B0604020202020204" pitchFamily="34" charset="0"/>
              <a:buChar char="•"/>
            </a:pPr>
            <a:r>
              <a:rPr lang="zh-CN" altLang="zh-CN" b="0" dirty="0"/>
              <a:t>用</a:t>
            </a:r>
            <a:r>
              <a:rPr lang="en-US" altLang="zh-CN" b="0" dirty="0" err="1"/>
              <a:t>maxsize</a:t>
            </a:r>
            <a:r>
              <a:rPr lang="zh-CN" altLang="zh-CN" b="0" dirty="0"/>
              <a:t>来记录存储空间大小，同时，将队列头指针</a:t>
            </a:r>
            <a:r>
              <a:rPr lang="en-US" altLang="zh-CN" b="0" dirty="0"/>
              <a:t>front</a:t>
            </a:r>
            <a:r>
              <a:rPr lang="zh-CN" altLang="zh-CN" b="0" dirty="0"/>
              <a:t>和队列尾指针</a:t>
            </a:r>
            <a:r>
              <a:rPr lang="en-US" altLang="zh-CN" b="0" dirty="0"/>
              <a:t>rear</a:t>
            </a:r>
            <a:r>
              <a:rPr lang="zh-CN" altLang="zh-CN" b="0" dirty="0"/>
              <a:t>初始化为</a:t>
            </a:r>
            <a:r>
              <a:rPr lang="en-US" altLang="zh-CN" b="0" dirty="0"/>
              <a:t>0</a:t>
            </a:r>
            <a:r>
              <a:rPr lang="zh-CN" altLang="zh-CN" b="0" dirty="0"/>
              <a:t>。</a:t>
            </a:r>
            <a:endParaRPr lang="en-US" altLang="zh-CN" b="0" dirty="0"/>
          </a:p>
          <a:p>
            <a:pPr algn="just">
              <a:buFont typeface="Arial" panose="020B0604020202020204" pitchFamily="34" charset="0"/>
              <a:buChar char="•"/>
            </a:pPr>
            <a:endParaRPr lang="zh-CN" altLang="zh-CN" b="0" dirty="0"/>
          </a:p>
          <a:p>
            <a:pPr algn="just"/>
            <a:r>
              <a:rPr lang="zh-CN" altLang="zh-CN" dirty="0"/>
              <a:t>算法</a:t>
            </a:r>
            <a:r>
              <a:rPr lang="en-US" altLang="zh-CN" dirty="0"/>
              <a:t>4.18</a:t>
            </a:r>
            <a:r>
              <a:rPr lang="zh-CN" altLang="zh-CN" dirty="0"/>
              <a:t>：</a:t>
            </a:r>
            <a:r>
              <a:rPr lang="zh-CN" altLang="zh-CN" dirty="0">
                <a:solidFill>
                  <a:srgbClr val="FF0000"/>
                </a:solidFill>
              </a:rPr>
              <a:t>循环队列的</a:t>
            </a:r>
            <a:r>
              <a:rPr lang="zh-CN" altLang="en-US" dirty="0">
                <a:solidFill>
                  <a:srgbClr val="FF0000"/>
                </a:solidFill>
              </a:rPr>
              <a:t>构造函数</a:t>
            </a:r>
            <a:endParaRPr lang="zh-CN" altLang="zh-CN" dirty="0">
              <a:solidFill>
                <a:srgbClr val="FF0000"/>
              </a:solidFill>
            </a:endParaRPr>
          </a:p>
          <a:p>
            <a:pPr algn="just"/>
            <a:r>
              <a:rPr lang="en-US" altLang="zh-CN" sz="2000" b="0" dirty="0" err="1"/>
              <a:t>SeqQueue</a:t>
            </a:r>
            <a:r>
              <a:rPr lang="en-US" altLang="zh-CN" sz="2000" b="0" dirty="0"/>
              <a:t>&lt;Type&gt;::</a:t>
            </a:r>
            <a:r>
              <a:rPr lang="en-US" altLang="zh-CN" sz="2000" b="0" dirty="0" err="1"/>
              <a:t>SeqQueue</a:t>
            </a:r>
            <a:r>
              <a:rPr lang="en-US" altLang="zh-CN" sz="2000" b="0" dirty="0"/>
              <a:t>(int size):front(0),rear(0),</a:t>
            </a:r>
            <a:r>
              <a:rPr lang="en-US" altLang="zh-CN" sz="2000" b="0" dirty="0" err="1"/>
              <a:t>maxsize</a:t>
            </a:r>
            <a:r>
              <a:rPr lang="en-US" altLang="zh-CN" sz="2000" b="0" dirty="0"/>
              <a:t>(</a:t>
            </a:r>
            <a:r>
              <a:rPr lang="en-US" altLang="zh-CN" sz="2000" b="0" dirty="0">
                <a:solidFill>
                  <a:srgbClr val="FF0000"/>
                </a:solidFill>
              </a:rPr>
              <a:t>size+1</a:t>
            </a:r>
            <a:r>
              <a:rPr lang="en-US" altLang="zh-CN" sz="2000" b="0" dirty="0"/>
              <a:t>){ </a:t>
            </a:r>
            <a:endParaRPr lang="zh-CN" altLang="zh-CN" sz="2000" b="0" dirty="0"/>
          </a:p>
          <a:p>
            <a:pPr algn="just"/>
            <a:r>
              <a:rPr lang="en-US" altLang="zh-CN" sz="2000" b="0" dirty="0"/>
              <a:t>   queue = new Type[</a:t>
            </a:r>
            <a:r>
              <a:rPr lang="en-US" altLang="zh-CN" sz="2000" b="0" dirty="0" err="1"/>
              <a:t>maxsize</a:t>
            </a:r>
            <a:r>
              <a:rPr lang="en-US" altLang="zh-CN" sz="2000" b="0" dirty="0"/>
              <a:t>];</a:t>
            </a:r>
            <a:endParaRPr lang="zh-CN" altLang="zh-CN" sz="2000" b="0" dirty="0"/>
          </a:p>
          <a:p>
            <a:pPr algn="just"/>
            <a:r>
              <a:rPr lang="en-US" altLang="zh-CN" sz="2000" b="0" dirty="0"/>
              <a:t>   if(!queue){</a:t>
            </a:r>
            <a:r>
              <a:rPr lang="en-US" altLang="zh-CN" sz="2000" b="0" dirty="0" err="1"/>
              <a:t>cout</a:t>
            </a:r>
            <a:r>
              <a:rPr lang="en-US" altLang="zh-CN" sz="2000" b="0" dirty="0"/>
              <a:t>&lt;&lt;"</a:t>
            </a:r>
            <a:r>
              <a:rPr lang="zh-CN" altLang="zh-CN" sz="2000" b="0" dirty="0"/>
              <a:t>内存分配失败！</a:t>
            </a:r>
            <a:r>
              <a:rPr lang="en-US" altLang="zh-CN" sz="2000" b="0" dirty="0"/>
              <a:t>"; exit(0);}</a:t>
            </a:r>
            <a:endParaRPr lang="zh-CN" altLang="zh-CN" sz="2000" b="0" dirty="0"/>
          </a:p>
          <a:p>
            <a:pPr algn="just"/>
            <a:r>
              <a:rPr lang="en-US" altLang="zh-CN" sz="2000" b="0" dirty="0"/>
              <a:t>}</a:t>
            </a:r>
            <a:endParaRPr lang="zh-CN" altLang="zh-CN" sz="2000" b="0" dirty="0"/>
          </a:p>
          <a:p>
            <a:pPr algn="just"/>
            <a:endParaRPr lang="zh-CN" altLang="en-US" dirty="0"/>
          </a:p>
        </p:txBody>
      </p:sp>
      <p:sp>
        <p:nvSpPr>
          <p:cNvPr id="4" name="文本框 3">
            <a:extLst>
              <a:ext uri="{FF2B5EF4-FFF2-40B4-BE49-F238E27FC236}">
                <a16:creationId xmlns:a16="http://schemas.microsoft.com/office/drawing/2014/main" id="{16D130E4-D27A-4995-BC87-E63193524291}"/>
              </a:ext>
            </a:extLst>
          </p:cNvPr>
          <p:cNvSpPr txBox="1"/>
          <p:nvPr/>
        </p:nvSpPr>
        <p:spPr>
          <a:xfrm>
            <a:off x="4427984" y="5229200"/>
            <a:ext cx="4573764" cy="1077218"/>
          </a:xfrm>
          <a:prstGeom prst="rect">
            <a:avLst/>
          </a:prstGeom>
          <a:noFill/>
        </p:spPr>
        <p:txBody>
          <a:bodyPr wrap="square">
            <a:spAutoFit/>
          </a:bodyPr>
          <a:lstStyle/>
          <a:p>
            <a:pPr algn="just"/>
            <a:r>
              <a:rPr lang="zh-CN" altLang="zh-CN" sz="1600" dirty="0">
                <a:solidFill>
                  <a:srgbClr val="000000"/>
                </a:solidFill>
                <a:effectLst/>
                <a:latin typeface="+mn-ea"/>
                <a:cs typeface="Times New Roman" panose="02020603050405020304" pitchFamily="18" charset="0"/>
              </a:rPr>
              <a:t>循环队列的构造函数产生一个容量为</a:t>
            </a:r>
            <a:r>
              <a:rPr lang="en-US" altLang="zh-CN" sz="1600" dirty="0">
                <a:solidFill>
                  <a:srgbClr val="000000"/>
                </a:solidFill>
                <a:effectLst/>
                <a:latin typeface="+mn-ea"/>
              </a:rPr>
              <a:t>size</a:t>
            </a:r>
            <a:r>
              <a:rPr lang="zh-CN" altLang="zh-CN" sz="1600" dirty="0">
                <a:solidFill>
                  <a:srgbClr val="000000"/>
                </a:solidFill>
                <a:effectLst/>
                <a:latin typeface="+mn-ea"/>
                <a:cs typeface="Times New Roman" panose="02020603050405020304" pitchFamily="18" charset="0"/>
              </a:rPr>
              <a:t>的空队列，使用</a:t>
            </a:r>
            <a:r>
              <a:rPr lang="en-US" altLang="zh-CN" sz="1600" dirty="0">
                <a:solidFill>
                  <a:srgbClr val="000000"/>
                </a:solidFill>
                <a:effectLst/>
                <a:latin typeface="+mn-ea"/>
              </a:rPr>
              <a:t>new</a:t>
            </a:r>
            <a:r>
              <a:rPr lang="zh-CN" altLang="zh-CN" sz="1600" dirty="0">
                <a:solidFill>
                  <a:srgbClr val="000000"/>
                </a:solidFill>
                <a:effectLst/>
                <a:latin typeface="+mn-ea"/>
                <a:cs typeface="Times New Roman" panose="02020603050405020304" pitchFamily="18" charset="0"/>
              </a:rPr>
              <a:t>函数来分配队列空间，用</a:t>
            </a:r>
            <a:r>
              <a:rPr lang="en-US" altLang="zh-CN" sz="1600" dirty="0" err="1">
                <a:solidFill>
                  <a:srgbClr val="000000"/>
                </a:solidFill>
                <a:effectLst/>
                <a:latin typeface="+mn-ea"/>
              </a:rPr>
              <a:t>maxsize</a:t>
            </a:r>
            <a:r>
              <a:rPr lang="zh-CN" altLang="zh-CN" sz="1600" dirty="0">
                <a:solidFill>
                  <a:srgbClr val="000000"/>
                </a:solidFill>
                <a:effectLst/>
                <a:latin typeface="+mn-ea"/>
                <a:cs typeface="Times New Roman" panose="02020603050405020304" pitchFamily="18" charset="0"/>
              </a:rPr>
              <a:t>来记录存储空间大小，同时，将队列头指针</a:t>
            </a:r>
            <a:r>
              <a:rPr lang="en-US" altLang="zh-CN" sz="1600" dirty="0">
                <a:solidFill>
                  <a:srgbClr val="000000"/>
                </a:solidFill>
                <a:effectLst/>
                <a:latin typeface="+mn-ea"/>
              </a:rPr>
              <a:t>front</a:t>
            </a:r>
            <a:r>
              <a:rPr lang="zh-CN" altLang="zh-CN" sz="1600" dirty="0">
                <a:solidFill>
                  <a:srgbClr val="000000"/>
                </a:solidFill>
                <a:effectLst/>
                <a:latin typeface="+mn-ea"/>
                <a:cs typeface="Times New Roman" panose="02020603050405020304" pitchFamily="18" charset="0"/>
              </a:rPr>
              <a:t>和队列尾指针</a:t>
            </a:r>
            <a:r>
              <a:rPr lang="en-US" altLang="zh-CN" sz="1600" dirty="0">
                <a:solidFill>
                  <a:srgbClr val="000000"/>
                </a:solidFill>
                <a:effectLst/>
                <a:latin typeface="+mn-ea"/>
              </a:rPr>
              <a:t>rear</a:t>
            </a:r>
            <a:r>
              <a:rPr lang="zh-CN" altLang="zh-CN" sz="1600" dirty="0">
                <a:solidFill>
                  <a:srgbClr val="000000"/>
                </a:solidFill>
                <a:effectLst/>
                <a:latin typeface="+mn-ea"/>
                <a:cs typeface="Times New Roman" panose="02020603050405020304" pitchFamily="18" charset="0"/>
              </a:rPr>
              <a:t>初始化为</a:t>
            </a:r>
            <a:r>
              <a:rPr lang="en-US" altLang="zh-CN" sz="1600" dirty="0">
                <a:solidFill>
                  <a:srgbClr val="000000"/>
                </a:solidFill>
                <a:effectLst/>
                <a:latin typeface="+mn-ea"/>
              </a:rPr>
              <a:t>0</a:t>
            </a:r>
            <a:r>
              <a:rPr lang="zh-CN" altLang="zh-CN" sz="1600" dirty="0">
                <a:solidFill>
                  <a:srgbClr val="000000"/>
                </a:solidFill>
                <a:effectLst/>
                <a:latin typeface="+mn-ea"/>
                <a:cs typeface="Times New Roman" panose="02020603050405020304" pitchFamily="18" charset="0"/>
              </a:rPr>
              <a:t>。</a:t>
            </a:r>
            <a:endParaRPr lang="zh-CN" altLang="en-US" sz="1600" dirty="0">
              <a:latin typeface="+mn-ea"/>
            </a:endParaRPr>
          </a:p>
        </p:txBody>
      </p:sp>
    </p:spTree>
    <p:extLst>
      <p:ext uri="{BB962C8B-B14F-4D97-AF65-F5344CB8AC3E}">
        <p14:creationId xmlns:p14="http://schemas.microsoft.com/office/powerpoint/2010/main" val="379295360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08720"/>
            <a:ext cx="7520940" cy="5184576"/>
          </a:xfrm>
        </p:spPr>
        <p:txBody>
          <a:bodyPr>
            <a:normAutofit/>
          </a:bodyPr>
          <a:lstStyle/>
          <a:p>
            <a:pPr algn="just"/>
            <a:r>
              <a:rPr lang="zh-CN" altLang="zh-CN" dirty="0"/>
              <a:t>（</a:t>
            </a:r>
            <a:r>
              <a:rPr lang="en-US" altLang="zh-CN" dirty="0"/>
              <a:t>2</a:t>
            </a:r>
            <a:r>
              <a:rPr lang="zh-CN" altLang="zh-CN" dirty="0"/>
              <a:t>）</a:t>
            </a:r>
            <a:r>
              <a:rPr lang="zh-CN" altLang="zh-CN" dirty="0">
                <a:solidFill>
                  <a:srgbClr val="FF0000"/>
                </a:solidFill>
              </a:rPr>
              <a:t>元素的入队列和出队列操作</a:t>
            </a:r>
            <a:endParaRPr lang="zh-CN" altLang="zh-CN" dirty="0"/>
          </a:p>
          <a:p>
            <a:pPr algn="just">
              <a:buFont typeface="Arial" panose="020B0604020202020204" pitchFamily="34" charset="0"/>
              <a:buChar char="•"/>
            </a:pPr>
            <a:r>
              <a:rPr lang="zh-CN" altLang="zh-CN" b="0" dirty="0"/>
              <a:t>首先要判断队列空间是否已满</a:t>
            </a:r>
            <a:endParaRPr lang="en-US" altLang="zh-CN" b="0" dirty="0"/>
          </a:p>
          <a:p>
            <a:pPr algn="just">
              <a:buFont typeface="Arial" panose="020B0604020202020204" pitchFamily="34" charset="0"/>
              <a:buChar char="•"/>
            </a:pPr>
            <a:endParaRPr lang="zh-CN" altLang="zh-CN" b="0" dirty="0"/>
          </a:p>
          <a:p>
            <a:pPr lvl="3" algn="just">
              <a:buNone/>
            </a:pPr>
            <a:r>
              <a:rPr lang="zh-CN" altLang="zh-CN" b="1" dirty="0"/>
              <a:t>算法</a:t>
            </a:r>
            <a:r>
              <a:rPr lang="en-US" altLang="zh-CN" b="1" dirty="0"/>
              <a:t>4.19</a:t>
            </a:r>
            <a:r>
              <a:rPr lang="zh-CN" altLang="zh-CN" b="1" dirty="0"/>
              <a:t>：</a:t>
            </a:r>
            <a:r>
              <a:rPr lang="zh-CN" altLang="zh-CN" b="1" dirty="0">
                <a:solidFill>
                  <a:srgbClr val="FF0000"/>
                </a:solidFill>
              </a:rPr>
              <a:t>入队列操作</a:t>
            </a:r>
            <a:r>
              <a:rPr lang="zh-CN" altLang="en-US" dirty="0"/>
              <a:t>：</a:t>
            </a:r>
            <a:r>
              <a:rPr lang="zh-CN" altLang="zh-CN" dirty="0"/>
              <a:t>函数</a:t>
            </a:r>
            <a:r>
              <a:rPr lang="en-US" altLang="zh-CN" dirty="0"/>
              <a:t>InQueue()</a:t>
            </a:r>
            <a:endParaRPr lang="zh-CN" altLang="zh-CN" b="1" dirty="0"/>
          </a:p>
          <a:p>
            <a:pPr lvl="3" algn="just">
              <a:buNone/>
            </a:pPr>
            <a:r>
              <a:rPr lang="en-US" altLang="zh-CN" b="0" dirty="0"/>
              <a:t>void </a:t>
            </a:r>
            <a:r>
              <a:rPr lang="en-US" altLang="zh-CN" b="0" dirty="0" err="1"/>
              <a:t>SeqQueue</a:t>
            </a:r>
            <a:r>
              <a:rPr lang="en-US" altLang="zh-CN" b="0" dirty="0"/>
              <a:t>&lt;Type&gt;::</a:t>
            </a:r>
            <a:r>
              <a:rPr lang="en-US" altLang="zh-CN" b="0" dirty="0" err="1"/>
              <a:t>InQueue</a:t>
            </a:r>
            <a:r>
              <a:rPr lang="en-US" altLang="zh-CN" b="0" dirty="0"/>
              <a:t> (Type &amp;e){</a:t>
            </a:r>
            <a:endParaRPr lang="zh-CN" altLang="zh-CN" b="0" dirty="0"/>
          </a:p>
          <a:p>
            <a:pPr lvl="3" algn="just">
              <a:buNone/>
            </a:pPr>
            <a:r>
              <a:rPr lang="en-US" altLang="zh-CN" b="0" dirty="0"/>
              <a:t>    if( </a:t>
            </a:r>
            <a:r>
              <a:rPr lang="en-US" altLang="zh-CN" b="0" dirty="0" err="1"/>
              <a:t>IsFull</a:t>
            </a:r>
            <a:r>
              <a:rPr lang="en-US" altLang="zh-CN" b="0" dirty="0"/>
              <a:t>() ){</a:t>
            </a:r>
            <a:r>
              <a:rPr lang="en-US" altLang="zh-CN" b="0" dirty="0" err="1"/>
              <a:t>cout</a:t>
            </a:r>
            <a:r>
              <a:rPr lang="en-US" altLang="zh-CN" b="0" dirty="0"/>
              <a:t>&lt;&lt;"</a:t>
            </a:r>
            <a:r>
              <a:rPr lang="zh-CN" altLang="zh-CN" b="0" dirty="0"/>
              <a:t>队列已满！</a:t>
            </a:r>
            <a:r>
              <a:rPr lang="en-US" altLang="zh-CN" b="0" dirty="0"/>
              <a:t>"&lt;&lt;</a:t>
            </a:r>
            <a:r>
              <a:rPr lang="en-US" altLang="zh-CN" b="0" dirty="0" err="1"/>
              <a:t>endl</a:t>
            </a:r>
            <a:r>
              <a:rPr lang="en-US" altLang="zh-CN" b="0" dirty="0"/>
              <a:t>; exit(0);}</a:t>
            </a:r>
            <a:endParaRPr lang="zh-CN" altLang="zh-CN" b="0" dirty="0"/>
          </a:p>
          <a:p>
            <a:pPr lvl="3" algn="just">
              <a:buNone/>
            </a:pPr>
            <a:r>
              <a:rPr lang="en-US" altLang="zh-CN" b="0" dirty="0"/>
              <a:t>    </a:t>
            </a:r>
            <a:r>
              <a:rPr lang="en-US" altLang="zh-CN" b="1" dirty="0"/>
              <a:t>queue[rear] = e;</a:t>
            </a:r>
            <a:endParaRPr lang="zh-CN" altLang="zh-CN" b="1" dirty="0"/>
          </a:p>
          <a:p>
            <a:pPr lvl="3" algn="just">
              <a:buNone/>
            </a:pPr>
            <a:r>
              <a:rPr lang="en-US" altLang="zh-CN" b="1" dirty="0"/>
              <a:t>    rear = (rear+1)%</a:t>
            </a:r>
            <a:r>
              <a:rPr lang="en-US" altLang="zh-CN" b="1" dirty="0" err="1"/>
              <a:t>maxsize</a:t>
            </a:r>
            <a:r>
              <a:rPr lang="en-US" altLang="zh-CN" b="1" dirty="0"/>
              <a:t>;</a:t>
            </a:r>
            <a:endParaRPr lang="zh-CN" altLang="zh-CN" b="1" dirty="0"/>
          </a:p>
          <a:p>
            <a:pPr lvl="3" algn="just">
              <a:buNone/>
            </a:pPr>
            <a:r>
              <a:rPr lang="en-US" altLang="zh-CN" b="0" dirty="0"/>
              <a:t>}</a:t>
            </a:r>
            <a:endParaRPr lang="zh-CN" altLang="zh-CN" b="0" dirty="0"/>
          </a:p>
        </p:txBody>
      </p:sp>
    </p:spTree>
    <p:extLst>
      <p:ext uri="{BB962C8B-B14F-4D97-AF65-F5344CB8AC3E}">
        <p14:creationId xmlns:p14="http://schemas.microsoft.com/office/powerpoint/2010/main" val="171841578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052736"/>
            <a:ext cx="7816382" cy="5184576"/>
          </a:xfrm>
        </p:spPr>
        <p:txBody>
          <a:bodyPr>
            <a:normAutofit/>
          </a:bodyPr>
          <a:lstStyle/>
          <a:p>
            <a:pPr algn="just">
              <a:buFont typeface="Arial" panose="020B0604020202020204" pitchFamily="34" charset="0"/>
              <a:buChar char="•"/>
            </a:pPr>
            <a:r>
              <a:rPr lang="zh-CN" altLang="zh-CN" b="0" dirty="0"/>
              <a:t>循环队列的出队列操作</a:t>
            </a:r>
            <a:r>
              <a:rPr lang="en-US" altLang="zh-CN" b="0" dirty="0"/>
              <a:t>:</a:t>
            </a:r>
            <a:r>
              <a:rPr lang="zh-CN" altLang="zh-CN" b="0" dirty="0"/>
              <a:t>函数</a:t>
            </a:r>
            <a:r>
              <a:rPr lang="en-US" altLang="zh-CN" b="0" dirty="0" err="1"/>
              <a:t>OutQueue</a:t>
            </a:r>
            <a:r>
              <a:rPr lang="en-US" altLang="zh-CN" b="0" dirty="0"/>
              <a:t>()</a:t>
            </a:r>
          </a:p>
          <a:p>
            <a:pPr algn="just">
              <a:buFont typeface="Arial" panose="020B0604020202020204" pitchFamily="34" charset="0"/>
              <a:buChar char="•"/>
            </a:pPr>
            <a:endParaRPr lang="zh-CN" altLang="zh-CN" b="0" dirty="0"/>
          </a:p>
          <a:p>
            <a:pPr lvl="3" algn="just">
              <a:buNone/>
            </a:pPr>
            <a:r>
              <a:rPr lang="zh-CN" altLang="zh-CN" b="1" dirty="0"/>
              <a:t>算法</a:t>
            </a:r>
            <a:r>
              <a:rPr lang="en-US" altLang="zh-CN" b="1" dirty="0"/>
              <a:t>:3.20</a:t>
            </a:r>
            <a:r>
              <a:rPr lang="zh-CN" altLang="zh-CN" b="1" dirty="0"/>
              <a:t>：</a:t>
            </a:r>
            <a:r>
              <a:rPr lang="zh-CN" altLang="zh-CN" b="1" dirty="0">
                <a:solidFill>
                  <a:srgbClr val="FF0000"/>
                </a:solidFill>
              </a:rPr>
              <a:t>出队列操作</a:t>
            </a:r>
          </a:p>
          <a:p>
            <a:pPr lvl="3" algn="just">
              <a:buNone/>
            </a:pPr>
            <a:r>
              <a:rPr lang="en-US" altLang="zh-CN" b="0" dirty="0"/>
              <a:t>Type &amp; </a:t>
            </a:r>
            <a:r>
              <a:rPr lang="en-US" altLang="zh-CN" b="0" dirty="0" err="1"/>
              <a:t>SeqQueue</a:t>
            </a:r>
            <a:r>
              <a:rPr lang="en-US" altLang="zh-CN" b="0" dirty="0"/>
              <a:t>&lt;Type&gt;::</a:t>
            </a:r>
            <a:r>
              <a:rPr lang="en-US" altLang="zh-CN" b="0" dirty="0" err="1"/>
              <a:t>OutQueue</a:t>
            </a:r>
            <a:r>
              <a:rPr lang="en-US" altLang="zh-CN" b="0" dirty="0"/>
              <a:t>(){</a:t>
            </a:r>
            <a:endParaRPr lang="zh-CN" altLang="zh-CN" b="0" dirty="0"/>
          </a:p>
          <a:p>
            <a:pPr lvl="3" algn="just">
              <a:buNone/>
            </a:pPr>
            <a:r>
              <a:rPr lang="en-US" altLang="zh-CN" b="0" dirty="0"/>
              <a:t>    if( </a:t>
            </a:r>
            <a:r>
              <a:rPr lang="en-US" altLang="zh-CN" b="0" dirty="0" err="1"/>
              <a:t>IsEmpty</a:t>
            </a:r>
            <a:r>
              <a:rPr lang="en-US" altLang="zh-CN" b="0" dirty="0"/>
              <a:t>() ){ </a:t>
            </a:r>
            <a:r>
              <a:rPr lang="en-US" altLang="zh-CN" b="0" dirty="0" err="1"/>
              <a:t>cout</a:t>
            </a:r>
            <a:r>
              <a:rPr lang="en-US" altLang="zh-CN" b="0" dirty="0"/>
              <a:t>&lt;&lt;"</a:t>
            </a:r>
            <a:r>
              <a:rPr lang="zh-CN" altLang="zh-CN" b="0" dirty="0"/>
              <a:t>队列为空！</a:t>
            </a:r>
            <a:r>
              <a:rPr lang="en-US" altLang="zh-CN" b="0" dirty="0"/>
              <a:t>"&lt;&lt;</a:t>
            </a:r>
            <a:r>
              <a:rPr lang="en-US" altLang="zh-CN" b="0" dirty="0" err="1"/>
              <a:t>endl</a:t>
            </a:r>
            <a:r>
              <a:rPr lang="en-US" altLang="zh-CN" b="0" dirty="0"/>
              <a:t>; exit(0); }</a:t>
            </a:r>
            <a:endParaRPr lang="zh-CN" altLang="zh-CN" b="0" dirty="0"/>
          </a:p>
          <a:p>
            <a:pPr lvl="3" algn="just">
              <a:buNone/>
            </a:pPr>
            <a:r>
              <a:rPr lang="en-US" altLang="zh-CN" b="0" dirty="0"/>
              <a:t>    </a:t>
            </a:r>
            <a:r>
              <a:rPr lang="en-US" altLang="zh-CN" b="1" dirty="0"/>
              <a:t>Type e=queue[front];</a:t>
            </a:r>
            <a:endParaRPr lang="zh-CN" altLang="zh-CN" b="1" dirty="0"/>
          </a:p>
          <a:p>
            <a:pPr lvl="3" algn="just">
              <a:buNone/>
            </a:pPr>
            <a:r>
              <a:rPr lang="en-US" altLang="zh-CN" b="1" dirty="0"/>
              <a:t>    front = (front+1)%</a:t>
            </a:r>
            <a:r>
              <a:rPr lang="en-US" altLang="zh-CN" b="1" dirty="0" err="1"/>
              <a:t>maxsize</a:t>
            </a:r>
            <a:r>
              <a:rPr lang="en-US" altLang="zh-CN" b="1" dirty="0"/>
              <a:t>;</a:t>
            </a:r>
            <a:endParaRPr lang="zh-CN" altLang="zh-CN" b="1" dirty="0"/>
          </a:p>
          <a:p>
            <a:pPr lvl="3" algn="just">
              <a:buNone/>
            </a:pPr>
            <a:r>
              <a:rPr lang="en-US" altLang="zh-CN" b="0" dirty="0"/>
              <a:t>    return e;</a:t>
            </a:r>
            <a:endParaRPr lang="zh-CN" altLang="zh-CN" b="0" dirty="0"/>
          </a:p>
          <a:p>
            <a:pPr lvl="3" algn="just">
              <a:buNone/>
            </a:pPr>
            <a:r>
              <a:rPr lang="en-US" altLang="zh-CN" b="0" dirty="0"/>
              <a:t>}</a:t>
            </a:r>
            <a:endParaRPr lang="zh-CN" altLang="zh-CN" b="0" dirty="0"/>
          </a:p>
          <a:p>
            <a:pPr algn="just"/>
            <a:endParaRPr lang="zh-CN" altLang="en-US" dirty="0"/>
          </a:p>
        </p:txBody>
      </p:sp>
    </p:spTree>
    <p:extLst>
      <p:ext uri="{BB962C8B-B14F-4D97-AF65-F5344CB8AC3E}">
        <p14:creationId xmlns:p14="http://schemas.microsoft.com/office/powerpoint/2010/main" val="341528589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7520940" cy="5184576"/>
          </a:xfrm>
        </p:spPr>
        <p:txBody>
          <a:bodyPr>
            <a:normAutofit/>
          </a:bodyPr>
          <a:lstStyle/>
          <a:p>
            <a:pPr algn="just"/>
            <a:r>
              <a:rPr lang="zh-CN" altLang="zh-CN" dirty="0"/>
              <a:t>（</a:t>
            </a:r>
            <a:r>
              <a:rPr lang="en-US" altLang="zh-CN" dirty="0"/>
              <a:t>3</a:t>
            </a:r>
            <a:r>
              <a:rPr lang="zh-CN" altLang="zh-CN" dirty="0"/>
              <a:t>）</a:t>
            </a:r>
            <a:r>
              <a:rPr lang="zh-CN" altLang="zh-CN" dirty="0">
                <a:solidFill>
                  <a:srgbClr val="FF0000"/>
                </a:solidFill>
              </a:rPr>
              <a:t>返回当前队列头元素</a:t>
            </a:r>
            <a:r>
              <a:rPr lang="zh-CN" altLang="zh-CN" dirty="0"/>
              <a:t>操作</a:t>
            </a:r>
            <a:r>
              <a:rPr lang="en-US" altLang="zh-CN" dirty="0"/>
              <a:t>:</a:t>
            </a:r>
            <a:r>
              <a:rPr lang="zh-CN" altLang="zh-CN" b="0" dirty="0"/>
              <a:t>函数</a:t>
            </a:r>
            <a:r>
              <a:rPr lang="en-US" altLang="zh-CN" b="0" dirty="0" err="1"/>
              <a:t>GetFront</a:t>
            </a:r>
            <a:r>
              <a:rPr lang="en-US" altLang="zh-CN" b="0" dirty="0"/>
              <a:t>()</a:t>
            </a:r>
            <a:endParaRPr lang="zh-CN" altLang="zh-CN" dirty="0"/>
          </a:p>
          <a:p>
            <a:pPr algn="just">
              <a:buFont typeface="Arial" panose="020B0604020202020204" pitchFamily="34" charset="0"/>
              <a:buChar char="•"/>
            </a:pPr>
            <a:r>
              <a:rPr lang="zh-CN" altLang="zh-CN" b="0" dirty="0"/>
              <a:t>在返回值之前，需要判断队列的当前状态，在队列非空的状态下，输出当前队列头元素的值。</a:t>
            </a:r>
            <a:endParaRPr lang="en-US" altLang="zh-CN" b="0" dirty="0"/>
          </a:p>
          <a:p>
            <a:pPr algn="just">
              <a:buFont typeface="Arial" panose="020B0604020202020204" pitchFamily="34" charset="0"/>
              <a:buChar char="•"/>
            </a:pPr>
            <a:r>
              <a:rPr lang="zh-CN" altLang="zh-CN" b="0" dirty="0"/>
              <a:t>在输出元素值后，不需要改变队列头指针。</a:t>
            </a:r>
            <a:endParaRPr lang="en-US" altLang="zh-CN" b="0" dirty="0"/>
          </a:p>
          <a:p>
            <a:pPr algn="just">
              <a:buFont typeface="Arial" panose="020B0604020202020204" pitchFamily="34" charset="0"/>
              <a:buChar char="•"/>
            </a:pPr>
            <a:endParaRPr lang="zh-CN" altLang="zh-CN" b="0" dirty="0"/>
          </a:p>
          <a:p>
            <a:pPr lvl="2" algn="just">
              <a:buNone/>
            </a:pPr>
            <a:r>
              <a:rPr lang="zh-CN" altLang="zh-CN" b="1" dirty="0"/>
              <a:t>算法</a:t>
            </a:r>
            <a:r>
              <a:rPr lang="en-US" altLang="zh-CN" b="1" dirty="0"/>
              <a:t>3.21</a:t>
            </a:r>
            <a:r>
              <a:rPr lang="zh-CN" altLang="zh-CN" b="1" dirty="0"/>
              <a:t>：</a:t>
            </a:r>
            <a:r>
              <a:rPr lang="zh-CN" altLang="zh-CN" b="1" dirty="0">
                <a:solidFill>
                  <a:srgbClr val="FF0000"/>
                </a:solidFill>
              </a:rPr>
              <a:t>返回当前队列头元素</a:t>
            </a:r>
          </a:p>
          <a:p>
            <a:pPr lvl="2" algn="just">
              <a:buNone/>
            </a:pPr>
            <a:r>
              <a:rPr lang="en-US" altLang="zh-CN" b="0" dirty="0"/>
              <a:t>Type &amp;</a:t>
            </a:r>
            <a:r>
              <a:rPr lang="en-US" altLang="zh-CN" b="0" dirty="0" err="1"/>
              <a:t>SeqQueue</a:t>
            </a:r>
            <a:r>
              <a:rPr lang="en-US" altLang="zh-CN" b="0" dirty="0"/>
              <a:t>&lt;Type&gt;::</a:t>
            </a:r>
            <a:r>
              <a:rPr lang="en-US" altLang="zh-CN" b="0" dirty="0" err="1"/>
              <a:t>GetFront</a:t>
            </a:r>
            <a:r>
              <a:rPr lang="en-US" altLang="zh-CN" b="0" dirty="0"/>
              <a:t>(){</a:t>
            </a:r>
            <a:endParaRPr lang="zh-CN" altLang="zh-CN" b="0" dirty="0"/>
          </a:p>
          <a:p>
            <a:pPr lvl="2" algn="just">
              <a:buNone/>
            </a:pPr>
            <a:r>
              <a:rPr lang="en-US" altLang="zh-CN" b="0" dirty="0"/>
              <a:t>    if( </a:t>
            </a:r>
            <a:r>
              <a:rPr lang="en-US" altLang="zh-CN" b="0" dirty="0" err="1"/>
              <a:t>IsEmpty</a:t>
            </a:r>
            <a:r>
              <a:rPr lang="en-US" altLang="zh-CN" b="0" dirty="0"/>
              <a:t>() ){</a:t>
            </a:r>
            <a:r>
              <a:rPr lang="en-US" altLang="zh-CN" b="0" dirty="0" err="1"/>
              <a:t>cout</a:t>
            </a:r>
            <a:r>
              <a:rPr lang="en-US" altLang="zh-CN" b="0" dirty="0"/>
              <a:t>&lt;&lt;"</a:t>
            </a:r>
            <a:r>
              <a:rPr lang="zh-CN" altLang="zh-CN" b="0" dirty="0"/>
              <a:t>队列为空！</a:t>
            </a:r>
            <a:r>
              <a:rPr lang="en-US" altLang="zh-CN" b="0" dirty="0"/>
              <a:t>"&lt;&lt;</a:t>
            </a:r>
            <a:r>
              <a:rPr lang="en-US" altLang="zh-CN" b="0" dirty="0" err="1"/>
              <a:t>endl</a:t>
            </a:r>
            <a:r>
              <a:rPr lang="en-US" altLang="zh-CN" b="0" dirty="0"/>
              <a:t>; exit(0);}</a:t>
            </a:r>
            <a:endParaRPr lang="zh-CN" altLang="zh-CN" b="0" dirty="0"/>
          </a:p>
          <a:p>
            <a:pPr lvl="2" algn="just">
              <a:buNone/>
            </a:pPr>
            <a:r>
              <a:rPr lang="en-US" altLang="zh-CN" b="0" dirty="0"/>
              <a:t>    return </a:t>
            </a:r>
            <a:r>
              <a:rPr lang="en-US" altLang="zh-CN" b="1" dirty="0"/>
              <a:t>queue[front]</a:t>
            </a:r>
            <a:r>
              <a:rPr lang="en-US" altLang="zh-CN" b="0" dirty="0"/>
              <a:t>;</a:t>
            </a:r>
            <a:endParaRPr lang="zh-CN" altLang="zh-CN" b="0" dirty="0"/>
          </a:p>
          <a:p>
            <a:pPr lvl="2" algn="just">
              <a:buNone/>
            </a:pPr>
            <a:r>
              <a:rPr lang="en-US" altLang="zh-CN" b="0" dirty="0"/>
              <a:t>}</a:t>
            </a:r>
            <a:endParaRPr lang="zh-CN" altLang="zh-CN" b="0" dirty="0"/>
          </a:p>
          <a:p>
            <a:pPr algn="just"/>
            <a:endParaRPr lang="zh-CN" altLang="en-US" dirty="0"/>
          </a:p>
        </p:txBody>
      </p:sp>
    </p:spTree>
    <p:extLst>
      <p:ext uri="{BB962C8B-B14F-4D97-AF65-F5344CB8AC3E}">
        <p14:creationId xmlns:p14="http://schemas.microsoft.com/office/powerpoint/2010/main" val="269552113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en-US" altLang="zh-CN" b="1" dirty="0"/>
              <a:t>3.5.2 </a:t>
            </a:r>
            <a:r>
              <a:rPr lang="zh-CN" altLang="zh-CN" b="1" dirty="0"/>
              <a:t>队列的链式存储结构及实现</a:t>
            </a:r>
            <a:endParaRPr lang="zh-CN" altLang="en-US" dirty="0"/>
          </a:p>
        </p:txBody>
      </p:sp>
      <p:sp>
        <p:nvSpPr>
          <p:cNvPr id="3" name="内容占位符 2"/>
          <p:cNvSpPr>
            <a:spLocks noGrp="1"/>
          </p:cNvSpPr>
          <p:nvPr>
            <p:ph idx="1"/>
          </p:nvPr>
        </p:nvSpPr>
        <p:spPr>
          <a:xfrm>
            <a:off x="827584" y="1628800"/>
            <a:ext cx="7520940" cy="4392488"/>
          </a:xfrm>
        </p:spPr>
        <p:txBody>
          <a:bodyPr>
            <a:normAutofit/>
          </a:bodyPr>
          <a:lstStyle/>
          <a:p>
            <a:pPr algn="just">
              <a:buFont typeface="Arial" panose="020B0604020202020204" pitchFamily="34" charset="0"/>
              <a:buChar char="•"/>
            </a:pPr>
            <a:r>
              <a:rPr lang="zh-CN" altLang="zh-CN" dirty="0">
                <a:solidFill>
                  <a:srgbClr val="FF0000"/>
                </a:solidFill>
              </a:rPr>
              <a:t>队列的链式存储结构又称为链队列</a:t>
            </a:r>
            <a:r>
              <a:rPr lang="zh-CN" altLang="zh-CN" b="0" dirty="0"/>
              <a:t>。</a:t>
            </a:r>
            <a:endParaRPr lang="en-US" altLang="zh-CN" b="0" dirty="0"/>
          </a:p>
          <a:p>
            <a:pPr algn="just">
              <a:buFont typeface="Arial" panose="020B0604020202020204" pitchFamily="34" charset="0"/>
              <a:buChar char="•"/>
            </a:pPr>
            <a:r>
              <a:rPr lang="zh-CN" altLang="zh-CN" b="0" dirty="0"/>
              <a:t>链队列就是用一个链表来依次存放从队列头到队列尾的所有数据元素。</a:t>
            </a:r>
            <a:endParaRPr lang="en-US" altLang="zh-CN" b="0" dirty="0"/>
          </a:p>
          <a:p>
            <a:pPr algn="just">
              <a:buFont typeface="Arial" panose="020B0604020202020204" pitchFamily="34" charset="0"/>
              <a:buChar char="•"/>
            </a:pPr>
            <a:r>
              <a:rPr lang="zh-CN" altLang="zh-CN" b="0" dirty="0"/>
              <a:t>由于在入队列和出队列过程中，队列头或队列尾的位置会发生改变，因此还需要使用两个指针来分别记录队列头和队列尾的当前位置。</a:t>
            </a:r>
            <a:endParaRPr lang="en-US" altLang="zh-CN" b="0" dirty="0"/>
          </a:p>
          <a:p>
            <a:pPr algn="just">
              <a:buFont typeface="Arial" panose="020B0604020202020204" pitchFamily="34" charset="0"/>
              <a:buChar char="•"/>
            </a:pPr>
            <a:r>
              <a:rPr lang="zh-CN" altLang="zh-CN" b="0" dirty="0"/>
              <a:t>存放队列头地址的指针称为</a:t>
            </a:r>
            <a:r>
              <a:rPr lang="zh-CN" altLang="zh-CN" dirty="0">
                <a:solidFill>
                  <a:srgbClr val="FF0000"/>
                </a:solidFill>
              </a:rPr>
              <a:t>队列头指针</a:t>
            </a:r>
            <a:r>
              <a:rPr lang="zh-CN" altLang="zh-CN" b="0" dirty="0"/>
              <a:t>，存放队列尾地址的指针称为</a:t>
            </a:r>
            <a:r>
              <a:rPr lang="zh-CN" altLang="zh-CN" dirty="0">
                <a:solidFill>
                  <a:srgbClr val="FF0000"/>
                </a:solidFill>
              </a:rPr>
              <a:t>队列尾指针</a:t>
            </a:r>
            <a:r>
              <a:rPr lang="zh-CN" altLang="zh-CN" b="0" dirty="0"/>
              <a:t>。</a:t>
            </a:r>
          </a:p>
          <a:p>
            <a:pPr algn="just"/>
            <a:endParaRPr lang="zh-CN" altLang="en-US" dirty="0"/>
          </a:p>
        </p:txBody>
      </p:sp>
    </p:spTree>
    <p:extLst>
      <p:ext uri="{BB962C8B-B14F-4D97-AF65-F5344CB8AC3E}">
        <p14:creationId xmlns:p14="http://schemas.microsoft.com/office/powerpoint/2010/main" val="46138113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7520940" cy="4227921"/>
          </a:xfrm>
        </p:spPr>
        <p:txBody>
          <a:bodyPr/>
          <a:lstStyle/>
          <a:p>
            <a:pPr algn="just"/>
            <a:r>
              <a:rPr lang="zh-CN" altLang="zh-CN" b="0" dirty="0"/>
              <a:t>两种形式的链栈</a:t>
            </a:r>
            <a:r>
              <a:rPr lang="zh-CN" altLang="en-US" b="0" dirty="0"/>
              <a:t>：</a:t>
            </a:r>
          </a:p>
        </p:txBody>
      </p:sp>
      <p:pic>
        <p:nvPicPr>
          <p:cNvPr id="60417" name="Picture 1"/>
          <p:cNvPicPr>
            <a:picLocks noChangeAspect="1" noChangeArrowheads="1"/>
          </p:cNvPicPr>
          <p:nvPr/>
        </p:nvPicPr>
        <p:blipFill>
          <a:blip r:embed="rId2" cstate="print"/>
          <a:srcRect/>
          <a:stretch>
            <a:fillRect/>
          </a:stretch>
        </p:blipFill>
        <p:spPr bwMode="auto">
          <a:xfrm>
            <a:off x="357158" y="1714488"/>
            <a:ext cx="8505825" cy="4429125"/>
          </a:xfrm>
          <a:prstGeom prst="rect">
            <a:avLst/>
          </a:prstGeom>
          <a:noFill/>
          <a:ln w="9525">
            <a:noFill/>
            <a:miter lim="800000"/>
            <a:headEnd/>
            <a:tailEnd/>
          </a:ln>
          <a:effectLst/>
        </p:spPr>
      </p:pic>
      <p:sp>
        <p:nvSpPr>
          <p:cNvPr id="2" name="文本框 1"/>
          <p:cNvSpPr txBox="1"/>
          <p:nvPr/>
        </p:nvSpPr>
        <p:spPr>
          <a:xfrm>
            <a:off x="467544" y="4005064"/>
            <a:ext cx="8496944" cy="2232248"/>
          </a:xfrm>
          <a:prstGeom prst="rect">
            <a:avLst/>
          </a:prstGeom>
          <a:noFill/>
        </p:spPr>
        <p:txBody>
          <a:bodyPr wrap="square" rtlCol="0">
            <a:spAutoFit/>
          </a:bodyPr>
          <a:lstStyle/>
          <a:p>
            <a:endParaRPr lang="zh-CN" altLang="en-US"/>
          </a:p>
        </p:txBody>
      </p:sp>
    </p:spTree>
    <p:extLst>
      <p:ext uri="{BB962C8B-B14F-4D97-AF65-F5344CB8AC3E}">
        <p14:creationId xmlns:p14="http://schemas.microsoft.com/office/powerpoint/2010/main" val="247486764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8136904" cy="5184576"/>
          </a:xfrm>
        </p:spPr>
        <p:txBody>
          <a:bodyPr>
            <a:normAutofit fontScale="85000" lnSpcReduction="10000"/>
          </a:bodyPr>
          <a:lstStyle/>
          <a:p>
            <a:pPr algn="just"/>
            <a:r>
              <a:rPr lang="zh-CN" altLang="zh-CN" dirty="0"/>
              <a:t>不带头结点的链队列的数据类型定义：</a:t>
            </a:r>
          </a:p>
          <a:p>
            <a:pPr algn="just"/>
            <a:r>
              <a:rPr lang="zh-CN" altLang="zh-CN" dirty="0"/>
              <a:t>算法</a:t>
            </a:r>
            <a:r>
              <a:rPr lang="en-US" altLang="zh-CN" dirty="0"/>
              <a:t>3.22</a:t>
            </a:r>
            <a:r>
              <a:rPr lang="zh-CN" altLang="zh-CN" dirty="0"/>
              <a:t>：</a:t>
            </a:r>
            <a:r>
              <a:rPr lang="zh-CN" altLang="zh-CN" b="0" dirty="0">
                <a:solidFill>
                  <a:srgbClr val="FF0000"/>
                </a:solidFill>
              </a:rPr>
              <a:t>不带头结点的链队列</a:t>
            </a:r>
            <a:r>
              <a:rPr lang="zh-CN" altLang="en-US" b="0" dirty="0">
                <a:solidFill>
                  <a:srgbClr val="FF0000"/>
                </a:solidFill>
              </a:rPr>
              <a:t>的</a:t>
            </a:r>
            <a:r>
              <a:rPr lang="zh-CN" altLang="en-US" dirty="0">
                <a:solidFill>
                  <a:srgbClr val="FF0000"/>
                </a:solidFill>
              </a:rPr>
              <a:t>结点</a:t>
            </a:r>
            <a:r>
              <a:rPr lang="zh-CN" altLang="zh-CN" dirty="0">
                <a:solidFill>
                  <a:srgbClr val="FF0000"/>
                </a:solidFill>
              </a:rPr>
              <a:t>类型</a:t>
            </a:r>
            <a:r>
              <a:rPr lang="zh-CN" altLang="zh-CN" dirty="0"/>
              <a:t>定义</a:t>
            </a:r>
          </a:p>
          <a:p>
            <a:pPr algn="just"/>
            <a:r>
              <a:rPr lang="en-US" altLang="zh-CN" b="0" dirty="0"/>
              <a:t>class </a:t>
            </a:r>
            <a:r>
              <a:rPr lang="en-US" altLang="zh-CN" b="0" dirty="0" err="1"/>
              <a:t>LinkQueue</a:t>
            </a:r>
            <a:r>
              <a:rPr lang="en-US" altLang="zh-CN" b="0" dirty="0"/>
              <a:t>;                              //</a:t>
            </a:r>
            <a:r>
              <a:rPr lang="zh-CN" altLang="zh-CN" b="0" dirty="0"/>
              <a:t>链队列类的前视说明</a:t>
            </a:r>
          </a:p>
          <a:p>
            <a:pPr algn="just"/>
            <a:r>
              <a:rPr lang="en-US" altLang="zh-CN" b="0" dirty="0"/>
              <a:t>class LinkQueueNode{                     //</a:t>
            </a:r>
            <a:r>
              <a:rPr lang="zh-CN" altLang="zh-CN" b="0" dirty="0"/>
              <a:t>结点类的定义</a:t>
            </a:r>
          </a:p>
          <a:p>
            <a:pPr algn="just"/>
            <a:r>
              <a:rPr lang="en-US" altLang="zh-CN" b="0" dirty="0"/>
              <a:t>    friend class LinkQueue&lt;Type&gt;;   //</a:t>
            </a:r>
            <a:r>
              <a:rPr lang="zh-CN" altLang="zh-CN" b="0" dirty="0"/>
              <a:t>将链队列类说明为结点类的友元</a:t>
            </a:r>
          </a:p>
          <a:p>
            <a:pPr algn="just"/>
            <a:r>
              <a:rPr lang="en-US" altLang="zh-CN" b="0" dirty="0"/>
              <a:t>private:</a:t>
            </a:r>
            <a:endParaRPr lang="zh-CN" altLang="zh-CN" b="0" dirty="0"/>
          </a:p>
          <a:p>
            <a:pPr algn="just"/>
            <a:r>
              <a:rPr lang="en-US" altLang="zh-CN" b="0" dirty="0"/>
              <a:t>    Type </a:t>
            </a:r>
            <a:r>
              <a:rPr lang="en-US" altLang="zh-CN" b="0" dirty="0" err="1"/>
              <a:t>elem</a:t>
            </a:r>
            <a:r>
              <a:rPr lang="en-US" altLang="zh-CN" b="0" dirty="0"/>
              <a:t>;                 		//</a:t>
            </a:r>
            <a:r>
              <a:rPr lang="zh-CN" altLang="zh-CN" b="0" dirty="0">
                <a:solidFill>
                  <a:srgbClr val="FF0000"/>
                </a:solidFill>
              </a:rPr>
              <a:t>结点类的数据域</a:t>
            </a:r>
          </a:p>
          <a:p>
            <a:pPr algn="just"/>
            <a:r>
              <a:rPr lang="en-US" altLang="zh-CN" b="0" dirty="0"/>
              <a:t>    </a:t>
            </a:r>
            <a:r>
              <a:rPr lang="en-US" altLang="zh-CN" b="0" dirty="0" err="1"/>
              <a:t>LinkQueueNode</a:t>
            </a:r>
            <a:r>
              <a:rPr lang="en-US" altLang="zh-CN" b="0" dirty="0"/>
              <a:t>&lt;Type&gt; *next;    //</a:t>
            </a:r>
            <a:r>
              <a:rPr lang="zh-CN" altLang="zh-CN" b="0" dirty="0">
                <a:solidFill>
                  <a:srgbClr val="FF0000"/>
                </a:solidFill>
              </a:rPr>
              <a:t>结点类的指针域</a:t>
            </a:r>
          </a:p>
          <a:p>
            <a:pPr algn="just"/>
            <a:r>
              <a:rPr lang="en-US" altLang="zh-CN" b="0" dirty="0"/>
              <a:t>public:</a:t>
            </a:r>
            <a:endParaRPr lang="zh-CN" altLang="zh-CN" b="0" dirty="0"/>
          </a:p>
          <a:p>
            <a:pPr algn="just"/>
            <a:r>
              <a:rPr lang="en-US" altLang="zh-CN" b="0" dirty="0"/>
              <a:t>    LinkQueueNode(Type &amp;e, LinkQueueNode&lt;Type&gt; *p= NULL):elem (e),next(p) {};           //</a:t>
            </a:r>
            <a:r>
              <a:rPr lang="zh-CN" altLang="zh-CN" b="0" dirty="0"/>
              <a:t>结点类的构造函数</a:t>
            </a:r>
          </a:p>
          <a:p>
            <a:pPr algn="just"/>
            <a:r>
              <a:rPr lang="en-US" altLang="zh-CN" b="0" dirty="0"/>
              <a:t>};</a:t>
            </a:r>
            <a:endParaRPr lang="zh-CN" altLang="zh-CN" b="0" dirty="0"/>
          </a:p>
          <a:p>
            <a:pPr algn="just"/>
            <a:endParaRPr lang="zh-CN" altLang="en-US" dirty="0"/>
          </a:p>
        </p:txBody>
      </p:sp>
    </p:spTree>
    <p:extLst>
      <p:ext uri="{BB962C8B-B14F-4D97-AF65-F5344CB8AC3E}">
        <p14:creationId xmlns:p14="http://schemas.microsoft.com/office/powerpoint/2010/main" val="77260138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908720"/>
            <a:ext cx="8640960" cy="5328592"/>
          </a:xfrm>
        </p:spPr>
        <p:txBody>
          <a:bodyPr>
            <a:normAutofit fontScale="77500" lnSpcReduction="20000"/>
          </a:bodyPr>
          <a:lstStyle/>
          <a:p>
            <a:pPr algn="just"/>
            <a:r>
              <a:rPr lang="en-US" altLang="zh-CN" b="0" dirty="0"/>
              <a:t>class </a:t>
            </a:r>
            <a:r>
              <a:rPr lang="en-US" altLang="zh-CN" b="0" dirty="0" err="1"/>
              <a:t>LinkQueue</a:t>
            </a:r>
            <a:r>
              <a:rPr lang="en-US" altLang="zh-CN" b="0" dirty="0"/>
              <a:t>{           //</a:t>
            </a:r>
            <a:r>
              <a:rPr lang="zh-CN" altLang="zh-CN" b="0" dirty="0"/>
              <a:t>定义</a:t>
            </a:r>
            <a:r>
              <a:rPr lang="zh-CN" altLang="zh-CN" dirty="0">
                <a:solidFill>
                  <a:srgbClr val="FF0000"/>
                </a:solidFill>
              </a:rPr>
              <a:t>链队列类</a:t>
            </a:r>
          </a:p>
          <a:p>
            <a:pPr algn="just"/>
            <a:r>
              <a:rPr lang="en-US" altLang="zh-CN" b="0" dirty="0"/>
              <a:t>private:</a:t>
            </a:r>
            <a:endParaRPr lang="zh-CN" altLang="zh-CN" b="0" dirty="0"/>
          </a:p>
          <a:p>
            <a:pPr algn="just"/>
            <a:r>
              <a:rPr lang="en-US" altLang="zh-CN" b="0" dirty="0"/>
              <a:t>    </a:t>
            </a:r>
            <a:r>
              <a:rPr lang="en-US" altLang="zh-CN" b="0" dirty="0" err="1"/>
              <a:t>LinkQueueNode</a:t>
            </a:r>
            <a:r>
              <a:rPr lang="en-US" altLang="zh-CN" b="0" dirty="0"/>
              <a:t>&lt;Type&gt; *front, *rear;        //</a:t>
            </a:r>
            <a:r>
              <a:rPr lang="zh-CN" altLang="zh-CN" b="0" dirty="0"/>
              <a:t>定义</a:t>
            </a:r>
            <a:r>
              <a:rPr lang="zh-CN" altLang="zh-CN" dirty="0">
                <a:solidFill>
                  <a:srgbClr val="FF0000"/>
                </a:solidFill>
              </a:rPr>
              <a:t>队列头指针和队列尾指针</a:t>
            </a:r>
          </a:p>
          <a:p>
            <a:pPr algn="just"/>
            <a:r>
              <a:rPr lang="en-US" altLang="zh-CN" b="0" dirty="0"/>
              <a:t>public:</a:t>
            </a:r>
            <a:endParaRPr lang="zh-CN" altLang="zh-CN" b="0" dirty="0"/>
          </a:p>
          <a:p>
            <a:pPr algn="just"/>
            <a:r>
              <a:rPr lang="en-US" altLang="zh-CN" b="0" dirty="0"/>
              <a:t>    LinkQueue():front(NULL), rear(NULL) {};   //</a:t>
            </a:r>
            <a:r>
              <a:rPr lang="zh-CN" altLang="zh-CN" b="0" dirty="0"/>
              <a:t>构造函数，构造一个空的链队列</a:t>
            </a:r>
          </a:p>
          <a:p>
            <a:pPr algn="just"/>
            <a:r>
              <a:rPr lang="en-US" altLang="zh-CN" b="0" dirty="0"/>
              <a:t>    ~</a:t>
            </a:r>
            <a:r>
              <a:rPr lang="en-US" altLang="zh-CN" b="0" dirty="0" err="1"/>
              <a:t>LinkQueue</a:t>
            </a:r>
            <a:r>
              <a:rPr lang="en-US" altLang="zh-CN" b="0" dirty="0"/>
              <a:t>();                            //</a:t>
            </a:r>
            <a:r>
              <a:rPr lang="zh-CN" altLang="zh-CN" b="0" dirty="0"/>
              <a:t>析构函数，销毁链队列</a:t>
            </a:r>
          </a:p>
          <a:p>
            <a:pPr algn="just"/>
            <a:r>
              <a:rPr lang="en-US" altLang="zh-CN" b="0" dirty="0"/>
              <a:t>    </a:t>
            </a:r>
            <a:r>
              <a:rPr lang="en-US" altLang="zh-CN" b="0" dirty="0" err="1"/>
              <a:t>int</a:t>
            </a:r>
            <a:r>
              <a:rPr lang="en-US" altLang="zh-CN" b="0" dirty="0"/>
              <a:t> </a:t>
            </a:r>
            <a:r>
              <a:rPr lang="en-US" altLang="zh-CN" b="0" dirty="0" err="1"/>
              <a:t>IsEmpty</a:t>
            </a:r>
            <a:r>
              <a:rPr lang="en-US" altLang="zh-CN" b="0" dirty="0"/>
              <a:t>()</a:t>
            </a:r>
            <a:r>
              <a:rPr lang="en-US" altLang="zh-CN" b="0" dirty="0" err="1"/>
              <a:t>const</a:t>
            </a:r>
            <a:r>
              <a:rPr lang="en-US" altLang="zh-CN" b="0" dirty="0"/>
              <a:t>  { return front == NULL; }  //</a:t>
            </a:r>
            <a:r>
              <a:rPr lang="zh-CN" altLang="zh-CN" b="0" dirty="0"/>
              <a:t>判断链队列是否为空</a:t>
            </a:r>
          </a:p>
          <a:p>
            <a:pPr algn="just"/>
            <a:r>
              <a:rPr lang="en-US" altLang="zh-CN" b="0" dirty="0"/>
              <a:t>    void LinkQueueClear()                 //</a:t>
            </a:r>
            <a:r>
              <a:rPr lang="zh-CN" altLang="zh-CN" b="0" dirty="0"/>
              <a:t>清空链队列</a:t>
            </a:r>
          </a:p>
          <a:p>
            <a:pPr algn="just"/>
            <a:r>
              <a:rPr lang="en-US" altLang="zh-CN" b="0" dirty="0"/>
              <a:t>    int LinkQueueLength()const  ;      //</a:t>
            </a:r>
            <a:r>
              <a:rPr lang="zh-CN" altLang="zh-CN" b="0" dirty="0"/>
              <a:t>求链队列的长度，即链队列中元素的个数</a:t>
            </a:r>
          </a:p>
          <a:p>
            <a:pPr algn="just"/>
            <a:r>
              <a:rPr lang="en-US" altLang="zh-CN" b="0" dirty="0"/>
              <a:t>    Type &amp;</a:t>
            </a:r>
            <a:r>
              <a:rPr lang="en-US" altLang="zh-CN" b="0" dirty="0" err="1"/>
              <a:t>GetFront</a:t>
            </a:r>
            <a:r>
              <a:rPr lang="en-US" altLang="zh-CN" b="0" dirty="0"/>
              <a:t>();                        //</a:t>
            </a:r>
            <a:r>
              <a:rPr lang="zh-CN" altLang="zh-CN" b="0" dirty="0"/>
              <a:t>返回链队列头元素的值</a:t>
            </a:r>
          </a:p>
          <a:p>
            <a:pPr algn="just"/>
            <a:r>
              <a:rPr lang="en-US" altLang="zh-CN" dirty="0"/>
              <a:t>    </a:t>
            </a:r>
            <a:r>
              <a:rPr lang="en-US" altLang="zh-CN" b="0" dirty="0">
                <a:solidFill>
                  <a:srgbClr val="FF0000"/>
                </a:solidFill>
              </a:rPr>
              <a:t>void InQueue(Type &amp;e);               </a:t>
            </a:r>
            <a:r>
              <a:rPr lang="en-US" altLang="zh-CN" b="0" dirty="0"/>
              <a:t>//</a:t>
            </a:r>
            <a:r>
              <a:rPr lang="zh-CN" altLang="zh-CN" b="0" dirty="0"/>
              <a:t>入队列操作，将元素</a:t>
            </a:r>
            <a:r>
              <a:rPr lang="en-US" altLang="zh-CN" b="0" dirty="0"/>
              <a:t>e</a:t>
            </a:r>
            <a:r>
              <a:rPr lang="zh-CN" altLang="zh-CN" b="0" dirty="0"/>
              <a:t>加入队列顶</a:t>
            </a:r>
          </a:p>
          <a:p>
            <a:pPr algn="just"/>
            <a:r>
              <a:rPr lang="en-US" altLang="zh-CN" b="0" dirty="0"/>
              <a:t>    </a:t>
            </a:r>
            <a:r>
              <a:rPr lang="en-US" altLang="zh-CN" b="0" dirty="0">
                <a:solidFill>
                  <a:srgbClr val="FF0000"/>
                </a:solidFill>
              </a:rPr>
              <a:t>Type &amp;OutQueue(); </a:t>
            </a:r>
            <a:r>
              <a:rPr lang="en-US" altLang="zh-CN" b="0" dirty="0"/>
              <a:t>   //</a:t>
            </a:r>
            <a:r>
              <a:rPr lang="zh-CN" altLang="zh-CN" b="0" dirty="0"/>
              <a:t>出队列操作，删除链队列的队列顶元素，并返回其值</a:t>
            </a:r>
          </a:p>
          <a:p>
            <a:pPr algn="just"/>
            <a:r>
              <a:rPr lang="en-US" altLang="zh-CN" b="0" dirty="0"/>
              <a:t>};</a:t>
            </a:r>
            <a:endParaRPr lang="zh-CN" altLang="zh-CN" b="0" dirty="0"/>
          </a:p>
        </p:txBody>
      </p:sp>
    </p:spTree>
    <p:extLst>
      <p:ext uri="{BB962C8B-B14F-4D97-AF65-F5344CB8AC3E}">
        <p14:creationId xmlns:p14="http://schemas.microsoft.com/office/powerpoint/2010/main" val="166737242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08720"/>
            <a:ext cx="8064896" cy="5472608"/>
          </a:xfrm>
        </p:spPr>
        <p:txBody>
          <a:bodyPr>
            <a:normAutofit fontScale="92500" lnSpcReduction="10000"/>
          </a:bodyPr>
          <a:lstStyle/>
          <a:p>
            <a:pPr algn="just"/>
            <a:r>
              <a:rPr lang="zh-CN" altLang="zh-CN" dirty="0"/>
              <a:t>（</a:t>
            </a:r>
            <a:r>
              <a:rPr lang="en-US" altLang="zh-CN" dirty="0"/>
              <a:t>1</a:t>
            </a:r>
            <a:r>
              <a:rPr lang="zh-CN" altLang="zh-CN" dirty="0"/>
              <a:t>）</a:t>
            </a:r>
            <a:r>
              <a:rPr lang="zh-CN" altLang="zh-CN" dirty="0">
                <a:solidFill>
                  <a:srgbClr val="FF0000"/>
                </a:solidFill>
              </a:rPr>
              <a:t>链队列的销毁操作</a:t>
            </a:r>
          </a:p>
          <a:p>
            <a:pPr algn="just">
              <a:buFont typeface="Arial" panose="020B0604020202020204" pitchFamily="34" charset="0"/>
              <a:buChar char="•"/>
            </a:pPr>
            <a:r>
              <a:rPr lang="zh-CN" altLang="zh-CN" b="0" dirty="0"/>
              <a:t>由于链队列是由多个结点连接而成，所以，在销毁链队列时，需要依次释放从队列头到队列尾的所有结点，最后队列头指针指向空。</a:t>
            </a:r>
          </a:p>
          <a:p>
            <a:pPr lvl="2" algn="just">
              <a:buNone/>
            </a:pPr>
            <a:r>
              <a:rPr lang="zh-CN" altLang="zh-CN" b="1" dirty="0"/>
              <a:t>算法</a:t>
            </a:r>
            <a:r>
              <a:rPr lang="en-US" altLang="zh-CN" b="1" dirty="0"/>
              <a:t>3.23</a:t>
            </a:r>
            <a:r>
              <a:rPr lang="zh-CN" altLang="zh-CN" b="1" dirty="0"/>
              <a:t>：</a:t>
            </a:r>
            <a:r>
              <a:rPr lang="zh-CN" altLang="zh-CN" b="1" dirty="0">
                <a:solidFill>
                  <a:srgbClr val="FF0000"/>
                </a:solidFill>
              </a:rPr>
              <a:t>链队列的析构函数</a:t>
            </a:r>
          </a:p>
          <a:p>
            <a:pPr lvl="2" algn="just">
              <a:buNone/>
            </a:pPr>
            <a:r>
              <a:rPr lang="en-US" altLang="zh-CN" b="0" dirty="0" err="1"/>
              <a:t>LinkQueue</a:t>
            </a:r>
            <a:r>
              <a:rPr lang="en-US" altLang="zh-CN" b="0" dirty="0"/>
              <a:t>&lt;Type&gt;::~</a:t>
            </a:r>
            <a:r>
              <a:rPr lang="en-US" altLang="zh-CN" b="0" dirty="0" err="1"/>
              <a:t>LinkQueue</a:t>
            </a:r>
            <a:r>
              <a:rPr lang="en-US" altLang="zh-CN" b="0" dirty="0"/>
              <a:t>(){   //</a:t>
            </a:r>
            <a:r>
              <a:rPr lang="zh-CN" altLang="zh-CN" b="0" dirty="0"/>
              <a:t>析构函数，销毁链队列</a:t>
            </a:r>
          </a:p>
          <a:p>
            <a:pPr lvl="2" algn="just">
              <a:buNone/>
            </a:pPr>
            <a:r>
              <a:rPr lang="en-US" altLang="zh-CN" b="0" dirty="0"/>
              <a:t>    	LinkQueueNode&lt;Type&gt; *p;</a:t>
            </a:r>
            <a:endParaRPr lang="zh-CN" altLang="zh-CN" b="0" dirty="0"/>
          </a:p>
          <a:p>
            <a:pPr lvl="2" algn="just">
              <a:buNone/>
            </a:pPr>
            <a:r>
              <a:rPr lang="en-US" altLang="zh-CN" b="0" dirty="0"/>
              <a:t>    	while(front!=NULL){</a:t>
            </a:r>
            <a:endParaRPr lang="en-US" altLang="zh-CN" dirty="0"/>
          </a:p>
          <a:p>
            <a:pPr lvl="2" algn="just">
              <a:buNone/>
            </a:pPr>
            <a:r>
              <a:rPr lang="en-US" altLang="zh-CN" b="0" dirty="0"/>
              <a:t>			 p = front; </a:t>
            </a:r>
          </a:p>
          <a:p>
            <a:pPr lvl="2" algn="just">
              <a:buNone/>
            </a:pPr>
            <a:r>
              <a:rPr lang="en-US" altLang="zh-CN" dirty="0"/>
              <a:t>			</a:t>
            </a:r>
            <a:r>
              <a:rPr lang="en-US" altLang="zh-CN" b="0" dirty="0"/>
              <a:t>front = front-&gt;next; </a:t>
            </a:r>
          </a:p>
          <a:p>
            <a:pPr lvl="2" algn="just">
              <a:buNone/>
            </a:pPr>
            <a:r>
              <a:rPr lang="en-US" altLang="zh-CN" dirty="0"/>
              <a:t>			</a:t>
            </a:r>
            <a:r>
              <a:rPr lang="en-US" altLang="zh-CN" b="0" dirty="0"/>
              <a:t>delete p; </a:t>
            </a:r>
          </a:p>
          <a:p>
            <a:pPr lvl="2" algn="just">
              <a:buNone/>
            </a:pPr>
            <a:r>
              <a:rPr lang="en-US" altLang="zh-CN" dirty="0"/>
              <a:t>		</a:t>
            </a:r>
            <a:r>
              <a:rPr lang="en-US" altLang="zh-CN" b="0" dirty="0"/>
              <a:t>}</a:t>
            </a:r>
            <a:endParaRPr lang="zh-CN" altLang="zh-CN" b="0" dirty="0"/>
          </a:p>
          <a:p>
            <a:pPr lvl="2" algn="just">
              <a:buNone/>
            </a:pPr>
            <a:r>
              <a:rPr lang="en-US" altLang="zh-CN" b="0" dirty="0"/>
              <a:t>}</a:t>
            </a:r>
            <a:endParaRPr lang="zh-CN" altLang="zh-CN" b="0" dirty="0"/>
          </a:p>
        </p:txBody>
      </p:sp>
    </p:spTree>
    <p:extLst>
      <p:ext uri="{BB962C8B-B14F-4D97-AF65-F5344CB8AC3E}">
        <p14:creationId xmlns:p14="http://schemas.microsoft.com/office/powerpoint/2010/main" val="216394116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61784" y="1052736"/>
            <a:ext cx="8030696" cy="5256584"/>
          </a:xfrm>
        </p:spPr>
        <p:txBody>
          <a:bodyPr>
            <a:normAutofit/>
          </a:bodyPr>
          <a:lstStyle/>
          <a:p>
            <a:pPr algn="just"/>
            <a:r>
              <a:rPr lang="zh-CN" altLang="zh-CN" sz="2600" dirty="0"/>
              <a:t>（</a:t>
            </a:r>
            <a:r>
              <a:rPr lang="en-US" altLang="zh-CN" sz="2600" dirty="0"/>
              <a:t>2</a:t>
            </a:r>
            <a:r>
              <a:rPr lang="zh-CN" altLang="zh-CN" sz="2600" dirty="0"/>
              <a:t>）</a:t>
            </a:r>
            <a:r>
              <a:rPr lang="zh-CN" altLang="zh-CN" sz="2600" dirty="0">
                <a:solidFill>
                  <a:srgbClr val="FF0000"/>
                </a:solidFill>
              </a:rPr>
              <a:t>求链队列长度</a:t>
            </a:r>
            <a:r>
              <a:rPr lang="zh-CN" altLang="zh-CN" sz="2600" dirty="0"/>
              <a:t>的操作</a:t>
            </a:r>
            <a:r>
              <a:rPr lang="zh-CN" altLang="en-US" sz="2600" dirty="0"/>
              <a:t>：</a:t>
            </a:r>
            <a:r>
              <a:rPr lang="zh-CN" altLang="zh-CN" b="0" dirty="0"/>
              <a:t>函数</a:t>
            </a:r>
            <a:r>
              <a:rPr lang="en-US" altLang="zh-CN" b="0" dirty="0" err="1"/>
              <a:t>LinkQueueLength</a:t>
            </a:r>
            <a:r>
              <a:rPr lang="en-US" altLang="zh-CN" b="0" dirty="0"/>
              <a:t>()</a:t>
            </a:r>
            <a:r>
              <a:rPr lang="zh-CN" altLang="zh-CN" b="0" dirty="0"/>
              <a:t> </a:t>
            </a:r>
            <a:endParaRPr lang="en-US" altLang="zh-CN" b="0" dirty="0"/>
          </a:p>
          <a:p>
            <a:pPr lvl="3" algn="just">
              <a:buNone/>
            </a:pPr>
            <a:r>
              <a:rPr lang="zh-CN" altLang="zh-CN" sz="2200" b="1" dirty="0"/>
              <a:t>算法</a:t>
            </a:r>
            <a:r>
              <a:rPr lang="en-US" altLang="zh-CN" sz="2200" b="1" dirty="0"/>
              <a:t>:3.24</a:t>
            </a:r>
            <a:r>
              <a:rPr lang="zh-CN" altLang="zh-CN" sz="2200" b="1" dirty="0"/>
              <a:t>：</a:t>
            </a:r>
            <a:r>
              <a:rPr lang="zh-CN" altLang="zh-CN" sz="2200" b="1" dirty="0">
                <a:solidFill>
                  <a:srgbClr val="FF0000"/>
                </a:solidFill>
              </a:rPr>
              <a:t>求链队列的长度</a:t>
            </a:r>
            <a:r>
              <a:rPr lang="zh-CN" altLang="zh-CN" sz="2200" b="1" dirty="0"/>
              <a:t>，即链队列中数据元素的个数</a:t>
            </a:r>
            <a:endParaRPr lang="en-US" altLang="zh-CN" sz="2200" b="1" dirty="0"/>
          </a:p>
          <a:p>
            <a:pPr lvl="3" algn="just">
              <a:buNone/>
            </a:pPr>
            <a:r>
              <a:rPr lang="en-US" altLang="zh-CN" sz="2200" b="0" dirty="0"/>
              <a:t>int LinkQueue&lt;Type&gt;::LinkQueueLength()const{</a:t>
            </a:r>
            <a:endParaRPr lang="zh-CN" altLang="zh-CN" sz="2200" b="0" dirty="0"/>
          </a:p>
          <a:p>
            <a:pPr lvl="3" algn="just">
              <a:buNone/>
            </a:pPr>
            <a:r>
              <a:rPr lang="en-US" altLang="zh-CN" sz="2200" b="0" dirty="0"/>
              <a:t>   	</a:t>
            </a:r>
            <a:r>
              <a:rPr lang="en-US" altLang="zh-CN" sz="2200" b="0" dirty="0" err="1"/>
              <a:t>LinkQueueNode</a:t>
            </a:r>
            <a:r>
              <a:rPr lang="en-US" altLang="zh-CN" sz="2200" b="0" dirty="0"/>
              <a:t>&lt;Type&gt; *p = front;           </a:t>
            </a:r>
            <a:endParaRPr lang="zh-CN" altLang="zh-CN" sz="2200" b="0" dirty="0"/>
          </a:p>
          <a:p>
            <a:pPr lvl="3" algn="just">
              <a:buNone/>
            </a:pPr>
            <a:r>
              <a:rPr lang="en-US" altLang="zh-CN" sz="2200" b="0" dirty="0"/>
              <a:t>    	</a:t>
            </a:r>
            <a:r>
              <a:rPr lang="en-US" altLang="zh-CN" sz="2200" b="0" dirty="0" err="1"/>
              <a:t>int</a:t>
            </a:r>
            <a:r>
              <a:rPr lang="en-US" altLang="zh-CN" sz="2200" b="0" dirty="0"/>
              <a:t> i = 0;          //</a:t>
            </a:r>
            <a:r>
              <a:rPr lang="zh-CN" altLang="zh-CN" sz="2200" b="0" dirty="0"/>
              <a:t>初始化计数器</a:t>
            </a:r>
          </a:p>
          <a:p>
            <a:pPr lvl="3" algn="just">
              <a:buNone/>
            </a:pPr>
            <a:r>
              <a:rPr lang="en-US" altLang="zh-CN" sz="2200" b="0" dirty="0"/>
              <a:t>    	while(p) { </a:t>
            </a:r>
          </a:p>
          <a:p>
            <a:pPr lvl="3" algn="just">
              <a:buNone/>
            </a:pPr>
            <a:r>
              <a:rPr lang="en-US" altLang="zh-CN" sz="2200" dirty="0"/>
              <a:t>			</a:t>
            </a:r>
            <a:r>
              <a:rPr lang="en-US" altLang="zh-CN" sz="2200" b="0" dirty="0" err="1"/>
              <a:t>i</a:t>
            </a:r>
            <a:r>
              <a:rPr lang="en-US" altLang="zh-CN" sz="2200" b="0" dirty="0"/>
              <a:t>++;  </a:t>
            </a:r>
          </a:p>
          <a:p>
            <a:pPr lvl="3" algn="just">
              <a:buNone/>
            </a:pPr>
            <a:r>
              <a:rPr lang="en-US" altLang="zh-CN" sz="2200" dirty="0"/>
              <a:t>			</a:t>
            </a:r>
            <a:r>
              <a:rPr lang="en-US" altLang="zh-CN" sz="2200" b="0" dirty="0"/>
              <a:t>p = p-&gt;next; </a:t>
            </a:r>
          </a:p>
          <a:p>
            <a:pPr lvl="3" algn="just">
              <a:buNone/>
            </a:pPr>
            <a:r>
              <a:rPr lang="en-US" altLang="zh-CN" sz="2200" dirty="0"/>
              <a:t>		</a:t>
            </a:r>
            <a:r>
              <a:rPr lang="en-US" altLang="zh-CN" sz="2200" b="0" dirty="0"/>
              <a:t>}</a:t>
            </a:r>
            <a:endParaRPr lang="zh-CN" altLang="zh-CN" sz="2200" b="0" dirty="0"/>
          </a:p>
          <a:p>
            <a:pPr lvl="3" algn="just">
              <a:buNone/>
            </a:pPr>
            <a:r>
              <a:rPr lang="en-US" altLang="zh-CN" sz="2200" b="0" dirty="0"/>
              <a:t>  		return i;</a:t>
            </a:r>
            <a:endParaRPr lang="zh-CN" altLang="zh-CN" sz="2200" b="0" dirty="0"/>
          </a:p>
          <a:p>
            <a:pPr lvl="3" algn="just">
              <a:buNone/>
            </a:pPr>
            <a:r>
              <a:rPr lang="en-US" altLang="zh-CN" sz="2200" b="0" dirty="0"/>
              <a:t>}</a:t>
            </a:r>
            <a:endParaRPr lang="zh-CN" altLang="zh-CN" sz="2200" b="0" dirty="0"/>
          </a:p>
          <a:p>
            <a:pPr algn="just"/>
            <a:endParaRPr lang="zh-CN" altLang="en-US" dirty="0"/>
          </a:p>
        </p:txBody>
      </p:sp>
    </p:spTree>
    <p:extLst>
      <p:ext uri="{BB962C8B-B14F-4D97-AF65-F5344CB8AC3E}">
        <p14:creationId xmlns:p14="http://schemas.microsoft.com/office/powerpoint/2010/main" val="166942788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08720"/>
            <a:ext cx="7520940" cy="5256584"/>
          </a:xfrm>
        </p:spPr>
        <p:txBody>
          <a:bodyPr>
            <a:normAutofit/>
          </a:bodyPr>
          <a:lstStyle/>
          <a:p>
            <a:pPr algn="just"/>
            <a:r>
              <a:rPr lang="zh-CN" altLang="zh-CN" dirty="0"/>
              <a:t>（</a:t>
            </a:r>
            <a:r>
              <a:rPr lang="en-US" altLang="zh-CN" dirty="0"/>
              <a:t>3</a:t>
            </a:r>
            <a:r>
              <a:rPr lang="zh-CN" altLang="zh-CN" dirty="0"/>
              <a:t>）</a:t>
            </a:r>
            <a:r>
              <a:rPr lang="zh-CN" altLang="zh-CN" dirty="0">
                <a:solidFill>
                  <a:srgbClr val="FF0000"/>
                </a:solidFill>
              </a:rPr>
              <a:t>返回队列头元素</a:t>
            </a:r>
            <a:r>
              <a:rPr lang="zh-CN" altLang="zh-CN" dirty="0"/>
              <a:t>的操作</a:t>
            </a:r>
            <a:r>
              <a:rPr lang="zh-CN" altLang="en-US" dirty="0"/>
              <a:t>：</a:t>
            </a:r>
            <a:r>
              <a:rPr lang="zh-CN" altLang="zh-CN" b="0" dirty="0"/>
              <a:t>函数</a:t>
            </a:r>
            <a:r>
              <a:rPr lang="en-US" altLang="zh-CN" b="0" dirty="0" err="1"/>
              <a:t>GetFront</a:t>
            </a:r>
            <a:r>
              <a:rPr lang="en-US" altLang="zh-CN" b="0" dirty="0"/>
              <a:t>()</a:t>
            </a:r>
            <a:r>
              <a:rPr lang="zh-CN" altLang="zh-CN" b="0" dirty="0"/>
              <a:t> </a:t>
            </a:r>
            <a:endParaRPr lang="en-US" altLang="zh-CN" b="0" dirty="0"/>
          </a:p>
          <a:p>
            <a:pPr algn="just"/>
            <a:endParaRPr lang="zh-CN" altLang="zh-CN" dirty="0"/>
          </a:p>
          <a:p>
            <a:pPr lvl="3" algn="just">
              <a:buNone/>
            </a:pPr>
            <a:r>
              <a:rPr lang="zh-CN" altLang="zh-CN" b="1" dirty="0"/>
              <a:t>算法</a:t>
            </a:r>
            <a:r>
              <a:rPr lang="en-US" altLang="zh-CN" b="1" dirty="0"/>
              <a:t>:3.25</a:t>
            </a:r>
            <a:r>
              <a:rPr lang="zh-CN" altLang="zh-CN" b="1" dirty="0"/>
              <a:t>：</a:t>
            </a:r>
            <a:r>
              <a:rPr lang="zh-CN" altLang="zh-CN" b="1" dirty="0">
                <a:solidFill>
                  <a:srgbClr val="FF0000"/>
                </a:solidFill>
              </a:rPr>
              <a:t>返回队列头元素的值</a:t>
            </a:r>
          </a:p>
          <a:p>
            <a:pPr lvl="3" algn="just">
              <a:buNone/>
            </a:pPr>
            <a:r>
              <a:rPr lang="en-US" altLang="zh-CN" b="0" dirty="0"/>
              <a:t>Type &amp;</a:t>
            </a:r>
            <a:r>
              <a:rPr lang="en-US" altLang="zh-CN" b="0" dirty="0" err="1"/>
              <a:t>LinkQueue</a:t>
            </a:r>
            <a:r>
              <a:rPr lang="en-US" altLang="zh-CN" b="0" dirty="0"/>
              <a:t>&lt;Type&gt;::</a:t>
            </a:r>
            <a:r>
              <a:rPr lang="en-US" altLang="zh-CN" b="0" dirty="0" err="1"/>
              <a:t>GetFront</a:t>
            </a:r>
            <a:r>
              <a:rPr lang="en-US" altLang="zh-CN" b="0" dirty="0"/>
              <a:t>(){</a:t>
            </a:r>
            <a:endParaRPr lang="zh-CN" altLang="zh-CN" b="0" dirty="0"/>
          </a:p>
          <a:p>
            <a:pPr lvl="3" algn="just">
              <a:buNone/>
            </a:pPr>
            <a:r>
              <a:rPr lang="en-US" altLang="zh-CN" b="0" dirty="0"/>
              <a:t>    if(IsEmpty()) { </a:t>
            </a:r>
          </a:p>
          <a:p>
            <a:pPr lvl="3" algn="just">
              <a:buNone/>
            </a:pPr>
            <a:r>
              <a:rPr lang="en-US" altLang="zh-CN" dirty="0"/>
              <a:t>		</a:t>
            </a:r>
            <a:r>
              <a:rPr lang="en-US" altLang="zh-CN" b="0" dirty="0"/>
              <a:t>cout&lt;&lt;"</a:t>
            </a:r>
            <a:r>
              <a:rPr lang="zh-CN" altLang="zh-CN" b="0" dirty="0"/>
              <a:t>链队列为空！</a:t>
            </a:r>
            <a:r>
              <a:rPr lang="en-US" altLang="zh-CN" b="0" dirty="0"/>
              <a:t>"&lt;&lt;endl; </a:t>
            </a:r>
          </a:p>
          <a:p>
            <a:pPr lvl="3" algn="just">
              <a:buNone/>
            </a:pPr>
            <a:r>
              <a:rPr lang="en-US" altLang="zh-CN" dirty="0"/>
              <a:t>		</a:t>
            </a:r>
            <a:r>
              <a:rPr lang="en-US" altLang="zh-CN" b="0" dirty="0"/>
              <a:t>exit(0); </a:t>
            </a:r>
          </a:p>
          <a:p>
            <a:pPr lvl="3" algn="just">
              <a:buNone/>
            </a:pPr>
            <a:r>
              <a:rPr lang="en-US" altLang="zh-CN" dirty="0"/>
              <a:t>	</a:t>
            </a:r>
            <a:r>
              <a:rPr lang="en-US" altLang="zh-CN" b="0" dirty="0"/>
              <a:t>}  else return  front-&gt;elem;</a:t>
            </a:r>
            <a:endParaRPr lang="zh-CN" altLang="zh-CN" b="0" dirty="0"/>
          </a:p>
          <a:p>
            <a:pPr lvl="3" algn="just">
              <a:buNone/>
            </a:pPr>
            <a:r>
              <a:rPr lang="en-US" altLang="zh-CN" b="0" dirty="0"/>
              <a:t>}</a:t>
            </a:r>
            <a:endParaRPr lang="zh-CN" altLang="zh-CN" b="0" dirty="0"/>
          </a:p>
          <a:p>
            <a:pPr algn="just"/>
            <a:endParaRPr lang="zh-CN" altLang="en-US" dirty="0"/>
          </a:p>
        </p:txBody>
      </p:sp>
    </p:spTree>
    <p:extLst>
      <p:ext uri="{BB962C8B-B14F-4D97-AF65-F5344CB8AC3E}">
        <p14:creationId xmlns:p14="http://schemas.microsoft.com/office/powerpoint/2010/main" val="136379116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79512" y="1052736"/>
            <a:ext cx="8964488" cy="5112568"/>
          </a:xfrm>
        </p:spPr>
        <p:txBody>
          <a:bodyPr>
            <a:normAutofit/>
          </a:bodyPr>
          <a:lstStyle/>
          <a:p>
            <a:pPr algn="just"/>
            <a:r>
              <a:rPr lang="zh-CN" altLang="zh-CN" sz="2600" dirty="0"/>
              <a:t>（</a:t>
            </a:r>
            <a:r>
              <a:rPr lang="en-US" altLang="zh-CN" sz="2600" dirty="0"/>
              <a:t>4</a:t>
            </a:r>
            <a:r>
              <a:rPr lang="zh-CN" altLang="zh-CN" sz="2600" dirty="0"/>
              <a:t>）</a:t>
            </a:r>
            <a:r>
              <a:rPr lang="zh-CN" altLang="zh-CN" sz="2600" dirty="0">
                <a:solidFill>
                  <a:srgbClr val="FF0000"/>
                </a:solidFill>
              </a:rPr>
              <a:t>链队列的入队列和出队列操作</a:t>
            </a:r>
          </a:p>
          <a:p>
            <a:pPr lvl="4" algn="just">
              <a:buNone/>
            </a:pPr>
            <a:r>
              <a:rPr lang="en-US" altLang="zh-CN" b="0" dirty="0" err="1"/>
              <a:t>InQueue</a:t>
            </a:r>
            <a:r>
              <a:rPr lang="en-US" altLang="zh-CN" b="0" dirty="0"/>
              <a:t>()</a:t>
            </a:r>
            <a:r>
              <a:rPr lang="zh-CN" altLang="zh-CN" b="0" dirty="0"/>
              <a:t>函数实现了链队列的入队列操作。</a:t>
            </a:r>
            <a:endParaRPr lang="en-US" altLang="zh-CN" b="0" dirty="0"/>
          </a:p>
          <a:p>
            <a:pPr lvl="4" algn="just">
              <a:buNone/>
            </a:pPr>
            <a:r>
              <a:rPr lang="en-US" altLang="zh-CN" b="0" dirty="0" err="1"/>
              <a:t>OutQueue</a:t>
            </a:r>
            <a:r>
              <a:rPr lang="en-US" altLang="zh-CN" b="0" dirty="0"/>
              <a:t>()</a:t>
            </a:r>
            <a:r>
              <a:rPr lang="zh-CN" altLang="zh-CN" b="0" dirty="0"/>
              <a:t>函数实现了链队列的出队列操作。</a:t>
            </a:r>
            <a:endParaRPr lang="en-US" altLang="zh-CN" b="0" dirty="0"/>
          </a:p>
          <a:p>
            <a:pPr lvl="4" algn="just">
              <a:buNone/>
            </a:pPr>
            <a:endParaRPr lang="zh-CN" altLang="zh-CN" b="0" dirty="0"/>
          </a:p>
          <a:p>
            <a:pPr lvl="4" algn="just">
              <a:buNone/>
            </a:pPr>
            <a:r>
              <a:rPr lang="zh-CN" altLang="zh-CN" b="1" dirty="0"/>
              <a:t>算法</a:t>
            </a:r>
            <a:r>
              <a:rPr lang="en-US" altLang="zh-CN" b="1" dirty="0"/>
              <a:t>3.26</a:t>
            </a:r>
            <a:r>
              <a:rPr lang="zh-CN" altLang="zh-CN" b="1" dirty="0"/>
              <a:t>：</a:t>
            </a:r>
            <a:r>
              <a:rPr lang="zh-CN" altLang="zh-CN" b="1" dirty="0">
                <a:solidFill>
                  <a:srgbClr val="FF0000"/>
                </a:solidFill>
              </a:rPr>
              <a:t>入队列操作</a:t>
            </a:r>
            <a:r>
              <a:rPr lang="zh-CN" altLang="zh-CN" b="1" dirty="0"/>
              <a:t>，将元素</a:t>
            </a:r>
            <a:r>
              <a:rPr lang="en-US" altLang="zh-CN" b="1" dirty="0"/>
              <a:t>e</a:t>
            </a:r>
            <a:r>
              <a:rPr lang="zh-CN" altLang="zh-CN" b="1" dirty="0"/>
              <a:t>加入链队列</a:t>
            </a:r>
          </a:p>
          <a:p>
            <a:pPr lvl="4" algn="just">
              <a:buNone/>
            </a:pPr>
            <a:r>
              <a:rPr lang="en-US" altLang="zh-CN" b="0" dirty="0"/>
              <a:t>void LinkQueue&lt;Type&gt;::InQueue(Type &amp;e){ </a:t>
            </a:r>
            <a:endParaRPr lang="en-US" altLang="zh-CN" dirty="0"/>
          </a:p>
          <a:p>
            <a:pPr lvl="4" algn="just">
              <a:buNone/>
            </a:pPr>
            <a:r>
              <a:rPr lang="en-US" altLang="zh-CN" b="0" dirty="0"/>
              <a:t>	If (front == NULL) </a:t>
            </a:r>
          </a:p>
          <a:p>
            <a:pPr lvl="4" algn="just">
              <a:buNone/>
            </a:pPr>
            <a:r>
              <a:rPr lang="en-US" altLang="zh-CN" dirty="0"/>
              <a:t>		 </a:t>
            </a:r>
            <a:r>
              <a:rPr lang="en-US" altLang="zh-CN" b="0" dirty="0"/>
              <a:t>front = rear = new LinkQueueNode&lt;Type&gt;(e, NULL);</a:t>
            </a:r>
          </a:p>
          <a:p>
            <a:pPr lvl="4" algn="just">
              <a:buNone/>
            </a:pPr>
            <a:r>
              <a:rPr lang="en-US" altLang="zh-CN" b="0" dirty="0"/>
              <a:t>	else rear = rear-&gt;next = new LinkQueueNode&lt;Type&gt;(e, NULL);</a:t>
            </a:r>
            <a:endParaRPr lang="en-US" altLang="zh-CN" dirty="0"/>
          </a:p>
          <a:p>
            <a:pPr lvl="4" algn="just">
              <a:buNone/>
            </a:pPr>
            <a:r>
              <a:rPr lang="en-US" altLang="zh-CN" b="0" dirty="0"/>
              <a:t>}</a:t>
            </a:r>
            <a:endParaRPr lang="zh-CN" altLang="zh-CN" b="0" dirty="0"/>
          </a:p>
        </p:txBody>
      </p:sp>
    </p:spTree>
    <p:extLst>
      <p:ext uri="{BB962C8B-B14F-4D97-AF65-F5344CB8AC3E}">
        <p14:creationId xmlns:p14="http://schemas.microsoft.com/office/powerpoint/2010/main" val="303116030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052736"/>
            <a:ext cx="8064896" cy="5184576"/>
          </a:xfrm>
        </p:spPr>
        <p:txBody>
          <a:bodyPr>
            <a:normAutofit lnSpcReduction="10000"/>
          </a:bodyPr>
          <a:lstStyle/>
          <a:p>
            <a:pPr algn="just"/>
            <a:r>
              <a:rPr lang="zh-CN" altLang="zh-CN" dirty="0"/>
              <a:t>算法</a:t>
            </a:r>
            <a:r>
              <a:rPr lang="en-US" altLang="zh-CN" dirty="0"/>
              <a:t>3.27</a:t>
            </a:r>
            <a:r>
              <a:rPr lang="zh-CN" altLang="zh-CN" dirty="0"/>
              <a:t>：</a:t>
            </a:r>
            <a:r>
              <a:rPr lang="zh-CN" altLang="zh-CN" dirty="0">
                <a:solidFill>
                  <a:srgbClr val="FF0000"/>
                </a:solidFill>
              </a:rPr>
              <a:t>出队列操作</a:t>
            </a:r>
            <a:r>
              <a:rPr lang="zh-CN" altLang="zh-CN" dirty="0"/>
              <a:t>，删除队列头元素，并返回其值</a:t>
            </a:r>
          </a:p>
          <a:p>
            <a:pPr algn="just"/>
            <a:r>
              <a:rPr lang="en-US" altLang="zh-CN" b="0" dirty="0"/>
              <a:t>Type &amp;</a:t>
            </a:r>
            <a:r>
              <a:rPr lang="en-US" altLang="zh-CN" b="0" dirty="0" err="1"/>
              <a:t>LinkQueue</a:t>
            </a:r>
            <a:r>
              <a:rPr lang="en-US" altLang="zh-CN" b="0" dirty="0"/>
              <a:t>&lt;Type&gt;::</a:t>
            </a:r>
            <a:r>
              <a:rPr lang="en-US" altLang="zh-CN" b="0" dirty="0" err="1"/>
              <a:t>OutQueue</a:t>
            </a:r>
            <a:r>
              <a:rPr lang="en-US" altLang="zh-CN" b="0" dirty="0"/>
              <a:t>(){ </a:t>
            </a:r>
            <a:endParaRPr lang="zh-CN" altLang="zh-CN" b="0" dirty="0"/>
          </a:p>
          <a:p>
            <a:pPr algn="just"/>
            <a:r>
              <a:rPr lang="en-US" altLang="zh-CN" b="0" dirty="0"/>
              <a:t>    if(IsEmpty()) { cout&lt;&lt;"</a:t>
            </a:r>
            <a:r>
              <a:rPr lang="zh-CN" altLang="zh-CN" b="0" dirty="0"/>
              <a:t>链队列为空！</a:t>
            </a:r>
            <a:r>
              <a:rPr lang="en-US" altLang="zh-CN" b="0" dirty="0"/>
              <a:t>"&lt;&lt;</a:t>
            </a:r>
            <a:r>
              <a:rPr lang="en-US" altLang="zh-CN" b="0" dirty="0" err="1"/>
              <a:t>endl</a:t>
            </a:r>
            <a:r>
              <a:rPr lang="en-US" altLang="zh-CN" b="0" dirty="0"/>
              <a:t>; exit(0); }</a:t>
            </a:r>
            <a:endParaRPr lang="zh-CN" altLang="zh-CN" b="0" dirty="0"/>
          </a:p>
          <a:p>
            <a:pPr algn="just"/>
            <a:r>
              <a:rPr lang="en-US" altLang="zh-CN" b="0" dirty="0"/>
              <a:t>    </a:t>
            </a:r>
            <a:r>
              <a:rPr lang="en-US" altLang="zh-CN" b="0" dirty="0" err="1"/>
              <a:t>LinkQueueNode</a:t>
            </a:r>
            <a:r>
              <a:rPr lang="en-US" altLang="zh-CN" b="0" dirty="0"/>
              <a:t>&lt;Type&gt; *p = front;</a:t>
            </a:r>
            <a:endParaRPr lang="zh-CN" altLang="zh-CN" b="0" dirty="0"/>
          </a:p>
          <a:p>
            <a:pPr algn="just"/>
            <a:r>
              <a:rPr lang="en-US" altLang="zh-CN" b="0" dirty="0"/>
              <a:t>    Type e = p-&gt;</a:t>
            </a:r>
            <a:r>
              <a:rPr lang="en-US" altLang="zh-CN" b="0" dirty="0" err="1"/>
              <a:t>elem</a:t>
            </a:r>
            <a:r>
              <a:rPr lang="en-US" altLang="zh-CN" b="0" dirty="0"/>
              <a:t>;</a:t>
            </a:r>
            <a:endParaRPr lang="zh-CN" altLang="zh-CN" b="0" dirty="0"/>
          </a:p>
          <a:p>
            <a:pPr algn="just"/>
            <a:r>
              <a:rPr lang="en-US" altLang="zh-CN" b="0" dirty="0"/>
              <a:t>    front = front-&gt;next;</a:t>
            </a:r>
            <a:endParaRPr lang="zh-CN" altLang="zh-CN" b="0" dirty="0"/>
          </a:p>
          <a:p>
            <a:pPr algn="just"/>
            <a:r>
              <a:rPr lang="en-US" altLang="zh-CN" b="0" dirty="0"/>
              <a:t>    if(front == NULL ) rear = NULL;</a:t>
            </a:r>
            <a:endParaRPr lang="zh-CN" altLang="zh-CN" b="0" dirty="0"/>
          </a:p>
          <a:p>
            <a:pPr algn="just"/>
            <a:r>
              <a:rPr lang="en-US" altLang="zh-CN" b="0" dirty="0"/>
              <a:t>    delete p;</a:t>
            </a:r>
            <a:endParaRPr lang="zh-CN" altLang="zh-CN" b="0" dirty="0"/>
          </a:p>
          <a:p>
            <a:pPr algn="just"/>
            <a:r>
              <a:rPr lang="en-US" altLang="zh-CN" b="0" dirty="0"/>
              <a:t>    return e;</a:t>
            </a:r>
            <a:endParaRPr lang="zh-CN" altLang="zh-CN" b="0" dirty="0"/>
          </a:p>
          <a:p>
            <a:pPr algn="just"/>
            <a:r>
              <a:rPr lang="en-US" altLang="zh-CN" b="0" dirty="0"/>
              <a:t>}</a:t>
            </a:r>
            <a:endParaRPr lang="zh-CN" altLang="zh-CN" b="0" dirty="0"/>
          </a:p>
          <a:p>
            <a:pPr algn="just"/>
            <a:endParaRPr lang="zh-CN" altLang="en-US" dirty="0"/>
          </a:p>
        </p:txBody>
      </p:sp>
    </p:spTree>
    <p:extLst>
      <p:ext uri="{BB962C8B-B14F-4D97-AF65-F5344CB8AC3E}">
        <p14:creationId xmlns:p14="http://schemas.microsoft.com/office/powerpoint/2010/main" val="350496428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en-US" altLang="zh-CN" b="1" dirty="0"/>
              <a:t>3.6 </a:t>
            </a:r>
            <a:r>
              <a:rPr lang="zh-CN" altLang="zh-CN" b="1" dirty="0"/>
              <a:t>队列的应用</a:t>
            </a:r>
            <a:endParaRPr lang="zh-CN" altLang="en-US" dirty="0"/>
          </a:p>
        </p:txBody>
      </p:sp>
      <p:sp>
        <p:nvSpPr>
          <p:cNvPr id="3" name="内容占位符 2"/>
          <p:cNvSpPr>
            <a:spLocks noGrp="1"/>
          </p:cNvSpPr>
          <p:nvPr>
            <p:ph idx="1"/>
          </p:nvPr>
        </p:nvSpPr>
        <p:spPr/>
        <p:txBody>
          <a:bodyPr/>
          <a:lstStyle/>
          <a:p>
            <a:pPr algn="just"/>
            <a:r>
              <a:rPr lang="en-US" altLang="zh-CN" dirty="0"/>
              <a:t>3.6.1 </a:t>
            </a:r>
            <a:r>
              <a:rPr lang="zh-CN" altLang="zh-CN" dirty="0">
                <a:solidFill>
                  <a:srgbClr val="FF0000"/>
                </a:solidFill>
              </a:rPr>
              <a:t>杨辉三角形</a:t>
            </a:r>
            <a:endParaRPr lang="zh-CN" altLang="en-US" dirty="0">
              <a:solidFill>
                <a:srgbClr val="FF0000"/>
              </a:solidFill>
            </a:endParaRPr>
          </a:p>
        </p:txBody>
      </p:sp>
      <p:pic>
        <p:nvPicPr>
          <p:cNvPr id="1229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79712" y="2564903"/>
            <a:ext cx="4752528" cy="31011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8490608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9552" y="1844824"/>
            <a:ext cx="8316416" cy="3024336"/>
          </a:xfrm>
        </p:spPr>
        <p:txBody>
          <a:bodyPr/>
          <a:lstStyle/>
          <a:p>
            <a:pPr algn="just">
              <a:buFont typeface="Arial" panose="020B0604020202020204" pitchFamily="34" charset="0"/>
              <a:buChar char="•"/>
            </a:pPr>
            <a:r>
              <a:rPr lang="zh-CN" altLang="zh-CN" b="0" dirty="0"/>
              <a:t>有个重要的性质是除第一行数字初始化为</a:t>
            </a:r>
            <a:r>
              <a:rPr lang="en-US" altLang="zh-CN" b="0" dirty="0"/>
              <a:t>1</a:t>
            </a:r>
            <a:r>
              <a:rPr lang="zh-CN" altLang="zh-CN" b="0" dirty="0"/>
              <a:t>之外，杨辉三角形从第二层开始，每个数字都是其左右肩上两个数字之和，如果其左肩或右肩上没有数字，默认其左肩或右肩上的数字为</a:t>
            </a:r>
            <a:r>
              <a:rPr lang="en-US" altLang="zh-CN" b="0" dirty="0"/>
              <a:t>0</a:t>
            </a:r>
            <a:r>
              <a:rPr lang="zh-CN" altLang="zh-CN" b="0" dirty="0"/>
              <a:t>，而后进行计算。</a:t>
            </a:r>
            <a:endParaRPr lang="en-US" altLang="zh-CN" b="0" dirty="0"/>
          </a:p>
          <a:p>
            <a:pPr algn="just">
              <a:buFont typeface="Arial" panose="020B0604020202020204" pitchFamily="34" charset="0"/>
              <a:buChar char="•"/>
            </a:pPr>
            <a:r>
              <a:rPr lang="zh-CN" altLang="zh-CN" b="0" dirty="0"/>
              <a:t>因此，若要求得杨辉三角形的第</a:t>
            </a:r>
            <a:r>
              <a:rPr lang="en-US" altLang="zh-CN" b="0" dirty="0" err="1"/>
              <a:t>i</a:t>
            </a:r>
            <a:r>
              <a:rPr lang="zh-CN" altLang="zh-CN" b="0" dirty="0"/>
              <a:t>行元素，可根据第</a:t>
            </a:r>
            <a:r>
              <a:rPr lang="en-US" altLang="zh-CN" b="0" dirty="0"/>
              <a:t>i-1</a:t>
            </a:r>
            <a:r>
              <a:rPr lang="zh-CN" altLang="zh-CN" b="0" dirty="0"/>
              <a:t>行的元素从左到右按依次计算。</a:t>
            </a:r>
            <a:endParaRPr lang="zh-CN" altLang="en-US" b="0" dirty="0"/>
          </a:p>
        </p:txBody>
      </p:sp>
      <p:pic>
        <p:nvPicPr>
          <p:cNvPr id="51214" name="Picture 14"/>
          <p:cNvPicPr>
            <a:picLocks noChangeAspect="1" noChangeArrowheads="1"/>
          </p:cNvPicPr>
          <p:nvPr/>
        </p:nvPicPr>
        <p:blipFill>
          <a:blip r:embed="rId2" cstate="print"/>
          <a:srcRect/>
          <a:stretch>
            <a:fillRect/>
          </a:stretch>
        </p:blipFill>
        <p:spPr bwMode="auto">
          <a:xfrm>
            <a:off x="2071670" y="4978871"/>
            <a:ext cx="4953000" cy="1114425"/>
          </a:xfrm>
          <a:prstGeom prst="rect">
            <a:avLst/>
          </a:prstGeom>
          <a:noFill/>
          <a:ln w="9525">
            <a:noFill/>
            <a:miter lim="800000"/>
            <a:headEnd/>
            <a:tailEnd/>
          </a:ln>
          <a:effectLst/>
        </p:spPr>
      </p:pic>
      <p:pic>
        <p:nvPicPr>
          <p:cNvPr id="4" name="Picture 2">
            <a:extLst>
              <a:ext uri="{FF2B5EF4-FFF2-40B4-BE49-F238E27FC236}">
                <a16:creationId xmlns:a16="http://schemas.microsoft.com/office/drawing/2014/main" id="{C9E5BB16-F347-4CBA-A6C8-8FE52CB84D7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37736" y="188640"/>
            <a:ext cx="2427782" cy="15841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2030495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71600" y="836712"/>
            <a:ext cx="7952988" cy="5400600"/>
          </a:xfrm>
        </p:spPr>
        <p:txBody>
          <a:bodyPr>
            <a:normAutofit fontScale="77500" lnSpcReduction="20000"/>
          </a:bodyPr>
          <a:lstStyle/>
          <a:p>
            <a:pPr marL="180000" algn="just">
              <a:spcBef>
                <a:spcPts val="0"/>
              </a:spcBef>
            </a:pPr>
            <a:r>
              <a:rPr lang="zh-CN" altLang="zh-CN" dirty="0"/>
              <a:t>算法</a:t>
            </a:r>
            <a:r>
              <a:rPr lang="en-US" altLang="zh-CN" dirty="0"/>
              <a:t>3.28</a:t>
            </a:r>
            <a:r>
              <a:rPr lang="zh-CN" altLang="zh-CN" dirty="0"/>
              <a:t>：杨辉三角形计算</a:t>
            </a:r>
          </a:p>
          <a:p>
            <a:pPr marL="180000" algn="just">
              <a:spcBef>
                <a:spcPts val="0"/>
              </a:spcBef>
            </a:pPr>
            <a:r>
              <a:rPr lang="en-US" altLang="zh-CN" b="0" dirty="0"/>
              <a:t>void YANGHUI ( </a:t>
            </a:r>
            <a:r>
              <a:rPr lang="en-US" altLang="zh-CN" b="0" dirty="0" err="1"/>
              <a:t>int</a:t>
            </a:r>
            <a:r>
              <a:rPr lang="en-US" altLang="zh-CN" b="0" dirty="0"/>
              <a:t> n ) { </a:t>
            </a:r>
            <a:endParaRPr lang="zh-CN" altLang="zh-CN" b="0" dirty="0"/>
          </a:p>
          <a:p>
            <a:pPr marL="180000" algn="just">
              <a:spcBef>
                <a:spcPts val="0"/>
              </a:spcBef>
            </a:pPr>
            <a:r>
              <a:rPr lang="en-US" altLang="zh-CN" b="0" dirty="0"/>
              <a:t>	</a:t>
            </a:r>
            <a:r>
              <a:rPr lang="en-US" altLang="zh-CN" b="0" dirty="0" err="1"/>
              <a:t>SeqQueue</a:t>
            </a:r>
            <a:r>
              <a:rPr lang="en-US" altLang="zh-CN" b="0" dirty="0"/>
              <a:t> &lt;</a:t>
            </a:r>
            <a:r>
              <a:rPr lang="en-US" altLang="zh-CN" b="0" dirty="0" err="1"/>
              <a:t>int</a:t>
            </a:r>
            <a:r>
              <a:rPr lang="en-US" altLang="zh-CN" b="0" dirty="0"/>
              <a:t>&gt; q=new </a:t>
            </a:r>
            <a:r>
              <a:rPr lang="en-US" altLang="zh-CN" b="0" dirty="0" err="1"/>
              <a:t>SeqQueue</a:t>
            </a:r>
            <a:r>
              <a:rPr lang="en-US" altLang="zh-CN" b="0" dirty="0"/>
              <a:t> (n+1);   //</a:t>
            </a:r>
            <a:r>
              <a:rPr lang="zh-CN" altLang="zh-CN" b="0" dirty="0"/>
              <a:t>循环队列初始化</a:t>
            </a:r>
            <a:r>
              <a:rPr lang="en-US" altLang="zh-CN" b="0" dirty="0"/>
              <a:t> </a:t>
            </a:r>
            <a:endParaRPr lang="zh-CN" altLang="zh-CN" b="0" dirty="0"/>
          </a:p>
          <a:p>
            <a:pPr marL="180000" algn="just">
              <a:spcBef>
                <a:spcPts val="0"/>
              </a:spcBef>
            </a:pPr>
            <a:r>
              <a:rPr lang="en-US" altLang="zh-CN" b="0" dirty="0"/>
              <a:t>	</a:t>
            </a:r>
            <a:r>
              <a:rPr lang="en-US" altLang="zh-CN" b="0" dirty="0" err="1"/>
              <a:t>cout</a:t>
            </a:r>
            <a:r>
              <a:rPr lang="en-US" altLang="zh-CN" b="0" dirty="0"/>
              <a:t> &lt;&lt;’1’&lt;&lt;</a:t>
            </a:r>
            <a:r>
              <a:rPr lang="en-US" altLang="zh-CN" b="0" dirty="0" err="1"/>
              <a:t>endl</a:t>
            </a:r>
            <a:r>
              <a:rPr lang="en-US" altLang="zh-CN" b="0" dirty="0"/>
              <a:t>;                      //</a:t>
            </a:r>
            <a:r>
              <a:rPr lang="zh-CN" altLang="zh-CN" b="0" dirty="0"/>
              <a:t>输出第</a:t>
            </a:r>
            <a:r>
              <a:rPr lang="en-US" altLang="zh-CN" b="0" dirty="0"/>
              <a:t>1</a:t>
            </a:r>
            <a:r>
              <a:rPr lang="zh-CN" altLang="zh-CN" b="0" dirty="0"/>
              <a:t>行</a:t>
            </a:r>
          </a:p>
          <a:p>
            <a:pPr marL="180000" algn="just">
              <a:spcBef>
                <a:spcPts val="0"/>
              </a:spcBef>
            </a:pPr>
            <a:r>
              <a:rPr lang="en-US" altLang="zh-CN" b="0" dirty="0"/>
              <a:t>   </a:t>
            </a:r>
            <a:r>
              <a:rPr lang="en-US" altLang="zh-CN" b="0" dirty="0" err="1"/>
              <a:t>q.InQueue</a:t>
            </a:r>
            <a:r>
              <a:rPr lang="en-US" altLang="zh-CN" b="0" dirty="0"/>
              <a:t> (1);	                        //</a:t>
            </a:r>
            <a:r>
              <a:rPr lang="zh-CN" altLang="zh-CN" b="0" dirty="0"/>
              <a:t>将第</a:t>
            </a:r>
            <a:r>
              <a:rPr lang="en-US" altLang="zh-CN" b="0" dirty="0"/>
              <a:t>1</a:t>
            </a:r>
            <a:r>
              <a:rPr lang="zh-CN" altLang="zh-CN" b="0" dirty="0"/>
              <a:t>行加入循环队列</a:t>
            </a:r>
          </a:p>
          <a:p>
            <a:pPr marL="180000" algn="just">
              <a:spcBef>
                <a:spcPts val="0"/>
              </a:spcBef>
            </a:pPr>
            <a:r>
              <a:rPr lang="en-US" altLang="zh-CN" b="0" dirty="0"/>
              <a:t>   int s=0; </a:t>
            </a:r>
            <a:endParaRPr lang="zh-CN" altLang="zh-CN" b="0" dirty="0"/>
          </a:p>
          <a:p>
            <a:pPr marL="180000" algn="just">
              <a:spcBef>
                <a:spcPts val="0"/>
              </a:spcBef>
            </a:pPr>
            <a:r>
              <a:rPr lang="en-US" altLang="zh-CN" b="0" dirty="0"/>
              <a:t>   for ( </a:t>
            </a:r>
            <a:r>
              <a:rPr lang="en-US" altLang="zh-CN" b="0" dirty="0" err="1"/>
              <a:t>int</a:t>
            </a:r>
            <a:r>
              <a:rPr lang="en-US" altLang="zh-CN" b="0" dirty="0"/>
              <a:t> </a:t>
            </a:r>
            <a:r>
              <a:rPr lang="en-US" altLang="zh-CN" b="0" dirty="0" err="1"/>
              <a:t>i</a:t>
            </a:r>
            <a:r>
              <a:rPr lang="en-US" altLang="zh-CN" b="0" dirty="0"/>
              <a:t>=2; </a:t>
            </a:r>
            <a:r>
              <a:rPr lang="en-US" altLang="zh-CN" b="0" dirty="0" err="1"/>
              <a:t>i</a:t>
            </a:r>
            <a:r>
              <a:rPr lang="en-US" altLang="zh-CN" b="0" dirty="0"/>
              <a:t>&lt;=n; </a:t>
            </a:r>
            <a:r>
              <a:rPr lang="en-US" altLang="zh-CN" b="0" dirty="0" err="1"/>
              <a:t>i</a:t>
            </a:r>
            <a:r>
              <a:rPr lang="en-US" altLang="zh-CN" b="0" dirty="0"/>
              <a:t>++ ) {         //</a:t>
            </a:r>
            <a:r>
              <a:rPr lang="zh-CN" altLang="zh-CN" b="0" dirty="0"/>
              <a:t>逐行计算并输出 </a:t>
            </a:r>
          </a:p>
          <a:p>
            <a:pPr marL="180000" algn="just">
              <a:spcBef>
                <a:spcPts val="0"/>
              </a:spcBef>
            </a:pPr>
            <a:r>
              <a:rPr lang="en-US" altLang="zh-CN" b="0" dirty="0"/>
              <a:t>        </a:t>
            </a:r>
            <a:r>
              <a:rPr lang="en-US" altLang="zh-CN" b="0" dirty="0" err="1"/>
              <a:t>q.InQueue</a:t>
            </a:r>
            <a:r>
              <a:rPr lang="en-US" altLang="zh-CN" b="0" dirty="0"/>
              <a:t>(0);                       //</a:t>
            </a:r>
            <a:r>
              <a:rPr lang="zh-CN" altLang="zh-CN" b="0" dirty="0"/>
              <a:t>将行分隔符加入循环队列</a:t>
            </a:r>
          </a:p>
          <a:p>
            <a:pPr marL="180000" algn="just">
              <a:spcBef>
                <a:spcPts val="0"/>
              </a:spcBef>
            </a:pPr>
            <a:r>
              <a:rPr lang="en-US" altLang="zh-CN" b="0" dirty="0"/>
              <a:t>        for ( </a:t>
            </a:r>
            <a:r>
              <a:rPr lang="en-US" altLang="zh-CN" b="0" dirty="0" err="1"/>
              <a:t>int</a:t>
            </a:r>
            <a:r>
              <a:rPr lang="en-US" altLang="zh-CN" b="0" dirty="0"/>
              <a:t> j=1; j&lt;=</a:t>
            </a:r>
            <a:r>
              <a:rPr lang="en-US" altLang="zh-CN" b="0" dirty="0" err="1"/>
              <a:t>i</a:t>
            </a:r>
            <a:r>
              <a:rPr lang="en-US" altLang="zh-CN" b="0" dirty="0"/>
              <a:t>; </a:t>
            </a:r>
            <a:r>
              <a:rPr lang="en-US" altLang="zh-CN" b="0" dirty="0" err="1"/>
              <a:t>j++</a:t>
            </a:r>
            <a:r>
              <a:rPr lang="en-US" altLang="zh-CN" b="0" dirty="0"/>
              <a:t> ) {     //</a:t>
            </a:r>
            <a:r>
              <a:rPr lang="zh-CN" altLang="zh-CN" b="0" dirty="0"/>
              <a:t>输出第</a:t>
            </a:r>
            <a:r>
              <a:rPr lang="en-US" altLang="zh-CN" b="0" dirty="0" err="1"/>
              <a:t>i</a:t>
            </a:r>
            <a:r>
              <a:rPr lang="zh-CN" altLang="zh-CN" b="0" dirty="0"/>
              <a:t>行元素</a:t>
            </a:r>
          </a:p>
          <a:p>
            <a:pPr marL="180000" algn="just">
              <a:spcBef>
                <a:spcPts val="0"/>
              </a:spcBef>
            </a:pPr>
            <a:r>
              <a:rPr lang="en-US" altLang="zh-CN" b="0" dirty="0"/>
              <a:t>            </a:t>
            </a:r>
            <a:r>
              <a:rPr lang="en-US" altLang="zh-CN" b="0" dirty="0" err="1"/>
              <a:t>int</a:t>
            </a:r>
            <a:r>
              <a:rPr lang="en-US" altLang="zh-CN" b="0" dirty="0"/>
              <a:t> t = </a:t>
            </a:r>
            <a:r>
              <a:rPr lang="en-US" altLang="zh-CN" b="0" dirty="0" err="1"/>
              <a:t>q.OutQueue</a:t>
            </a:r>
            <a:r>
              <a:rPr lang="en-US" altLang="zh-CN" b="0" dirty="0"/>
              <a:t> ( ); </a:t>
            </a:r>
            <a:endParaRPr lang="zh-CN" altLang="zh-CN" b="0" dirty="0"/>
          </a:p>
          <a:p>
            <a:pPr marL="180000" algn="just">
              <a:spcBef>
                <a:spcPts val="0"/>
              </a:spcBef>
            </a:pPr>
            <a:r>
              <a:rPr lang="en-US" altLang="zh-CN" b="0" dirty="0"/>
              <a:t>            s=</a:t>
            </a:r>
            <a:r>
              <a:rPr lang="en-US" altLang="zh-CN" b="0" dirty="0" err="1"/>
              <a:t>s+t</a:t>
            </a:r>
            <a:r>
              <a:rPr lang="en-US" altLang="zh-CN" b="0" dirty="0"/>
              <a:t>;</a:t>
            </a:r>
            <a:endParaRPr lang="zh-CN" altLang="zh-CN" b="0" dirty="0"/>
          </a:p>
          <a:p>
            <a:pPr marL="180000" algn="just">
              <a:spcBef>
                <a:spcPts val="0"/>
              </a:spcBef>
            </a:pPr>
            <a:r>
              <a:rPr lang="en-US" altLang="zh-CN" b="0" dirty="0"/>
              <a:t>            </a:t>
            </a:r>
            <a:r>
              <a:rPr lang="en-US" altLang="zh-CN" b="0" dirty="0" err="1"/>
              <a:t>cout</a:t>
            </a:r>
            <a:r>
              <a:rPr lang="en-US" altLang="zh-CN" b="0" dirty="0"/>
              <a:t>&lt;&lt;s&lt;&lt;’ ’;</a:t>
            </a:r>
            <a:endParaRPr lang="zh-CN" altLang="zh-CN" b="0" dirty="0"/>
          </a:p>
          <a:p>
            <a:pPr marL="180000" algn="just">
              <a:spcBef>
                <a:spcPts val="0"/>
              </a:spcBef>
            </a:pPr>
            <a:r>
              <a:rPr lang="en-US" altLang="zh-CN" b="0" dirty="0"/>
              <a:t>            </a:t>
            </a:r>
            <a:r>
              <a:rPr lang="en-US" altLang="zh-CN" b="0" dirty="0" err="1"/>
              <a:t>q.InQueue</a:t>
            </a:r>
            <a:r>
              <a:rPr lang="en-US" altLang="zh-CN" b="0" dirty="0"/>
              <a:t> ( s );</a:t>
            </a:r>
            <a:endParaRPr lang="zh-CN" altLang="zh-CN" b="0" dirty="0"/>
          </a:p>
          <a:p>
            <a:pPr marL="180000" algn="just">
              <a:spcBef>
                <a:spcPts val="0"/>
              </a:spcBef>
            </a:pPr>
            <a:r>
              <a:rPr lang="en-US" altLang="zh-CN" b="0" dirty="0"/>
              <a:t>            s=t;</a:t>
            </a:r>
            <a:endParaRPr lang="zh-CN" altLang="zh-CN" b="0" dirty="0"/>
          </a:p>
          <a:p>
            <a:pPr marL="180000" algn="just">
              <a:spcBef>
                <a:spcPts val="0"/>
              </a:spcBef>
            </a:pPr>
            <a:r>
              <a:rPr lang="en-US" altLang="zh-CN" b="0" dirty="0"/>
              <a:t>        } </a:t>
            </a:r>
            <a:endParaRPr lang="zh-CN" altLang="zh-CN" b="0" dirty="0"/>
          </a:p>
          <a:p>
            <a:pPr marL="180000" algn="just">
              <a:spcBef>
                <a:spcPts val="0"/>
              </a:spcBef>
            </a:pPr>
            <a:r>
              <a:rPr lang="en-US" altLang="zh-CN" b="0" dirty="0"/>
              <a:t>        </a:t>
            </a:r>
            <a:r>
              <a:rPr lang="en-US" altLang="zh-CN" b="0" dirty="0" err="1"/>
              <a:t>cout</a:t>
            </a:r>
            <a:r>
              <a:rPr lang="en-US" altLang="zh-CN" b="0" dirty="0"/>
              <a:t> &lt;&lt;</a:t>
            </a:r>
            <a:r>
              <a:rPr lang="en-US" altLang="zh-CN" b="0" dirty="0" err="1"/>
              <a:t>endl</a:t>
            </a:r>
            <a:r>
              <a:rPr lang="en-US" altLang="zh-CN" b="0" dirty="0"/>
              <a:t>;</a:t>
            </a:r>
            <a:endParaRPr lang="zh-CN" altLang="zh-CN" b="0" dirty="0"/>
          </a:p>
          <a:p>
            <a:pPr marL="180000" algn="just">
              <a:spcBef>
                <a:spcPts val="0"/>
              </a:spcBef>
            </a:pPr>
            <a:r>
              <a:rPr lang="en-US" altLang="zh-CN" b="0" dirty="0"/>
              <a:t>	}</a:t>
            </a:r>
            <a:endParaRPr lang="zh-CN" altLang="zh-CN" b="0" dirty="0"/>
          </a:p>
          <a:p>
            <a:pPr marL="180000" algn="just">
              <a:spcBef>
                <a:spcPts val="0"/>
              </a:spcBef>
            </a:pPr>
            <a:r>
              <a:rPr lang="en-US" altLang="zh-CN" b="0" dirty="0"/>
              <a:t>}</a:t>
            </a:r>
            <a:endParaRPr lang="zh-CN" altLang="zh-CN" b="0" dirty="0"/>
          </a:p>
        </p:txBody>
      </p:sp>
      <p:pic>
        <p:nvPicPr>
          <p:cNvPr id="4" name="Picture 2">
            <a:extLst>
              <a:ext uri="{FF2B5EF4-FFF2-40B4-BE49-F238E27FC236}">
                <a16:creationId xmlns:a16="http://schemas.microsoft.com/office/drawing/2014/main" id="{DA2C32E3-4188-4DC5-BBC3-550D77F9962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72200" y="4149080"/>
            <a:ext cx="2427782" cy="15841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0463699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en-US" altLang="zh-CN" b="1" dirty="0"/>
              <a:t>3.6.2 </a:t>
            </a:r>
            <a:r>
              <a:rPr lang="zh-CN" altLang="zh-CN" b="1" dirty="0">
                <a:solidFill>
                  <a:srgbClr val="FF0000"/>
                </a:solidFill>
              </a:rPr>
              <a:t>火车车厢重排</a:t>
            </a:r>
            <a:endParaRPr lang="zh-CN" altLang="en-US" dirty="0">
              <a:solidFill>
                <a:srgbClr val="FF0000"/>
              </a:solidFill>
            </a:endParaRPr>
          </a:p>
        </p:txBody>
      </p:sp>
      <p:sp>
        <p:nvSpPr>
          <p:cNvPr id="3" name="内容占位符 2"/>
          <p:cNvSpPr>
            <a:spLocks noGrp="1"/>
          </p:cNvSpPr>
          <p:nvPr>
            <p:ph idx="1"/>
          </p:nvPr>
        </p:nvSpPr>
        <p:spPr>
          <a:xfrm>
            <a:off x="827584" y="1628800"/>
            <a:ext cx="7848872" cy="4464496"/>
          </a:xfrm>
        </p:spPr>
        <p:txBody>
          <a:bodyPr>
            <a:normAutofit/>
          </a:bodyPr>
          <a:lstStyle/>
          <a:p>
            <a:pPr algn="just"/>
            <a:r>
              <a:rPr lang="en-US" altLang="zh-CN" b="0" dirty="0"/>
              <a:t>		</a:t>
            </a:r>
            <a:r>
              <a:rPr lang="zh-CN" altLang="zh-CN" b="0" dirty="0"/>
              <a:t>一列货运火车共</a:t>
            </a:r>
            <a:r>
              <a:rPr lang="en-US" altLang="zh-CN" b="0" dirty="0"/>
              <a:t>n</a:t>
            </a:r>
            <a:r>
              <a:rPr lang="zh-CN" altLang="zh-CN" b="0" dirty="0"/>
              <a:t>节车厢，每节车厢需要停放在不同的车站。假设一列火车有</a:t>
            </a:r>
            <a:r>
              <a:rPr lang="en-US" altLang="zh-CN" b="0" dirty="0"/>
              <a:t>n</a:t>
            </a:r>
            <a:r>
              <a:rPr lang="zh-CN" altLang="zh-CN" b="0" dirty="0"/>
              <a:t>节车厢，车厢编号分别为</a:t>
            </a:r>
            <a:r>
              <a:rPr lang="en-US" altLang="zh-CN" b="0" dirty="0"/>
              <a:t>1~n</a:t>
            </a:r>
            <a:r>
              <a:rPr lang="zh-CN" altLang="zh-CN" b="0" dirty="0"/>
              <a:t>，货运火车按照第</a:t>
            </a:r>
            <a:r>
              <a:rPr lang="en-US" altLang="zh-CN" b="0" dirty="0"/>
              <a:t>n</a:t>
            </a:r>
            <a:r>
              <a:rPr lang="zh-CN" altLang="zh-CN" b="0" dirty="0"/>
              <a:t>站到第</a:t>
            </a:r>
            <a:r>
              <a:rPr lang="en-US" altLang="zh-CN" b="0" dirty="0"/>
              <a:t>1</a:t>
            </a:r>
            <a:r>
              <a:rPr lang="zh-CN" altLang="zh-CN" b="0" dirty="0"/>
              <a:t>站的次序经过每个车站。车厢的编号与各个目的车站的编号相同。为了方便从火车上卸载相应的车厢，必须重排火车车厢，即将火车车厢按照一定的编号序列排列，使各个车厢从前到后按照编号从</a:t>
            </a:r>
            <a:r>
              <a:rPr lang="en-US" altLang="zh-CN" b="0" dirty="0"/>
              <a:t>1</a:t>
            </a:r>
            <a:r>
              <a:rPr lang="zh-CN" altLang="zh-CN" b="0" dirty="0"/>
              <a:t>到</a:t>
            </a:r>
            <a:r>
              <a:rPr lang="en-US" altLang="zh-CN" b="0" dirty="0"/>
              <a:t>n</a:t>
            </a:r>
            <a:r>
              <a:rPr lang="zh-CN" altLang="zh-CN" b="0" dirty="0"/>
              <a:t>的顺序排列。如果所有车厢按照这种顺序排列，每次只需要卸载火车最后一节车厢即可。</a:t>
            </a:r>
          </a:p>
          <a:p>
            <a:pPr algn="just"/>
            <a:endParaRPr lang="zh-CN" altLang="en-US" dirty="0"/>
          </a:p>
        </p:txBody>
      </p:sp>
    </p:spTree>
    <p:extLst>
      <p:ext uri="{BB962C8B-B14F-4D97-AF65-F5344CB8AC3E}">
        <p14:creationId xmlns:p14="http://schemas.microsoft.com/office/powerpoint/2010/main" val="272841560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08720"/>
            <a:ext cx="7520940" cy="4299929"/>
          </a:xfrm>
        </p:spPr>
        <p:txBody>
          <a:bodyPr/>
          <a:lstStyle/>
          <a:p>
            <a:pPr algn="just">
              <a:buFont typeface="Arial" panose="020B0604020202020204" pitchFamily="34" charset="0"/>
              <a:buChar char="•"/>
            </a:pPr>
            <a:r>
              <a:rPr lang="zh-CN" altLang="zh-CN" b="0" dirty="0"/>
              <a:t>火车车厢重排工作安排在转轨站进行。转轨站中有一个入轨、一个出轨和</a:t>
            </a:r>
            <a:r>
              <a:rPr lang="en-US" altLang="zh-CN" b="0" dirty="0"/>
              <a:t>h</a:t>
            </a:r>
            <a:r>
              <a:rPr lang="zh-CN" altLang="zh-CN" b="0" dirty="0"/>
              <a:t>个缓冲铁轨。假设缓冲铁轨位于入轨和出轨之间，由于这些缓冲铁轨必须按照先进先出的原则运行，所以，可以将其视为队列。火车车厢重排示意图</a:t>
            </a:r>
            <a:r>
              <a:rPr lang="zh-CN" altLang="en-US" b="0" dirty="0"/>
              <a:t>：</a:t>
            </a:r>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48129" name="Object 1"/>
          <p:cNvGraphicFramePr>
            <a:graphicFrameLocks noChangeAspect="1"/>
          </p:cNvGraphicFramePr>
          <p:nvPr/>
        </p:nvGraphicFramePr>
        <p:xfrm>
          <a:off x="642910" y="3500438"/>
          <a:ext cx="8040470" cy="2143140"/>
        </p:xfrm>
        <a:graphic>
          <a:graphicData uri="http://schemas.openxmlformats.org/presentationml/2006/ole">
            <mc:AlternateContent xmlns:mc="http://schemas.openxmlformats.org/markup-compatibility/2006">
              <mc:Choice xmlns:v="urn:schemas-microsoft-com:vml" Requires="v">
                <p:oleObj spid="_x0000_s5194" r:id="rId3" imgW="5180519" imgH="1373487" progId="">
                  <p:embed/>
                </p:oleObj>
              </mc:Choice>
              <mc:Fallback>
                <p:oleObj r:id="rId3" imgW="5180519" imgH="1373487" progId="">
                  <p:embed/>
                  <p:pic>
                    <p:nvPicPr>
                      <p:cNvPr id="0"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2910" y="3500438"/>
                        <a:ext cx="8040470" cy="21431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19097484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844824"/>
            <a:ext cx="7848872" cy="4968552"/>
          </a:xfrm>
        </p:spPr>
        <p:txBody>
          <a:bodyPr>
            <a:normAutofit/>
          </a:bodyPr>
          <a:lstStyle/>
          <a:p>
            <a:pPr algn="just"/>
            <a:r>
              <a:rPr lang="en-US" altLang="zh-CN" b="0" dirty="0"/>
              <a:t>	</a:t>
            </a:r>
            <a:r>
              <a:rPr lang="zh-CN" altLang="zh-CN" b="0" dirty="0"/>
              <a:t>将一个编号为</a:t>
            </a:r>
            <a:r>
              <a:rPr lang="en-US" altLang="zh-CN" b="0" dirty="0"/>
              <a:t>c</a:t>
            </a:r>
            <a:r>
              <a:rPr lang="zh-CN" altLang="zh-CN" b="0" dirty="0"/>
              <a:t>的车厢从入轨移动到缓冲铁轨，需要遵循以下原则：</a:t>
            </a:r>
          </a:p>
          <a:p>
            <a:pPr marL="457200" lvl="0" indent="-457200" algn="just">
              <a:buFont typeface="+mj-ea"/>
              <a:buAutoNum type="circleNumDbPlain"/>
            </a:pPr>
            <a:r>
              <a:rPr lang="zh-CN" altLang="zh-CN" b="0" dirty="0"/>
              <a:t>缓冲铁轨上所有的车厢编号都小于</a:t>
            </a:r>
            <a:r>
              <a:rPr lang="en-US" altLang="zh-CN" b="0" dirty="0"/>
              <a:t>c</a:t>
            </a:r>
            <a:r>
              <a:rPr lang="zh-CN" altLang="zh-CN" b="0" dirty="0"/>
              <a:t>；</a:t>
            </a:r>
          </a:p>
          <a:p>
            <a:pPr marL="457200" lvl="0" indent="-457200" algn="just">
              <a:buFont typeface="+mj-ea"/>
              <a:buAutoNum type="circleNumDbPlain"/>
            </a:pPr>
            <a:r>
              <a:rPr lang="zh-CN" altLang="zh-CN" b="0" dirty="0"/>
              <a:t>如果有多个缓冲铁轨都满足条件（</a:t>
            </a:r>
            <a:r>
              <a:rPr lang="en-US" altLang="zh-CN" b="0" dirty="0"/>
              <a:t>1</a:t>
            </a:r>
            <a:r>
              <a:rPr lang="zh-CN" altLang="zh-CN" b="0" dirty="0"/>
              <a:t>），选择其中车厢编号最大的车厢所在的缓冲铁轨；</a:t>
            </a:r>
          </a:p>
          <a:p>
            <a:pPr marL="457200" lvl="0" indent="-457200" algn="just">
              <a:buFont typeface="+mj-ea"/>
              <a:buAutoNum type="circleNumDbPlain"/>
            </a:pPr>
            <a:r>
              <a:rPr lang="zh-CN" altLang="zh-CN" b="0" dirty="0"/>
              <a:t>若不满足条件（</a:t>
            </a:r>
            <a:r>
              <a:rPr lang="en-US" altLang="zh-CN" b="0" dirty="0"/>
              <a:t>1</a:t>
            </a:r>
            <a:r>
              <a:rPr lang="zh-CN" altLang="zh-CN" b="0" dirty="0"/>
              <a:t>），如果还有空的缓冲铁轨，则选择空的缓冲铁轨。</a:t>
            </a:r>
          </a:p>
          <a:p>
            <a:pPr algn="just"/>
            <a:r>
              <a:rPr lang="en-US" altLang="zh-CN" b="0" dirty="0"/>
              <a:t>	</a:t>
            </a:r>
            <a:r>
              <a:rPr lang="zh-CN" altLang="zh-CN" b="0" dirty="0"/>
              <a:t>在实现火车车厢重排问题时，可以采用链队列。</a:t>
            </a:r>
            <a:endParaRPr lang="zh-CN" altLang="en-US" b="0" dirty="0"/>
          </a:p>
        </p:txBody>
      </p:sp>
      <p:graphicFrame>
        <p:nvGraphicFramePr>
          <p:cNvPr id="4" name="Object 1">
            <a:extLst>
              <a:ext uri="{FF2B5EF4-FFF2-40B4-BE49-F238E27FC236}">
                <a16:creationId xmlns:a16="http://schemas.microsoft.com/office/drawing/2014/main" id="{3DD64178-A657-4D1B-BE5E-C8E53DF04935}"/>
              </a:ext>
            </a:extLst>
          </p:cNvPr>
          <p:cNvGraphicFramePr>
            <a:graphicFrameLocks noChangeAspect="1"/>
          </p:cNvGraphicFramePr>
          <p:nvPr>
            <p:extLst>
              <p:ext uri="{D42A27DB-BD31-4B8C-83A1-F6EECF244321}">
                <p14:modId xmlns:p14="http://schemas.microsoft.com/office/powerpoint/2010/main" val="605464383"/>
              </p:ext>
            </p:extLst>
          </p:nvPr>
        </p:nvGraphicFramePr>
        <p:xfrm>
          <a:off x="3373595" y="188640"/>
          <a:ext cx="5403083" cy="1440160"/>
        </p:xfrm>
        <a:graphic>
          <a:graphicData uri="http://schemas.openxmlformats.org/presentationml/2006/ole">
            <mc:AlternateContent xmlns:mc="http://schemas.openxmlformats.org/markup-compatibility/2006">
              <mc:Choice xmlns:v="urn:schemas-microsoft-com:vml" Requires="v">
                <p:oleObj spid="_x0000_s8206" r:id="rId3" imgW="5180519" imgH="1373487" progId="">
                  <p:embed/>
                </p:oleObj>
              </mc:Choice>
              <mc:Fallback>
                <p:oleObj r:id="rId3" imgW="5180519" imgH="1373487" progId="">
                  <p:embed/>
                  <p:pic>
                    <p:nvPicPr>
                      <p:cNvPr id="48129"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73595" y="188640"/>
                        <a:ext cx="5403083" cy="1440160"/>
                      </a:xfrm>
                      <a:prstGeom prst="rect">
                        <a:avLst/>
                      </a:prstGeom>
                      <a:noFill/>
                    </p:spPr>
                  </p:pic>
                </p:oleObj>
              </mc:Fallback>
            </mc:AlternateContent>
          </a:graphicData>
        </a:graphic>
      </p:graphicFrame>
    </p:spTree>
    <p:extLst>
      <p:ext uri="{BB962C8B-B14F-4D97-AF65-F5344CB8AC3E}">
        <p14:creationId xmlns:p14="http://schemas.microsoft.com/office/powerpoint/2010/main" val="123111158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en-US" altLang="zh-CN" b="1" dirty="0"/>
              <a:t>3.7 </a:t>
            </a:r>
            <a:r>
              <a:rPr lang="zh-CN" altLang="zh-CN" b="1" dirty="0">
                <a:solidFill>
                  <a:srgbClr val="FF0000"/>
                </a:solidFill>
              </a:rPr>
              <a:t>类型受限线性表</a:t>
            </a:r>
            <a:r>
              <a:rPr lang="en-US" altLang="zh-CN" b="1" dirty="0">
                <a:solidFill>
                  <a:srgbClr val="FF0000"/>
                </a:solidFill>
              </a:rPr>
              <a:t>---</a:t>
            </a:r>
            <a:r>
              <a:rPr lang="zh-CN" altLang="zh-CN" b="1" dirty="0">
                <a:solidFill>
                  <a:srgbClr val="FF0000"/>
                </a:solidFill>
              </a:rPr>
              <a:t>字符串</a:t>
            </a:r>
            <a:r>
              <a:rPr lang="en-US" altLang="zh-CN" b="1" dirty="0"/>
              <a:t>*</a:t>
            </a:r>
            <a:endParaRPr lang="zh-CN" altLang="en-US" dirty="0"/>
          </a:p>
        </p:txBody>
      </p:sp>
      <p:sp>
        <p:nvSpPr>
          <p:cNvPr id="3" name="内容占位符 2"/>
          <p:cNvSpPr>
            <a:spLocks noGrp="1"/>
          </p:cNvSpPr>
          <p:nvPr>
            <p:ph idx="1"/>
          </p:nvPr>
        </p:nvSpPr>
        <p:spPr>
          <a:xfrm>
            <a:off x="827584" y="1628800"/>
            <a:ext cx="7520940" cy="4464496"/>
          </a:xfrm>
        </p:spPr>
        <p:txBody>
          <a:bodyPr>
            <a:normAutofit lnSpcReduction="10000"/>
          </a:bodyPr>
          <a:lstStyle/>
          <a:p>
            <a:pPr algn="just"/>
            <a:r>
              <a:rPr lang="en-US" altLang="zh-CN" dirty="0"/>
              <a:t>3.7.1 </a:t>
            </a:r>
            <a:r>
              <a:rPr lang="zh-CN" altLang="zh-CN" dirty="0">
                <a:solidFill>
                  <a:srgbClr val="FF0000"/>
                </a:solidFill>
              </a:rPr>
              <a:t>串的定义</a:t>
            </a:r>
            <a:endParaRPr lang="en-US" altLang="zh-CN" dirty="0">
              <a:solidFill>
                <a:srgbClr val="FF0000"/>
              </a:solidFill>
            </a:endParaRPr>
          </a:p>
          <a:p>
            <a:pPr algn="just"/>
            <a:r>
              <a:rPr lang="en-US" altLang="zh-CN" b="0" dirty="0"/>
              <a:t>	</a:t>
            </a:r>
            <a:r>
              <a:rPr lang="zh-CN" altLang="zh-CN" b="0" dirty="0"/>
              <a:t>字符串简称为串（</a:t>
            </a:r>
            <a:r>
              <a:rPr lang="en-US" altLang="zh-CN" b="0" dirty="0"/>
              <a:t>String</a:t>
            </a:r>
            <a:r>
              <a:rPr lang="zh-CN" altLang="zh-CN" b="0" dirty="0"/>
              <a:t>），是</a:t>
            </a:r>
            <a:r>
              <a:rPr lang="en-US" altLang="zh-CN" b="0" dirty="0"/>
              <a:t>n(n≥0)</a:t>
            </a:r>
            <a:r>
              <a:rPr lang="zh-CN" altLang="zh-CN" b="0" dirty="0"/>
              <a:t>个字符的一个有限序列。通常可记为：</a:t>
            </a:r>
          </a:p>
          <a:p>
            <a:pPr algn="just"/>
            <a:r>
              <a:rPr lang="en-US" altLang="zh-CN" b="0" dirty="0"/>
              <a:t>			S = "a</a:t>
            </a:r>
            <a:r>
              <a:rPr lang="en-US" altLang="zh-CN" b="0" baseline="-25000" dirty="0"/>
              <a:t>0</a:t>
            </a:r>
            <a:r>
              <a:rPr lang="en-US" altLang="zh-CN" b="0" dirty="0"/>
              <a:t> a</a:t>
            </a:r>
            <a:r>
              <a:rPr lang="en-US" altLang="zh-CN" b="0" baseline="-25000" dirty="0"/>
              <a:t>1</a:t>
            </a:r>
            <a:r>
              <a:rPr lang="en-US" altLang="zh-CN" b="0" dirty="0"/>
              <a:t> a</a:t>
            </a:r>
            <a:r>
              <a:rPr lang="en-US" altLang="zh-CN" b="0" baseline="-25000" dirty="0"/>
              <a:t>2</a:t>
            </a:r>
            <a:r>
              <a:rPr lang="en-US" altLang="zh-CN" b="0" dirty="0"/>
              <a:t> …… a</a:t>
            </a:r>
            <a:r>
              <a:rPr lang="en-US" altLang="zh-CN" b="0" baseline="-25000" dirty="0"/>
              <a:t>n-1</a:t>
            </a:r>
            <a:r>
              <a:rPr lang="en-US" altLang="zh-CN" b="0" dirty="0"/>
              <a:t>"</a:t>
            </a:r>
            <a:endParaRPr lang="zh-CN" altLang="zh-CN" b="0" dirty="0"/>
          </a:p>
          <a:p>
            <a:pPr algn="just"/>
            <a:r>
              <a:rPr lang="en-US" altLang="zh-CN" b="0" dirty="0"/>
              <a:t>	</a:t>
            </a:r>
            <a:r>
              <a:rPr lang="zh-CN" altLang="zh-CN" b="0" dirty="0"/>
              <a:t>其中，</a:t>
            </a:r>
            <a:r>
              <a:rPr lang="en-US" altLang="zh-CN" b="0" dirty="0"/>
              <a:t>S</a:t>
            </a:r>
            <a:r>
              <a:rPr lang="zh-CN" altLang="zh-CN" b="0" dirty="0"/>
              <a:t>是串名，可以是串变量名，也可以是串常量名。用引号</a:t>
            </a:r>
            <a:r>
              <a:rPr lang="en-US" altLang="zh-CN" b="0" dirty="0"/>
              <a:t>‘…’</a:t>
            </a:r>
            <a:r>
              <a:rPr lang="zh-CN" altLang="zh-CN" b="0" dirty="0"/>
              <a:t>或</a:t>
            </a:r>
            <a:r>
              <a:rPr lang="en-US" altLang="zh-CN" b="0" dirty="0"/>
              <a:t>"…"</a:t>
            </a:r>
            <a:r>
              <a:rPr lang="zh-CN" altLang="zh-CN" b="0" dirty="0"/>
              <a:t>作为分界符括起来的叫做串值，其内的</a:t>
            </a:r>
            <a:r>
              <a:rPr lang="en-US" altLang="zh-CN" b="0" dirty="0" err="1"/>
              <a:t>a</a:t>
            </a:r>
            <a:r>
              <a:rPr lang="en-US" altLang="zh-CN" b="0" baseline="-25000" dirty="0" err="1"/>
              <a:t>i</a:t>
            </a:r>
            <a:r>
              <a:rPr lang="en-US" altLang="zh-CN" b="0" dirty="0"/>
              <a:t>,</a:t>
            </a:r>
            <a:r>
              <a:rPr lang="zh-CN" altLang="zh-CN" b="0" dirty="0"/>
              <a:t>是串中的字符（</a:t>
            </a:r>
            <a:r>
              <a:rPr lang="en-US" altLang="zh-CN" b="0" dirty="0"/>
              <a:t>0≤i</a:t>
            </a:r>
            <a:r>
              <a:rPr lang="zh-CN" altLang="zh-CN" b="0" dirty="0"/>
              <a:t>＜</a:t>
            </a:r>
            <a:r>
              <a:rPr lang="en-US" altLang="zh-CN" b="0" dirty="0"/>
              <a:t>n</a:t>
            </a:r>
            <a:r>
              <a:rPr lang="zh-CN" altLang="zh-CN" b="0" dirty="0"/>
              <a:t>），</a:t>
            </a:r>
            <a:r>
              <a:rPr lang="en-US" altLang="zh-CN" b="0" dirty="0"/>
              <a:t>n</a:t>
            </a:r>
            <a:r>
              <a:rPr lang="zh-CN" altLang="zh-CN" b="0" dirty="0"/>
              <a:t>是串中的字符个数，也叫做串的长度，它不包括作为分界符的引号，也不包括串结束符</a:t>
            </a:r>
            <a:r>
              <a:rPr lang="en-US" altLang="zh-CN" b="0" dirty="0"/>
              <a:t>‘\0’</a:t>
            </a:r>
            <a:r>
              <a:rPr lang="zh-CN" altLang="zh-CN" b="0" dirty="0"/>
              <a:t>。长度为零的串叫做空串，除串结束符外，它不包含任何其他字符。</a:t>
            </a:r>
          </a:p>
          <a:p>
            <a:pPr algn="just"/>
            <a:endParaRPr lang="zh-CN" altLang="en-US" dirty="0"/>
          </a:p>
        </p:txBody>
      </p:sp>
    </p:spTree>
    <p:extLst>
      <p:ext uri="{BB962C8B-B14F-4D97-AF65-F5344CB8AC3E}">
        <p14:creationId xmlns:p14="http://schemas.microsoft.com/office/powerpoint/2010/main" val="245350546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en-US" altLang="zh-CN" b="1" dirty="0"/>
              <a:t>3.7.2 </a:t>
            </a:r>
            <a:r>
              <a:rPr lang="zh-CN" altLang="zh-CN" b="1" dirty="0"/>
              <a:t>串的操作</a:t>
            </a:r>
            <a:endParaRPr lang="zh-CN" altLang="en-US" dirty="0"/>
          </a:p>
        </p:txBody>
      </p:sp>
      <p:sp>
        <p:nvSpPr>
          <p:cNvPr id="3" name="内容占位符 2"/>
          <p:cNvSpPr>
            <a:spLocks noGrp="1"/>
          </p:cNvSpPr>
          <p:nvPr>
            <p:ph idx="1"/>
          </p:nvPr>
        </p:nvSpPr>
        <p:spPr>
          <a:xfrm>
            <a:off x="827584" y="1628800"/>
            <a:ext cx="7776864" cy="4248472"/>
          </a:xfrm>
        </p:spPr>
        <p:txBody>
          <a:bodyPr>
            <a:normAutofit fontScale="92500"/>
          </a:bodyPr>
          <a:lstStyle/>
          <a:p>
            <a:pPr algn="just"/>
            <a:r>
              <a:rPr lang="en-US" altLang="zh-CN" dirty="0"/>
              <a:t>	s1="It is a car"</a:t>
            </a:r>
            <a:endParaRPr lang="zh-CN" altLang="zh-CN" dirty="0"/>
          </a:p>
          <a:p>
            <a:pPr algn="just"/>
            <a:r>
              <a:rPr lang="en-US" altLang="zh-CN" dirty="0"/>
              <a:t>	s2="jeep"</a:t>
            </a:r>
            <a:endParaRPr lang="zh-CN" altLang="zh-CN" dirty="0"/>
          </a:p>
          <a:p>
            <a:pPr algn="just"/>
            <a:r>
              <a:rPr lang="en-US" altLang="zh-CN" dirty="0"/>
              <a:t>	s3="car"</a:t>
            </a:r>
            <a:endParaRPr lang="zh-CN" altLang="zh-CN" dirty="0"/>
          </a:p>
          <a:p>
            <a:pPr algn="just"/>
            <a:r>
              <a:rPr lang="zh-CN" altLang="zh-CN" b="0" dirty="0">
                <a:solidFill>
                  <a:srgbClr val="FF0000"/>
                </a:solidFill>
              </a:rPr>
              <a:t>串的主要操作有</a:t>
            </a:r>
            <a:r>
              <a:rPr lang="zh-CN" altLang="zh-CN" b="0" dirty="0"/>
              <a:t>：</a:t>
            </a:r>
          </a:p>
          <a:p>
            <a:pPr algn="just"/>
            <a:r>
              <a:rPr lang="zh-CN" altLang="zh-CN" b="0" dirty="0"/>
              <a:t>（</a:t>
            </a:r>
            <a:r>
              <a:rPr lang="en-US" altLang="zh-CN" b="0" dirty="0"/>
              <a:t>1</a:t>
            </a:r>
            <a:r>
              <a:rPr lang="zh-CN" altLang="zh-CN" b="0" dirty="0"/>
              <a:t>）求串的长度。例如，</a:t>
            </a:r>
            <a:r>
              <a:rPr lang="en-US" altLang="zh-CN" b="0" dirty="0"/>
              <a:t>s1</a:t>
            </a:r>
            <a:r>
              <a:rPr lang="zh-CN" altLang="zh-CN" b="0" dirty="0"/>
              <a:t>的长度为</a:t>
            </a:r>
            <a:r>
              <a:rPr lang="en-US" altLang="zh-CN" b="0" dirty="0"/>
              <a:t>11</a:t>
            </a:r>
            <a:r>
              <a:rPr lang="zh-CN" altLang="zh-CN" b="0" dirty="0"/>
              <a:t>，</a:t>
            </a:r>
            <a:r>
              <a:rPr lang="en-US" altLang="zh-CN" b="0" dirty="0"/>
              <a:t>s2</a:t>
            </a:r>
            <a:r>
              <a:rPr lang="zh-CN" altLang="zh-CN" b="0" dirty="0"/>
              <a:t>的长度为</a:t>
            </a:r>
            <a:r>
              <a:rPr lang="en-US" altLang="zh-CN" b="0" dirty="0"/>
              <a:t>4</a:t>
            </a:r>
            <a:r>
              <a:rPr lang="zh-CN" altLang="zh-CN" b="0" dirty="0"/>
              <a:t>。</a:t>
            </a:r>
          </a:p>
          <a:p>
            <a:pPr algn="just"/>
            <a:r>
              <a:rPr lang="zh-CN" altLang="zh-CN" b="0" dirty="0"/>
              <a:t>（</a:t>
            </a:r>
            <a:r>
              <a:rPr lang="en-US" altLang="zh-CN" b="0" dirty="0"/>
              <a:t>2</a:t>
            </a:r>
            <a:r>
              <a:rPr lang="zh-CN" altLang="zh-CN" b="0" dirty="0"/>
              <a:t>）把一个串赋给另一个串。若有</a:t>
            </a:r>
            <a:r>
              <a:rPr lang="en-US" altLang="zh-CN" b="0" dirty="0"/>
              <a:t>s4</a:t>
            </a:r>
            <a:r>
              <a:rPr lang="zh-CN" altLang="zh-CN" b="0" dirty="0"/>
              <a:t>＝</a:t>
            </a:r>
            <a:r>
              <a:rPr lang="en-US" altLang="zh-CN" b="0" dirty="0"/>
              <a:t>s3</a:t>
            </a:r>
            <a:r>
              <a:rPr lang="zh-CN" altLang="zh-CN" b="0" dirty="0"/>
              <a:t>，则</a:t>
            </a:r>
            <a:r>
              <a:rPr lang="en-US" altLang="zh-CN" b="0" dirty="0"/>
              <a:t>s4</a:t>
            </a:r>
            <a:r>
              <a:rPr lang="zh-CN" altLang="zh-CN" b="0" dirty="0"/>
              <a:t>的</a:t>
            </a:r>
            <a:r>
              <a:rPr lang="zh-CN" altLang="en-US" b="0" dirty="0"/>
              <a:t>值</a:t>
            </a:r>
            <a:r>
              <a:rPr lang="zh-CN" altLang="zh-CN" b="0" dirty="0"/>
              <a:t>为</a:t>
            </a:r>
            <a:r>
              <a:rPr lang="en-US" altLang="zh-CN" b="0" dirty="0"/>
              <a:t>“car"</a:t>
            </a:r>
            <a:r>
              <a:rPr lang="zh-CN" altLang="zh-CN" b="0" dirty="0"/>
              <a:t>。</a:t>
            </a:r>
          </a:p>
          <a:p>
            <a:pPr algn="just"/>
            <a:r>
              <a:rPr lang="zh-CN" altLang="zh-CN" b="0" dirty="0"/>
              <a:t>（</a:t>
            </a:r>
            <a:r>
              <a:rPr lang="en-US" altLang="zh-CN" b="0" dirty="0"/>
              <a:t>3</a:t>
            </a:r>
            <a:r>
              <a:rPr lang="zh-CN" altLang="zh-CN" b="0" dirty="0"/>
              <a:t>）把两个串连接成一个新串。设</a:t>
            </a:r>
            <a:r>
              <a:rPr lang="en-US" altLang="zh-CN" b="0" dirty="0"/>
              <a:t>s5</a:t>
            </a:r>
            <a:r>
              <a:rPr lang="zh-CN" altLang="zh-CN" b="0" dirty="0"/>
              <a:t>为</a:t>
            </a:r>
            <a:r>
              <a:rPr lang="en-US" altLang="zh-CN" b="0" dirty="0"/>
              <a:t>s2</a:t>
            </a:r>
            <a:r>
              <a:rPr lang="zh-CN" altLang="zh-CN" b="0" dirty="0"/>
              <a:t>和</a:t>
            </a:r>
            <a:r>
              <a:rPr lang="en-US" altLang="zh-CN" b="0" dirty="0"/>
              <a:t>s3</a:t>
            </a:r>
            <a:r>
              <a:rPr lang="zh-CN" altLang="zh-CN" b="0" dirty="0"/>
              <a:t>连接形成的新串，则</a:t>
            </a:r>
            <a:r>
              <a:rPr lang="en-US" altLang="zh-CN" b="0" dirty="0"/>
              <a:t>s5</a:t>
            </a:r>
            <a:r>
              <a:rPr lang="zh-CN" altLang="zh-CN" b="0" dirty="0"/>
              <a:t>＝</a:t>
            </a:r>
            <a:r>
              <a:rPr lang="en-US" altLang="zh-CN" b="0" dirty="0"/>
              <a:t>"</a:t>
            </a:r>
            <a:r>
              <a:rPr lang="en-US" altLang="zh-CN" b="0" dirty="0" err="1"/>
              <a:t>jeepcar</a:t>
            </a:r>
            <a:r>
              <a:rPr lang="en-US" altLang="zh-CN" b="0" dirty="0"/>
              <a:t>"</a:t>
            </a:r>
            <a:r>
              <a:rPr lang="zh-CN" altLang="zh-CN" b="0" dirty="0"/>
              <a:t>，即将后面的串连接到前面的串的尾部。</a:t>
            </a:r>
          </a:p>
          <a:p>
            <a:pPr algn="just"/>
            <a:endParaRPr lang="zh-CN" altLang="en-US" dirty="0"/>
          </a:p>
        </p:txBody>
      </p:sp>
    </p:spTree>
    <p:extLst>
      <p:ext uri="{BB962C8B-B14F-4D97-AF65-F5344CB8AC3E}">
        <p14:creationId xmlns:p14="http://schemas.microsoft.com/office/powerpoint/2010/main" val="77653630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08720"/>
            <a:ext cx="7776864" cy="5040560"/>
          </a:xfrm>
        </p:spPr>
        <p:txBody>
          <a:bodyPr>
            <a:normAutofit fontScale="92500"/>
          </a:bodyPr>
          <a:lstStyle/>
          <a:p>
            <a:pPr algn="just"/>
            <a:r>
              <a:rPr lang="zh-CN" altLang="zh-CN" b="0" dirty="0"/>
              <a:t>（</a:t>
            </a:r>
            <a:r>
              <a:rPr lang="en-US" altLang="zh-CN" b="0" dirty="0"/>
              <a:t>4</a:t>
            </a:r>
            <a:r>
              <a:rPr lang="zh-CN" altLang="zh-CN" b="0" dirty="0"/>
              <a:t>）比较两个串的</a:t>
            </a:r>
            <a:r>
              <a:rPr lang="en-US" altLang="zh-CN" b="0" dirty="0"/>
              <a:t>ASCII</a:t>
            </a:r>
            <a:r>
              <a:rPr lang="zh-CN" altLang="zh-CN" b="0" dirty="0"/>
              <a:t>码值的大小。若</a:t>
            </a:r>
            <a:r>
              <a:rPr lang="en-US" altLang="zh-CN" b="0" dirty="0"/>
              <a:t>str1</a:t>
            </a:r>
            <a:r>
              <a:rPr lang="zh-CN" altLang="zh-CN" b="0" dirty="0"/>
              <a:t>小于</a:t>
            </a:r>
            <a:r>
              <a:rPr lang="en-US" altLang="zh-CN" b="0" dirty="0"/>
              <a:t>str2</a:t>
            </a:r>
            <a:r>
              <a:rPr lang="zh-CN" altLang="zh-CN" b="0" dirty="0"/>
              <a:t>，比较结果为</a:t>
            </a:r>
            <a:r>
              <a:rPr lang="en-US" altLang="zh-CN" b="0" dirty="0"/>
              <a:t>-1</a:t>
            </a:r>
            <a:r>
              <a:rPr lang="zh-CN" altLang="zh-CN" b="0" dirty="0"/>
              <a:t>；若</a:t>
            </a:r>
            <a:r>
              <a:rPr lang="en-US" altLang="zh-CN" b="0" dirty="0"/>
              <a:t>str1</a:t>
            </a:r>
            <a:r>
              <a:rPr lang="zh-CN" altLang="zh-CN" b="0" dirty="0"/>
              <a:t>等于</a:t>
            </a:r>
            <a:r>
              <a:rPr lang="en-US" altLang="zh-CN" b="0" dirty="0"/>
              <a:t>str2</a:t>
            </a:r>
            <a:r>
              <a:rPr lang="zh-CN" altLang="zh-CN" b="0" dirty="0"/>
              <a:t>，比较结</a:t>
            </a:r>
            <a:r>
              <a:rPr lang="zh-CN" altLang="en-US" b="0" dirty="0"/>
              <a:t>果</a:t>
            </a:r>
            <a:r>
              <a:rPr lang="zh-CN" altLang="zh-CN" b="0" dirty="0"/>
              <a:t>为</a:t>
            </a:r>
            <a:r>
              <a:rPr lang="en-US" altLang="zh-CN" b="0" dirty="0"/>
              <a:t>0</a:t>
            </a:r>
            <a:r>
              <a:rPr lang="zh-CN" altLang="zh-CN" b="0" dirty="0"/>
              <a:t>；若</a:t>
            </a:r>
            <a:r>
              <a:rPr lang="en-US" altLang="zh-CN" b="0" dirty="0"/>
              <a:t>str1</a:t>
            </a:r>
            <a:r>
              <a:rPr lang="zh-CN" altLang="zh-CN" b="0" dirty="0"/>
              <a:t>大于</a:t>
            </a:r>
            <a:r>
              <a:rPr lang="en-US" altLang="zh-CN" b="0" dirty="0"/>
              <a:t>str2</a:t>
            </a:r>
            <a:r>
              <a:rPr lang="zh-CN" altLang="zh-CN" b="0" dirty="0"/>
              <a:t>，比较结</a:t>
            </a:r>
            <a:r>
              <a:rPr lang="zh-CN" altLang="en-US" b="0" dirty="0"/>
              <a:t>果</a:t>
            </a:r>
            <a:r>
              <a:rPr lang="zh-CN" altLang="zh-CN" b="0" dirty="0"/>
              <a:t>为</a:t>
            </a:r>
            <a:r>
              <a:rPr lang="en-US" altLang="zh-CN" b="0" dirty="0"/>
              <a:t>1</a:t>
            </a:r>
            <a:r>
              <a:rPr lang="zh-CN" altLang="zh-CN" b="0" dirty="0"/>
              <a:t>。</a:t>
            </a:r>
            <a:r>
              <a:rPr lang="en-US" altLang="zh-CN" b="0" dirty="0"/>
              <a:t>	</a:t>
            </a:r>
          </a:p>
          <a:p>
            <a:pPr algn="just"/>
            <a:r>
              <a:rPr lang="zh-CN" altLang="zh-CN" b="0" dirty="0"/>
              <a:t>（</a:t>
            </a:r>
            <a:r>
              <a:rPr lang="en-US" altLang="zh-CN" b="0" dirty="0"/>
              <a:t>5</a:t>
            </a:r>
            <a:r>
              <a:rPr lang="zh-CN" altLang="zh-CN" b="0" dirty="0"/>
              <a:t>）在一个串（称为主串）中查找是否存在与另一个串相等的子串。设在串</a:t>
            </a:r>
            <a:r>
              <a:rPr lang="en-US" altLang="zh-CN" b="0" dirty="0"/>
              <a:t>str1</a:t>
            </a:r>
            <a:r>
              <a:rPr lang="zh-CN" altLang="zh-CN" b="0" dirty="0"/>
              <a:t>中查找串</a:t>
            </a:r>
            <a:r>
              <a:rPr lang="en-US" altLang="zh-CN" b="0" dirty="0"/>
              <a:t>str2</a:t>
            </a:r>
            <a:r>
              <a:rPr lang="zh-CN" altLang="zh-CN" b="0" dirty="0"/>
              <a:t>，这里</a:t>
            </a:r>
            <a:r>
              <a:rPr lang="en-US" altLang="zh-CN" b="0" dirty="0"/>
              <a:t>str1</a:t>
            </a:r>
            <a:r>
              <a:rPr lang="zh-CN" altLang="zh-CN" b="0" dirty="0"/>
              <a:t>是主串，</a:t>
            </a:r>
            <a:r>
              <a:rPr lang="en-US" altLang="zh-CN" b="0" dirty="0"/>
              <a:t>str2</a:t>
            </a:r>
            <a:r>
              <a:rPr lang="zh-CN" altLang="zh-CN" b="0" dirty="0"/>
              <a:t>是子串。若主串中存在与</a:t>
            </a:r>
            <a:r>
              <a:rPr lang="en-US" altLang="zh-CN" b="0" dirty="0"/>
              <a:t>str2</a:t>
            </a:r>
            <a:r>
              <a:rPr lang="zh-CN" altLang="zh-CN" b="0" dirty="0"/>
              <a:t>相等的子串，则操作结果为</a:t>
            </a:r>
            <a:r>
              <a:rPr lang="en-US" altLang="zh-CN" b="0" dirty="0"/>
              <a:t>str2</a:t>
            </a:r>
            <a:r>
              <a:rPr lang="zh-CN" altLang="zh-CN" b="0" dirty="0"/>
              <a:t>在</a:t>
            </a:r>
            <a:r>
              <a:rPr lang="en-US" altLang="zh-CN" b="0" dirty="0"/>
              <a:t>str1</a:t>
            </a:r>
            <a:r>
              <a:rPr lang="zh-CN" altLang="zh-CN" b="0" dirty="0"/>
              <a:t>中首次出现的位置；若主串</a:t>
            </a:r>
            <a:r>
              <a:rPr lang="en-US" altLang="zh-CN" b="0" dirty="0"/>
              <a:t>str1</a:t>
            </a:r>
            <a:r>
              <a:rPr lang="zh-CN" altLang="zh-CN" b="0" dirty="0"/>
              <a:t>中不存在和串</a:t>
            </a:r>
            <a:r>
              <a:rPr lang="en-US" altLang="zh-CN" b="0" dirty="0"/>
              <a:t>str2</a:t>
            </a:r>
            <a:r>
              <a:rPr lang="zh-CN" altLang="zh-CN" b="0" dirty="0"/>
              <a:t>相等的子串，则操作结果为</a:t>
            </a:r>
            <a:r>
              <a:rPr lang="en-US" altLang="zh-CN" b="0" dirty="0"/>
              <a:t>-1</a:t>
            </a:r>
            <a:r>
              <a:rPr lang="zh-CN" altLang="zh-CN" b="0" dirty="0"/>
              <a:t>。</a:t>
            </a:r>
            <a:endParaRPr lang="en-US" altLang="zh-CN" b="0" dirty="0"/>
          </a:p>
          <a:p>
            <a:pPr algn="just"/>
            <a:r>
              <a:rPr lang="zh-CN" altLang="zh-CN" b="0" dirty="0"/>
              <a:t>（</a:t>
            </a:r>
            <a:r>
              <a:rPr lang="en-US" altLang="zh-CN" b="0" dirty="0"/>
              <a:t>6</a:t>
            </a:r>
            <a:r>
              <a:rPr lang="zh-CN" altLang="zh-CN" b="0" dirty="0"/>
              <a:t>）在一个串中是否存在一个字符。设在串</a:t>
            </a:r>
            <a:r>
              <a:rPr lang="en-US" altLang="zh-CN" b="0" dirty="0" err="1"/>
              <a:t>str</a:t>
            </a:r>
            <a:r>
              <a:rPr lang="zh-CN" altLang="zh-CN" b="0" dirty="0"/>
              <a:t>中查找字符</a:t>
            </a:r>
            <a:r>
              <a:rPr lang="en-US" altLang="zh-CN" b="0" dirty="0" err="1"/>
              <a:t>ch</a:t>
            </a:r>
            <a:r>
              <a:rPr lang="zh-CN" altLang="zh-CN" b="0" dirty="0"/>
              <a:t>，若串</a:t>
            </a:r>
            <a:r>
              <a:rPr lang="en-US" altLang="zh-CN" b="0" dirty="0" err="1"/>
              <a:t>str</a:t>
            </a:r>
            <a:r>
              <a:rPr lang="zh-CN" altLang="zh-CN" b="0" dirty="0"/>
              <a:t>中存在该字符</a:t>
            </a:r>
            <a:r>
              <a:rPr lang="en-US" altLang="zh-CN" b="0" dirty="0" err="1"/>
              <a:t>ch</a:t>
            </a:r>
            <a:r>
              <a:rPr lang="zh-CN" altLang="zh-CN" b="0" dirty="0"/>
              <a:t>，则操作结果为字符</a:t>
            </a:r>
            <a:r>
              <a:rPr lang="en-US" altLang="zh-CN" b="0" dirty="0" err="1"/>
              <a:t>ch</a:t>
            </a:r>
            <a:r>
              <a:rPr lang="zh-CN" altLang="zh-CN" b="0" dirty="0"/>
              <a:t>在串</a:t>
            </a:r>
            <a:r>
              <a:rPr lang="en-US" altLang="zh-CN" b="0" dirty="0" err="1"/>
              <a:t>str</a:t>
            </a:r>
            <a:r>
              <a:rPr lang="zh-CN" altLang="zh-CN" b="0" dirty="0"/>
              <a:t>中首次出现的位置；若</a:t>
            </a:r>
            <a:r>
              <a:rPr lang="en-US" altLang="zh-CN" b="0" dirty="0" err="1"/>
              <a:t>str</a:t>
            </a:r>
            <a:r>
              <a:rPr lang="zh-CN" altLang="zh-CN" b="0" dirty="0"/>
              <a:t>中不存在字符</a:t>
            </a:r>
            <a:r>
              <a:rPr lang="en-US" altLang="zh-CN" b="0" dirty="0" err="1"/>
              <a:t>ch</a:t>
            </a:r>
            <a:r>
              <a:rPr lang="zh-CN" altLang="zh-CN" b="0" dirty="0"/>
              <a:t>，则操作结果为</a:t>
            </a:r>
            <a:r>
              <a:rPr lang="en-US" altLang="zh-CN" b="0" dirty="0"/>
              <a:t>-1</a:t>
            </a:r>
            <a:r>
              <a:rPr lang="zh-CN" altLang="zh-CN" b="0" dirty="0"/>
              <a:t>。</a:t>
            </a:r>
          </a:p>
        </p:txBody>
      </p:sp>
    </p:spTree>
    <p:extLst>
      <p:ext uri="{BB962C8B-B14F-4D97-AF65-F5344CB8AC3E}">
        <p14:creationId xmlns:p14="http://schemas.microsoft.com/office/powerpoint/2010/main" val="58383931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60" y="980728"/>
            <a:ext cx="7736964" cy="5040560"/>
          </a:xfrm>
        </p:spPr>
        <p:txBody>
          <a:bodyPr>
            <a:normAutofit fontScale="92500" lnSpcReduction="10000"/>
          </a:bodyPr>
          <a:lstStyle/>
          <a:p>
            <a:pPr algn="just"/>
            <a:r>
              <a:rPr lang="en-US" altLang="zh-CN" dirty="0"/>
              <a:t>	</a:t>
            </a:r>
            <a:r>
              <a:rPr lang="zh-CN" altLang="zh-CN" dirty="0"/>
              <a:t>（</a:t>
            </a:r>
            <a:r>
              <a:rPr lang="en-US" altLang="zh-CN" b="0" dirty="0"/>
              <a:t>7</a:t>
            </a:r>
            <a:r>
              <a:rPr lang="zh-CN" altLang="zh-CN" b="0" dirty="0"/>
              <a:t>）截取子串形成新串。设</a:t>
            </a:r>
            <a:r>
              <a:rPr lang="en-US" altLang="zh-CN" b="0" dirty="0" err="1"/>
              <a:t>str</a:t>
            </a:r>
            <a:r>
              <a:rPr lang="zh-CN" altLang="zh-CN" b="0" dirty="0"/>
              <a:t>为要截取的串，</a:t>
            </a:r>
            <a:r>
              <a:rPr lang="en-US" altLang="zh-CN" b="0" dirty="0" err="1"/>
              <a:t>pos</a:t>
            </a:r>
            <a:r>
              <a:rPr lang="zh-CN" altLang="zh-CN" b="0" dirty="0"/>
              <a:t>为要截取的起始位置，</a:t>
            </a:r>
            <a:r>
              <a:rPr lang="en-US" altLang="zh-CN" b="0" dirty="0"/>
              <a:t>length</a:t>
            </a:r>
            <a:r>
              <a:rPr lang="zh-CN" altLang="zh-CN" b="0" dirty="0"/>
              <a:t>为要截取的长度，则形成的新串长度为</a:t>
            </a:r>
            <a:r>
              <a:rPr lang="en-US" altLang="zh-CN" b="0" dirty="0"/>
              <a:t>length</a:t>
            </a:r>
            <a:r>
              <a:rPr lang="zh-CN" altLang="zh-CN" b="0" dirty="0"/>
              <a:t>。如果</a:t>
            </a:r>
            <a:r>
              <a:rPr lang="en-US" altLang="zh-CN" b="0" dirty="0"/>
              <a:t>s1</a:t>
            </a:r>
            <a:r>
              <a:rPr lang="zh-CN" altLang="zh-CN" b="0" dirty="0"/>
              <a:t>串截取起始位置为</a:t>
            </a:r>
            <a:r>
              <a:rPr lang="en-US" altLang="zh-CN" b="0" dirty="0"/>
              <a:t>3</a:t>
            </a:r>
            <a:r>
              <a:rPr lang="zh-CN" altLang="zh-CN" b="0" dirty="0"/>
              <a:t>（这里子串是从</a:t>
            </a:r>
            <a:r>
              <a:rPr lang="en-US" altLang="zh-CN" b="0" dirty="0"/>
              <a:t>0</a:t>
            </a:r>
            <a:r>
              <a:rPr lang="zh-CN" altLang="zh-CN" b="0" dirty="0"/>
              <a:t>开始）、长度为</a:t>
            </a:r>
            <a:r>
              <a:rPr lang="en-US" altLang="zh-CN" b="0" dirty="0"/>
              <a:t>2</a:t>
            </a:r>
            <a:r>
              <a:rPr lang="zh-CN" altLang="zh-CN" b="0" dirty="0"/>
              <a:t>的子串放在</a:t>
            </a:r>
            <a:r>
              <a:rPr lang="en-US" altLang="zh-CN" b="0" dirty="0"/>
              <a:t>s6</a:t>
            </a:r>
            <a:r>
              <a:rPr lang="zh-CN" altLang="zh-CN" b="0" dirty="0"/>
              <a:t>，则</a:t>
            </a:r>
            <a:r>
              <a:rPr lang="en-US" altLang="zh-CN" b="0" dirty="0"/>
              <a:t>s6="is"</a:t>
            </a:r>
            <a:r>
              <a:rPr lang="zh-CN" altLang="zh-CN" b="0" dirty="0"/>
              <a:t>。</a:t>
            </a:r>
          </a:p>
          <a:p>
            <a:pPr algn="just"/>
            <a:r>
              <a:rPr lang="en-US" altLang="zh-CN" b="0" dirty="0"/>
              <a:t>	</a:t>
            </a:r>
            <a:r>
              <a:rPr lang="zh-CN" altLang="zh-CN" b="0" dirty="0"/>
              <a:t>（</a:t>
            </a:r>
            <a:r>
              <a:rPr lang="en-US" altLang="zh-CN" b="0" dirty="0"/>
              <a:t>8</a:t>
            </a:r>
            <a:r>
              <a:rPr lang="zh-CN" altLang="zh-CN" b="0" dirty="0"/>
              <a:t>）在一个串插入另一个串。设把串</a:t>
            </a:r>
            <a:r>
              <a:rPr lang="en-US" altLang="zh-CN" b="0" dirty="0"/>
              <a:t>str2</a:t>
            </a:r>
            <a:r>
              <a:rPr lang="zh-CN" altLang="zh-CN" b="0" dirty="0"/>
              <a:t>插入到串</a:t>
            </a:r>
            <a:r>
              <a:rPr lang="en-US" altLang="zh-CN" b="0" dirty="0"/>
              <a:t>str1</a:t>
            </a:r>
            <a:r>
              <a:rPr lang="zh-CN" altLang="zh-CN" b="0" dirty="0"/>
              <a:t>中，</a:t>
            </a:r>
            <a:r>
              <a:rPr lang="en-US" altLang="zh-CN" b="0" dirty="0" err="1"/>
              <a:t>pos</a:t>
            </a:r>
            <a:r>
              <a:rPr lang="zh-CN" altLang="zh-CN" b="0" dirty="0"/>
              <a:t>为要</a:t>
            </a:r>
            <a:r>
              <a:rPr lang="zh-CN" altLang="en-US" b="0" dirty="0"/>
              <a:t>插</a:t>
            </a:r>
            <a:r>
              <a:rPr lang="zh-CN" altLang="zh-CN" b="0" dirty="0"/>
              <a:t>入的起始位置，则操作结果形成的新串长度为</a:t>
            </a:r>
            <a:r>
              <a:rPr lang="en-US" altLang="zh-CN" b="0" dirty="0"/>
              <a:t>str1</a:t>
            </a:r>
            <a:r>
              <a:rPr lang="zh-CN" altLang="zh-CN" b="0" dirty="0"/>
              <a:t>和</a:t>
            </a:r>
            <a:r>
              <a:rPr lang="en-US" altLang="zh-CN" b="0" dirty="0"/>
              <a:t>str2</a:t>
            </a:r>
            <a:r>
              <a:rPr lang="zh-CN" altLang="zh-CN" b="0" dirty="0"/>
              <a:t>之和。例如，把串</a:t>
            </a:r>
            <a:r>
              <a:rPr lang="en-US" altLang="zh-CN" b="0" dirty="0"/>
              <a:t>s7=”not ”</a:t>
            </a:r>
            <a:r>
              <a:rPr lang="zh-CN" altLang="zh-CN" b="0" dirty="0"/>
              <a:t>，插入到</a:t>
            </a:r>
            <a:r>
              <a:rPr lang="en-US" altLang="zh-CN" b="0" dirty="0"/>
              <a:t>s1</a:t>
            </a:r>
            <a:r>
              <a:rPr lang="zh-CN" altLang="zh-CN" b="0" dirty="0"/>
              <a:t>的位置</a:t>
            </a:r>
            <a:r>
              <a:rPr lang="en-US" altLang="zh-CN" b="0" dirty="0"/>
              <a:t>6</a:t>
            </a:r>
            <a:r>
              <a:rPr lang="zh-CN" altLang="zh-CN" b="0" dirty="0"/>
              <a:t>处，则操作结果形成的新串</a:t>
            </a:r>
            <a:r>
              <a:rPr lang="en-US" altLang="zh-CN" b="0" dirty="0"/>
              <a:t>s8="It is not a car"</a:t>
            </a:r>
            <a:r>
              <a:rPr lang="zh-CN" altLang="zh-CN" b="0" dirty="0"/>
              <a:t>。</a:t>
            </a:r>
          </a:p>
          <a:p>
            <a:pPr algn="just"/>
            <a:r>
              <a:rPr lang="en-US" altLang="zh-CN" b="0" dirty="0"/>
              <a:t>	</a:t>
            </a:r>
            <a:r>
              <a:rPr lang="zh-CN" altLang="zh-CN" b="0" dirty="0"/>
              <a:t>（</a:t>
            </a:r>
            <a:r>
              <a:rPr lang="en-US" altLang="zh-CN" b="0" dirty="0"/>
              <a:t>9</a:t>
            </a:r>
            <a:r>
              <a:rPr lang="zh-CN" altLang="zh-CN" b="0" dirty="0"/>
              <a:t>）从一个串中删除一个子串。设在串</a:t>
            </a:r>
            <a:r>
              <a:rPr lang="en-US" altLang="zh-CN" b="0" dirty="0" err="1"/>
              <a:t>str</a:t>
            </a:r>
            <a:r>
              <a:rPr lang="zh-CN" altLang="zh-CN" b="0" dirty="0"/>
              <a:t>中要删除长度为</a:t>
            </a:r>
            <a:r>
              <a:rPr lang="en-US" altLang="zh-CN" b="0" dirty="0"/>
              <a:t>length</a:t>
            </a:r>
            <a:r>
              <a:rPr lang="zh-CN" altLang="zh-CN" b="0" dirty="0"/>
              <a:t>的子串，</a:t>
            </a:r>
            <a:r>
              <a:rPr lang="en-US" altLang="zh-CN" b="0" dirty="0" err="1"/>
              <a:t>pos</a:t>
            </a:r>
            <a:r>
              <a:rPr lang="zh-CN" altLang="zh-CN" b="0" dirty="0"/>
              <a:t>为要删除的子串在</a:t>
            </a:r>
            <a:r>
              <a:rPr lang="en-US" altLang="zh-CN" b="0" dirty="0" err="1"/>
              <a:t>str</a:t>
            </a:r>
            <a:r>
              <a:rPr lang="zh-CN" altLang="zh-CN" b="0" dirty="0"/>
              <a:t>中的起始位置，则删除后的新串长度为原长减去</a:t>
            </a:r>
            <a:r>
              <a:rPr lang="en-US" altLang="zh-CN" b="0" dirty="0"/>
              <a:t>length</a:t>
            </a:r>
            <a:r>
              <a:rPr lang="zh-CN" altLang="zh-CN" b="0" dirty="0"/>
              <a:t>。例如，要在</a:t>
            </a:r>
            <a:r>
              <a:rPr lang="en-US" altLang="zh-CN" b="0" dirty="0"/>
              <a:t>s8</a:t>
            </a:r>
            <a:r>
              <a:rPr lang="zh-CN" altLang="zh-CN" b="0" dirty="0"/>
              <a:t>中删除长度为</a:t>
            </a:r>
            <a:r>
              <a:rPr lang="en-US" altLang="zh-CN" b="0" dirty="0"/>
              <a:t>4</a:t>
            </a:r>
            <a:r>
              <a:rPr lang="zh-CN" altLang="zh-CN" b="0" dirty="0"/>
              <a:t>的子串，起始位置为</a:t>
            </a:r>
            <a:r>
              <a:rPr lang="en-US" altLang="zh-CN" b="0" dirty="0"/>
              <a:t>6</a:t>
            </a:r>
            <a:r>
              <a:rPr lang="zh-CN" altLang="zh-CN" b="0" dirty="0"/>
              <a:t>，则删除后的新串为</a:t>
            </a:r>
            <a:r>
              <a:rPr lang="en-US" altLang="zh-CN" b="0" dirty="0"/>
              <a:t>s1</a:t>
            </a:r>
            <a:r>
              <a:rPr lang="zh-CN" altLang="zh-CN" b="0" dirty="0"/>
              <a:t>。</a:t>
            </a:r>
          </a:p>
          <a:p>
            <a:pPr algn="just"/>
            <a:endParaRPr lang="zh-CN" altLang="en-US" b="0" dirty="0"/>
          </a:p>
        </p:txBody>
      </p:sp>
      <p:sp>
        <p:nvSpPr>
          <p:cNvPr id="6" name="文本框 5">
            <a:extLst>
              <a:ext uri="{FF2B5EF4-FFF2-40B4-BE49-F238E27FC236}">
                <a16:creationId xmlns:a16="http://schemas.microsoft.com/office/drawing/2014/main" id="{50E565FE-6985-4CFC-A712-952A906A9D72}"/>
              </a:ext>
            </a:extLst>
          </p:cNvPr>
          <p:cNvSpPr txBox="1"/>
          <p:nvPr/>
        </p:nvSpPr>
        <p:spPr>
          <a:xfrm>
            <a:off x="5796136" y="57398"/>
            <a:ext cx="3168352" cy="923330"/>
          </a:xfrm>
          <a:prstGeom prst="rect">
            <a:avLst/>
          </a:prstGeom>
          <a:noFill/>
        </p:spPr>
        <p:txBody>
          <a:bodyPr wrap="square">
            <a:spAutoFit/>
          </a:bodyPr>
          <a:lstStyle/>
          <a:p>
            <a:pPr algn="just"/>
            <a:r>
              <a:rPr lang="en-US" altLang="zh-CN" dirty="0"/>
              <a:t>s1="It is a car"</a:t>
            </a:r>
            <a:endParaRPr lang="zh-CN" altLang="zh-CN" dirty="0"/>
          </a:p>
          <a:p>
            <a:pPr algn="just"/>
            <a:r>
              <a:rPr lang="en-US" altLang="zh-CN" dirty="0"/>
              <a:t>s2="jeep"</a:t>
            </a:r>
            <a:endParaRPr lang="zh-CN" altLang="zh-CN" dirty="0"/>
          </a:p>
          <a:p>
            <a:pPr algn="just"/>
            <a:r>
              <a:rPr lang="en-US" altLang="zh-CN" dirty="0"/>
              <a:t>s3="car"</a:t>
            </a:r>
            <a:endParaRPr lang="zh-CN" altLang="zh-CN" dirty="0"/>
          </a:p>
        </p:txBody>
      </p:sp>
    </p:spTree>
    <p:extLst>
      <p:ext uri="{BB962C8B-B14F-4D97-AF65-F5344CB8AC3E}">
        <p14:creationId xmlns:p14="http://schemas.microsoft.com/office/powerpoint/2010/main" val="164876592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en-US" altLang="zh-CN" b="1" dirty="0"/>
              <a:t>3.7.3 </a:t>
            </a:r>
            <a:r>
              <a:rPr lang="zh-CN" altLang="zh-CN" b="1" dirty="0"/>
              <a:t>串的存储结构</a:t>
            </a:r>
            <a:endParaRPr lang="zh-CN" altLang="en-US" dirty="0"/>
          </a:p>
        </p:txBody>
      </p:sp>
      <p:sp>
        <p:nvSpPr>
          <p:cNvPr id="3" name="内容占位符 2"/>
          <p:cNvSpPr>
            <a:spLocks noGrp="1"/>
          </p:cNvSpPr>
          <p:nvPr>
            <p:ph idx="1"/>
          </p:nvPr>
        </p:nvSpPr>
        <p:spPr>
          <a:xfrm>
            <a:off x="827584" y="1628800"/>
            <a:ext cx="7520940" cy="4536504"/>
          </a:xfrm>
        </p:spPr>
        <p:txBody>
          <a:bodyPr>
            <a:normAutofit/>
          </a:bodyPr>
          <a:lstStyle/>
          <a:p>
            <a:pPr algn="just"/>
            <a:r>
              <a:rPr lang="zh-CN" altLang="zh-CN" dirty="0"/>
              <a:t>串的存储方式可以有</a:t>
            </a:r>
            <a:r>
              <a:rPr lang="zh-CN" altLang="zh-CN" dirty="0">
                <a:solidFill>
                  <a:srgbClr val="FF0000"/>
                </a:solidFill>
              </a:rPr>
              <a:t>两种处理方式</a:t>
            </a:r>
            <a:r>
              <a:rPr lang="zh-CN" altLang="zh-CN" dirty="0"/>
              <a:t>：</a:t>
            </a:r>
            <a:endParaRPr lang="en-US" altLang="zh-CN" dirty="0"/>
          </a:p>
          <a:p>
            <a:pPr algn="just">
              <a:buFont typeface="Arial" panose="020B0604020202020204" pitchFamily="34" charset="0"/>
              <a:buChar char="•"/>
            </a:pPr>
            <a:r>
              <a:rPr lang="zh-CN" altLang="zh-CN" b="0" dirty="0"/>
              <a:t>一种是将串定义成</a:t>
            </a:r>
            <a:r>
              <a:rPr lang="zh-CN" altLang="zh-CN" dirty="0">
                <a:solidFill>
                  <a:srgbClr val="FF0000"/>
                </a:solidFill>
              </a:rPr>
              <a:t>字符型数组</a:t>
            </a:r>
            <a:r>
              <a:rPr lang="zh-CN" altLang="zh-CN" b="0" dirty="0"/>
              <a:t>，串的存储空间分配在编译时完成，不能更改，这种方式称为串的静态存储；</a:t>
            </a:r>
            <a:endParaRPr lang="en-US" altLang="zh-CN" b="0" dirty="0"/>
          </a:p>
          <a:p>
            <a:pPr algn="just">
              <a:buFont typeface="Arial" panose="020B0604020202020204" pitchFamily="34" charset="0"/>
              <a:buChar char="•"/>
            </a:pPr>
            <a:r>
              <a:rPr lang="zh-CN" altLang="zh-CN" b="0" dirty="0"/>
              <a:t>另一种是串的存储空间在程序运行时动态分配，这种方式称为</a:t>
            </a:r>
            <a:r>
              <a:rPr lang="zh-CN" altLang="zh-CN" dirty="0">
                <a:solidFill>
                  <a:srgbClr val="FF0000"/>
                </a:solidFill>
              </a:rPr>
              <a:t>动态存储</a:t>
            </a:r>
            <a:r>
              <a:rPr lang="zh-CN" altLang="zh-CN" b="0" dirty="0"/>
              <a:t>。</a:t>
            </a:r>
            <a:endParaRPr lang="en-US" altLang="zh-CN" b="0" dirty="0"/>
          </a:p>
          <a:p>
            <a:pPr algn="just"/>
            <a:r>
              <a:rPr lang="en-US" altLang="zh-CN" b="0" dirty="0"/>
              <a:t>	</a:t>
            </a:r>
            <a:r>
              <a:rPr lang="zh-CN" altLang="zh-CN" b="0" dirty="0"/>
              <a:t>串的静态存储结构即</a:t>
            </a:r>
            <a:r>
              <a:rPr lang="zh-CN" altLang="zh-CN" b="0" dirty="0">
                <a:solidFill>
                  <a:srgbClr val="FF0000"/>
                </a:solidFill>
              </a:rPr>
              <a:t>串的顺序存储结构</a:t>
            </a:r>
            <a:r>
              <a:rPr lang="zh-CN" altLang="zh-CN" b="0" dirty="0"/>
              <a:t>，串的动态存储结构中常见的是</a:t>
            </a:r>
            <a:r>
              <a:rPr lang="zh-CN" altLang="zh-CN" b="0" dirty="0">
                <a:solidFill>
                  <a:srgbClr val="FF0000"/>
                </a:solidFill>
              </a:rPr>
              <a:t>链式存储结构</a:t>
            </a:r>
            <a:r>
              <a:rPr lang="zh-CN" altLang="zh-CN" b="0" dirty="0"/>
              <a:t>。</a:t>
            </a:r>
          </a:p>
          <a:p>
            <a:pPr algn="just"/>
            <a:endParaRPr lang="zh-CN" altLang="en-US" dirty="0"/>
          </a:p>
        </p:txBody>
      </p:sp>
    </p:spTree>
    <p:extLst>
      <p:ext uri="{BB962C8B-B14F-4D97-AF65-F5344CB8AC3E}">
        <p14:creationId xmlns:p14="http://schemas.microsoft.com/office/powerpoint/2010/main" val="385580082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7520940" cy="4968552"/>
          </a:xfrm>
        </p:spPr>
        <p:txBody>
          <a:bodyPr>
            <a:normAutofit lnSpcReduction="10000"/>
          </a:bodyPr>
          <a:lstStyle/>
          <a:p>
            <a:pPr algn="just"/>
            <a:r>
              <a:rPr lang="zh-CN" altLang="zh-CN" dirty="0"/>
              <a:t>（</a:t>
            </a:r>
            <a:r>
              <a:rPr lang="en-US" altLang="zh-CN" dirty="0"/>
              <a:t>1</a:t>
            </a:r>
            <a:r>
              <a:rPr lang="zh-CN" altLang="zh-CN" dirty="0"/>
              <a:t>）</a:t>
            </a:r>
            <a:r>
              <a:rPr lang="zh-CN" altLang="zh-CN" dirty="0">
                <a:solidFill>
                  <a:srgbClr val="FF0000"/>
                </a:solidFill>
              </a:rPr>
              <a:t>串的顺序存储结构</a:t>
            </a:r>
            <a:endParaRPr lang="en-US" altLang="zh-CN" dirty="0">
              <a:solidFill>
                <a:srgbClr val="FF0000"/>
              </a:solidFill>
            </a:endParaRPr>
          </a:p>
          <a:p>
            <a:pPr algn="just">
              <a:buFont typeface="Arial" panose="020B0604020202020204" pitchFamily="34" charset="0"/>
              <a:buChar char="•"/>
            </a:pPr>
            <a:r>
              <a:rPr lang="zh-CN" altLang="zh-CN" b="0" dirty="0"/>
              <a:t>串的顺序存储结构有时称为</a:t>
            </a:r>
            <a:r>
              <a:rPr lang="zh-CN" altLang="zh-CN" dirty="0">
                <a:solidFill>
                  <a:srgbClr val="FF0000"/>
                </a:solidFill>
              </a:rPr>
              <a:t>顺序串</a:t>
            </a:r>
            <a:r>
              <a:rPr lang="zh-CN" altLang="zh-CN" b="0" dirty="0"/>
              <a:t>。在顺序串中，串中的字符被依次存放在一组连续的存储单元里。一般来说，一个字节（</a:t>
            </a:r>
            <a:r>
              <a:rPr lang="en-US" altLang="zh-CN" b="0" dirty="0"/>
              <a:t>8 </a:t>
            </a:r>
            <a:r>
              <a:rPr lang="zh-CN" altLang="zh-CN" b="0" dirty="0"/>
              <a:t>位二进制）可以表示一个字符（即该字符的</a:t>
            </a:r>
            <a:r>
              <a:rPr lang="en-US" altLang="zh-CN" b="0" dirty="0"/>
              <a:t>ASCII </a:t>
            </a:r>
            <a:r>
              <a:rPr lang="zh-CN" altLang="zh-CN" b="0" dirty="0"/>
              <a:t>码）。</a:t>
            </a:r>
            <a:endParaRPr lang="en-US" altLang="zh-CN" b="0" dirty="0"/>
          </a:p>
          <a:p>
            <a:pPr algn="just">
              <a:buFont typeface="Arial" panose="020B0604020202020204" pitchFamily="34" charset="0"/>
              <a:buChar char="•"/>
            </a:pPr>
            <a:r>
              <a:rPr lang="zh-CN" altLang="zh-CN" b="0" dirty="0"/>
              <a:t>串的静态存储结构有</a:t>
            </a:r>
            <a:r>
              <a:rPr lang="zh-CN" altLang="en-US" b="0" dirty="0"/>
              <a:t>以</a:t>
            </a:r>
            <a:r>
              <a:rPr lang="zh-CN" altLang="zh-CN" b="0" dirty="0"/>
              <a:t>下</a:t>
            </a:r>
            <a:r>
              <a:rPr lang="zh-CN" altLang="zh-CN" b="0" dirty="0">
                <a:solidFill>
                  <a:srgbClr val="FF0000"/>
                </a:solidFill>
              </a:rPr>
              <a:t>两个缺点</a:t>
            </a:r>
            <a:r>
              <a:rPr lang="zh-CN" altLang="zh-CN" b="0" dirty="0"/>
              <a:t>：</a:t>
            </a:r>
          </a:p>
          <a:p>
            <a:pPr algn="just"/>
            <a:r>
              <a:rPr lang="en-US" altLang="zh-CN" b="0" dirty="0"/>
              <a:t>	</a:t>
            </a:r>
            <a:r>
              <a:rPr lang="zh-CN" altLang="zh-CN" b="0" dirty="0"/>
              <a:t>①需要预先定义一个串允许的最大字符个数，当该值估计过大时，存储密度就会降低，浪费较多的存储空间；</a:t>
            </a:r>
          </a:p>
          <a:p>
            <a:pPr algn="just"/>
            <a:r>
              <a:rPr lang="en-US" altLang="zh-CN" b="0" dirty="0"/>
              <a:t>	</a:t>
            </a:r>
            <a:r>
              <a:rPr lang="zh-CN" altLang="zh-CN" b="0" dirty="0"/>
              <a:t>②由于限定了串的最大字符个数，使串的某些操作，如置换、连接等</a:t>
            </a:r>
            <a:r>
              <a:rPr lang="zh-CN" altLang="en-US" b="0" dirty="0"/>
              <a:t>操</a:t>
            </a:r>
            <a:r>
              <a:rPr lang="zh-CN" altLang="zh-CN" b="0" dirty="0"/>
              <a:t>作受到限制。</a:t>
            </a:r>
          </a:p>
          <a:p>
            <a:pPr algn="just">
              <a:buFont typeface="Arial" panose="020B0604020202020204" pitchFamily="34" charset="0"/>
              <a:buChar char="•"/>
            </a:pPr>
            <a:endParaRPr lang="zh-CN" altLang="zh-CN" b="0" dirty="0"/>
          </a:p>
          <a:p>
            <a:pPr algn="just"/>
            <a:endParaRPr lang="zh-CN" altLang="en-US" dirty="0"/>
          </a:p>
        </p:txBody>
      </p:sp>
    </p:spTree>
    <p:extLst>
      <p:ext uri="{BB962C8B-B14F-4D97-AF65-F5344CB8AC3E}">
        <p14:creationId xmlns:p14="http://schemas.microsoft.com/office/powerpoint/2010/main" val="241205142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764704"/>
            <a:ext cx="7520940" cy="4227921"/>
          </a:xfrm>
        </p:spPr>
        <p:txBody>
          <a:bodyPr/>
          <a:lstStyle/>
          <a:p>
            <a:pPr algn="just"/>
            <a:r>
              <a:rPr lang="zh-CN" altLang="zh-CN" dirty="0"/>
              <a:t>（</a:t>
            </a:r>
            <a:r>
              <a:rPr lang="en-US" altLang="zh-CN" dirty="0"/>
              <a:t>2</a:t>
            </a:r>
            <a:r>
              <a:rPr lang="zh-CN" altLang="zh-CN" dirty="0"/>
              <a:t>）</a:t>
            </a:r>
            <a:r>
              <a:rPr lang="zh-CN" altLang="zh-CN" dirty="0">
                <a:solidFill>
                  <a:srgbClr val="FF0000"/>
                </a:solidFill>
              </a:rPr>
              <a:t>串的链式存储结构</a:t>
            </a:r>
          </a:p>
          <a:p>
            <a:pPr algn="just"/>
            <a:r>
              <a:rPr lang="zh-CN" altLang="zh-CN" b="0" dirty="0"/>
              <a:t>串的链式存储分为两类</a:t>
            </a:r>
            <a:r>
              <a:rPr lang="en-US" altLang="zh-CN" b="0" dirty="0"/>
              <a:t>:</a:t>
            </a:r>
          </a:p>
          <a:p>
            <a:pPr lvl="0" algn="just"/>
            <a:r>
              <a:rPr lang="zh-CN" altLang="zh-CN" b="0" dirty="0"/>
              <a:t>①</a:t>
            </a:r>
            <a:r>
              <a:rPr lang="zh-CN" altLang="zh-CN" dirty="0">
                <a:solidFill>
                  <a:srgbClr val="FF0000"/>
                </a:solidFill>
              </a:rPr>
              <a:t>结点大小为</a:t>
            </a:r>
            <a:r>
              <a:rPr lang="en-US" altLang="zh-CN" dirty="0">
                <a:solidFill>
                  <a:srgbClr val="FF0000"/>
                </a:solidFill>
              </a:rPr>
              <a:t>1</a:t>
            </a:r>
            <a:r>
              <a:rPr lang="zh-CN" altLang="zh-CN" dirty="0">
                <a:solidFill>
                  <a:srgbClr val="FF0000"/>
                </a:solidFill>
              </a:rPr>
              <a:t>的链式存储结构</a:t>
            </a:r>
          </a:p>
          <a:p>
            <a:pPr algn="just"/>
            <a:r>
              <a:rPr lang="en-US" altLang="zh-CN" b="0" dirty="0"/>
              <a:t>	</a:t>
            </a:r>
            <a:r>
              <a:rPr lang="zh-CN" altLang="zh-CN" b="0" dirty="0"/>
              <a:t>一个串可以用一个单链表来表示。用单链表存放串时，链表中结点的个数等于串的长度。例如，</a:t>
            </a:r>
            <a:r>
              <a:rPr lang="en-US" altLang="zh-CN" b="0" dirty="0"/>
              <a:t>S="XJTU"</a:t>
            </a:r>
            <a:r>
              <a:rPr lang="zh-CN" altLang="zh-CN" b="0" dirty="0"/>
              <a:t>采用链式存储结构如图</a:t>
            </a:r>
            <a:r>
              <a:rPr lang="en-US" altLang="zh-CN" b="0" dirty="0"/>
              <a:t>4-14</a:t>
            </a:r>
            <a:r>
              <a:rPr lang="zh-CN" altLang="zh-CN" b="0" dirty="0"/>
              <a:t>所示。</a:t>
            </a:r>
          </a:p>
          <a:p>
            <a:pPr algn="just"/>
            <a:endParaRPr lang="zh-CN" altLang="en-US" dirty="0"/>
          </a:p>
        </p:txBody>
      </p:sp>
      <p:pic>
        <p:nvPicPr>
          <p:cNvPr id="1536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79712" y="3920220"/>
            <a:ext cx="4683245" cy="10337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内容占位符 2"/>
          <p:cNvSpPr txBox="1">
            <a:spLocks/>
          </p:cNvSpPr>
          <p:nvPr/>
        </p:nvSpPr>
        <p:spPr>
          <a:xfrm>
            <a:off x="323528" y="4983483"/>
            <a:ext cx="8496944" cy="1800200"/>
          </a:xfrm>
          <a:prstGeom prst="rect">
            <a:avLst/>
          </a:prstGeom>
        </p:spPr>
        <p:txBody>
          <a:bodyPr vert="horz" lIns="91440" tIns="45720" rIns="91440" bIns="45720" rtlCol="0">
            <a:normAutofit/>
          </a:bodyPr>
          <a:lstStyle>
            <a:lvl1pPr marL="342900" indent="-342900" algn="l" defTabSz="914400" rtl="0" eaLnBrk="1" latinLnBrk="0" hangingPunct="1">
              <a:lnSpc>
                <a:spcPct val="120000"/>
              </a:lnSpc>
              <a:spcBef>
                <a:spcPts val="800"/>
              </a:spcBef>
              <a:buFont typeface="Arial" pitchFamily="34" charset="0"/>
              <a:buNone/>
              <a:defRPr sz="2400" b="1"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1pPr>
            <a:lvl2pPr marL="173736" indent="-173736" algn="l" defTabSz="914400" rtl="0" eaLnBrk="1" latinLnBrk="0" hangingPunct="1">
              <a:lnSpc>
                <a:spcPct val="120000"/>
              </a:lnSpc>
              <a:spcBef>
                <a:spcPts val="300"/>
              </a:spcBef>
              <a:buClr>
                <a:schemeClr val="accent2"/>
              </a:buClr>
              <a:buFont typeface="Wingdings" pitchFamily="2" charset="2"/>
              <a:buChar char="§"/>
              <a:defRPr sz="24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2pPr>
            <a:lvl3pPr marL="402336" indent="-164592" algn="l" defTabSz="914400" rtl="0" eaLnBrk="1" latinLnBrk="0" hangingPunct="1">
              <a:lnSpc>
                <a:spcPct val="120000"/>
              </a:lnSpc>
              <a:spcBef>
                <a:spcPts val="300"/>
              </a:spcBef>
              <a:buClr>
                <a:schemeClr val="accent2"/>
              </a:buClr>
              <a:buFont typeface="Wingdings" pitchFamily="2" charset="2"/>
              <a:buChar char="§"/>
              <a:defRPr sz="24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3pPr>
            <a:lvl4pPr marL="630936" indent="-164592" algn="l" defTabSz="914400" rtl="0" eaLnBrk="1" latinLnBrk="0" hangingPunct="1">
              <a:lnSpc>
                <a:spcPct val="120000"/>
              </a:lnSpc>
              <a:spcBef>
                <a:spcPts val="300"/>
              </a:spcBef>
              <a:buClr>
                <a:schemeClr val="accent2"/>
              </a:buClr>
              <a:buFont typeface="Wingdings" pitchFamily="2" charset="2"/>
              <a:buChar char="§"/>
              <a:defRPr sz="24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4pPr>
            <a:lvl5pPr marL="859536" indent="-173736" algn="l" defTabSz="914400" rtl="0" eaLnBrk="1" latinLnBrk="0" hangingPunct="1">
              <a:lnSpc>
                <a:spcPct val="120000"/>
              </a:lnSpc>
              <a:spcBef>
                <a:spcPts val="300"/>
              </a:spcBef>
              <a:buClr>
                <a:schemeClr val="accent2"/>
              </a:buClr>
              <a:buFont typeface="Wingdings" pitchFamily="2" charset="2"/>
              <a:buChar char="§"/>
              <a:defRPr sz="24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a:lstStyle>
          <a:p>
            <a:pPr>
              <a:buFont typeface="Arial" pitchFamily="34" charset="0"/>
              <a:buChar char="•"/>
            </a:pPr>
            <a:r>
              <a:rPr lang="zh-CN" altLang="zh-CN" b="0" dirty="0"/>
              <a:t>链式存储结构的优点是对串的插入、删除操作可以方便地进行。但由于每个结点只存储一个字符，而指针域的存储空间一般要大于字符的存储空间，导致存储密度很低。</a:t>
            </a:r>
            <a:endParaRPr lang="zh-CN" altLang="en-US" b="0" dirty="0"/>
          </a:p>
        </p:txBody>
      </p:sp>
    </p:spTree>
    <p:extLst>
      <p:ext uri="{BB962C8B-B14F-4D97-AF65-F5344CB8AC3E}">
        <p14:creationId xmlns:p14="http://schemas.microsoft.com/office/powerpoint/2010/main" val="84579172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7520940" cy="4227921"/>
          </a:xfrm>
        </p:spPr>
        <p:txBody>
          <a:bodyPr/>
          <a:lstStyle/>
          <a:p>
            <a:pPr algn="just"/>
            <a:r>
              <a:rPr lang="zh-CN" altLang="zh-CN" b="0" dirty="0"/>
              <a:t>②</a:t>
            </a:r>
            <a:r>
              <a:rPr lang="zh-CN" altLang="zh-CN" dirty="0">
                <a:solidFill>
                  <a:srgbClr val="FF0000"/>
                </a:solidFill>
              </a:rPr>
              <a:t>结点大小为</a:t>
            </a:r>
            <a:r>
              <a:rPr lang="en-US" altLang="zh-CN" dirty="0">
                <a:solidFill>
                  <a:srgbClr val="FF0000"/>
                </a:solidFill>
              </a:rPr>
              <a:t>K</a:t>
            </a:r>
            <a:r>
              <a:rPr lang="zh-CN" altLang="zh-CN" dirty="0">
                <a:solidFill>
                  <a:srgbClr val="FF0000"/>
                </a:solidFill>
              </a:rPr>
              <a:t>的链式存储结构</a:t>
            </a:r>
          </a:p>
          <a:p>
            <a:pPr algn="just"/>
            <a:r>
              <a:rPr lang="en-US" altLang="zh-CN" b="0" dirty="0"/>
              <a:t>	</a:t>
            </a:r>
            <a:r>
              <a:rPr lang="zh-CN" altLang="zh-CN" b="0" dirty="0"/>
              <a:t>采用结点大小为</a:t>
            </a:r>
            <a:r>
              <a:rPr lang="en-US" altLang="zh-CN" b="0" dirty="0"/>
              <a:t>K</a:t>
            </a:r>
            <a:r>
              <a:rPr lang="zh-CN" altLang="zh-CN" b="0" dirty="0"/>
              <a:t>的链式存储，可以有效地解决存储密度过低的问题，这种存储结构又叫块链存储。主要方法是让每个结点存储更多的字符，从而降低了指针域占存储空间的比例，提高了存储密度。比如一个字符串</a:t>
            </a:r>
            <a:r>
              <a:rPr lang="en-US" altLang="zh-CN" b="0" dirty="0"/>
              <a:t>S="My XJTU"</a:t>
            </a:r>
            <a:r>
              <a:rPr lang="zh-CN" altLang="zh-CN" b="0" dirty="0"/>
              <a:t>，且每个结点存储</a:t>
            </a:r>
            <a:r>
              <a:rPr lang="en-US" altLang="zh-CN" b="0" dirty="0"/>
              <a:t>4</a:t>
            </a:r>
            <a:r>
              <a:rPr lang="zh-CN" altLang="zh-CN" b="0" dirty="0"/>
              <a:t>个字符，那么</a:t>
            </a:r>
            <a:r>
              <a:rPr lang="en-US" altLang="zh-CN" b="0" dirty="0"/>
              <a:t>S</a:t>
            </a:r>
            <a:r>
              <a:rPr lang="zh-CN" altLang="zh-CN" b="0" dirty="0"/>
              <a:t>的存储结构如图</a:t>
            </a:r>
            <a:r>
              <a:rPr lang="en-US" altLang="zh-CN" b="0" dirty="0"/>
              <a:t>4-15</a:t>
            </a:r>
            <a:r>
              <a:rPr lang="zh-CN" altLang="zh-CN" b="0" dirty="0"/>
              <a:t>所示。</a:t>
            </a:r>
          </a:p>
          <a:p>
            <a:pPr algn="just"/>
            <a:endParaRPr lang="zh-CN" altLang="en-US" dirty="0"/>
          </a:p>
        </p:txBody>
      </p:sp>
      <p:pic>
        <p:nvPicPr>
          <p:cNvPr id="1638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23728" y="4293096"/>
            <a:ext cx="5305400" cy="11533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矩形 3"/>
          <p:cNvSpPr/>
          <p:nvPr/>
        </p:nvSpPr>
        <p:spPr>
          <a:xfrm>
            <a:off x="755576" y="5446444"/>
            <a:ext cx="7992888" cy="830997"/>
          </a:xfrm>
          <a:prstGeom prst="rect">
            <a:avLst/>
          </a:prstGeom>
        </p:spPr>
        <p:txBody>
          <a:bodyPr wrap="square">
            <a:spAutoFit/>
          </a:bodyPr>
          <a:lstStyle/>
          <a:p>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显然块链存储结构能够增加串的存储密度，但在这种存储结构上对串进行插入、删除操作则显得很不方便</a:t>
            </a:r>
            <a:r>
              <a:rPr lang="zh-CN" altLang="zh-CN" dirty="0"/>
              <a:t>。</a:t>
            </a:r>
          </a:p>
        </p:txBody>
      </p:sp>
    </p:spTree>
    <p:extLst>
      <p:ext uri="{BB962C8B-B14F-4D97-AF65-F5344CB8AC3E}">
        <p14:creationId xmlns:p14="http://schemas.microsoft.com/office/powerpoint/2010/main" val="13989554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en-US" altLang="zh-CN" b="1" dirty="0"/>
              <a:t>3.7.4 </a:t>
            </a:r>
            <a:r>
              <a:rPr lang="zh-CN" altLang="zh-CN" b="1" dirty="0"/>
              <a:t>串类及其实现</a:t>
            </a:r>
            <a:endParaRPr lang="zh-CN" altLang="en-US" dirty="0"/>
          </a:p>
        </p:txBody>
      </p:sp>
      <p:sp>
        <p:nvSpPr>
          <p:cNvPr id="3" name="内容占位符 2"/>
          <p:cNvSpPr>
            <a:spLocks noGrp="1"/>
          </p:cNvSpPr>
          <p:nvPr>
            <p:ph idx="1"/>
          </p:nvPr>
        </p:nvSpPr>
        <p:spPr>
          <a:xfrm>
            <a:off x="395536" y="1484784"/>
            <a:ext cx="8568952" cy="4968552"/>
          </a:xfrm>
        </p:spPr>
        <p:txBody>
          <a:bodyPr>
            <a:normAutofit fontScale="77500" lnSpcReduction="20000"/>
          </a:bodyPr>
          <a:lstStyle/>
          <a:p>
            <a:pPr algn="just">
              <a:lnSpc>
                <a:spcPct val="140000"/>
              </a:lnSpc>
              <a:spcBef>
                <a:spcPts val="0"/>
              </a:spcBef>
            </a:pPr>
            <a:r>
              <a:rPr lang="zh-CN" altLang="zh-CN" dirty="0"/>
              <a:t>算法</a:t>
            </a:r>
            <a:r>
              <a:rPr lang="en-US" altLang="zh-CN" dirty="0"/>
              <a:t>3.30</a:t>
            </a:r>
            <a:r>
              <a:rPr lang="zh-CN" altLang="zh-CN" dirty="0"/>
              <a:t>： </a:t>
            </a:r>
            <a:r>
              <a:rPr lang="zh-CN" altLang="zh-CN" dirty="0">
                <a:solidFill>
                  <a:srgbClr val="FF0000"/>
                </a:solidFill>
              </a:rPr>
              <a:t>字符串类</a:t>
            </a:r>
            <a:r>
              <a:rPr lang="zh-CN" altLang="zh-CN" dirty="0"/>
              <a:t>定义</a:t>
            </a:r>
          </a:p>
          <a:p>
            <a:pPr algn="just">
              <a:lnSpc>
                <a:spcPct val="140000"/>
              </a:lnSpc>
              <a:spcBef>
                <a:spcPts val="0"/>
              </a:spcBef>
            </a:pPr>
            <a:r>
              <a:rPr lang="en-US" altLang="zh-CN" b="0" dirty="0"/>
              <a:t>class String {</a:t>
            </a:r>
            <a:endParaRPr lang="zh-CN" altLang="zh-CN" b="0" dirty="0"/>
          </a:p>
          <a:p>
            <a:pPr algn="just">
              <a:lnSpc>
                <a:spcPct val="140000"/>
              </a:lnSpc>
              <a:spcBef>
                <a:spcPts val="0"/>
              </a:spcBef>
            </a:pPr>
            <a:r>
              <a:rPr lang="en-US" altLang="zh-CN" b="0" dirty="0"/>
              <a:t>private: </a:t>
            </a:r>
          </a:p>
          <a:p>
            <a:pPr algn="just">
              <a:lnSpc>
                <a:spcPct val="140000"/>
              </a:lnSpc>
              <a:spcBef>
                <a:spcPts val="0"/>
              </a:spcBef>
            </a:pPr>
            <a:r>
              <a:rPr lang="en-US" altLang="zh-CN" b="0" dirty="0"/>
              <a:t>	char *ch; //</a:t>
            </a:r>
            <a:r>
              <a:rPr lang="zh-CN" altLang="zh-CN" b="0" dirty="0"/>
              <a:t>串存放数组</a:t>
            </a:r>
          </a:p>
          <a:p>
            <a:pPr algn="just">
              <a:lnSpc>
                <a:spcPct val="140000"/>
              </a:lnSpc>
              <a:spcBef>
                <a:spcPts val="0"/>
              </a:spcBef>
            </a:pPr>
            <a:r>
              <a:rPr lang="en-US" altLang="zh-CN" b="0" dirty="0"/>
              <a:t>	int size; //</a:t>
            </a:r>
            <a:r>
              <a:rPr lang="zh-CN" altLang="zh-CN" b="0" dirty="0"/>
              <a:t>存放数组的长度</a:t>
            </a:r>
          </a:p>
          <a:p>
            <a:pPr algn="just">
              <a:lnSpc>
                <a:spcPct val="140000"/>
              </a:lnSpc>
              <a:spcBef>
                <a:spcPts val="0"/>
              </a:spcBef>
            </a:pPr>
            <a:r>
              <a:rPr lang="en-US" altLang="zh-CN" b="0" dirty="0"/>
              <a:t>public:</a:t>
            </a:r>
            <a:endParaRPr lang="zh-CN" altLang="zh-CN" b="0" dirty="0"/>
          </a:p>
          <a:p>
            <a:pPr algn="just">
              <a:lnSpc>
                <a:spcPct val="140000"/>
              </a:lnSpc>
              <a:spcBef>
                <a:spcPts val="0"/>
              </a:spcBef>
            </a:pPr>
            <a:r>
              <a:rPr lang="en-US" altLang="zh-CN" b="0" dirty="0"/>
              <a:t>	String();</a:t>
            </a:r>
            <a:endParaRPr lang="zh-CN" altLang="zh-CN" b="0" dirty="0"/>
          </a:p>
          <a:p>
            <a:pPr algn="just">
              <a:lnSpc>
                <a:spcPct val="140000"/>
              </a:lnSpc>
              <a:spcBef>
                <a:spcPts val="0"/>
              </a:spcBef>
            </a:pPr>
            <a:r>
              <a:rPr lang="en-US" altLang="zh-CN" b="0" dirty="0"/>
              <a:t>	String(const char *init);</a:t>
            </a:r>
            <a:endParaRPr lang="zh-CN" altLang="zh-CN" b="0" dirty="0"/>
          </a:p>
          <a:p>
            <a:pPr algn="just">
              <a:lnSpc>
                <a:spcPct val="140000"/>
              </a:lnSpc>
              <a:spcBef>
                <a:spcPts val="0"/>
              </a:spcBef>
            </a:pPr>
            <a:r>
              <a:rPr lang="en-US" altLang="zh-CN" b="0" dirty="0"/>
              <a:t>	String(const String&amp; ob);</a:t>
            </a:r>
            <a:endParaRPr lang="zh-CN" altLang="zh-CN" b="0" dirty="0"/>
          </a:p>
          <a:p>
            <a:pPr algn="just">
              <a:lnSpc>
                <a:spcPct val="140000"/>
              </a:lnSpc>
              <a:spcBef>
                <a:spcPts val="0"/>
              </a:spcBef>
            </a:pPr>
            <a:r>
              <a:rPr lang="en-US" altLang="zh-CN" b="0" dirty="0"/>
              <a:t>	</a:t>
            </a:r>
            <a:r>
              <a:rPr lang="zh-CN" altLang="zh-CN" b="0" dirty="0"/>
              <a:t>～</a:t>
            </a:r>
            <a:r>
              <a:rPr lang="en-US" altLang="zh-CN" b="0" dirty="0"/>
              <a:t>String() {delete []</a:t>
            </a:r>
            <a:r>
              <a:rPr lang="en-US" altLang="zh-CN" b="0" dirty="0" err="1"/>
              <a:t>ch</a:t>
            </a:r>
            <a:r>
              <a:rPr lang="en-US" altLang="zh-CN" b="0" dirty="0"/>
              <a:t>;}</a:t>
            </a:r>
            <a:endParaRPr lang="zh-CN" altLang="zh-CN" b="0" dirty="0"/>
          </a:p>
          <a:p>
            <a:pPr algn="just">
              <a:lnSpc>
                <a:spcPct val="140000"/>
              </a:lnSpc>
              <a:spcBef>
                <a:spcPts val="0"/>
              </a:spcBef>
            </a:pPr>
            <a:r>
              <a:rPr lang="en-US" altLang="zh-CN" b="0" dirty="0"/>
              <a:t>	int size()const {return size;}</a:t>
            </a:r>
            <a:endParaRPr lang="zh-CN" altLang="zh-CN" b="0" dirty="0"/>
          </a:p>
          <a:p>
            <a:pPr algn="just">
              <a:lnSpc>
                <a:spcPct val="140000"/>
              </a:lnSpc>
              <a:spcBef>
                <a:spcPts val="0"/>
              </a:spcBef>
            </a:pPr>
            <a:r>
              <a:rPr lang="en-US" altLang="zh-CN" b="0" dirty="0"/>
              <a:t>	String&amp; operator() (int pos, int len); //</a:t>
            </a:r>
            <a:r>
              <a:rPr lang="zh-CN" altLang="zh-CN" b="0" dirty="0"/>
              <a:t>当</a:t>
            </a:r>
            <a:r>
              <a:rPr lang="en-US" altLang="zh-CN" b="0" dirty="0"/>
              <a:t>0≤pos&lt;</a:t>
            </a:r>
            <a:r>
              <a:rPr lang="en-US" altLang="zh-CN" b="0" dirty="0" err="1"/>
              <a:t>maxSize</a:t>
            </a:r>
            <a:r>
              <a:rPr lang="en-US" altLang="zh-CN" b="0" dirty="0"/>
              <a:t> </a:t>
            </a:r>
            <a:r>
              <a:rPr lang="zh-CN" altLang="zh-CN" b="0" dirty="0"/>
              <a:t>且</a:t>
            </a:r>
            <a:r>
              <a:rPr lang="en-US" altLang="zh-CN" b="0" dirty="0"/>
              <a:t>0≤len </a:t>
            </a:r>
            <a:r>
              <a:rPr lang="zh-CN" altLang="zh-CN" b="0" dirty="0"/>
              <a:t>且</a:t>
            </a:r>
            <a:r>
              <a:rPr lang="en-US" altLang="zh-CN" b="0" dirty="0" err="1"/>
              <a:t>pos+len</a:t>
            </a:r>
            <a:r>
              <a:rPr lang="en-US" altLang="zh-CN" b="0" dirty="0"/>
              <a:t>&lt;</a:t>
            </a:r>
            <a:r>
              <a:rPr lang="en-US" altLang="zh-CN" b="0" dirty="0" err="1"/>
              <a:t>maxSize</a:t>
            </a:r>
            <a:r>
              <a:rPr lang="en-US" altLang="zh-CN" b="0" dirty="0"/>
              <a:t> //</a:t>
            </a:r>
            <a:r>
              <a:rPr lang="zh-CN" altLang="zh-CN" b="0" dirty="0"/>
              <a:t>则在串</a:t>
            </a:r>
            <a:r>
              <a:rPr lang="en-US" altLang="zh-CN" b="0" dirty="0"/>
              <a:t>*this </a:t>
            </a:r>
            <a:r>
              <a:rPr lang="zh-CN" altLang="zh-CN" b="0" dirty="0"/>
              <a:t>中从</a:t>
            </a:r>
            <a:r>
              <a:rPr lang="en-US" altLang="zh-CN" b="0" dirty="0" err="1"/>
              <a:t>pos</a:t>
            </a:r>
            <a:r>
              <a:rPr lang="en-US" altLang="zh-CN" b="0" dirty="0"/>
              <a:t> </a:t>
            </a:r>
            <a:r>
              <a:rPr lang="zh-CN" altLang="zh-CN" b="0" dirty="0"/>
              <a:t>位置开始取</a:t>
            </a:r>
            <a:r>
              <a:rPr lang="en-US" altLang="zh-CN" b="0" dirty="0" err="1"/>
              <a:t>len</a:t>
            </a:r>
            <a:r>
              <a:rPr lang="en-US" altLang="zh-CN" b="0" dirty="0"/>
              <a:t> </a:t>
            </a:r>
            <a:r>
              <a:rPr lang="zh-CN" altLang="zh-CN" b="0" dirty="0"/>
              <a:t>个字符组成子串返回。</a:t>
            </a:r>
          </a:p>
          <a:p>
            <a:pPr algn="just">
              <a:lnSpc>
                <a:spcPct val="140000"/>
              </a:lnSpc>
              <a:spcBef>
                <a:spcPts val="0"/>
              </a:spcBef>
            </a:pPr>
            <a:endParaRPr lang="zh-CN" altLang="en-US" dirty="0"/>
          </a:p>
        </p:txBody>
      </p:sp>
    </p:spTree>
    <p:extLst>
      <p:ext uri="{BB962C8B-B14F-4D97-AF65-F5344CB8AC3E}">
        <p14:creationId xmlns:p14="http://schemas.microsoft.com/office/powerpoint/2010/main" val="126548374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908720"/>
            <a:ext cx="8424936" cy="5184576"/>
          </a:xfrm>
        </p:spPr>
        <p:txBody>
          <a:bodyPr>
            <a:normAutofit fontScale="92500" lnSpcReduction="10000"/>
          </a:bodyPr>
          <a:lstStyle/>
          <a:p>
            <a:pPr algn="just"/>
            <a:r>
              <a:rPr lang="en-US" altLang="zh-CN" b="0" dirty="0"/>
              <a:t>	int operator == (String&amp; ob)const {return strcmp(ch,ob.ch)== 0;}</a:t>
            </a:r>
            <a:endParaRPr lang="zh-CN" altLang="zh-CN" b="0" dirty="0"/>
          </a:p>
          <a:p>
            <a:pPr algn="just"/>
            <a:r>
              <a:rPr lang="en-US" altLang="zh-CN" b="0" dirty="0"/>
              <a:t>	int operator != (String&amp; ob)const {return strcmp(ch,ob.ch) != 0;}</a:t>
            </a:r>
            <a:endParaRPr lang="zh-CN" altLang="zh-CN" b="0" dirty="0"/>
          </a:p>
          <a:p>
            <a:pPr algn="just"/>
            <a:r>
              <a:rPr lang="en-US" altLang="zh-CN" b="0" dirty="0"/>
              <a:t>	int operator ! () </a:t>
            </a:r>
            <a:r>
              <a:rPr lang="en-US" altLang="zh-CN" b="0" dirty="0" err="1"/>
              <a:t>const</a:t>
            </a:r>
            <a:r>
              <a:rPr lang="en-US" altLang="zh-CN" b="0" dirty="0"/>
              <a:t> {return size== 0;}</a:t>
            </a:r>
            <a:endParaRPr lang="zh-CN" altLang="zh-CN" b="0" dirty="0"/>
          </a:p>
          <a:p>
            <a:pPr algn="just"/>
            <a:r>
              <a:rPr lang="en-US" altLang="zh-CN" b="0" dirty="0"/>
              <a:t>	String&amp; operator = (String&amp; ob);</a:t>
            </a:r>
            <a:endParaRPr lang="zh-CN" altLang="zh-CN" b="0" dirty="0"/>
          </a:p>
          <a:p>
            <a:pPr algn="just"/>
            <a:r>
              <a:rPr lang="en-US" altLang="zh-CN" b="0" dirty="0"/>
              <a:t>	String&amp; operatr=(char* s);</a:t>
            </a:r>
            <a:endParaRPr lang="zh-CN" altLang="zh-CN" b="0" dirty="0"/>
          </a:p>
          <a:p>
            <a:pPr algn="just"/>
            <a:r>
              <a:rPr lang="en-US" altLang="zh-CN" b="0" dirty="0"/>
              <a:t>	String&amp; operator += (String&amp; ob);</a:t>
            </a:r>
            <a:endParaRPr lang="zh-CN" altLang="zh-CN" b="0" dirty="0"/>
          </a:p>
          <a:p>
            <a:pPr algn="just"/>
            <a:r>
              <a:rPr lang="en-US" altLang="zh-CN" b="0" dirty="0"/>
              <a:t>	char&amp; operator [] (int i);</a:t>
            </a:r>
            <a:endParaRPr lang="zh-CN" altLang="zh-CN" b="0" dirty="0"/>
          </a:p>
          <a:p>
            <a:pPr algn="just"/>
            <a:r>
              <a:rPr lang="en-US" altLang="zh-CN" b="0" dirty="0"/>
              <a:t>	int find(const String&amp; pat)const;//</a:t>
            </a:r>
            <a:r>
              <a:rPr lang="zh-CN" altLang="zh-CN" b="0" dirty="0"/>
              <a:t>找到子串</a:t>
            </a:r>
            <a:r>
              <a:rPr lang="en-US" altLang="zh-CN" b="0" dirty="0"/>
              <a:t>pat</a:t>
            </a:r>
            <a:r>
              <a:rPr lang="zh-CN" altLang="zh-CN" b="0" dirty="0"/>
              <a:t>，并返回其位置</a:t>
            </a:r>
          </a:p>
          <a:p>
            <a:pPr algn="just"/>
            <a:r>
              <a:rPr lang="en-US" altLang="zh-CN" b="0" dirty="0"/>
              <a:t>	int KMP_Find(const String &amp;pat, int next[ ]);//KMP</a:t>
            </a:r>
            <a:r>
              <a:rPr lang="zh-CN" altLang="zh-CN" b="0" dirty="0"/>
              <a:t>模式匹配算法</a:t>
            </a:r>
          </a:p>
          <a:p>
            <a:pPr algn="just"/>
            <a:r>
              <a:rPr lang="en-US" altLang="zh-CN" b="0" dirty="0"/>
              <a:t>	void getNext(int next[]);//</a:t>
            </a:r>
            <a:r>
              <a:rPr lang="zh-CN" altLang="zh-CN" b="0" dirty="0"/>
              <a:t>求字符串的</a:t>
            </a:r>
            <a:r>
              <a:rPr lang="en-US" altLang="zh-CN" b="0" dirty="0"/>
              <a:t>next</a:t>
            </a:r>
            <a:r>
              <a:rPr lang="zh-CN" altLang="zh-CN" b="0" dirty="0"/>
              <a:t>数组</a:t>
            </a:r>
          </a:p>
          <a:p>
            <a:pPr algn="just"/>
            <a:r>
              <a:rPr lang="en-US" altLang="zh-CN" b="0" dirty="0"/>
              <a:t>}</a:t>
            </a:r>
            <a:endParaRPr lang="zh-CN" altLang="zh-CN" b="0" dirty="0"/>
          </a:p>
          <a:p>
            <a:pPr algn="just"/>
            <a:endParaRPr lang="zh-CN" altLang="en-US" dirty="0"/>
          </a:p>
        </p:txBody>
      </p:sp>
    </p:spTree>
    <p:extLst>
      <p:ext uri="{BB962C8B-B14F-4D97-AF65-F5344CB8AC3E}">
        <p14:creationId xmlns:p14="http://schemas.microsoft.com/office/powerpoint/2010/main" val="418233287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764704"/>
            <a:ext cx="7848872" cy="5472608"/>
          </a:xfrm>
        </p:spPr>
        <p:txBody>
          <a:bodyPr>
            <a:normAutofit fontScale="85000" lnSpcReduction="20000"/>
          </a:bodyPr>
          <a:lstStyle/>
          <a:p>
            <a:pPr algn="just"/>
            <a:r>
              <a:rPr lang="zh-CN" altLang="zh-CN" dirty="0"/>
              <a:t>算法</a:t>
            </a:r>
            <a:r>
              <a:rPr lang="en-US" altLang="zh-CN" dirty="0"/>
              <a:t>3.31</a:t>
            </a:r>
            <a:r>
              <a:rPr lang="zh-CN" altLang="zh-CN" dirty="0"/>
              <a:t>：字符串类部分函数的实现</a:t>
            </a:r>
          </a:p>
          <a:p>
            <a:pPr algn="just"/>
            <a:r>
              <a:rPr lang="en-US" altLang="zh-CN" b="0" dirty="0"/>
              <a:t>String::String() { //</a:t>
            </a:r>
            <a:r>
              <a:rPr lang="zh-CN" altLang="zh-CN" b="0" dirty="0"/>
              <a:t>串构造函数，不带初值</a:t>
            </a:r>
          </a:p>
          <a:p>
            <a:pPr algn="just"/>
            <a:r>
              <a:rPr lang="en-US" altLang="zh-CN" b="0" dirty="0"/>
              <a:t>	size=0;</a:t>
            </a:r>
            <a:endParaRPr lang="zh-CN" altLang="zh-CN" b="0" dirty="0"/>
          </a:p>
          <a:p>
            <a:pPr algn="just"/>
            <a:r>
              <a:rPr lang="en-US" altLang="zh-CN" b="0" dirty="0"/>
              <a:t>	ch = new char[size+1];</a:t>
            </a:r>
            <a:endParaRPr lang="zh-CN" altLang="zh-CN" b="0" dirty="0"/>
          </a:p>
          <a:p>
            <a:pPr algn="just"/>
            <a:r>
              <a:rPr lang="en-US" altLang="zh-CN" b="0" dirty="0"/>
              <a:t>	if (ch == NULL) {cerr &lt;&lt; “</a:t>
            </a:r>
            <a:r>
              <a:rPr lang="zh-CN" altLang="zh-CN" b="0" dirty="0"/>
              <a:t>存储分配失败</a:t>
            </a:r>
            <a:r>
              <a:rPr lang="en-US" altLang="zh-CN" b="0" dirty="0"/>
              <a:t>\n”; exit(1);}</a:t>
            </a:r>
            <a:endParaRPr lang="zh-CN" altLang="zh-CN" b="0" dirty="0"/>
          </a:p>
          <a:p>
            <a:pPr algn="just"/>
            <a:r>
              <a:rPr lang="en-US" altLang="zh-CN" b="0" dirty="0"/>
              <a:t>	ch[0] = '\0';</a:t>
            </a:r>
            <a:endParaRPr lang="zh-CN" altLang="zh-CN" b="0" dirty="0"/>
          </a:p>
          <a:p>
            <a:pPr algn="just"/>
            <a:r>
              <a:rPr lang="en-US" altLang="zh-CN" b="0" dirty="0"/>
              <a:t>}</a:t>
            </a:r>
            <a:endParaRPr lang="zh-CN" altLang="zh-CN" b="0" dirty="0"/>
          </a:p>
          <a:p>
            <a:pPr algn="just"/>
            <a:r>
              <a:rPr lang="en-US" altLang="zh-CN" b="0" dirty="0"/>
              <a:t>String::String(</a:t>
            </a:r>
            <a:r>
              <a:rPr lang="en-US" altLang="zh-CN" b="0" dirty="0" err="1"/>
              <a:t>const</a:t>
            </a:r>
            <a:r>
              <a:rPr lang="en-US" altLang="zh-CN" b="0" dirty="0"/>
              <a:t> char *</a:t>
            </a:r>
            <a:r>
              <a:rPr lang="en-US" altLang="zh-CN" b="0" dirty="0" err="1"/>
              <a:t>init</a:t>
            </a:r>
            <a:r>
              <a:rPr lang="en-US" altLang="zh-CN" b="0" dirty="0"/>
              <a:t>) { //</a:t>
            </a:r>
            <a:r>
              <a:rPr lang="zh-CN" altLang="zh-CN" b="0" dirty="0"/>
              <a:t>串构造函数，带初值</a:t>
            </a:r>
          </a:p>
          <a:p>
            <a:pPr algn="just"/>
            <a:r>
              <a:rPr lang="en-US" altLang="zh-CN" b="0" dirty="0"/>
              <a:t>	size=</a:t>
            </a:r>
            <a:r>
              <a:rPr lang="en-US" altLang="zh-CN" b="0" dirty="0" err="1"/>
              <a:t>strlen</a:t>
            </a:r>
            <a:r>
              <a:rPr lang="en-US" altLang="zh-CN" b="0" dirty="0"/>
              <a:t>(</a:t>
            </a:r>
            <a:r>
              <a:rPr lang="en-US" altLang="zh-CN" b="0" dirty="0" err="1"/>
              <a:t>init</a:t>
            </a:r>
            <a:r>
              <a:rPr lang="en-US" altLang="zh-CN" b="0" dirty="0"/>
              <a:t>);</a:t>
            </a:r>
            <a:endParaRPr lang="zh-CN" altLang="zh-CN" b="0" dirty="0"/>
          </a:p>
          <a:p>
            <a:pPr algn="just"/>
            <a:r>
              <a:rPr lang="en-US" altLang="zh-CN" b="0" dirty="0"/>
              <a:t>	ch = new char[size+1];</a:t>
            </a:r>
            <a:endParaRPr lang="zh-CN" altLang="zh-CN" b="0" dirty="0"/>
          </a:p>
          <a:p>
            <a:pPr algn="just"/>
            <a:r>
              <a:rPr lang="en-US" altLang="zh-CN" b="0" dirty="0"/>
              <a:t>	if (ch == NULL) {cerr &lt;&lt; “</a:t>
            </a:r>
            <a:r>
              <a:rPr lang="zh-CN" altLang="zh-CN" b="0" dirty="0"/>
              <a:t>存储分配失败</a:t>
            </a:r>
            <a:r>
              <a:rPr lang="en-US" altLang="zh-CN" b="0" dirty="0"/>
              <a:t>\n”; exit(1);}</a:t>
            </a:r>
            <a:endParaRPr lang="zh-CN" altLang="zh-CN" b="0" dirty="0"/>
          </a:p>
          <a:p>
            <a:pPr algn="just"/>
            <a:r>
              <a:rPr lang="en-US" altLang="zh-CN" b="0" dirty="0"/>
              <a:t>	strcpy(ch,init);</a:t>
            </a:r>
            <a:endParaRPr lang="zh-CN" altLang="zh-CN" b="0" dirty="0"/>
          </a:p>
          <a:p>
            <a:pPr algn="just"/>
            <a:r>
              <a:rPr lang="en-US" altLang="zh-CN" b="0" dirty="0"/>
              <a:t>}</a:t>
            </a:r>
            <a:endParaRPr lang="zh-CN" altLang="zh-CN" b="0" dirty="0"/>
          </a:p>
          <a:p>
            <a:pPr algn="just"/>
            <a:endParaRPr lang="zh-CN" altLang="en-US" dirty="0"/>
          </a:p>
        </p:txBody>
      </p:sp>
    </p:spTree>
    <p:extLst>
      <p:ext uri="{BB962C8B-B14F-4D97-AF65-F5344CB8AC3E}">
        <p14:creationId xmlns:p14="http://schemas.microsoft.com/office/powerpoint/2010/main" val="415901354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764704"/>
            <a:ext cx="7704856" cy="5760640"/>
          </a:xfrm>
        </p:spPr>
        <p:txBody>
          <a:bodyPr>
            <a:noAutofit/>
          </a:bodyPr>
          <a:lstStyle/>
          <a:p>
            <a:pPr algn="just">
              <a:lnSpc>
                <a:spcPct val="110000"/>
              </a:lnSpc>
              <a:spcBef>
                <a:spcPts val="0"/>
              </a:spcBef>
            </a:pPr>
            <a:r>
              <a:rPr lang="en-US" altLang="zh-CN" sz="1800" b="0" dirty="0"/>
              <a:t>String::String(</a:t>
            </a:r>
            <a:r>
              <a:rPr lang="en-US" altLang="zh-CN" sz="1800" b="0" dirty="0" err="1"/>
              <a:t>const</a:t>
            </a:r>
            <a:r>
              <a:rPr lang="en-US" altLang="zh-CN" sz="1800" b="0" dirty="0"/>
              <a:t> String&amp; </a:t>
            </a:r>
            <a:r>
              <a:rPr lang="en-US" altLang="zh-CN" sz="1800" b="0" dirty="0" err="1"/>
              <a:t>ob</a:t>
            </a:r>
            <a:r>
              <a:rPr lang="en-US" altLang="zh-CN" sz="1800" b="0" dirty="0"/>
              <a:t>) { //</a:t>
            </a:r>
            <a:r>
              <a:rPr lang="zh-CN" altLang="zh-CN" sz="1800" b="0" dirty="0"/>
              <a:t>串复制构造函数</a:t>
            </a:r>
          </a:p>
          <a:p>
            <a:pPr algn="just">
              <a:lnSpc>
                <a:spcPct val="110000"/>
              </a:lnSpc>
              <a:spcBef>
                <a:spcPts val="0"/>
              </a:spcBef>
            </a:pPr>
            <a:r>
              <a:rPr lang="en-US" altLang="zh-CN" sz="1800" b="0" dirty="0"/>
              <a:t>	size=ob.size;</a:t>
            </a:r>
            <a:endParaRPr lang="zh-CN" altLang="zh-CN" sz="1800" b="0" dirty="0"/>
          </a:p>
          <a:p>
            <a:pPr algn="just">
              <a:lnSpc>
                <a:spcPct val="110000"/>
              </a:lnSpc>
              <a:spcBef>
                <a:spcPts val="0"/>
              </a:spcBef>
            </a:pPr>
            <a:r>
              <a:rPr lang="en-US" altLang="zh-CN" sz="1800" b="0" dirty="0"/>
              <a:t>	ch = new char[size+1];</a:t>
            </a:r>
            <a:endParaRPr lang="zh-CN" altLang="zh-CN" sz="1800" b="0" dirty="0"/>
          </a:p>
          <a:p>
            <a:pPr algn="just">
              <a:lnSpc>
                <a:spcPct val="110000"/>
              </a:lnSpc>
              <a:spcBef>
                <a:spcPts val="0"/>
              </a:spcBef>
            </a:pPr>
            <a:r>
              <a:rPr lang="en-US" altLang="zh-CN" sz="1800" b="0" dirty="0"/>
              <a:t>	if (ch == NULL) {cerr &lt;&lt; “</a:t>
            </a:r>
            <a:r>
              <a:rPr lang="zh-CN" altLang="zh-CN" sz="1800" b="0" dirty="0"/>
              <a:t>存储分配失败</a:t>
            </a:r>
            <a:r>
              <a:rPr lang="en-US" altLang="zh-CN" sz="1800" b="0" dirty="0"/>
              <a:t>\n”; exit(1);}</a:t>
            </a:r>
            <a:endParaRPr lang="zh-CN" altLang="zh-CN" sz="1800" b="0" dirty="0"/>
          </a:p>
          <a:p>
            <a:pPr algn="just">
              <a:lnSpc>
                <a:spcPct val="110000"/>
              </a:lnSpc>
              <a:spcBef>
                <a:spcPts val="0"/>
              </a:spcBef>
            </a:pPr>
            <a:r>
              <a:rPr lang="en-US" altLang="zh-CN" sz="1800" b="0" dirty="0"/>
              <a:t>	strcpy(ch,ob.ch);</a:t>
            </a:r>
            <a:endParaRPr lang="zh-CN" altLang="zh-CN" sz="1800" b="0" dirty="0"/>
          </a:p>
          <a:p>
            <a:pPr algn="just">
              <a:lnSpc>
                <a:spcPct val="110000"/>
              </a:lnSpc>
              <a:spcBef>
                <a:spcPts val="0"/>
              </a:spcBef>
            </a:pPr>
            <a:r>
              <a:rPr lang="en-US" altLang="zh-CN" sz="1800" b="0" dirty="0"/>
              <a:t>}</a:t>
            </a:r>
            <a:endParaRPr lang="zh-CN" altLang="zh-CN" sz="1800" b="0" dirty="0"/>
          </a:p>
          <a:p>
            <a:pPr algn="just">
              <a:lnSpc>
                <a:spcPct val="110000"/>
              </a:lnSpc>
              <a:spcBef>
                <a:spcPts val="0"/>
              </a:spcBef>
            </a:pPr>
            <a:r>
              <a:rPr lang="en-US" altLang="zh-CN" sz="1800" b="0" dirty="0"/>
              <a:t>String String::operator () (</a:t>
            </a:r>
            <a:r>
              <a:rPr lang="en-US" altLang="zh-CN" sz="1800" b="0" dirty="0" err="1"/>
              <a:t>int</a:t>
            </a:r>
            <a:r>
              <a:rPr lang="en-US" altLang="zh-CN" sz="1800" b="0" dirty="0"/>
              <a:t> </a:t>
            </a:r>
            <a:r>
              <a:rPr lang="en-US" altLang="zh-CN" sz="1800" b="0" dirty="0" err="1"/>
              <a:t>pos</a:t>
            </a:r>
            <a:r>
              <a:rPr lang="en-US" altLang="zh-CN" sz="1800" b="0" dirty="0"/>
              <a:t>, </a:t>
            </a:r>
            <a:r>
              <a:rPr lang="en-US" altLang="zh-CN" sz="1800" b="0" dirty="0" err="1"/>
              <a:t>int</a:t>
            </a:r>
            <a:r>
              <a:rPr lang="en-US" altLang="zh-CN" sz="1800" b="0" dirty="0"/>
              <a:t> </a:t>
            </a:r>
            <a:r>
              <a:rPr lang="en-US" altLang="zh-CN" sz="1800" b="0" dirty="0" err="1"/>
              <a:t>len</a:t>
            </a:r>
            <a:r>
              <a:rPr lang="en-US" altLang="zh-CN" sz="1800" b="0" dirty="0"/>
              <a:t>) {//</a:t>
            </a:r>
            <a:r>
              <a:rPr lang="zh-CN" altLang="zh-CN" sz="1800" b="0" dirty="0"/>
              <a:t>求子串，即取子串</a:t>
            </a:r>
          </a:p>
          <a:p>
            <a:pPr algn="just">
              <a:lnSpc>
                <a:spcPct val="110000"/>
              </a:lnSpc>
              <a:spcBef>
                <a:spcPts val="0"/>
              </a:spcBef>
            </a:pPr>
            <a:r>
              <a:rPr lang="en-US" altLang="zh-CN" sz="1800" b="0" dirty="0"/>
              <a:t>String temp;</a:t>
            </a:r>
            <a:endParaRPr lang="zh-CN" altLang="zh-CN" sz="1800" b="0" dirty="0"/>
          </a:p>
          <a:p>
            <a:pPr algn="just">
              <a:lnSpc>
                <a:spcPct val="110000"/>
              </a:lnSpc>
              <a:spcBef>
                <a:spcPts val="0"/>
              </a:spcBef>
            </a:pPr>
            <a:r>
              <a:rPr lang="en-US" altLang="zh-CN" sz="1800" b="0" dirty="0"/>
              <a:t>	if (pos &lt; 0 || pos+len-1 &gt;= maxSize || len &lt; 0) {</a:t>
            </a:r>
            <a:endParaRPr lang="zh-CN" altLang="zh-CN" sz="1800" b="0" dirty="0"/>
          </a:p>
          <a:p>
            <a:pPr algn="just">
              <a:lnSpc>
                <a:spcPct val="110000"/>
              </a:lnSpc>
              <a:spcBef>
                <a:spcPts val="0"/>
              </a:spcBef>
            </a:pPr>
            <a:r>
              <a:rPr lang="en-US" altLang="zh-CN" sz="1800" b="0" dirty="0"/>
              <a:t>		temp.size = 0; temp.ch[0] = '\0';</a:t>
            </a:r>
            <a:endParaRPr lang="zh-CN" altLang="zh-CN" sz="1800" b="0" dirty="0"/>
          </a:p>
          <a:p>
            <a:pPr algn="just">
              <a:lnSpc>
                <a:spcPct val="110000"/>
              </a:lnSpc>
              <a:spcBef>
                <a:spcPts val="0"/>
              </a:spcBef>
            </a:pPr>
            <a:r>
              <a:rPr lang="en-US" altLang="zh-CN" sz="1800" b="0" dirty="0"/>
              <a:t>	} else {</a:t>
            </a:r>
            <a:endParaRPr lang="zh-CN" altLang="zh-CN" sz="1800" b="0" dirty="0"/>
          </a:p>
          <a:p>
            <a:pPr algn="just">
              <a:lnSpc>
                <a:spcPct val="110000"/>
              </a:lnSpc>
              <a:spcBef>
                <a:spcPts val="0"/>
              </a:spcBef>
            </a:pPr>
            <a:r>
              <a:rPr lang="en-US" altLang="zh-CN" sz="1800" b="0" dirty="0"/>
              <a:t>		if (pos+len-1 &gt;= size) len = size-pos;</a:t>
            </a:r>
            <a:endParaRPr lang="zh-CN" altLang="zh-CN" sz="1800" b="0" dirty="0"/>
          </a:p>
          <a:p>
            <a:pPr algn="just">
              <a:lnSpc>
                <a:spcPct val="110000"/>
              </a:lnSpc>
              <a:spcBef>
                <a:spcPts val="0"/>
              </a:spcBef>
            </a:pPr>
            <a:r>
              <a:rPr lang="en-US" altLang="zh-CN" sz="1800" b="0" dirty="0"/>
              <a:t>		temp.size = len;</a:t>
            </a:r>
            <a:endParaRPr lang="zh-CN" altLang="zh-CN" sz="1800" b="0" dirty="0"/>
          </a:p>
          <a:p>
            <a:pPr algn="just">
              <a:lnSpc>
                <a:spcPct val="110000"/>
              </a:lnSpc>
              <a:spcBef>
                <a:spcPts val="0"/>
              </a:spcBef>
            </a:pPr>
            <a:r>
              <a:rPr lang="en-US" altLang="zh-CN" sz="1800" b="0" dirty="0"/>
              <a:t>		for (int i = 0,j = pos; i &lt; len; i++, j++) temp.ch[i] = ch[j];</a:t>
            </a:r>
            <a:endParaRPr lang="zh-CN" altLang="zh-CN" sz="1800" b="0" dirty="0"/>
          </a:p>
          <a:p>
            <a:pPr algn="just">
              <a:lnSpc>
                <a:spcPct val="110000"/>
              </a:lnSpc>
              <a:spcBef>
                <a:spcPts val="0"/>
              </a:spcBef>
            </a:pPr>
            <a:r>
              <a:rPr lang="en-US" altLang="zh-CN" sz="1800" b="0" dirty="0"/>
              <a:t>		temp.ch[len] = '\0';</a:t>
            </a:r>
            <a:endParaRPr lang="zh-CN" altLang="zh-CN" sz="1800" b="0" dirty="0"/>
          </a:p>
          <a:p>
            <a:pPr algn="just">
              <a:lnSpc>
                <a:spcPct val="110000"/>
              </a:lnSpc>
              <a:spcBef>
                <a:spcPts val="0"/>
              </a:spcBef>
            </a:pPr>
            <a:r>
              <a:rPr lang="en-US" altLang="zh-CN" sz="1800" b="0" dirty="0"/>
              <a:t>	}</a:t>
            </a:r>
            <a:endParaRPr lang="zh-CN" altLang="zh-CN" sz="1800" b="0" dirty="0"/>
          </a:p>
          <a:p>
            <a:pPr algn="just">
              <a:lnSpc>
                <a:spcPct val="110000"/>
              </a:lnSpc>
              <a:spcBef>
                <a:spcPts val="0"/>
              </a:spcBef>
            </a:pPr>
            <a:r>
              <a:rPr lang="en-US" altLang="zh-CN" sz="1800" b="0" dirty="0"/>
              <a:t>	return temp;</a:t>
            </a:r>
            <a:endParaRPr lang="zh-CN" altLang="zh-CN" sz="1800" b="0" dirty="0"/>
          </a:p>
          <a:p>
            <a:pPr algn="just">
              <a:lnSpc>
                <a:spcPct val="110000"/>
              </a:lnSpc>
              <a:spcBef>
                <a:spcPts val="0"/>
              </a:spcBef>
            </a:pPr>
            <a:r>
              <a:rPr lang="en-US" altLang="zh-CN" sz="1800" b="0" dirty="0"/>
              <a:t>}</a:t>
            </a:r>
            <a:endParaRPr lang="zh-CN" altLang="zh-CN" sz="1800" b="0" dirty="0"/>
          </a:p>
          <a:p>
            <a:pPr algn="just">
              <a:lnSpc>
                <a:spcPct val="110000"/>
              </a:lnSpc>
              <a:spcBef>
                <a:spcPts val="0"/>
              </a:spcBef>
            </a:pPr>
            <a:endParaRPr lang="zh-CN" altLang="en-US" sz="1800" dirty="0"/>
          </a:p>
        </p:txBody>
      </p:sp>
    </p:spTree>
    <p:extLst>
      <p:ext uri="{BB962C8B-B14F-4D97-AF65-F5344CB8AC3E}">
        <p14:creationId xmlns:p14="http://schemas.microsoft.com/office/powerpoint/2010/main" val="341995618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9552" y="980728"/>
            <a:ext cx="8352928" cy="5184576"/>
          </a:xfrm>
        </p:spPr>
        <p:txBody>
          <a:bodyPr>
            <a:normAutofit fontScale="92500"/>
          </a:bodyPr>
          <a:lstStyle/>
          <a:p>
            <a:pPr algn="just"/>
            <a:r>
              <a:rPr lang="en-US" altLang="zh-CN" b="0" dirty="0"/>
              <a:t>String&amp; String::operator = (</a:t>
            </a:r>
            <a:r>
              <a:rPr lang="en-US" altLang="zh-CN" b="0" dirty="0" err="1"/>
              <a:t>const</a:t>
            </a:r>
            <a:r>
              <a:rPr lang="en-US" altLang="zh-CN" b="0" dirty="0"/>
              <a:t> String&amp; </a:t>
            </a:r>
            <a:r>
              <a:rPr lang="en-US" altLang="zh-CN" b="0" dirty="0" err="1"/>
              <a:t>ob</a:t>
            </a:r>
            <a:r>
              <a:rPr lang="en-US" altLang="zh-CN" b="0" dirty="0"/>
              <a:t>) {//</a:t>
            </a:r>
            <a:r>
              <a:rPr lang="zh-CN" altLang="zh-CN" b="0" dirty="0"/>
              <a:t>串重载操作</a:t>
            </a:r>
            <a:r>
              <a:rPr lang="en-US" altLang="zh-CN" b="0" dirty="0"/>
              <a:t>: </a:t>
            </a:r>
            <a:r>
              <a:rPr lang="zh-CN" altLang="zh-CN" b="0" dirty="0"/>
              <a:t>串赋值</a:t>
            </a:r>
          </a:p>
          <a:p>
            <a:pPr algn="just"/>
            <a:r>
              <a:rPr lang="en-US" altLang="zh-CN" b="0" dirty="0"/>
              <a:t>	if (&amp;ob != this) { //</a:t>
            </a:r>
            <a:r>
              <a:rPr lang="zh-CN" altLang="zh-CN" b="0" dirty="0"/>
              <a:t>若两个串相等为自我赋值</a:t>
            </a:r>
          </a:p>
          <a:p>
            <a:pPr algn="just"/>
            <a:r>
              <a:rPr lang="en-US" altLang="zh-CN" b="0" dirty="0"/>
              <a:t>		delete []</a:t>
            </a:r>
            <a:r>
              <a:rPr lang="en-US" altLang="zh-CN" b="0" dirty="0" err="1"/>
              <a:t>ch</a:t>
            </a:r>
            <a:r>
              <a:rPr lang="en-US" altLang="zh-CN" b="0" dirty="0"/>
              <a:t>;</a:t>
            </a:r>
          </a:p>
          <a:p>
            <a:pPr algn="just"/>
            <a:r>
              <a:rPr lang="en-US" altLang="zh-CN" b="0" dirty="0"/>
              <a:t>		size=</a:t>
            </a:r>
            <a:r>
              <a:rPr lang="en-US" altLang="zh-CN" b="0" dirty="0" err="1"/>
              <a:t>ob.size</a:t>
            </a:r>
            <a:r>
              <a:rPr lang="en-US" altLang="zh-CN" b="0" dirty="0"/>
              <a:t>;</a:t>
            </a:r>
            <a:endParaRPr lang="zh-CN" altLang="zh-CN" b="0" dirty="0"/>
          </a:p>
          <a:p>
            <a:pPr algn="just"/>
            <a:r>
              <a:rPr lang="en-US" altLang="zh-CN" b="0" dirty="0"/>
              <a:t>		ch = new char[size+1]; //</a:t>
            </a:r>
            <a:r>
              <a:rPr lang="zh-CN" altLang="zh-CN" b="0" dirty="0"/>
              <a:t>重新分配，加一个字符放</a:t>
            </a:r>
            <a:r>
              <a:rPr lang="en-US" altLang="zh-CN" b="0" dirty="0"/>
              <a:t>“\0”</a:t>
            </a:r>
            <a:endParaRPr lang="zh-CN" altLang="zh-CN" b="0" dirty="0"/>
          </a:p>
          <a:p>
            <a:pPr algn="just"/>
            <a:r>
              <a:rPr lang="en-US" altLang="zh-CN" b="0" dirty="0"/>
              <a:t>		if (ch </a:t>
            </a:r>
            <a:r>
              <a:rPr lang="en-US" altLang="zh-CN" b="0" i="1" dirty="0"/>
              <a:t>== </a:t>
            </a:r>
            <a:r>
              <a:rPr lang="en-US" altLang="zh-CN" b="0" dirty="0"/>
              <a:t>NULL) {cerr &lt;&lt; “</a:t>
            </a:r>
            <a:r>
              <a:rPr lang="zh-CN" altLang="zh-CN" b="0" dirty="0"/>
              <a:t>存储分配失败</a:t>
            </a:r>
            <a:r>
              <a:rPr lang="en-US" altLang="zh-CN" b="0" dirty="0"/>
              <a:t>!\n ”; exit(1);}</a:t>
            </a:r>
            <a:endParaRPr lang="zh-CN" altLang="zh-CN" b="0" dirty="0"/>
          </a:p>
          <a:p>
            <a:pPr algn="just"/>
            <a:r>
              <a:rPr lang="en-US" altLang="zh-CN" b="0" dirty="0"/>
              <a:t>		</a:t>
            </a:r>
            <a:r>
              <a:rPr lang="en-US" altLang="zh-CN" b="0" dirty="0" err="1"/>
              <a:t>strcpy</a:t>
            </a:r>
            <a:r>
              <a:rPr lang="en-US" altLang="zh-CN" b="0" dirty="0"/>
              <a:t>(</a:t>
            </a:r>
            <a:r>
              <a:rPr lang="en-US" altLang="zh-CN" b="0" dirty="0" err="1"/>
              <a:t>ch,ob.ch</a:t>
            </a:r>
            <a:r>
              <a:rPr lang="en-US" altLang="zh-CN" b="0" dirty="0"/>
              <a:t>);</a:t>
            </a:r>
            <a:endParaRPr lang="zh-CN" altLang="zh-CN" b="0" dirty="0"/>
          </a:p>
          <a:p>
            <a:pPr algn="just"/>
            <a:r>
              <a:rPr lang="en-US" altLang="zh-CN" b="0" dirty="0"/>
              <a:t>	} else cout &lt;&lt; “</a:t>
            </a:r>
            <a:r>
              <a:rPr lang="zh-CN" altLang="zh-CN" b="0" dirty="0"/>
              <a:t>字符串自身赋值出错</a:t>
            </a:r>
            <a:r>
              <a:rPr lang="en-US" altLang="zh-CN" b="0" dirty="0"/>
              <a:t>!\n”;</a:t>
            </a:r>
            <a:endParaRPr lang="zh-CN" altLang="zh-CN" b="0" dirty="0"/>
          </a:p>
          <a:p>
            <a:pPr algn="just"/>
            <a:r>
              <a:rPr lang="en-US" altLang="zh-CN" b="0" dirty="0"/>
              <a:t>	return *this;</a:t>
            </a:r>
            <a:endParaRPr lang="zh-CN" altLang="zh-CN" b="0" dirty="0"/>
          </a:p>
          <a:p>
            <a:pPr algn="just"/>
            <a:r>
              <a:rPr lang="en-US" altLang="zh-CN" b="0" dirty="0"/>
              <a:t>}</a:t>
            </a:r>
            <a:endParaRPr lang="zh-CN" altLang="zh-CN" b="0" dirty="0"/>
          </a:p>
          <a:p>
            <a:pPr algn="just"/>
            <a:endParaRPr lang="zh-CN" altLang="en-US" dirty="0"/>
          </a:p>
        </p:txBody>
      </p:sp>
    </p:spTree>
    <p:extLst>
      <p:ext uri="{BB962C8B-B14F-4D97-AF65-F5344CB8AC3E}">
        <p14:creationId xmlns:p14="http://schemas.microsoft.com/office/powerpoint/2010/main" val="284336878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980728"/>
            <a:ext cx="8640960" cy="4896544"/>
          </a:xfrm>
        </p:spPr>
        <p:txBody>
          <a:bodyPr>
            <a:normAutofit fontScale="92500" lnSpcReduction="20000"/>
          </a:bodyPr>
          <a:lstStyle/>
          <a:p>
            <a:pPr algn="just"/>
            <a:r>
              <a:rPr lang="en-US" altLang="zh-CN" b="0" dirty="0"/>
              <a:t>String&amp; String :: operator += (</a:t>
            </a:r>
            <a:r>
              <a:rPr lang="en-US" altLang="zh-CN" b="0" dirty="0" err="1"/>
              <a:t>const</a:t>
            </a:r>
            <a:r>
              <a:rPr lang="en-US" altLang="zh-CN" b="0" dirty="0"/>
              <a:t> String&amp; </a:t>
            </a:r>
            <a:r>
              <a:rPr lang="en-US" altLang="zh-CN" b="0" dirty="0" err="1"/>
              <a:t>ob</a:t>
            </a:r>
            <a:r>
              <a:rPr lang="en-US" altLang="zh-CN" b="0" dirty="0"/>
              <a:t>) {//</a:t>
            </a:r>
            <a:r>
              <a:rPr lang="zh-CN" altLang="zh-CN" b="0" dirty="0"/>
              <a:t>串重载操作</a:t>
            </a:r>
            <a:r>
              <a:rPr lang="en-US" altLang="zh-CN" b="0" dirty="0"/>
              <a:t>: </a:t>
            </a:r>
            <a:r>
              <a:rPr lang="zh-CN" altLang="zh-CN" b="0" dirty="0"/>
              <a:t>串连接</a:t>
            </a:r>
          </a:p>
          <a:p>
            <a:pPr algn="just"/>
            <a:r>
              <a:rPr lang="en-US" altLang="zh-CN" b="0" dirty="0"/>
              <a:t>	char *temp = ch; 	//</a:t>
            </a:r>
            <a:r>
              <a:rPr lang="zh-CN" altLang="zh-CN" b="0" dirty="0"/>
              <a:t>暂存原串数组</a:t>
            </a:r>
          </a:p>
          <a:p>
            <a:pPr algn="just"/>
            <a:r>
              <a:rPr lang="en-US" altLang="zh-CN" b="0" dirty="0"/>
              <a:t>	int n = size+ob.size; 	//</a:t>
            </a:r>
            <a:r>
              <a:rPr lang="zh-CN" altLang="zh-CN" b="0" dirty="0"/>
              <a:t>串长度累加</a:t>
            </a:r>
          </a:p>
          <a:p>
            <a:pPr algn="just"/>
            <a:r>
              <a:rPr lang="en-US" altLang="zh-CN" b="0" dirty="0"/>
              <a:t>	ch = new char[n+1];</a:t>
            </a:r>
            <a:endParaRPr lang="zh-CN" altLang="zh-CN" b="0" dirty="0"/>
          </a:p>
          <a:p>
            <a:pPr algn="just"/>
            <a:r>
              <a:rPr lang="en-US" altLang="zh-CN" b="0" dirty="0"/>
              <a:t>	if (ch </a:t>
            </a:r>
            <a:r>
              <a:rPr lang="en-US" altLang="zh-CN" b="0" i="1" dirty="0"/>
              <a:t>== </a:t>
            </a:r>
            <a:r>
              <a:rPr lang="en-US" altLang="zh-CN" b="0" dirty="0"/>
              <a:t>NULL) {cerr &lt;&lt; “</a:t>
            </a:r>
            <a:r>
              <a:rPr lang="zh-CN" altLang="zh-CN" b="0" dirty="0"/>
              <a:t>存储分配错</a:t>
            </a:r>
            <a:r>
              <a:rPr lang="en-US" altLang="zh-CN" b="0" dirty="0"/>
              <a:t>!\n ”; exit(1);}</a:t>
            </a:r>
            <a:endParaRPr lang="zh-CN" altLang="zh-CN" b="0" dirty="0"/>
          </a:p>
          <a:p>
            <a:pPr algn="just"/>
            <a:r>
              <a:rPr lang="en-US" altLang="zh-CN" b="0" dirty="0"/>
              <a:t>	size = n; </a:t>
            </a:r>
            <a:endParaRPr lang="zh-CN" altLang="zh-CN" b="0" dirty="0"/>
          </a:p>
          <a:p>
            <a:pPr algn="just"/>
            <a:r>
              <a:rPr lang="en-US" altLang="zh-CN" b="0" dirty="0"/>
              <a:t>	strcpy(ch, temp); //</a:t>
            </a:r>
            <a:r>
              <a:rPr lang="zh-CN" altLang="zh-CN" b="0" dirty="0"/>
              <a:t>拷贝原串数组</a:t>
            </a:r>
          </a:p>
          <a:p>
            <a:pPr algn="just"/>
            <a:r>
              <a:rPr lang="en-US" altLang="zh-CN" b="0" dirty="0"/>
              <a:t>	strcat(ch, ob.ch); //</a:t>
            </a:r>
            <a:r>
              <a:rPr lang="zh-CN" altLang="zh-CN" b="0" dirty="0"/>
              <a:t>连接</a:t>
            </a:r>
            <a:r>
              <a:rPr lang="en-US" altLang="zh-CN" b="0" dirty="0" err="1"/>
              <a:t>ob</a:t>
            </a:r>
            <a:r>
              <a:rPr lang="en-US" altLang="zh-CN" b="0" dirty="0"/>
              <a:t> </a:t>
            </a:r>
            <a:r>
              <a:rPr lang="zh-CN" altLang="zh-CN" b="0" dirty="0"/>
              <a:t>串数组</a:t>
            </a:r>
          </a:p>
          <a:p>
            <a:pPr algn="just"/>
            <a:r>
              <a:rPr lang="en-US" altLang="zh-CN" b="0" dirty="0"/>
              <a:t>	delete []temp;</a:t>
            </a:r>
            <a:endParaRPr lang="zh-CN" altLang="zh-CN" b="0" dirty="0"/>
          </a:p>
          <a:p>
            <a:pPr algn="just"/>
            <a:r>
              <a:rPr lang="en-US" altLang="zh-CN" b="0" dirty="0"/>
              <a:t> 	return *this;</a:t>
            </a:r>
            <a:endParaRPr lang="zh-CN" altLang="zh-CN" b="0" dirty="0"/>
          </a:p>
          <a:p>
            <a:pPr algn="just"/>
            <a:r>
              <a:rPr lang="en-US" altLang="zh-CN" b="0" dirty="0"/>
              <a:t>}</a:t>
            </a:r>
            <a:endParaRPr lang="zh-CN" altLang="zh-CN" b="0" dirty="0"/>
          </a:p>
          <a:p>
            <a:pPr algn="just"/>
            <a:endParaRPr lang="zh-CN" altLang="en-US" dirty="0"/>
          </a:p>
        </p:txBody>
      </p:sp>
    </p:spTree>
    <p:extLst>
      <p:ext uri="{BB962C8B-B14F-4D97-AF65-F5344CB8AC3E}">
        <p14:creationId xmlns:p14="http://schemas.microsoft.com/office/powerpoint/2010/main" val="283005930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en-US" altLang="zh-CN" b="1" dirty="0"/>
              <a:t>3.7.5 </a:t>
            </a:r>
            <a:r>
              <a:rPr lang="zh-CN" altLang="zh-CN" b="1" dirty="0"/>
              <a:t>串的模式匹配</a:t>
            </a:r>
            <a:endParaRPr lang="zh-CN" altLang="en-US" dirty="0"/>
          </a:p>
        </p:txBody>
      </p:sp>
      <p:sp>
        <p:nvSpPr>
          <p:cNvPr id="3" name="内容占位符 2"/>
          <p:cNvSpPr>
            <a:spLocks noGrp="1"/>
          </p:cNvSpPr>
          <p:nvPr>
            <p:ph idx="1"/>
          </p:nvPr>
        </p:nvSpPr>
        <p:spPr/>
        <p:txBody>
          <a:bodyPr/>
          <a:lstStyle/>
          <a:p>
            <a:pPr algn="just">
              <a:buFont typeface="Arial" panose="020B0604020202020204" pitchFamily="34" charset="0"/>
              <a:buChar char="•"/>
            </a:pPr>
            <a:r>
              <a:rPr lang="zh-CN" altLang="zh-CN" dirty="0">
                <a:solidFill>
                  <a:srgbClr val="FF0000"/>
                </a:solidFill>
              </a:rPr>
              <a:t>模式匹配</a:t>
            </a:r>
            <a:r>
              <a:rPr lang="zh-CN" altLang="zh-CN" b="0" dirty="0"/>
              <a:t>是指</a:t>
            </a:r>
            <a:r>
              <a:rPr lang="zh-CN" altLang="zh-CN" b="0" dirty="0">
                <a:solidFill>
                  <a:srgbClr val="FF0000"/>
                </a:solidFill>
              </a:rPr>
              <a:t>子串在主串中的定位</a:t>
            </a:r>
            <a:r>
              <a:rPr lang="zh-CN" altLang="zh-CN" b="0" dirty="0"/>
              <a:t>。</a:t>
            </a:r>
            <a:endParaRPr lang="en-US" altLang="zh-CN" b="0" dirty="0"/>
          </a:p>
          <a:p>
            <a:pPr algn="just">
              <a:buFont typeface="Arial" panose="020B0604020202020204" pitchFamily="34" charset="0"/>
              <a:buChar char="•"/>
            </a:pPr>
            <a:r>
              <a:rPr lang="zh-CN" altLang="zh-CN" b="0" dirty="0"/>
              <a:t>模式匹配成功是指在主串</a:t>
            </a:r>
            <a:r>
              <a:rPr lang="en-US" altLang="zh-CN" b="0" dirty="0"/>
              <a:t>s</a:t>
            </a:r>
            <a:r>
              <a:rPr lang="zh-CN" altLang="zh-CN" b="0" dirty="0"/>
              <a:t>中能够找到模式串</a:t>
            </a:r>
            <a:r>
              <a:rPr lang="en-US" altLang="zh-CN" b="0" dirty="0"/>
              <a:t>t</a:t>
            </a:r>
            <a:r>
              <a:rPr lang="zh-CN" altLang="zh-CN" b="0" dirty="0"/>
              <a:t>，否则，则说明模式串</a:t>
            </a:r>
            <a:r>
              <a:rPr lang="en-US" altLang="zh-CN" b="0" dirty="0"/>
              <a:t>t</a:t>
            </a:r>
            <a:r>
              <a:rPr lang="zh-CN" altLang="zh-CN" b="0" dirty="0"/>
              <a:t>在主串</a:t>
            </a:r>
            <a:r>
              <a:rPr lang="en-US" altLang="zh-CN" b="0" dirty="0"/>
              <a:t>s</a:t>
            </a:r>
            <a:r>
              <a:rPr lang="zh-CN" altLang="zh-CN" b="0" dirty="0"/>
              <a:t>中不存在。</a:t>
            </a:r>
            <a:endParaRPr lang="en-US" altLang="zh-CN" b="0" dirty="0"/>
          </a:p>
          <a:p>
            <a:pPr algn="just">
              <a:buFont typeface="Arial" panose="020B0604020202020204" pitchFamily="34" charset="0"/>
              <a:buChar char="•"/>
            </a:pPr>
            <a:r>
              <a:rPr lang="zh-CN" altLang="zh-CN" b="0" dirty="0"/>
              <a:t>在串类的方法中，函数</a:t>
            </a:r>
            <a:r>
              <a:rPr lang="en-US" altLang="zh-CN" b="0" dirty="0"/>
              <a:t>find</a:t>
            </a:r>
            <a:r>
              <a:rPr lang="zh-CN" altLang="zh-CN" b="0" dirty="0"/>
              <a:t>（</a:t>
            </a:r>
            <a:r>
              <a:rPr lang="en-US" altLang="zh-CN" b="0" dirty="0"/>
              <a:t>String&amp; pat</a:t>
            </a:r>
            <a:r>
              <a:rPr lang="zh-CN" altLang="zh-CN" b="0" dirty="0"/>
              <a:t>）就是用来进行字符串的模式匹配的。</a:t>
            </a:r>
            <a:endParaRPr lang="en-US" altLang="zh-CN" b="0" dirty="0"/>
          </a:p>
          <a:p>
            <a:pPr algn="just">
              <a:buFont typeface="Arial" panose="020B0604020202020204" pitchFamily="34" charset="0"/>
              <a:buChar char="•"/>
            </a:pPr>
            <a:r>
              <a:rPr lang="zh-CN" altLang="zh-CN" b="0" dirty="0"/>
              <a:t>通常又将</a:t>
            </a:r>
            <a:r>
              <a:rPr lang="zh-CN" altLang="zh-CN" dirty="0">
                <a:solidFill>
                  <a:srgbClr val="FF0000"/>
                </a:solidFill>
              </a:rPr>
              <a:t>子串称为模式串</a:t>
            </a:r>
            <a:r>
              <a:rPr lang="zh-CN" altLang="zh-CN" b="0" dirty="0"/>
              <a:t>。</a:t>
            </a:r>
          </a:p>
          <a:p>
            <a:pPr algn="just"/>
            <a:endParaRPr lang="zh-CN" altLang="en-US" dirty="0"/>
          </a:p>
        </p:txBody>
      </p:sp>
    </p:spTree>
    <p:extLst>
      <p:ext uri="{BB962C8B-B14F-4D97-AF65-F5344CB8AC3E}">
        <p14:creationId xmlns:p14="http://schemas.microsoft.com/office/powerpoint/2010/main" val="191129440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196752"/>
            <a:ext cx="7520940" cy="4011897"/>
          </a:xfrm>
        </p:spPr>
        <p:txBody>
          <a:bodyPr>
            <a:normAutofit lnSpcReduction="10000"/>
          </a:bodyPr>
          <a:lstStyle/>
          <a:p>
            <a:pPr algn="just"/>
            <a:r>
              <a:rPr lang="en-US" altLang="zh-CN" dirty="0"/>
              <a:t>1</a:t>
            </a:r>
            <a:r>
              <a:rPr lang="zh-CN" altLang="zh-CN" dirty="0"/>
              <a:t>．</a:t>
            </a:r>
            <a:r>
              <a:rPr lang="en-US" altLang="zh-CN" dirty="0"/>
              <a:t>Brute-Force</a:t>
            </a:r>
            <a:r>
              <a:rPr lang="zh-CN" altLang="zh-CN" dirty="0"/>
              <a:t>算法</a:t>
            </a:r>
          </a:p>
          <a:p>
            <a:pPr algn="just"/>
            <a:r>
              <a:rPr lang="en-US" altLang="zh-CN" dirty="0"/>
              <a:t>	</a:t>
            </a:r>
            <a:r>
              <a:rPr lang="en-US" altLang="zh-CN" b="0" dirty="0"/>
              <a:t>Brute-Force</a:t>
            </a:r>
            <a:r>
              <a:rPr lang="zh-CN" altLang="zh-CN" b="0" dirty="0"/>
              <a:t>是</a:t>
            </a:r>
            <a:r>
              <a:rPr lang="zh-CN" altLang="zh-CN" dirty="0">
                <a:solidFill>
                  <a:srgbClr val="FF0000"/>
                </a:solidFill>
              </a:rPr>
              <a:t>最朴素的一种字符串匹配算法</a:t>
            </a:r>
            <a:r>
              <a:rPr lang="zh-CN" altLang="zh-CN" b="0" dirty="0"/>
              <a:t>，其主要思想是：从主串</a:t>
            </a:r>
            <a:r>
              <a:rPr lang="en-US" altLang="zh-CN" b="0" dirty="0" err="1"/>
              <a:t>ob</a:t>
            </a:r>
            <a:r>
              <a:rPr lang="en-US" altLang="zh-CN" b="0" dirty="0"/>
              <a:t>=“s</a:t>
            </a:r>
            <a:r>
              <a:rPr lang="en-US" altLang="zh-CN" b="0" baseline="-25000" dirty="0"/>
              <a:t>0</a:t>
            </a:r>
            <a:r>
              <a:rPr lang="en-US" altLang="zh-CN" b="0" dirty="0"/>
              <a:t>s</a:t>
            </a:r>
            <a:r>
              <a:rPr lang="en-US" altLang="zh-CN" b="0" baseline="-25000" dirty="0"/>
              <a:t>1</a:t>
            </a:r>
            <a:r>
              <a:rPr lang="en-US" altLang="zh-CN" b="0" dirty="0"/>
              <a:t>…s</a:t>
            </a:r>
            <a:r>
              <a:rPr lang="en-US" altLang="zh-CN" b="0" baseline="-25000" dirty="0"/>
              <a:t>m-1</a:t>
            </a:r>
            <a:r>
              <a:rPr lang="en-US" altLang="zh-CN" b="0" dirty="0"/>
              <a:t>”</a:t>
            </a:r>
            <a:r>
              <a:rPr lang="zh-CN" altLang="zh-CN" b="0" dirty="0"/>
              <a:t>的第一个字符开始与模式串</a:t>
            </a:r>
            <a:r>
              <a:rPr lang="en-US" altLang="zh-CN" b="0" dirty="0"/>
              <a:t>pat=“t</a:t>
            </a:r>
            <a:r>
              <a:rPr lang="en-US" altLang="zh-CN" b="0" baseline="-25000" dirty="0"/>
              <a:t>0</a:t>
            </a:r>
            <a:r>
              <a:rPr lang="en-US" altLang="zh-CN" b="0" dirty="0"/>
              <a:t>t</a:t>
            </a:r>
            <a:r>
              <a:rPr lang="en-US" altLang="zh-CN" b="0" baseline="-25000" dirty="0"/>
              <a:t>1</a:t>
            </a:r>
            <a:r>
              <a:rPr lang="en-US" altLang="zh-CN" b="0" dirty="0"/>
              <a:t>…t</a:t>
            </a:r>
            <a:r>
              <a:rPr lang="en-US" altLang="zh-CN" b="0" baseline="-25000" dirty="0"/>
              <a:t>n-1</a:t>
            </a:r>
            <a:r>
              <a:rPr lang="en-US" altLang="zh-CN" b="0" dirty="0"/>
              <a:t>”</a:t>
            </a:r>
            <a:r>
              <a:rPr lang="zh-CN" altLang="zh-CN" b="0" dirty="0"/>
              <a:t>的第一个字符比较：若相等，则继续比较</a:t>
            </a:r>
            <a:r>
              <a:rPr lang="zh-CN" altLang="en-US" b="0" dirty="0"/>
              <a:t>后</a:t>
            </a:r>
            <a:r>
              <a:rPr lang="zh-CN" altLang="zh-CN" b="0" dirty="0"/>
              <a:t>序字符；否则，从主串</a:t>
            </a:r>
            <a:r>
              <a:rPr lang="en-US" altLang="zh-CN" b="0" dirty="0" err="1"/>
              <a:t>ob</a:t>
            </a:r>
            <a:r>
              <a:rPr lang="zh-CN" altLang="zh-CN" b="0" dirty="0"/>
              <a:t>的第二个字符开始重新与模式串</a:t>
            </a:r>
            <a:r>
              <a:rPr lang="en-US" altLang="zh-CN" b="0" dirty="0"/>
              <a:t>pat</a:t>
            </a:r>
            <a:r>
              <a:rPr lang="zh-CN" altLang="zh-CN" b="0" dirty="0"/>
              <a:t>的第一个字符进行比较。如此进行，若在主串</a:t>
            </a:r>
            <a:r>
              <a:rPr lang="en-US" altLang="zh-CN" b="0" dirty="0" err="1"/>
              <a:t>ob</a:t>
            </a:r>
            <a:r>
              <a:rPr lang="zh-CN" altLang="zh-CN" b="0" dirty="0"/>
              <a:t>中有一个与模式串相等的连续字符序列，则匹配成功，函数返回模式串</a:t>
            </a:r>
            <a:r>
              <a:rPr lang="en-US" altLang="zh-CN" b="0" dirty="0"/>
              <a:t>pat</a:t>
            </a:r>
            <a:r>
              <a:rPr lang="zh-CN" altLang="zh-CN" b="0" dirty="0"/>
              <a:t>在主串</a:t>
            </a:r>
            <a:r>
              <a:rPr lang="en-US" altLang="zh-CN" b="0" dirty="0" err="1"/>
              <a:t>ob</a:t>
            </a:r>
            <a:r>
              <a:rPr lang="zh-CN" altLang="zh-CN" b="0" dirty="0"/>
              <a:t>中的位置；否则，匹配失败，函数返回</a:t>
            </a:r>
            <a:r>
              <a:rPr lang="en-US" altLang="zh-CN" b="0" dirty="0"/>
              <a:t>-1</a:t>
            </a:r>
            <a:r>
              <a:rPr lang="zh-CN" altLang="zh-CN" b="0" dirty="0"/>
              <a:t>。</a:t>
            </a:r>
          </a:p>
          <a:p>
            <a:pPr algn="just"/>
            <a:endParaRPr lang="zh-CN" altLang="en-US" dirty="0"/>
          </a:p>
        </p:txBody>
      </p:sp>
    </p:spTree>
    <p:extLst>
      <p:ext uri="{BB962C8B-B14F-4D97-AF65-F5344CB8AC3E}">
        <p14:creationId xmlns:p14="http://schemas.microsoft.com/office/powerpoint/2010/main" val="117297569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algn="just"/>
            <a:r>
              <a:rPr lang="en-US" altLang="zh-CN" b="0" dirty="0"/>
              <a:t>	</a:t>
            </a:r>
            <a:r>
              <a:rPr lang="zh-CN" altLang="zh-CN" b="0" dirty="0"/>
              <a:t>设主串</a:t>
            </a:r>
            <a:r>
              <a:rPr lang="en-US" altLang="zh-CN" b="0" dirty="0"/>
              <a:t>ob</a:t>
            </a:r>
            <a:r>
              <a:rPr lang="zh-CN" altLang="zh-CN" b="0" dirty="0"/>
              <a:t>＝</a:t>
            </a:r>
            <a:r>
              <a:rPr lang="en-US" altLang="zh-CN" b="0" dirty="0"/>
              <a:t>“</a:t>
            </a:r>
            <a:r>
              <a:rPr lang="en-US" altLang="zh-CN" b="0" dirty="0" err="1"/>
              <a:t>abacabab</a:t>
            </a:r>
            <a:r>
              <a:rPr lang="en-US" altLang="zh-CN" b="0" dirty="0"/>
              <a:t>”</a:t>
            </a:r>
            <a:r>
              <a:rPr lang="zh-CN" altLang="zh-CN" b="0" dirty="0"/>
              <a:t>，模式串</a:t>
            </a:r>
            <a:r>
              <a:rPr lang="en-US" altLang="zh-CN" b="0" dirty="0"/>
              <a:t>pat=“</a:t>
            </a:r>
            <a:r>
              <a:rPr lang="en-US" altLang="zh-CN" b="0" dirty="0" err="1"/>
              <a:t>abab</a:t>
            </a:r>
            <a:r>
              <a:rPr lang="en-US" altLang="zh-CN" b="0" dirty="0"/>
              <a:t>”</a:t>
            </a:r>
            <a:r>
              <a:rPr lang="zh-CN" altLang="zh-CN" b="0" dirty="0"/>
              <a:t>，</a:t>
            </a:r>
            <a:r>
              <a:rPr lang="en-US" altLang="zh-CN" b="0" dirty="0" err="1"/>
              <a:t>ob</a:t>
            </a:r>
            <a:r>
              <a:rPr lang="zh-CN" altLang="zh-CN" b="0" dirty="0"/>
              <a:t>的长度为</a:t>
            </a:r>
            <a:r>
              <a:rPr lang="en-US" altLang="zh-CN" b="0" dirty="0"/>
              <a:t>m=8</a:t>
            </a:r>
            <a:r>
              <a:rPr lang="zh-CN" altLang="en-US" b="0" dirty="0"/>
              <a:t>，</a:t>
            </a:r>
            <a:r>
              <a:rPr lang="zh-CN" altLang="zh-CN" b="0" dirty="0"/>
              <a:t>模式串的长度为</a:t>
            </a:r>
            <a:r>
              <a:rPr lang="en-US" altLang="zh-CN" b="0" dirty="0"/>
              <a:t>n=4</a:t>
            </a:r>
            <a:r>
              <a:rPr lang="zh-CN" altLang="zh-CN" b="0" dirty="0"/>
              <a:t>，用变量</a:t>
            </a:r>
            <a:r>
              <a:rPr lang="en-US" altLang="zh-CN" b="0" dirty="0" err="1"/>
              <a:t>i</a:t>
            </a:r>
            <a:r>
              <a:rPr lang="zh-CN" altLang="zh-CN" b="0" dirty="0"/>
              <a:t>指示主串</a:t>
            </a:r>
            <a:r>
              <a:rPr lang="en-US" altLang="zh-CN" b="0" dirty="0" err="1"/>
              <a:t>ob</a:t>
            </a:r>
            <a:r>
              <a:rPr lang="zh-CN" altLang="zh-CN" b="0" dirty="0"/>
              <a:t>的当前比较字符的下标，用</a:t>
            </a:r>
            <a:r>
              <a:rPr lang="en-US" altLang="zh-CN" b="0" dirty="0"/>
              <a:t>j</a:t>
            </a:r>
            <a:r>
              <a:rPr lang="zh-CN" altLang="zh-CN" b="0" dirty="0"/>
              <a:t>指示模式串</a:t>
            </a:r>
            <a:r>
              <a:rPr lang="en-US" altLang="zh-CN" b="0" dirty="0"/>
              <a:t>pat</a:t>
            </a:r>
            <a:r>
              <a:rPr lang="zh-CN" altLang="zh-CN" b="0" dirty="0"/>
              <a:t>的当前下标。模式匹配的过程如图所示。</a:t>
            </a:r>
          </a:p>
          <a:p>
            <a:pPr algn="just"/>
            <a:endParaRPr lang="zh-CN" altLang="en-US" dirty="0"/>
          </a:p>
        </p:txBody>
      </p:sp>
    </p:spTree>
    <p:extLst>
      <p:ext uri="{BB962C8B-B14F-4D97-AF65-F5344CB8AC3E}">
        <p14:creationId xmlns:p14="http://schemas.microsoft.com/office/powerpoint/2010/main" val="92347419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673" name="组合 1752"/>
          <p:cNvGrpSpPr>
            <a:grpSpLocks/>
          </p:cNvGrpSpPr>
          <p:nvPr/>
        </p:nvGrpSpPr>
        <p:grpSpPr bwMode="auto">
          <a:xfrm>
            <a:off x="1115616" y="692696"/>
            <a:ext cx="6912768" cy="5544616"/>
            <a:chOff x="2340" y="1432"/>
            <a:chExt cx="6975" cy="6170"/>
          </a:xfrm>
        </p:grpSpPr>
        <p:grpSp>
          <p:nvGrpSpPr>
            <p:cNvPr id="1753" name="Group 569"/>
            <p:cNvGrpSpPr>
              <a:grpSpLocks/>
            </p:cNvGrpSpPr>
            <p:nvPr/>
          </p:nvGrpSpPr>
          <p:grpSpPr bwMode="auto">
            <a:xfrm>
              <a:off x="2340" y="1432"/>
              <a:ext cx="6975" cy="5624"/>
              <a:chOff x="2565" y="1674"/>
              <a:chExt cx="6975" cy="5624"/>
            </a:xfrm>
          </p:grpSpPr>
          <p:grpSp>
            <p:nvGrpSpPr>
              <p:cNvPr id="1754" name="Group 570"/>
              <p:cNvGrpSpPr>
                <a:grpSpLocks/>
              </p:cNvGrpSpPr>
              <p:nvPr/>
            </p:nvGrpSpPr>
            <p:grpSpPr bwMode="auto">
              <a:xfrm>
                <a:off x="2589" y="1674"/>
                <a:ext cx="6951" cy="944"/>
                <a:chOff x="1981" y="3208"/>
                <a:chExt cx="6951" cy="944"/>
              </a:xfrm>
            </p:grpSpPr>
            <p:sp>
              <p:nvSpPr>
                <p:cNvPr id="1755" name="Rectangle 571"/>
                <p:cNvSpPr>
                  <a:spLocks noChangeArrowheads="1"/>
                </p:cNvSpPr>
                <p:nvPr/>
              </p:nvSpPr>
              <p:spPr bwMode="auto">
                <a:xfrm>
                  <a:off x="2880" y="3213"/>
                  <a:ext cx="3000" cy="312"/>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err="1">
                      <a:ln>
                        <a:noFill/>
                      </a:ln>
                      <a:solidFill>
                        <a:schemeClr val="tx1"/>
                      </a:solidFill>
                      <a:effectLst/>
                      <a:latin typeface="宋体" pitchFamily="2" charset="-122"/>
                      <a:ea typeface="宋体" pitchFamily="2" charset="-122"/>
                      <a:cs typeface="宋体" pitchFamily="2" charset="-122"/>
                    </a:rPr>
                    <a:t>ob</a:t>
                  </a:r>
                  <a:r>
                    <a:rPr kumimoji="0" lang="en-US" altLang="zh-CN" sz="1400" b="0" i="0" u="none" strike="noStrike" cap="none" normalizeH="0" baseline="0" dirty="0">
                      <a:ln>
                        <a:noFill/>
                      </a:ln>
                      <a:solidFill>
                        <a:schemeClr val="tx1"/>
                      </a:solidFill>
                      <a:effectLst/>
                      <a:latin typeface="宋体" pitchFamily="2" charset="-122"/>
                      <a:ea typeface="宋体" pitchFamily="2" charset="-122"/>
                      <a:cs typeface="宋体" pitchFamily="2" charset="-122"/>
                    </a:rPr>
                    <a:t>   a  b  a  c  a  b  a  b</a:t>
                  </a:r>
                  <a:endParaRPr kumimoji="0" lang="zh-CN" altLang="zh-CN" sz="14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1756" name="Rectangle 572"/>
                <p:cNvSpPr>
                  <a:spLocks noChangeArrowheads="1"/>
                </p:cNvSpPr>
                <p:nvPr/>
              </p:nvSpPr>
              <p:spPr bwMode="auto">
                <a:xfrm>
                  <a:off x="2859" y="3784"/>
                  <a:ext cx="1859" cy="368"/>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chemeClr val="tx1"/>
                      </a:solidFill>
                      <a:effectLst/>
                      <a:latin typeface="宋体" pitchFamily="2" charset="-122"/>
                      <a:ea typeface="宋体" pitchFamily="2" charset="-122"/>
                      <a:cs typeface="宋体" pitchFamily="2" charset="-122"/>
                    </a:rPr>
                    <a:t>pat  a  b  a  b</a:t>
                  </a:r>
                  <a:endParaRPr kumimoji="0" lang="zh-CN" altLang="zh-CN" sz="14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1757" name="Rectangle 573"/>
                <p:cNvSpPr>
                  <a:spLocks noChangeArrowheads="1"/>
                </p:cNvSpPr>
                <p:nvPr/>
              </p:nvSpPr>
              <p:spPr bwMode="auto">
                <a:xfrm>
                  <a:off x="3265" y="3528"/>
                  <a:ext cx="240" cy="311"/>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chemeClr val="tx1"/>
                      </a:solidFill>
                      <a:effectLst/>
                      <a:latin typeface="Times New Roman" pitchFamily="18" charset="0"/>
                      <a:ea typeface="宋体" pitchFamily="2" charset="-122"/>
                      <a:cs typeface="宋体" pitchFamily="2" charset="-122"/>
                    </a:rPr>
                    <a:t>‖</a:t>
                  </a:r>
                  <a:endParaRPr kumimoji="0" lang="zh-CN" altLang="zh-CN" sz="14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1758" name="Rectangle 574"/>
                <p:cNvSpPr>
                  <a:spLocks noChangeArrowheads="1"/>
                </p:cNvSpPr>
                <p:nvPr/>
              </p:nvSpPr>
              <p:spPr bwMode="auto">
                <a:xfrm>
                  <a:off x="3483" y="3520"/>
                  <a:ext cx="239" cy="312"/>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chemeClr val="tx1"/>
                      </a:solidFill>
                      <a:effectLst/>
                      <a:latin typeface="Times New Roman" pitchFamily="18" charset="0"/>
                      <a:ea typeface="宋体" pitchFamily="2" charset="-122"/>
                      <a:cs typeface="宋体" pitchFamily="2" charset="-122"/>
                    </a:rPr>
                    <a:t>‖</a:t>
                  </a:r>
                  <a:endParaRPr kumimoji="0" lang="zh-CN" altLang="zh-CN" sz="14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1759" name="Rectangle 575"/>
                <p:cNvSpPr>
                  <a:spLocks noChangeArrowheads="1"/>
                </p:cNvSpPr>
                <p:nvPr/>
              </p:nvSpPr>
              <p:spPr bwMode="auto">
                <a:xfrm>
                  <a:off x="3773" y="3534"/>
                  <a:ext cx="239" cy="312"/>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chemeClr val="tx1"/>
                      </a:solidFill>
                      <a:effectLst/>
                      <a:latin typeface="Times New Roman" pitchFamily="18" charset="0"/>
                      <a:ea typeface="宋体" pitchFamily="2" charset="-122"/>
                      <a:cs typeface="宋体" pitchFamily="2" charset="-122"/>
                    </a:rPr>
                    <a:t>‖</a:t>
                  </a:r>
                  <a:endParaRPr kumimoji="0" lang="zh-CN" altLang="zh-CN" sz="14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1760" name="Rectangle 576"/>
                <p:cNvSpPr>
                  <a:spLocks noChangeArrowheads="1"/>
                </p:cNvSpPr>
                <p:nvPr/>
              </p:nvSpPr>
              <p:spPr bwMode="auto">
                <a:xfrm>
                  <a:off x="4064" y="3519"/>
                  <a:ext cx="239" cy="313"/>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chemeClr val="tx1"/>
                      </a:solidFill>
                      <a:effectLst/>
                      <a:latin typeface="Times New Roman" pitchFamily="18" charset="0"/>
                      <a:ea typeface="宋体" pitchFamily="2" charset="-122"/>
                      <a:cs typeface="宋体" pitchFamily="2" charset="-122"/>
                    </a:rPr>
                    <a:t>≠</a:t>
                  </a:r>
                  <a:endParaRPr kumimoji="0" lang="zh-CN" altLang="zh-CN" sz="14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1761" name="Rectangle 577"/>
                <p:cNvSpPr>
                  <a:spLocks noChangeArrowheads="1"/>
                </p:cNvSpPr>
                <p:nvPr/>
              </p:nvSpPr>
              <p:spPr bwMode="auto">
                <a:xfrm>
                  <a:off x="6292" y="3208"/>
                  <a:ext cx="1320" cy="312"/>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err="1">
                      <a:ln>
                        <a:noFill/>
                      </a:ln>
                      <a:solidFill>
                        <a:schemeClr val="tx1"/>
                      </a:solidFill>
                      <a:effectLst/>
                      <a:latin typeface="宋体" pitchFamily="2" charset="-122"/>
                      <a:ea typeface="宋体" pitchFamily="2" charset="-122"/>
                      <a:cs typeface="宋体" pitchFamily="2" charset="-122"/>
                    </a:rPr>
                    <a:t>i</a:t>
                  </a:r>
                  <a:r>
                    <a:rPr kumimoji="0" lang="en-US" altLang="zh-CN" sz="1400" b="0" i="0" u="none" strike="noStrike" cap="none" normalizeH="0" baseline="0" dirty="0">
                      <a:ln>
                        <a:noFill/>
                      </a:ln>
                      <a:solidFill>
                        <a:schemeClr val="tx1"/>
                      </a:solidFill>
                      <a:effectLst/>
                      <a:latin typeface="宋体" pitchFamily="2" charset="-122"/>
                      <a:ea typeface="宋体" pitchFamily="2" charset="-122"/>
                      <a:cs typeface="宋体" pitchFamily="2" charset="-122"/>
                    </a:rPr>
                    <a:t>=3</a:t>
                  </a:r>
                  <a:endParaRPr kumimoji="0" lang="zh-CN" altLang="zh-CN" sz="14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1762" name="Rectangle 578"/>
                <p:cNvSpPr>
                  <a:spLocks noChangeArrowheads="1"/>
                </p:cNvSpPr>
                <p:nvPr/>
              </p:nvSpPr>
              <p:spPr bwMode="auto">
                <a:xfrm>
                  <a:off x="6292" y="3728"/>
                  <a:ext cx="1320" cy="312"/>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chemeClr val="tx1"/>
                      </a:solidFill>
                      <a:effectLst/>
                      <a:latin typeface="宋体" pitchFamily="2" charset="-122"/>
                      <a:ea typeface="宋体" pitchFamily="2" charset="-122"/>
                      <a:cs typeface="宋体" pitchFamily="2" charset="-122"/>
                    </a:rPr>
                    <a:t>j=3</a:t>
                  </a:r>
                  <a:endParaRPr kumimoji="0" lang="zh-CN" altLang="zh-CN" sz="14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1763" name="Rectangle 579"/>
                <p:cNvSpPr>
                  <a:spLocks noChangeArrowheads="1"/>
                </p:cNvSpPr>
                <p:nvPr/>
              </p:nvSpPr>
              <p:spPr bwMode="auto">
                <a:xfrm>
                  <a:off x="7852" y="3416"/>
                  <a:ext cx="1080" cy="312"/>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tx1"/>
                      </a:solidFill>
                      <a:effectLst/>
                      <a:latin typeface="Calibri" pitchFamily="34" charset="0"/>
                      <a:ea typeface="宋体" pitchFamily="2" charset="-122"/>
                      <a:cs typeface="宋体" pitchFamily="2" charset="-122"/>
                    </a:rPr>
                    <a:t>匹配失败</a:t>
                  </a:r>
                  <a:endParaRPr kumimoji="0" lang="zh-CN" sz="14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1764" name="Text Box 580"/>
                <p:cNvSpPr txBox="1">
                  <a:spLocks noChangeArrowheads="1"/>
                </p:cNvSpPr>
                <p:nvPr/>
              </p:nvSpPr>
              <p:spPr bwMode="auto">
                <a:xfrm>
                  <a:off x="1981" y="3389"/>
                  <a:ext cx="899" cy="46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en-US" sz="900" b="0" i="0" u="none" strike="noStrike" cap="none" normalizeH="0" baseline="0">
                      <a:ln>
                        <a:noFill/>
                      </a:ln>
                      <a:solidFill>
                        <a:schemeClr val="tx1"/>
                      </a:solidFill>
                      <a:effectLst/>
                      <a:latin typeface="Calibri" pitchFamily="34" charset="0"/>
                      <a:ea typeface="宋体" pitchFamily="2" charset="-122"/>
                      <a:cs typeface="宋体" pitchFamily="2" charset="-122"/>
                    </a:rPr>
                    <a:t>第</a:t>
                  </a:r>
                  <a:r>
                    <a:rPr kumimoji="0" lang="en-US" altLang="zh-CN" sz="900" b="0" i="0" u="none" strike="noStrike" cap="none" normalizeH="0" baseline="0">
                      <a:ln>
                        <a:noFill/>
                      </a:ln>
                      <a:solidFill>
                        <a:schemeClr val="tx1"/>
                      </a:solidFill>
                      <a:effectLst/>
                      <a:latin typeface="Calibri" pitchFamily="34" charset="0"/>
                      <a:ea typeface="宋体" pitchFamily="2" charset="-122"/>
                      <a:cs typeface="宋体" pitchFamily="2" charset="-122"/>
                    </a:rPr>
                    <a:t>1</a:t>
                  </a:r>
                  <a:r>
                    <a:rPr kumimoji="0" lang="zh-CN" altLang="en-US" sz="900" b="0" i="0" u="none" strike="noStrike" cap="none" normalizeH="0" baseline="0">
                      <a:ln>
                        <a:noFill/>
                      </a:ln>
                      <a:solidFill>
                        <a:schemeClr val="tx1"/>
                      </a:solidFill>
                      <a:effectLst/>
                      <a:latin typeface="Calibri" pitchFamily="34" charset="0"/>
                      <a:ea typeface="宋体" pitchFamily="2" charset="-122"/>
                      <a:cs typeface="宋体" pitchFamily="2" charset="-122"/>
                    </a:rPr>
                    <a:t>趟</a:t>
                  </a:r>
                  <a:endParaRPr kumimoji="0" 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grpSp>
          <p:grpSp>
            <p:nvGrpSpPr>
              <p:cNvPr id="1765" name="Group 581"/>
              <p:cNvGrpSpPr>
                <a:grpSpLocks/>
              </p:cNvGrpSpPr>
              <p:nvPr/>
            </p:nvGrpSpPr>
            <p:grpSpPr bwMode="auto">
              <a:xfrm>
                <a:off x="2565" y="2922"/>
                <a:ext cx="6951" cy="944"/>
                <a:chOff x="2589" y="2922"/>
                <a:chExt cx="6951" cy="944"/>
              </a:xfrm>
            </p:grpSpPr>
            <p:sp>
              <p:nvSpPr>
                <p:cNvPr id="1766" name="Rectangle 582"/>
                <p:cNvSpPr>
                  <a:spLocks noChangeArrowheads="1"/>
                </p:cNvSpPr>
                <p:nvPr/>
              </p:nvSpPr>
              <p:spPr bwMode="auto">
                <a:xfrm>
                  <a:off x="3534" y="2948"/>
                  <a:ext cx="3000" cy="312"/>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err="1">
                      <a:ln>
                        <a:noFill/>
                      </a:ln>
                      <a:solidFill>
                        <a:schemeClr val="tx1"/>
                      </a:solidFill>
                      <a:effectLst/>
                      <a:latin typeface="宋体" pitchFamily="2" charset="-122"/>
                      <a:ea typeface="宋体" pitchFamily="2" charset="-122"/>
                      <a:cs typeface="宋体" pitchFamily="2" charset="-122"/>
                    </a:rPr>
                    <a:t>ob</a:t>
                  </a:r>
                  <a:r>
                    <a:rPr kumimoji="0" lang="en-US" altLang="zh-CN" sz="1400" b="0" i="0" u="none" strike="noStrike" cap="none" normalizeH="0" baseline="0" dirty="0">
                      <a:ln>
                        <a:noFill/>
                      </a:ln>
                      <a:solidFill>
                        <a:schemeClr val="tx1"/>
                      </a:solidFill>
                      <a:effectLst/>
                      <a:latin typeface="宋体" pitchFamily="2" charset="-122"/>
                      <a:ea typeface="宋体" pitchFamily="2" charset="-122"/>
                      <a:cs typeface="宋体" pitchFamily="2" charset="-122"/>
                    </a:rPr>
                    <a:t>   a  b  a  c  a  b  a  b</a:t>
                  </a:r>
                  <a:endParaRPr kumimoji="0" lang="zh-CN" altLang="zh-CN" sz="14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1767" name="Rectangle 583"/>
                <p:cNvSpPr>
                  <a:spLocks noChangeArrowheads="1"/>
                </p:cNvSpPr>
                <p:nvPr/>
              </p:nvSpPr>
              <p:spPr bwMode="auto">
                <a:xfrm>
                  <a:off x="3541" y="3498"/>
                  <a:ext cx="1859" cy="368"/>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chemeClr val="tx1"/>
                      </a:solidFill>
                      <a:effectLst/>
                      <a:latin typeface="宋体" pitchFamily="2" charset="-122"/>
                      <a:ea typeface="宋体" pitchFamily="2" charset="-122"/>
                      <a:cs typeface="宋体" pitchFamily="2" charset="-122"/>
                    </a:rPr>
                    <a:t>pat     a  b  a  b</a:t>
                  </a:r>
                  <a:endParaRPr kumimoji="0" lang="zh-CN" altLang="zh-CN" sz="14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1768" name="Rectangle 584"/>
                <p:cNvSpPr>
                  <a:spLocks noChangeArrowheads="1"/>
                </p:cNvSpPr>
                <p:nvPr/>
              </p:nvSpPr>
              <p:spPr bwMode="auto">
                <a:xfrm>
                  <a:off x="4200" y="3233"/>
                  <a:ext cx="239" cy="313"/>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宋体" pitchFamily="2" charset="-122"/>
                    </a:rPr>
                    <a:t>≠</a:t>
                  </a:r>
                  <a:endParaRPr kumimoji="0" lang="zh-CN" altLang="zh-CN" sz="14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769" name="Rectangle 585"/>
                <p:cNvSpPr>
                  <a:spLocks noChangeArrowheads="1"/>
                </p:cNvSpPr>
                <p:nvPr/>
              </p:nvSpPr>
              <p:spPr bwMode="auto">
                <a:xfrm>
                  <a:off x="6900" y="2922"/>
                  <a:ext cx="1320" cy="312"/>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宋体" pitchFamily="2" charset="-122"/>
                      <a:ea typeface="宋体" pitchFamily="2" charset="-122"/>
                      <a:cs typeface="宋体" pitchFamily="2" charset="-122"/>
                    </a:rPr>
                    <a:t>i=1</a:t>
                  </a:r>
                  <a:endParaRPr kumimoji="0" lang="zh-CN" altLang="zh-CN" sz="14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770" name="Rectangle 586"/>
                <p:cNvSpPr>
                  <a:spLocks noChangeArrowheads="1"/>
                </p:cNvSpPr>
                <p:nvPr/>
              </p:nvSpPr>
              <p:spPr bwMode="auto">
                <a:xfrm>
                  <a:off x="6900" y="3442"/>
                  <a:ext cx="1320" cy="312"/>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宋体" pitchFamily="2" charset="-122"/>
                      <a:ea typeface="宋体" pitchFamily="2" charset="-122"/>
                      <a:cs typeface="宋体" pitchFamily="2" charset="-122"/>
                    </a:rPr>
                    <a:t>j=0</a:t>
                  </a:r>
                  <a:endParaRPr kumimoji="0" lang="zh-CN" altLang="zh-CN" sz="14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771" name="Rectangle 587"/>
                <p:cNvSpPr>
                  <a:spLocks noChangeArrowheads="1"/>
                </p:cNvSpPr>
                <p:nvPr/>
              </p:nvSpPr>
              <p:spPr bwMode="auto">
                <a:xfrm>
                  <a:off x="8460" y="3130"/>
                  <a:ext cx="1080" cy="312"/>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0" i="0" u="none" strike="noStrike" cap="none" normalizeH="0" baseline="0">
                      <a:ln>
                        <a:noFill/>
                      </a:ln>
                      <a:solidFill>
                        <a:schemeClr val="tx1"/>
                      </a:solidFill>
                      <a:effectLst/>
                      <a:latin typeface="Calibri" pitchFamily="34" charset="0"/>
                      <a:ea typeface="宋体" pitchFamily="2" charset="-122"/>
                      <a:cs typeface="宋体" pitchFamily="2" charset="-122"/>
                    </a:rPr>
                    <a:t>匹配失败</a:t>
                  </a:r>
                  <a:endParaRPr kumimoji="0" lang="zh-CN" sz="14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772" name="Text Box 588"/>
                <p:cNvSpPr txBox="1">
                  <a:spLocks noChangeArrowheads="1"/>
                </p:cNvSpPr>
                <p:nvPr/>
              </p:nvSpPr>
              <p:spPr bwMode="auto">
                <a:xfrm>
                  <a:off x="2589" y="3103"/>
                  <a:ext cx="899" cy="46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en-US" sz="900" b="0" i="0" u="none" strike="noStrike" cap="none" normalizeH="0" baseline="0">
                      <a:ln>
                        <a:noFill/>
                      </a:ln>
                      <a:solidFill>
                        <a:schemeClr val="tx1"/>
                      </a:solidFill>
                      <a:effectLst/>
                      <a:latin typeface="Calibri" pitchFamily="34" charset="0"/>
                      <a:ea typeface="宋体" pitchFamily="2" charset="-122"/>
                      <a:cs typeface="宋体" pitchFamily="2" charset="-122"/>
                    </a:rPr>
                    <a:t>第</a:t>
                  </a:r>
                  <a:r>
                    <a:rPr kumimoji="0" lang="en-US" altLang="zh-CN" sz="900" b="0" i="0" u="none" strike="noStrike" cap="none" normalizeH="0" baseline="0">
                      <a:ln>
                        <a:noFill/>
                      </a:ln>
                      <a:solidFill>
                        <a:schemeClr val="tx1"/>
                      </a:solidFill>
                      <a:effectLst/>
                      <a:latin typeface="Calibri" pitchFamily="34" charset="0"/>
                      <a:ea typeface="宋体" pitchFamily="2" charset="-122"/>
                      <a:cs typeface="宋体" pitchFamily="2" charset="-122"/>
                    </a:rPr>
                    <a:t>2</a:t>
                  </a:r>
                  <a:r>
                    <a:rPr kumimoji="0" lang="zh-CN" altLang="en-US" sz="900" b="0" i="0" u="none" strike="noStrike" cap="none" normalizeH="0" baseline="0">
                      <a:ln>
                        <a:noFill/>
                      </a:ln>
                      <a:solidFill>
                        <a:schemeClr val="tx1"/>
                      </a:solidFill>
                      <a:effectLst/>
                      <a:latin typeface="Calibri" pitchFamily="34" charset="0"/>
                      <a:ea typeface="宋体" pitchFamily="2" charset="-122"/>
                      <a:cs typeface="宋体" pitchFamily="2" charset="-122"/>
                    </a:rPr>
                    <a:t>趟</a:t>
                  </a:r>
                  <a:endParaRPr kumimoji="0" 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grpSp>
          <p:grpSp>
            <p:nvGrpSpPr>
              <p:cNvPr id="1773" name="Group 589"/>
              <p:cNvGrpSpPr>
                <a:grpSpLocks/>
              </p:cNvGrpSpPr>
              <p:nvPr/>
            </p:nvGrpSpPr>
            <p:grpSpPr bwMode="auto">
              <a:xfrm>
                <a:off x="2589" y="4062"/>
                <a:ext cx="6951" cy="944"/>
                <a:chOff x="2589" y="4014"/>
                <a:chExt cx="6951" cy="944"/>
              </a:xfrm>
            </p:grpSpPr>
            <p:sp>
              <p:nvSpPr>
                <p:cNvPr id="1774" name="Rectangle 590"/>
                <p:cNvSpPr>
                  <a:spLocks noChangeArrowheads="1"/>
                </p:cNvSpPr>
                <p:nvPr/>
              </p:nvSpPr>
              <p:spPr bwMode="auto">
                <a:xfrm>
                  <a:off x="3510" y="4040"/>
                  <a:ext cx="3000" cy="312"/>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err="1">
                      <a:ln>
                        <a:noFill/>
                      </a:ln>
                      <a:solidFill>
                        <a:schemeClr val="tx1"/>
                      </a:solidFill>
                      <a:effectLst/>
                      <a:latin typeface="宋体" pitchFamily="2" charset="-122"/>
                      <a:ea typeface="宋体" pitchFamily="2" charset="-122"/>
                      <a:cs typeface="宋体" pitchFamily="2" charset="-122"/>
                    </a:rPr>
                    <a:t>ob</a:t>
                  </a:r>
                  <a:r>
                    <a:rPr kumimoji="0" lang="en-US" altLang="zh-CN" sz="1400" b="0" i="0" u="none" strike="noStrike" cap="none" normalizeH="0" baseline="0" dirty="0">
                      <a:ln>
                        <a:noFill/>
                      </a:ln>
                      <a:solidFill>
                        <a:schemeClr val="tx1"/>
                      </a:solidFill>
                      <a:effectLst/>
                      <a:latin typeface="宋体" pitchFamily="2" charset="-122"/>
                      <a:ea typeface="宋体" pitchFamily="2" charset="-122"/>
                      <a:cs typeface="宋体" pitchFamily="2" charset="-122"/>
                    </a:rPr>
                    <a:t>   a  b  a  c  a  b  a  b</a:t>
                  </a:r>
                  <a:endParaRPr kumimoji="0" lang="zh-CN" altLang="zh-CN" sz="14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1775" name="Rectangle 591"/>
                <p:cNvSpPr>
                  <a:spLocks noChangeArrowheads="1"/>
                </p:cNvSpPr>
                <p:nvPr/>
              </p:nvSpPr>
              <p:spPr bwMode="auto">
                <a:xfrm>
                  <a:off x="3510" y="4590"/>
                  <a:ext cx="2759" cy="368"/>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chemeClr val="tx1"/>
                      </a:solidFill>
                      <a:effectLst/>
                      <a:latin typeface="宋体" pitchFamily="2" charset="-122"/>
                      <a:ea typeface="宋体" pitchFamily="2" charset="-122"/>
                      <a:cs typeface="宋体" pitchFamily="2" charset="-122"/>
                    </a:rPr>
                    <a:t>pat        a  b  a  b</a:t>
                  </a:r>
                  <a:endParaRPr kumimoji="0" lang="zh-CN" altLang="zh-CN" sz="14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1776" name="Rectangle 592"/>
                <p:cNvSpPr>
                  <a:spLocks noChangeArrowheads="1"/>
                </p:cNvSpPr>
                <p:nvPr/>
              </p:nvSpPr>
              <p:spPr bwMode="auto">
                <a:xfrm>
                  <a:off x="4491" y="4340"/>
                  <a:ext cx="239" cy="312"/>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chemeClr val="tx1"/>
                      </a:solidFill>
                      <a:effectLst/>
                      <a:latin typeface="Times New Roman" pitchFamily="18" charset="0"/>
                      <a:ea typeface="宋体" pitchFamily="2" charset="-122"/>
                      <a:cs typeface="宋体" pitchFamily="2" charset="-122"/>
                    </a:rPr>
                    <a:t>‖</a:t>
                  </a:r>
                  <a:endParaRPr kumimoji="0" lang="zh-CN" altLang="zh-CN" sz="14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1777" name="Rectangle 593"/>
                <p:cNvSpPr>
                  <a:spLocks noChangeArrowheads="1"/>
                </p:cNvSpPr>
                <p:nvPr/>
              </p:nvSpPr>
              <p:spPr bwMode="auto">
                <a:xfrm>
                  <a:off x="4771" y="4325"/>
                  <a:ext cx="239" cy="313"/>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宋体" pitchFamily="2" charset="-122"/>
                    </a:rPr>
                    <a:t>≠</a:t>
                  </a:r>
                  <a:endParaRPr kumimoji="0" lang="zh-CN" altLang="zh-CN" sz="14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778" name="Rectangle 594"/>
                <p:cNvSpPr>
                  <a:spLocks noChangeArrowheads="1"/>
                </p:cNvSpPr>
                <p:nvPr/>
              </p:nvSpPr>
              <p:spPr bwMode="auto">
                <a:xfrm>
                  <a:off x="6900" y="4014"/>
                  <a:ext cx="1320" cy="312"/>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宋体" pitchFamily="2" charset="-122"/>
                      <a:ea typeface="宋体" pitchFamily="2" charset="-122"/>
                      <a:cs typeface="宋体" pitchFamily="2" charset="-122"/>
                    </a:rPr>
                    <a:t>i=3</a:t>
                  </a:r>
                  <a:endParaRPr kumimoji="0" lang="zh-CN" altLang="zh-CN" sz="14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779" name="Rectangle 595"/>
                <p:cNvSpPr>
                  <a:spLocks noChangeArrowheads="1"/>
                </p:cNvSpPr>
                <p:nvPr/>
              </p:nvSpPr>
              <p:spPr bwMode="auto">
                <a:xfrm>
                  <a:off x="6900" y="4534"/>
                  <a:ext cx="1320" cy="312"/>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宋体" pitchFamily="2" charset="-122"/>
                      <a:ea typeface="宋体" pitchFamily="2" charset="-122"/>
                      <a:cs typeface="宋体" pitchFamily="2" charset="-122"/>
                    </a:rPr>
                    <a:t>j=1</a:t>
                  </a:r>
                  <a:endParaRPr kumimoji="0" lang="zh-CN" altLang="zh-CN" sz="14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780" name="Rectangle 596"/>
                <p:cNvSpPr>
                  <a:spLocks noChangeArrowheads="1"/>
                </p:cNvSpPr>
                <p:nvPr/>
              </p:nvSpPr>
              <p:spPr bwMode="auto">
                <a:xfrm>
                  <a:off x="8460" y="4222"/>
                  <a:ext cx="1080" cy="312"/>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0" i="0" u="none" strike="noStrike" cap="none" normalizeH="0" baseline="0">
                      <a:ln>
                        <a:noFill/>
                      </a:ln>
                      <a:solidFill>
                        <a:schemeClr val="tx1"/>
                      </a:solidFill>
                      <a:effectLst/>
                      <a:latin typeface="Calibri" pitchFamily="34" charset="0"/>
                      <a:ea typeface="宋体" pitchFamily="2" charset="-122"/>
                      <a:cs typeface="宋体" pitchFamily="2" charset="-122"/>
                    </a:rPr>
                    <a:t>匹配失败</a:t>
                  </a:r>
                  <a:endParaRPr kumimoji="0" lang="zh-CN" sz="14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781" name="Text Box 597"/>
                <p:cNvSpPr txBox="1">
                  <a:spLocks noChangeArrowheads="1"/>
                </p:cNvSpPr>
                <p:nvPr/>
              </p:nvSpPr>
              <p:spPr bwMode="auto">
                <a:xfrm>
                  <a:off x="2589" y="4195"/>
                  <a:ext cx="899" cy="46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en-US" sz="900" b="0" i="0" u="none" strike="noStrike" cap="none" normalizeH="0" baseline="0">
                      <a:ln>
                        <a:noFill/>
                      </a:ln>
                      <a:solidFill>
                        <a:schemeClr val="tx1"/>
                      </a:solidFill>
                      <a:effectLst/>
                      <a:latin typeface="Calibri" pitchFamily="34" charset="0"/>
                      <a:ea typeface="宋体" pitchFamily="2" charset="-122"/>
                      <a:cs typeface="宋体" pitchFamily="2" charset="-122"/>
                    </a:rPr>
                    <a:t>第</a:t>
                  </a:r>
                  <a:r>
                    <a:rPr kumimoji="0" lang="en-US" altLang="zh-CN" sz="900" b="0" i="0" u="none" strike="noStrike" cap="none" normalizeH="0" baseline="0">
                      <a:ln>
                        <a:noFill/>
                      </a:ln>
                      <a:solidFill>
                        <a:schemeClr val="tx1"/>
                      </a:solidFill>
                      <a:effectLst/>
                      <a:latin typeface="Calibri" pitchFamily="34" charset="0"/>
                      <a:ea typeface="宋体" pitchFamily="2" charset="-122"/>
                      <a:cs typeface="宋体" pitchFamily="2" charset="-122"/>
                    </a:rPr>
                    <a:t>3</a:t>
                  </a:r>
                  <a:r>
                    <a:rPr kumimoji="0" lang="zh-CN" altLang="en-US" sz="900" b="0" i="0" u="none" strike="noStrike" cap="none" normalizeH="0" baseline="0">
                      <a:ln>
                        <a:noFill/>
                      </a:ln>
                      <a:solidFill>
                        <a:schemeClr val="tx1"/>
                      </a:solidFill>
                      <a:effectLst/>
                      <a:latin typeface="Calibri" pitchFamily="34" charset="0"/>
                      <a:ea typeface="宋体" pitchFamily="2" charset="-122"/>
                      <a:cs typeface="宋体" pitchFamily="2" charset="-122"/>
                    </a:rPr>
                    <a:t>趟</a:t>
                  </a:r>
                  <a:endParaRPr kumimoji="0" 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grpSp>
          <p:grpSp>
            <p:nvGrpSpPr>
              <p:cNvPr id="1782" name="Group 598"/>
              <p:cNvGrpSpPr>
                <a:grpSpLocks/>
              </p:cNvGrpSpPr>
              <p:nvPr/>
            </p:nvGrpSpPr>
            <p:grpSpPr bwMode="auto">
              <a:xfrm>
                <a:off x="2589" y="5166"/>
                <a:ext cx="6951" cy="944"/>
                <a:chOff x="2589" y="5106"/>
                <a:chExt cx="6951" cy="944"/>
              </a:xfrm>
            </p:grpSpPr>
            <p:sp>
              <p:nvSpPr>
                <p:cNvPr id="1783" name="Rectangle 599"/>
                <p:cNvSpPr>
                  <a:spLocks noChangeArrowheads="1"/>
                </p:cNvSpPr>
                <p:nvPr/>
              </p:nvSpPr>
              <p:spPr bwMode="auto">
                <a:xfrm>
                  <a:off x="3555" y="5156"/>
                  <a:ext cx="3000" cy="312"/>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err="1">
                      <a:ln>
                        <a:noFill/>
                      </a:ln>
                      <a:solidFill>
                        <a:schemeClr val="tx1"/>
                      </a:solidFill>
                      <a:effectLst/>
                      <a:latin typeface="宋体" pitchFamily="2" charset="-122"/>
                      <a:ea typeface="宋体" pitchFamily="2" charset="-122"/>
                      <a:cs typeface="宋体" pitchFamily="2" charset="-122"/>
                    </a:rPr>
                    <a:t>ob</a:t>
                  </a:r>
                  <a:r>
                    <a:rPr kumimoji="0" lang="en-US" altLang="zh-CN" sz="1400" b="0" i="0" u="none" strike="noStrike" cap="none" normalizeH="0" baseline="0" dirty="0">
                      <a:ln>
                        <a:noFill/>
                      </a:ln>
                      <a:solidFill>
                        <a:schemeClr val="tx1"/>
                      </a:solidFill>
                      <a:effectLst/>
                      <a:latin typeface="宋体" pitchFamily="2" charset="-122"/>
                      <a:ea typeface="宋体" pitchFamily="2" charset="-122"/>
                      <a:cs typeface="宋体" pitchFamily="2" charset="-122"/>
                    </a:rPr>
                    <a:t>   a  b  a  c  a  b  a  b</a:t>
                  </a:r>
                  <a:endParaRPr kumimoji="0" lang="zh-CN" altLang="zh-CN" sz="14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1784" name="Rectangle 600"/>
                <p:cNvSpPr>
                  <a:spLocks noChangeArrowheads="1"/>
                </p:cNvSpPr>
                <p:nvPr/>
              </p:nvSpPr>
              <p:spPr bwMode="auto">
                <a:xfrm>
                  <a:off x="3541" y="5682"/>
                  <a:ext cx="2759" cy="368"/>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chemeClr val="tx1"/>
                      </a:solidFill>
                      <a:effectLst/>
                      <a:latin typeface="宋体" pitchFamily="2" charset="-122"/>
                      <a:ea typeface="宋体" pitchFamily="2" charset="-122"/>
                      <a:cs typeface="宋体" pitchFamily="2" charset="-122"/>
                    </a:rPr>
                    <a:t>pat           a  b  a  b</a:t>
                  </a:r>
                  <a:endParaRPr kumimoji="0" lang="zh-CN" altLang="zh-CN" sz="14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1785" name="Rectangle 601"/>
                <p:cNvSpPr>
                  <a:spLocks noChangeArrowheads="1"/>
                </p:cNvSpPr>
                <p:nvPr/>
              </p:nvSpPr>
              <p:spPr bwMode="auto">
                <a:xfrm>
                  <a:off x="4771" y="5417"/>
                  <a:ext cx="239" cy="313"/>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宋体" pitchFamily="2" charset="-122"/>
                    </a:rPr>
                    <a:t>≠</a:t>
                  </a:r>
                  <a:endParaRPr kumimoji="0" lang="zh-CN" altLang="zh-CN" sz="14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786" name="Rectangle 602"/>
                <p:cNvSpPr>
                  <a:spLocks noChangeArrowheads="1"/>
                </p:cNvSpPr>
                <p:nvPr/>
              </p:nvSpPr>
              <p:spPr bwMode="auto">
                <a:xfrm>
                  <a:off x="6900" y="5106"/>
                  <a:ext cx="1320" cy="312"/>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宋体" pitchFamily="2" charset="-122"/>
                      <a:ea typeface="宋体" pitchFamily="2" charset="-122"/>
                      <a:cs typeface="宋体" pitchFamily="2" charset="-122"/>
                    </a:rPr>
                    <a:t>i=3</a:t>
                  </a:r>
                  <a:endParaRPr kumimoji="0" lang="zh-CN" altLang="zh-CN" sz="14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787" name="Rectangle 603"/>
                <p:cNvSpPr>
                  <a:spLocks noChangeArrowheads="1"/>
                </p:cNvSpPr>
                <p:nvPr/>
              </p:nvSpPr>
              <p:spPr bwMode="auto">
                <a:xfrm>
                  <a:off x="6900" y="5626"/>
                  <a:ext cx="1320" cy="312"/>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宋体" pitchFamily="2" charset="-122"/>
                      <a:ea typeface="宋体" pitchFamily="2" charset="-122"/>
                      <a:cs typeface="宋体" pitchFamily="2" charset="-122"/>
                    </a:rPr>
                    <a:t>j=0</a:t>
                  </a:r>
                  <a:endParaRPr kumimoji="0" lang="zh-CN" altLang="zh-CN" sz="14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788" name="Rectangle 604"/>
                <p:cNvSpPr>
                  <a:spLocks noChangeArrowheads="1"/>
                </p:cNvSpPr>
                <p:nvPr/>
              </p:nvSpPr>
              <p:spPr bwMode="auto">
                <a:xfrm>
                  <a:off x="8460" y="5314"/>
                  <a:ext cx="1080" cy="312"/>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0" i="0" u="none" strike="noStrike" cap="none" normalizeH="0" baseline="0">
                      <a:ln>
                        <a:noFill/>
                      </a:ln>
                      <a:solidFill>
                        <a:schemeClr val="tx1"/>
                      </a:solidFill>
                      <a:effectLst/>
                      <a:latin typeface="Calibri" pitchFamily="34" charset="0"/>
                      <a:ea typeface="宋体" pitchFamily="2" charset="-122"/>
                      <a:cs typeface="宋体" pitchFamily="2" charset="-122"/>
                    </a:rPr>
                    <a:t>匹配失败</a:t>
                  </a:r>
                  <a:endParaRPr kumimoji="0" lang="zh-CN" sz="14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789" name="Text Box 605"/>
                <p:cNvSpPr txBox="1">
                  <a:spLocks noChangeArrowheads="1"/>
                </p:cNvSpPr>
                <p:nvPr/>
              </p:nvSpPr>
              <p:spPr bwMode="auto">
                <a:xfrm>
                  <a:off x="2589" y="5287"/>
                  <a:ext cx="899" cy="46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en-US" sz="900" b="0" i="0" u="none" strike="noStrike" cap="none" normalizeH="0" baseline="0">
                      <a:ln>
                        <a:noFill/>
                      </a:ln>
                      <a:solidFill>
                        <a:schemeClr val="tx1"/>
                      </a:solidFill>
                      <a:effectLst/>
                      <a:latin typeface="Calibri" pitchFamily="34" charset="0"/>
                      <a:ea typeface="宋体" pitchFamily="2" charset="-122"/>
                      <a:cs typeface="宋体" pitchFamily="2" charset="-122"/>
                    </a:rPr>
                    <a:t>第</a:t>
                  </a:r>
                  <a:r>
                    <a:rPr kumimoji="0" lang="en-US" altLang="zh-CN" sz="900" b="0" i="0" u="none" strike="noStrike" cap="none" normalizeH="0" baseline="0">
                      <a:ln>
                        <a:noFill/>
                      </a:ln>
                      <a:solidFill>
                        <a:schemeClr val="tx1"/>
                      </a:solidFill>
                      <a:effectLst/>
                      <a:latin typeface="Calibri" pitchFamily="34" charset="0"/>
                      <a:ea typeface="宋体" pitchFamily="2" charset="-122"/>
                      <a:cs typeface="宋体" pitchFamily="2" charset="-122"/>
                    </a:rPr>
                    <a:t>4</a:t>
                  </a:r>
                  <a:r>
                    <a:rPr kumimoji="0" lang="zh-CN" altLang="en-US" sz="900" b="0" i="0" u="none" strike="noStrike" cap="none" normalizeH="0" baseline="0">
                      <a:ln>
                        <a:noFill/>
                      </a:ln>
                      <a:solidFill>
                        <a:schemeClr val="tx1"/>
                      </a:solidFill>
                      <a:effectLst/>
                      <a:latin typeface="Calibri" pitchFamily="34" charset="0"/>
                      <a:ea typeface="宋体" pitchFamily="2" charset="-122"/>
                      <a:cs typeface="宋体" pitchFamily="2" charset="-122"/>
                    </a:rPr>
                    <a:t>趟</a:t>
                  </a:r>
                  <a:endParaRPr kumimoji="0" 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grpSp>
          <p:grpSp>
            <p:nvGrpSpPr>
              <p:cNvPr id="1790" name="Group 606"/>
              <p:cNvGrpSpPr>
                <a:grpSpLocks/>
              </p:cNvGrpSpPr>
              <p:nvPr/>
            </p:nvGrpSpPr>
            <p:grpSpPr bwMode="auto">
              <a:xfrm>
                <a:off x="2589" y="6354"/>
                <a:ext cx="6951" cy="944"/>
                <a:chOff x="2589" y="6354"/>
                <a:chExt cx="6951" cy="944"/>
              </a:xfrm>
            </p:grpSpPr>
            <p:sp>
              <p:nvSpPr>
                <p:cNvPr id="1791" name="Rectangle 607"/>
                <p:cNvSpPr>
                  <a:spLocks noChangeArrowheads="1"/>
                </p:cNvSpPr>
                <p:nvPr/>
              </p:nvSpPr>
              <p:spPr bwMode="auto">
                <a:xfrm>
                  <a:off x="3555" y="6380"/>
                  <a:ext cx="3000" cy="312"/>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err="1">
                      <a:ln>
                        <a:noFill/>
                      </a:ln>
                      <a:solidFill>
                        <a:schemeClr val="tx1"/>
                      </a:solidFill>
                      <a:effectLst/>
                      <a:latin typeface="宋体" pitchFamily="2" charset="-122"/>
                      <a:ea typeface="宋体" pitchFamily="2" charset="-122"/>
                      <a:cs typeface="宋体" pitchFamily="2" charset="-122"/>
                    </a:rPr>
                    <a:t>ob</a:t>
                  </a:r>
                  <a:r>
                    <a:rPr kumimoji="0" lang="en-US" altLang="zh-CN" sz="1400" b="0" i="0" u="none" strike="noStrike" cap="none" normalizeH="0" baseline="0" dirty="0">
                      <a:ln>
                        <a:noFill/>
                      </a:ln>
                      <a:solidFill>
                        <a:schemeClr val="tx1"/>
                      </a:solidFill>
                      <a:effectLst/>
                      <a:latin typeface="宋体" pitchFamily="2" charset="-122"/>
                      <a:ea typeface="宋体" pitchFamily="2" charset="-122"/>
                      <a:cs typeface="宋体" pitchFamily="2" charset="-122"/>
                    </a:rPr>
                    <a:t>   a  b  a  c  a  b  a  b</a:t>
                  </a:r>
                  <a:endParaRPr kumimoji="0" lang="zh-CN" altLang="zh-CN" sz="14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1792" name="Rectangle 608"/>
                <p:cNvSpPr>
                  <a:spLocks noChangeArrowheads="1"/>
                </p:cNvSpPr>
                <p:nvPr/>
              </p:nvSpPr>
              <p:spPr bwMode="auto">
                <a:xfrm>
                  <a:off x="3541" y="6930"/>
                  <a:ext cx="2939" cy="368"/>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chemeClr val="tx1"/>
                      </a:solidFill>
                      <a:effectLst/>
                      <a:latin typeface="宋体" pitchFamily="2" charset="-122"/>
                      <a:ea typeface="宋体" pitchFamily="2" charset="-122"/>
                      <a:cs typeface="宋体" pitchFamily="2" charset="-122"/>
                    </a:rPr>
                    <a:t>pat              a  b  a  b</a:t>
                  </a:r>
                  <a:endParaRPr kumimoji="0" lang="zh-CN" altLang="zh-CN" sz="14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1793" name="Rectangle 609"/>
                <p:cNvSpPr>
                  <a:spLocks noChangeArrowheads="1"/>
                </p:cNvSpPr>
                <p:nvPr/>
              </p:nvSpPr>
              <p:spPr bwMode="auto">
                <a:xfrm>
                  <a:off x="5016" y="6674"/>
                  <a:ext cx="240" cy="311"/>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chemeClr val="tx1"/>
                      </a:solidFill>
                      <a:effectLst/>
                      <a:latin typeface="Times New Roman" pitchFamily="18" charset="0"/>
                      <a:ea typeface="宋体" pitchFamily="2" charset="-122"/>
                      <a:cs typeface="宋体" pitchFamily="2" charset="-122"/>
                    </a:rPr>
                    <a:t>‖</a:t>
                  </a:r>
                  <a:endParaRPr kumimoji="0" lang="zh-CN" altLang="zh-CN" sz="14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1794" name="Rectangle 610"/>
                <p:cNvSpPr>
                  <a:spLocks noChangeArrowheads="1"/>
                </p:cNvSpPr>
                <p:nvPr/>
              </p:nvSpPr>
              <p:spPr bwMode="auto">
                <a:xfrm>
                  <a:off x="5281" y="6666"/>
                  <a:ext cx="239" cy="312"/>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宋体" pitchFamily="2" charset="-122"/>
                    </a:rPr>
                    <a:t>‖</a:t>
                  </a:r>
                  <a:endParaRPr kumimoji="0" lang="zh-CN" altLang="zh-CN" sz="14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795" name="Rectangle 611"/>
                <p:cNvSpPr>
                  <a:spLocks noChangeArrowheads="1"/>
                </p:cNvSpPr>
                <p:nvPr/>
              </p:nvSpPr>
              <p:spPr bwMode="auto">
                <a:xfrm>
                  <a:off x="5544" y="6680"/>
                  <a:ext cx="239" cy="312"/>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chemeClr val="tx1"/>
                      </a:solidFill>
                      <a:effectLst/>
                      <a:latin typeface="Times New Roman" pitchFamily="18" charset="0"/>
                      <a:ea typeface="宋体" pitchFamily="2" charset="-122"/>
                      <a:cs typeface="宋体" pitchFamily="2" charset="-122"/>
                    </a:rPr>
                    <a:t>‖</a:t>
                  </a:r>
                  <a:endParaRPr kumimoji="0" lang="zh-CN" altLang="zh-CN" sz="14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1796" name="Rectangle 612"/>
                <p:cNvSpPr>
                  <a:spLocks noChangeArrowheads="1"/>
                </p:cNvSpPr>
                <p:nvPr/>
              </p:nvSpPr>
              <p:spPr bwMode="auto">
                <a:xfrm>
                  <a:off x="6900" y="6354"/>
                  <a:ext cx="1320" cy="312"/>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宋体" pitchFamily="2" charset="-122"/>
                      <a:ea typeface="宋体" pitchFamily="2" charset="-122"/>
                      <a:cs typeface="宋体" pitchFamily="2" charset="-122"/>
                    </a:rPr>
                    <a:t>i=7</a:t>
                  </a:r>
                  <a:endParaRPr kumimoji="0" lang="zh-CN" altLang="zh-CN" sz="14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797" name="Rectangle 613"/>
                <p:cNvSpPr>
                  <a:spLocks noChangeArrowheads="1"/>
                </p:cNvSpPr>
                <p:nvPr/>
              </p:nvSpPr>
              <p:spPr bwMode="auto">
                <a:xfrm>
                  <a:off x="6900" y="6874"/>
                  <a:ext cx="1320" cy="312"/>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宋体" pitchFamily="2" charset="-122"/>
                      <a:ea typeface="宋体" pitchFamily="2" charset="-122"/>
                      <a:cs typeface="宋体" pitchFamily="2" charset="-122"/>
                    </a:rPr>
                    <a:t>j=3</a:t>
                  </a:r>
                  <a:endParaRPr kumimoji="0" lang="zh-CN" altLang="zh-CN" sz="14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798" name="Rectangle 614"/>
                <p:cNvSpPr>
                  <a:spLocks noChangeArrowheads="1"/>
                </p:cNvSpPr>
                <p:nvPr/>
              </p:nvSpPr>
              <p:spPr bwMode="auto">
                <a:xfrm>
                  <a:off x="8460" y="6562"/>
                  <a:ext cx="1080" cy="312"/>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0" i="0" u="none" strike="noStrike" cap="none" normalizeH="0" baseline="0">
                      <a:ln>
                        <a:noFill/>
                      </a:ln>
                      <a:solidFill>
                        <a:schemeClr val="tx1"/>
                      </a:solidFill>
                      <a:effectLst/>
                      <a:latin typeface="Calibri" pitchFamily="34" charset="0"/>
                      <a:ea typeface="宋体" pitchFamily="2" charset="-122"/>
                      <a:cs typeface="宋体" pitchFamily="2" charset="-122"/>
                    </a:rPr>
                    <a:t>匹配成功</a:t>
                  </a:r>
                  <a:endParaRPr kumimoji="0" lang="zh-CN" sz="14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799" name="Text Box 615"/>
                <p:cNvSpPr txBox="1">
                  <a:spLocks noChangeArrowheads="1"/>
                </p:cNvSpPr>
                <p:nvPr/>
              </p:nvSpPr>
              <p:spPr bwMode="auto">
                <a:xfrm>
                  <a:off x="2589" y="6535"/>
                  <a:ext cx="899" cy="46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en-US" sz="900" b="0" i="0" u="none" strike="noStrike" cap="none" normalizeH="0" baseline="0">
                      <a:ln>
                        <a:noFill/>
                      </a:ln>
                      <a:solidFill>
                        <a:schemeClr val="tx1"/>
                      </a:solidFill>
                      <a:effectLst/>
                      <a:latin typeface="Calibri" pitchFamily="34" charset="0"/>
                      <a:ea typeface="宋体" pitchFamily="2" charset="-122"/>
                      <a:cs typeface="宋体" pitchFamily="2" charset="-122"/>
                    </a:rPr>
                    <a:t>第</a:t>
                  </a:r>
                  <a:r>
                    <a:rPr kumimoji="0" lang="en-US" altLang="zh-CN" sz="900" b="0" i="0" u="none" strike="noStrike" cap="none" normalizeH="0" baseline="0">
                      <a:ln>
                        <a:noFill/>
                      </a:ln>
                      <a:solidFill>
                        <a:schemeClr val="tx1"/>
                      </a:solidFill>
                      <a:effectLst/>
                      <a:latin typeface="Calibri" pitchFamily="34" charset="0"/>
                      <a:ea typeface="宋体" pitchFamily="2" charset="-122"/>
                      <a:cs typeface="宋体" pitchFamily="2" charset="-122"/>
                    </a:rPr>
                    <a:t>5</a:t>
                  </a:r>
                  <a:r>
                    <a:rPr kumimoji="0" lang="zh-CN" altLang="en-US" sz="900" b="0" i="0" u="none" strike="noStrike" cap="none" normalizeH="0" baseline="0">
                      <a:ln>
                        <a:noFill/>
                      </a:ln>
                      <a:solidFill>
                        <a:schemeClr val="tx1"/>
                      </a:solidFill>
                      <a:effectLst/>
                      <a:latin typeface="Calibri" pitchFamily="34" charset="0"/>
                      <a:ea typeface="宋体" pitchFamily="2" charset="-122"/>
                      <a:cs typeface="宋体" pitchFamily="2" charset="-122"/>
                    </a:rPr>
                    <a:t>趟</a:t>
                  </a:r>
                  <a:endParaRPr kumimoji="0" 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800" name="Rectangle 616"/>
                <p:cNvSpPr>
                  <a:spLocks noChangeArrowheads="1"/>
                </p:cNvSpPr>
                <p:nvPr/>
              </p:nvSpPr>
              <p:spPr bwMode="auto">
                <a:xfrm>
                  <a:off x="5813" y="6690"/>
                  <a:ext cx="239" cy="312"/>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chemeClr val="tx1"/>
                      </a:solidFill>
                      <a:effectLst/>
                      <a:latin typeface="Times New Roman" pitchFamily="18" charset="0"/>
                      <a:ea typeface="宋体" pitchFamily="2" charset="-122"/>
                      <a:cs typeface="宋体" pitchFamily="2" charset="-122"/>
                    </a:rPr>
                    <a:t>‖</a:t>
                  </a:r>
                  <a:endParaRPr kumimoji="0" lang="zh-CN" altLang="zh-CN" sz="14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grpSp>
        </p:grpSp>
        <p:sp>
          <p:nvSpPr>
            <p:cNvPr id="1801" name="Text Box 617"/>
            <p:cNvSpPr txBox="1">
              <a:spLocks noChangeArrowheads="1"/>
            </p:cNvSpPr>
            <p:nvPr/>
          </p:nvSpPr>
          <p:spPr bwMode="auto">
            <a:xfrm>
              <a:off x="3960" y="7134"/>
              <a:ext cx="4320" cy="46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tx1"/>
                  </a:solidFill>
                  <a:effectLst/>
                  <a:latin typeface="宋体" pitchFamily="2" charset="-122"/>
                  <a:ea typeface="宋体" pitchFamily="2" charset="-122"/>
                  <a:cs typeface="宋体" pitchFamily="2" charset="-122"/>
                </a:rPr>
                <a:t>图</a:t>
              </a:r>
              <a:r>
                <a:rPr kumimoji="0" lang="en-US" altLang="zh-CN" sz="1400" b="0" i="0" u="none" strike="noStrike" cap="none" normalizeH="0" baseline="0" dirty="0">
                  <a:ln>
                    <a:noFill/>
                  </a:ln>
                  <a:solidFill>
                    <a:schemeClr val="tx1"/>
                  </a:solidFill>
                  <a:effectLst/>
                  <a:latin typeface="宋体" pitchFamily="2" charset="-122"/>
                  <a:ea typeface="宋体" pitchFamily="2" charset="-122"/>
                  <a:cs typeface="宋体" pitchFamily="2" charset="-122"/>
                </a:rPr>
                <a:t>3-16  Brute-Force</a:t>
              </a:r>
              <a:r>
                <a:rPr kumimoji="0" lang="zh-CN" altLang="en-US" sz="1400" b="0" i="0" u="none" strike="noStrike" cap="none" normalizeH="0" baseline="0" dirty="0">
                  <a:ln>
                    <a:noFill/>
                  </a:ln>
                  <a:solidFill>
                    <a:schemeClr val="tx1"/>
                  </a:solidFill>
                  <a:effectLst/>
                  <a:latin typeface="宋体" pitchFamily="2" charset="-122"/>
                  <a:ea typeface="宋体" pitchFamily="2" charset="-122"/>
                  <a:cs typeface="宋体" pitchFamily="2" charset="-122"/>
                </a:rPr>
                <a:t>算法的字符串模式匹配过程</a:t>
              </a:r>
              <a:endParaRPr kumimoji="0" lang="zh-CN" sz="14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grpSp>
    </p:spTree>
    <p:extLst>
      <p:ext uri="{BB962C8B-B14F-4D97-AF65-F5344CB8AC3E}">
        <p14:creationId xmlns:p14="http://schemas.microsoft.com/office/powerpoint/2010/main" val="173861887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836712"/>
            <a:ext cx="7520940" cy="5472608"/>
          </a:xfrm>
        </p:spPr>
        <p:txBody>
          <a:bodyPr>
            <a:normAutofit fontScale="92500" lnSpcReduction="10000"/>
          </a:bodyPr>
          <a:lstStyle/>
          <a:p>
            <a:pPr algn="just"/>
            <a:r>
              <a:rPr lang="zh-CN" altLang="zh-CN" dirty="0"/>
              <a:t>算法</a:t>
            </a:r>
            <a:r>
              <a:rPr lang="en-US" altLang="zh-CN" dirty="0"/>
              <a:t>3.32</a:t>
            </a:r>
            <a:r>
              <a:rPr lang="zh-CN" altLang="zh-CN" dirty="0"/>
              <a:t>：</a:t>
            </a:r>
            <a:r>
              <a:rPr lang="en-US" altLang="zh-CN" dirty="0"/>
              <a:t>Brute-Force</a:t>
            </a:r>
            <a:r>
              <a:rPr lang="zh-CN" altLang="zh-CN" dirty="0"/>
              <a:t>算法</a:t>
            </a:r>
          </a:p>
          <a:p>
            <a:pPr algn="just"/>
            <a:r>
              <a:rPr lang="en-US" altLang="zh-CN" b="0" dirty="0" err="1"/>
              <a:t>int</a:t>
            </a:r>
            <a:r>
              <a:rPr lang="en-US" altLang="zh-CN" b="0" dirty="0"/>
              <a:t> String::find(</a:t>
            </a:r>
            <a:r>
              <a:rPr lang="en-US" altLang="zh-CN" b="0" dirty="0" err="1"/>
              <a:t>const</a:t>
            </a:r>
            <a:r>
              <a:rPr lang="en-US" altLang="zh-CN" b="0" dirty="0"/>
              <a:t> String &amp;pat)</a:t>
            </a:r>
            <a:r>
              <a:rPr lang="en-US" altLang="zh-CN" b="0" dirty="0" err="1"/>
              <a:t>const</a:t>
            </a:r>
            <a:r>
              <a:rPr lang="en-US" altLang="zh-CN" b="0" dirty="0"/>
              <a:t>{</a:t>
            </a:r>
            <a:endParaRPr lang="zh-CN" altLang="zh-CN" b="0" dirty="0"/>
          </a:p>
          <a:p>
            <a:pPr algn="just"/>
            <a:r>
              <a:rPr lang="en-US" altLang="zh-CN" b="0" dirty="0" err="1"/>
              <a:t>int</a:t>
            </a:r>
            <a:r>
              <a:rPr lang="en-US" altLang="zh-CN" b="0" dirty="0"/>
              <a:t> </a:t>
            </a:r>
            <a:r>
              <a:rPr lang="en-US" altLang="zh-CN" b="0" dirty="0" err="1"/>
              <a:t>i</a:t>
            </a:r>
            <a:r>
              <a:rPr lang="en-US" altLang="zh-CN" b="0" dirty="0"/>
              <a:t> = 0, j = 0;</a:t>
            </a:r>
            <a:endParaRPr lang="zh-CN" altLang="zh-CN" b="0" dirty="0"/>
          </a:p>
          <a:p>
            <a:pPr algn="just"/>
            <a:r>
              <a:rPr lang="en-US" altLang="zh-CN" b="0" dirty="0"/>
              <a:t>	if ( size == 0 || pat.size == 0 ) 	return -1;</a:t>
            </a:r>
            <a:endParaRPr lang="zh-CN" altLang="zh-CN" b="0" dirty="0"/>
          </a:p>
          <a:p>
            <a:pPr algn="just"/>
            <a:r>
              <a:rPr lang="en-US" altLang="zh-CN" b="0" dirty="0"/>
              <a:t>	while ( </a:t>
            </a:r>
            <a:r>
              <a:rPr lang="en-US" altLang="zh-CN" b="0" dirty="0" err="1"/>
              <a:t>i</a:t>
            </a:r>
            <a:r>
              <a:rPr lang="en-US" altLang="zh-CN" b="0" dirty="0"/>
              <a:t> &lt;= size – 1 &amp;&amp; j &lt;= pat.size -1 ){</a:t>
            </a:r>
            <a:endParaRPr lang="zh-CN" altLang="zh-CN" b="0" dirty="0"/>
          </a:p>
          <a:p>
            <a:pPr algn="just"/>
            <a:r>
              <a:rPr lang="en-US" altLang="zh-CN" b="0" dirty="0"/>
              <a:t>		if ( ch[i] == pat.ch[j] ){ i++; j++; } </a:t>
            </a:r>
          </a:p>
          <a:p>
            <a:pPr algn="just"/>
            <a:r>
              <a:rPr lang="en-US" altLang="zh-CN" b="0" dirty="0"/>
              <a:t>		else {  i = i – j + 1; j = 0; }</a:t>
            </a:r>
            <a:endParaRPr lang="zh-CN" altLang="zh-CN" b="0" dirty="0"/>
          </a:p>
          <a:p>
            <a:pPr algn="just"/>
            <a:r>
              <a:rPr lang="en-US" altLang="zh-CN" b="0" dirty="0"/>
              <a:t>	}</a:t>
            </a:r>
            <a:endParaRPr lang="zh-CN" altLang="zh-CN" b="0" dirty="0"/>
          </a:p>
          <a:p>
            <a:pPr algn="just"/>
            <a:r>
              <a:rPr lang="en-US" altLang="zh-CN" b="0" dirty="0"/>
              <a:t>	if ( j == </a:t>
            </a:r>
            <a:r>
              <a:rPr lang="en-US" altLang="zh-CN" b="0" dirty="0" err="1"/>
              <a:t>pat.size</a:t>
            </a:r>
            <a:r>
              <a:rPr lang="en-US" altLang="zh-CN" b="0" dirty="0"/>
              <a:t>) return </a:t>
            </a:r>
            <a:r>
              <a:rPr lang="en-US" altLang="zh-CN" b="0" dirty="0" err="1"/>
              <a:t>i</a:t>
            </a:r>
            <a:r>
              <a:rPr lang="en-US" altLang="zh-CN" b="0" dirty="0"/>
              <a:t> – </a:t>
            </a:r>
            <a:r>
              <a:rPr lang="en-US" altLang="zh-CN" b="0" dirty="0" err="1"/>
              <a:t>pat.size</a:t>
            </a:r>
            <a:r>
              <a:rPr lang="en-US" altLang="zh-CN" b="0" dirty="0"/>
              <a:t>;</a:t>
            </a:r>
            <a:endParaRPr lang="zh-CN" altLang="zh-CN" b="0" dirty="0"/>
          </a:p>
          <a:p>
            <a:pPr algn="just"/>
            <a:r>
              <a:rPr lang="en-US" altLang="zh-CN" b="0" dirty="0"/>
              <a:t>	return -1;</a:t>
            </a:r>
            <a:endParaRPr lang="zh-CN" altLang="zh-CN" b="0" dirty="0"/>
          </a:p>
          <a:p>
            <a:pPr algn="just"/>
            <a:r>
              <a:rPr lang="en-US" altLang="zh-CN" b="0" dirty="0"/>
              <a:t>}</a:t>
            </a:r>
            <a:endParaRPr lang="zh-CN" altLang="zh-CN" b="0" dirty="0"/>
          </a:p>
        </p:txBody>
      </p:sp>
    </p:spTree>
    <p:extLst>
      <p:ext uri="{BB962C8B-B14F-4D97-AF65-F5344CB8AC3E}">
        <p14:creationId xmlns:p14="http://schemas.microsoft.com/office/powerpoint/2010/main" val="336654809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3568" y="1196752"/>
            <a:ext cx="8136904" cy="4824536"/>
          </a:xfrm>
        </p:spPr>
        <p:txBody>
          <a:bodyPr/>
          <a:lstStyle/>
          <a:p>
            <a:pPr algn="just">
              <a:buFont typeface="Arial" panose="020B0604020202020204" pitchFamily="34" charset="0"/>
              <a:buChar char="•"/>
            </a:pPr>
            <a:r>
              <a:rPr lang="en-US" altLang="zh-CN" b="0" dirty="0"/>
              <a:t>Brute-Force</a:t>
            </a:r>
            <a:r>
              <a:rPr lang="zh-CN" altLang="zh-CN" b="0" dirty="0"/>
              <a:t>算法是</a:t>
            </a:r>
            <a:r>
              <a:rPr lang="zh-CN" altLang="zh-CN" b="0" dirty="0">
                <a:solidFill>
                  <a:srgbClr val="FF0000"/>
                </a:solidFill>
              </a:rPr>
              <a:t>一种带回溯的算法</a:t>
            </a:r>
            <a:r>
              <a:rPr lang="zh-CN" altLang="zh-CN" b="0" dirty="0"/>
              <a:t>。</a:t>
            </a:r>
            <a:endParaRPr lang="en-US" altLang="zh-CN" b="0" dirty="0"/>
          </a:p>
          <a:p>
            <a:pPr algn="just">
              <a:buFont typeface="Arial" panose="020B0604020202020204" pitchFamily="34" charset="0"/>
              <a:buChar char="•"/>
            </a:pPr>
            <a:r>
              <a:rPr lang="zh-CN" altLang="zh-CN" b="0" dirty="0"/>
              <a:t>在最坏情况下，最多需要比较</a:t>
            </a:r>
            <a:r>
              <a:rPr lang="en-US" altLang="zh-CN" b="0" dirty="0"/>
              <a:t>m-n+1</a:t>
            </a:r>
            <a:r>
              <a:rPr lang="zh-CN" altLang="zh-CN" b="0" dirty="0"/>
              <a:t>趟，且若每趟比较都在最后才出现不匹配的情况，要做</a:t>
            </a:r>
            <a:r>
              <a:rPr lang="en-US" altLang="zh-CN" b="0" dirty="0"/>
              <a:t>n</a:t>
            </a:r>
            <a:r>
              <a:rPr lang="zh-CN" altLang="zh-CN" b="0" dirty="0"/>
              <a:t>次比较，那么总的比较次数就是</a:t>
            </a:r>
            <a:r>
              <a:rPr lang="en-US" altLang="zh-CN" b="0" dirty="0"/>
              <a:t>(m-n+1)*n</a:t>
            </a:r>
            <a:r>
              <a:rPr lang="zh-CN" altLang="zh-CN" b="0" dirty="0"/>
              <a:t>。</a:t>
            </a:r>
            <a:endParaRPr lang="en-US" altLang="zh-CN" b="0" dirty="0"/>
          </a:p>
          <a:p>
            <a:pPr algn="just">
              <a:buFont typeface="Arial" panose="020B0604020202020204" pitchFamily="34" charset="0"/>
              <a:buChar char="•"/>
            </a:pPr>
            <a:r>
              <a:rPr lang="zh-CN" altLang="zh-CN" b="0" dirty="0"/>
              <a:t>通常</a:t>
            </a:r>
            <a:r>
              <a:rPr lang="en-US" altLang="zh-CN" b="0" dirty="0"/>
              <a:t>n</a:t>
            </a:r>
            <a:r>
              <a:rPr lang="zh-CN" altLang="zh-CN" b="0" dirty="0"/>
              <a:t>会远小于</a:t>
            </a:r>
            <a:r>
              <a:rPr lang="en-US" altLang="zh-CN" b="0" dirty="0"/>
              <a:t>m</a:t>
            </a:r>
            <a:r>
              <a:rPr lang="zh-CN" altLang="zh-CN" b="0" dirty="0"/>
              <a:t>，所以最坏情况下运行时间是</a:t>
            </a:r>
            <a:r>
              <a:rPr lang="en-US" altLang="zh-CN" b="0" dirty="0"/>
              <a:t>O(m*n)</a:t>
            </a:r>
            <a:r>
              <a:rPr lang="zh-CN" altLang="zh-CN" b="0" dirty="0"/>
              <a:t>。</a:t>
            </a:r>
            <a:endParaRPr lang="en-US" altLang="zh-CN" b="0" dirty="0"/>
          </a:p>
          <a:p>
            <a:pPr algn="just">
              <a:buFont typeface="Arial" panose="020B0604020202020204" pitchFamily="34" charset="0"/>
              <a:buChar char="•"/>
            </a:pPr>
            <a:r>
              <a:rPr lang="zh-CN" altLang="zh-CN" b="0" dirty="0"/>
              <a:t>最好情况下，该算法的时间复杂度为</a:t>
            </a:r>
            <a:r>
              <a:rPr lang="en-US" altLang="zh-CN" b="0" dirty="0"/>
              <a:t>O(n)</a:t>
            </a:r>
            <a:endParaRPr lang="zh-CN" altLang="en-US" b="0" dirty="0"/>
          </a:p>
        </p:txBody>
      </p:sp>
    </p:spTree>
    <p:extLst>
      <p:ext uri="{BB962C8B-B14F-4D97-AF65-F5344CB8AC3E}">
        <p14:creationId xmlns:p14="http://schemas.microsoft.com/office/powerpoint/2010/main" val="279885808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9A023CE7-2732-48C4-BBA5-5F7CEF6D0A11}"/>
              </a:ext>
            </a:extLst>
          </p:cNvPr>
          <p:cNvSpPr txBox="1">
            <a:spLocks noChangeArrowheads="1"/>
          </p:cNvSpPr>
          <p:nvPr/>
        </p:nvSpPr>
        <p:spPr>
          <a:xfrm>
            <a:off x="539552" y="1219200"/>
            <a:ext cx="8280920" cy="3937992"/>
          </a:xfrm>
          <a:prstGeom prst="rect">
            <a:avLst/>
          </a:prstGeom>
        </p:spPr>
        <p:txBody>
          <a:bodyPr vert="horz" lIns="91440" tIns="45720" rIns="91440" bIns="45720" rtlCol="0">
            <a:normAutofit/>
          </a:bodyPr>
          <a:lstStyle>
            <a:lvl1pPr marL="342900" indent="-342900" algn="l" defTabSz="914400" rtl="0" eaLnBrk="1" latinLnBrk="0" hangingPunct="1">
              <a:lnSpc>
                <a:spcPct val="120000"/>
              </a:lnSpc>
              <a:spcBef>
                <a:spcPts val="800"/>
              </a:spcBef>
              <a:buFont typeface="Arial" pitchFamily="34" charset="0"/>
              <a:buNone/>
              <a:defRPr sz="2400" b="1"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1pPr>
            <a:lvl2pPr marL="173736" indent="-173736" algn="l" defTabSz="914400" rtl="0" eaLnBrk="1" latinLnBrk="0" hangingPunct="1">
              <a:lnSpc>
                <a:spcPct val="120000"/>
              </a:lnSpc>
              <a:spcBef>
                <a:spcPts val="300"/>
              </a:spcBef>
              <a:buClr>
                <a:schemeClr val="accent2"/>
              </a:buClr>
              <a:buFont typeface="Wingdings" pitchFamily="2" charset="2"/>
              <a:buChar char="§"/>
              <a:defRPr sz="24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2pPr>
            <a:lvl3pPr marL="402336" indent="-164592" algn="l" defTabSz="914400" rtl="0" eaLnBrk="1" latinLnBrk="0" hangingPunct="1">
              <a:lnSpc>
                <a:spcPct val="120000"/>
              </a:lnSpc>
              <a:spcBef>
                <a:spcPts val="300"/>
              </a:spcBef>
              <a:buClr>
                <a:schemeClr val="accent2"/>
              </a:buClr>
              <a:buFont typeface="Wingdings" pitchFamily="2" charset="2"/>
              <a:buChar char="§"/>
              <a:defRPr sz="24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3pPr>
            <a:lvl4pPr marL="630936" indent="-164592" algn="l" defTabSz="914400" rtl="0" eaLnBrk="1" latinLnBrk="0" hangingPunct="1">
              <a:lnSpc>
                <a:spcPct val="120000"/>
              </a:lnSpc>
              <a:spcBef>
                <a:spcPts val="300"/>
              </a:spcBef>
              <a:buClr>
                <a:schemeClr val="accent2"/>
              </a:buClr>
              <a:buFont typeface="Wingdings" pitchFamily="2" charset="2"/>
              <a:buChar char="§"/>
              <a:defRPr sz="24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4pPr>
            <a:lvl5pPr marL="859536" indent="-173736" algn="l" defTabSz="914400" rtl="0" eaLnBrk="1" latinLnBrk="0" hangingPunct="1">
              <a:lnSpc>
                <a:spcPct val="120000"/>
              </a:lnSpc>
              <a:spcBef>
                <a:spcPts val="300"/>
              </a:spcBef>
              <a:buClr>
                <a:schemeClr val="accent2"/>
              </a:buClr>
              <a:buFont typeface="Wingdings" pitchFamily="2" charset="2"/>
              <a:buChar char="§"/>
              <a:defRPr sz="24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a:lstStyle>
          <a:p>
            <a:pPr algn="just">
              <a:buFontTx/>
              <a:buNone/>
            </a:pPr>
            <a:r>
              <a:rPr lang="zh-CN" altLang="en-US" b="0" dirty="0"/>
              <a:t>通过上述算法，可以推知如下两个结论： </a:t>
            </a:r>
            <a:endParaRPr lang="en-US" altLang="zh-CN" b="0" dirty="0"/>
          </a:p>
          <a:p>
            <a:pPr algn="just">
              <a:buFontTx/>
              <a:buNone/>
            </a:pPr>
            <a:r>
              <a:rPr lang="zh-CN" altLang="en-US" b="0" dirty="0"/>
              <a:t>⑴、每当遇到一次</a:t>
            </a:r>
            <a:r>
              <a:rPr lang="en-US" altLang="zh-CN" b="0" dirty="0" err="1"/>
              <a:t>s</a:t>
            </a:r>
            <a:r>
              <a:rPr lang="en-US" altLang="zh-CN" b="0" baseline="-30000" dirty="0" err="1"/>
              <a:t>i</a:t>
            </a:r>
            <a:r>
              <a:rPr lang="en-US" altLang="zh-CN" b="0" dirty="0" err="1"/>
              <a:t>≠t</a:t>
            </a:r>
            <a:r>
              <a:rPr lang="en-US" altLang="zh-CN" b="0" baseline="-30000" dirty="0" err="1"/>
              <a:t>j</a:t>
            </a:r>
            <a:r>
              <a:rPr lang="en-US" altLang="zh-CN" b="0" dirty="0"/>
              <a:t> </a:t>
            </a:r>
            <a:r>
              <a:rPr lang="zh-CN" altLang="en-US" b="0" dirty="0"/>
              <a:t>时，主串要退回到</a:t>
            </a:r>
            <a:r>
              <a:rPr lang="en-US" altLang="zh-CN" b="0" dirty="0" err="1"/>
              <a:t>i</a:t>
            </a:r>
            <a:r>
              <a:rPr lang="en-US" altLang="zh-CN" b="0" dirty="0"/>
              <a:t>–j+1</a:t>
            </a:r>
            <a:r>
              <a:rPr lang="zh-CN" altLang="en-US" b="0" dirty="0"/>
              <a:t>的位置，而模式串也要退回到第一个位置（即</a:t>
            </a:r>
            <a:r>
              <a:rPr lang="en-US" altLang="zh-CN" b="0" dirty="0"/>
              <a:t>j</a:t>
            </a:r>
            <a:r>
              <a:rPr lang="zh-CN" altLang="en-US" b="0" dirty="0"/>
              <a:t>＝</a:t>
            </a:r>
            <a:r>
              <a:rPr lang="en-US" altLang="zh-CN" b="0" dirty="0"/>
              <a:t>0</a:t>
            </a:r>
            <a:r>
              <a:rPr lang="zh-CN" altLang="en-US" b="0" dirty="0"/>
              <a:t>的位置）；</a:t>
            </a:r>
          </a:p>
          <a:p>
            <a:pPr algn="just">
              <a:buFontTx/>
              <a:buNone/>
            </a:pPr>
            <a:r>
              <a:rPr lang="zh-CN" altLang="en-US" b="0" dirty="0"/>
              <a:t>⑵、某一次比较出现了</a:t>
            </a:r>
            <a:r>
              <a:rPr lang="en-US" altLang="zh-CN" b="0" dirty="0" err="1"/>
              <a:t>s</a:t>
            </a:r>
            <a:r>
              <a:rPr lang="en-US" altLang="zh-CN" b="0" baseline="-30000" dirty="0" err="1"/>
              <a:t>i</a:t>
            </a:r>
            <a:r>
              <a:rPr lang="en-US" altLang="zh-CN" b="0" dirty="0" err="1"/>
              <a:t>≠t</a:t>
            </a:r>
            <a:r>
              <a:rPr lang="en-US" altLang="zh-CN" b="0" baseline="-30000" dirty="0" err="1"/>
              <a:t>j</a:t>
            </a:r>
            <a:r>
              <a:rPr lang="en-US" altLang="zh-CN" b="0" dirty="0"/>
              <a:t> </a:t>
            </a:r>
            <a:r>
              <a:rPr lang="zh-CN" altLang="en-US" b="0" dirty="0"/>
              <a:t>时，则有</a:t>
            </a:r>
            <a:r>
              <a:rPr lang="en-US" altLang="zh-CN" b="0" dirty="0"/>
              <a:t>s</a:t>
            </a:r>
            <a:r>
              <a:rPr lang="en-US" altLang="zh-CN" b="0" baseline="-30000" dirty="0"/>
              <a:t>i-1</a:t>
            </a:r>
            <a:r>
              <a:rPr lang="zh-CN" altLang="en-US" b="0" dirty="0"/>
              <a:t>＝</a:t>
            </a:r>
            <a:r>
              <a:rPr lang="en-US" altLang="zh-CN" b="0" dirty="0"/>
              <a:t>t</a:t>
            </a:r>
            <a:r>
              <a:rPr lang="en-US" altLang="zh-CN" b="0" baseline="-30000" dirty="0"/>
              <a:t>j-1</a:t>
            </a:r>
            <a:r>
              <a:rPr lang="zh-CN" altLang="en-US" b="0" dirty="0"/>
              <a:t>，</a:t>
            </a:r>
            <a:r>
              <a:rPr lang="en-US" altLang="zh-CN" b="0" dirty="0"/>
              <a:t>…</a:t>
            </a:r>
            <a:r>
              <a:rPr lang="zh-CN" altLang="en-US" b="0" dirty="0"/>
              <a:t>，</a:t>
            </a:r>
            <a:r>
              <a:rPr lang="en-US" altLang="zh-CN" b="0" dirty="0"/>
              <a:t>s</a:t>
            </a:r>
            <a:r>
              <a:rPr lang="en-US" altLang="zh-CN" b="0" baseline="-30000" dirty="0"/>
              <a:t>i-j+1</a:t>
            </a:r>
            <a:r>
              <a:rPr lang="zh-CN" altLang="en-US" b="0" dirty="0"/>
              <a:t>＝</a:t>
            </a:r>
            <a:r>
              <a:rPr lang="en-US" altLang="zh-CN" b="0" dirty="0"/>
              <a:t>t</a:t>
            </a:r>
            <a:r>
              <a:rPr lang="en-US" altLang="zh-CN" b="0" baseline="-30000" dirty="0"/>
              <a:t>1</a:t>
            </a:r>
            <a:r>
              <a:rPr lang="zh-CN" altLang="en-US" b="0" dirty="0"/>
              <a:t>，</a:t>
            </a:r>
            <a:r>
              <a:rPr lang="en-US" altLang="zh-CN" b="0" dirty="0" err="1"/>
              <a:t>s</a:t>
            </a:r>
            <a:r>
              <a:rPr lang="en-US" altLang="zh-CN" b="0" baseline="-30000" dirty="0" err="1"/>
              <a:t>i</a:t>
            </a:r>
            <a:r>
              <a:rPr lang="en-US" altLang="zh-CN" b="0" baseline="-30000" dirty="0"/>
              <a:t>-j</a:t>
            </a:r>
            <a:r>
              <a:rPr lang="zh-CN" altLang="en-US" b="0" dirty="0"/>
              <a:t>＝</a:t>
            </a:r>
            <a:r>
              <a:rPr lang="en-US" altLang="zh-CN" b="0" dirty="0"/>
              <a:t>t</a:t>
            </a:r>
            <a:r>
              <a:rPr lang="en-US" altLang="zh-CN" b="0" baseline="-30000" dirty="0"/>
              <a:t>0</a:t>
            </a:r>
            <a:r>
              <a:rPr lang="zh-CN" altLang="en-US" b="0" dirty="0"/>
              <a:t>。 </a:t>
            </a:r>
          </a:p>
        </p:txBody>
      </p:sp>
    </p:spTree>
    <p:extLst>
      <p:ext uri="{BB962C8B-B14F-4D97-AF65-F5344CB8AC3E}">
        <p14:creationId xmlns:p14="http://schemas.microsoft.com/office/powerpoint/2010/main" val="368774253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124744"/>
            <a:ext cx="8496944" cy="4608512"/>
          </a:xfrm>
        </p:spPr>
        <p:txBody>
          <a:bodyPr>
            <a:normAutofit/>
          </a:bodyPr>
          <a:lstStyle/>
          <a:p>
            <a:pPr algn="just"/>
            <a:r>
              <a:rPr lang="en-US" altLang="zh-CN" dirty="0"/>
              <a:t>2</a:t>
            </a:r>
            <a:r>
              <a:rPr lang="zh-CN" altLang="zh-CN" dirty="0"/>
              <a:t>．</a:t>
            </a:r>
            <a:r>
              <a:rPr lang="zh-CN" altLang="zh-CN" dirty="0">
                <a:solidFill>
                  <a:srgbClr val="FF0000"/>
                </a:solidFill>
              </a:rPr>
              <a:t>模式匹配的</a:t>
            </a:r>
            <a:r>
              <a:rPr lang="en-US" altLang="zh-CN" dirty="0">
                <a:solidFill>
                  <a:srgbClr val="FF0000"/>
                </a:solidFill>
              </a:rPr>
              <a:t>KMP</a:t>
            </a:r>
            <a:r>
              <a:rPr lang="zh-CN" altLang="zh-CN" dirty="0">
                <a:solidFill>
                  <a:srgbClr val="FF0000"/>
                </a:solidFill>
              </a:rPr>
              <a:t>算法</a:t>
            </a:r>
            <a:endParaRPr lang="en-US" altLang="zh-CN" dirty="0">
              <a:solidFill>
                <a:srgbClr val="FF0000"/>
              </a:solidFill>
            </a:endParaRPr>
          </a:p>
          <a:p>
            <a:pPr algn="just"/>
            <a:r>
              <a:rPr lang="zh-CN" altLang="en-US" b="0" dirty="0">
                <a:latin typeface="楷体" panose="02010609060101010101" pitchFamily="49" charset="-122"/>
              </a:rPr>
              <a:t>  为了提高</a:t>
            </a:r>
            <a:r>
              <a:rPr lang="en-US" altLang="zh-CN" b="0" dirty="0">
                <a:latin typeface="楷体" panose="02010609060101010101" pitchFamily="49" charset="-122"/>
              </a:rPr>
              <a:t>Brute-Force</a:t>
            </a:r>
            <a:r>
              <a:rPr lang="zh-CN" altLang="en-US" b="0" dirty="0">
                <a:latin typeface="楷体" panose="02010609060101010101" pitchFamily="49" charset="-122"/>
              </a:rPr>
              <a:t>算法的运算效率，由</a:t>
            </a:r>
            <a:r>
              <a:rPr lang="en-US" altLang="zh-CN" b="0" dirty="0" err="1">
                <a:latin typeface="楷体" panose="02010609060101010101" pitchFamily="49" charset="-122"/>
              </a:rPr>
              <a:t>D.E.Knuth</a:t>
            </a:r>
            <a:r>
              <a:rPr lang="zh-CN" altLang="en-US" b="0" dirty="0">
                <a:latin typeface="楷体" panose="02010609060101010101" pitchFamily="49" charset="-122"/>
              </a:rPr>
              <a:t>与</a:t>
            </a:r>
            <a:r>
              <a:rPr lang="en-US" altLang="zh-CN" b="0" dirty="0" err="1">
                <a:latin typeface="楷体" panose="02010609060101010101" pitchFamily="49" charset="-122"/>
              </a:rPr>
              <a:t>J.H.Morris</a:t>
            </a:r>
            <a:r>
              <a:rPr lang="zh-CN" altLang="en-US" b="0" dirty="0">
                <a:latin typeface="楷体" panose="02010609060101010101" pitchFamily="49" charset="-122"/>
              </a:rPr>
              <a:t>和</a:t>
            </a:r>
            <a:r>
              <a:rPr lang="en-US" altLang="zh-CN" b="0" dirty="0" err="1">
                <a:latin typeface="楷体" panose="02010609060101010101" pitchFamily="49" charset="-122"/>
              </a:rPr>
              <a:t>V.R.Pratt</a:t>
            </a:r>
            <a:r>
              <a:rPr lang="zh-CN" altLang="en-US" b="0" dirty="0">
                <a:latin typeface="楷体" panose="02010609060101010101" pitchFamily="49" charset="-122"/>
              </a:rPr>
              <a:t>同时提出了一种模式匹配的改进算法，所以人们称它为克努特</a:t>
            </a:r>
            <a:r>
              <a:rPr lang="en-US" altLang="zh-CN" b="0" dirty="0">
                <a:latin typeface="楷体" panose="02010609060101010101" pitchFamily="49" charset="-122"/>
              </a:rPr>
              <a:t>-</a:t>
            </a:r>
            <a:r>
              <a:rPr lang="zh-CN" altLang="en-US" b="0" dirty="0">
                <a:latin typeface="楷体" panose="02010609060101010101" pitchFamily="49" charset="-122"/>
              </a:rPr>
              <a:t>莫里斯</a:t>
            </a:r>
            <a:r>
              <a:rPr lang="en-US" altLang="zh-CN" b="0" dirty="0">
                <a:latin typeface="楷体" panose="02010609060101010101" pitchFamily="49" charset="-122"/>
              </a:rPr>
              <a:t>-</a:t>
            </a:r>
            <a:r>
              <a:rPr lang="zh-CN" altLang="en-US" b="0" dirty="0">
                <a:latin typeface="楷体" panose="02010609060101010101" pitchFamily="49" charset="-122"/>
              </a:rPr>
              <a:t>普拉特操作（简称</a:t>
            </a:r>
            <a:r>
              <a:rPr lang="en-US" altLang="zh-CN" b="0" dirty="0">
                <a:latin typeface="楷体" panose="02010609060101010101" pitchFamily="49" charset="-122"/>
              </a:rPr>
              <a:t>KMP</a:t>
            </a:r>
            <a:r>
              <a:rPr lang="zh-CN" altLang="en-US" b="0" dirty="0">
                <a:latin typeface="楷体" panose="02010609060101010101" pitchFamily="49" charset="-122"/>
              </a:rPr>
              <a:t>算法）。此算法的改进在于：</a:t>
            </a:r>
          </a:p>
          <a:p>
            <a:pPr algn="just"/>
            <a:r>
              <a:rPr lang="zh-CN" altLang="en-US" b="0" dirty="0">
                <a:latin typeface="楷体" panose="02010609060101010101" pitchFamily="49" charset="-122"/>
              </a:rPr>
              <a:t>  在</a:t>
            </a:r>
            <a:r>
              <a:rPr lang="en-US" altLang="zh-CN" b="0" dirty="0">
                <a:latin typeface="楷体" panose="02010609060101010101" pitchFamily="49" charset="-122"/>
              </a:rPr>
              <a:t>Brute-Force</a:t>
            </a:r>
            <a:r>
              <a:rPr lang="zh-CN" altLang="en-US" b="0" dirty="0">
                <a:latin typeface="楷体" panose="02010609060101010101" pitchFamily="49" charset="-122"/>
              </a:rPr>
              <a:t>算法中，主串回溯并没有必要，每当一趟匹配过程中出现字符不相等时，主串指示器不用回溯，而是利用已经得到的“部分匹配”结果，将模式串的指示器向右“滑动”尽可能远的一段距离后，继续进行比较。 </a:t>
            </a:r>
            <a:endParaRPr lang="zh-CN" altLang="zh-CN" b="0" dirty="0"/>
          </a:p>
        </p:txBody>
      </p:sp>
    </p:spTree>
    <p:extLst>
      <p:ext uri="{BB962C8B-B14F-4D97-AF65-F5344CB8AC3E}">
        <p14:creationId xmlns:p14="http://schemas.microsoft.com/office/powerpoint/2010/main" val="171052005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980728"/>
            <a:ext cx="8208912" cy="5328592"/>
          </a:xfrm>
        </p:spPr>
        <p:txBody>
          <a:bodyPr>
            <a:normAutofit fontScale="85000" lnSpcReduction="10000"/>
          </a:bodyPr>
          <a:lstStyle/>
          <a:p>
            <a:pPr algn="just"/>
            <a:r>
              <a:rPr lang="en-US" altLang="zh-CN" b="0" dirty="0"/>
              <a:t>	</a:t>
            </a:r>
            <a:r>
              <a:rPr lang="zh-CN" altLang="zh-CN" b="0" dirty="0"/>
              <a:t>假设主串为</a:t>
            </a:r>
            <a:r>
              <a:rPr lang="en-US" altLang="zh-CN" b="0" dirty="0" err="1"/>
              <a:t>ob</a:t>
            </a:r>
            <a:r>
              <a:rPr lang="en-US" altLang="zh-CN" b="0" dirty="0"/>
              <a:t>=“s</a:t>
            </a:r>
            <a:r>
              <a:rPr lang="en-US" altLang="zh-CN" b="0" baseline="-25000" dirty="0"/>
              <a:t>0</a:t>
            </a:r>
            <a:r>
              <a:rPr lang="en-US" altLang="zh-CN" b="0" dirty="0"/>
              <a:t>s</a:t>
            </a:r>
            <a:r>
              <a:rPr lang="en-US" altLang="zh-CN" b="0" baseline="-25000" dirty="0"/>
              <a:t>1</a:t>
            </a:r>
            <a:r>
              <a:rPr lang="en-US" altLang="zh-CN" b="0" dirty="0"/>
              <a:t>…s</a:t>
            </a:r>
            <a:r>
              <a:rPr lang="en-US" altLang="zh-CN" b="0" baseline="-25000" dirty="0"/>
              <a:t>n-1</a:t>
            </a:r>
            <a:r>
              <a:rPr lang="en-US" altLang="zh-CN" b="0" dirty="0"/>
              <a:t>”</a:t>
            </a:r>
            <a:r>
              <a:rPr lang="zh-CN" altLang="zh-CN" b="0" dirty="0"/>
              <a:t>，模式串为</a:t>
            </a:r>
            <a:r>
              <a:rPr lang="en-US" altLang="zh-CN" b="0" dirty="0"/>
              <a:t>pat=“t</a:t>
            </a:r>
            <a:r>
              <a:rPr lang="en-US" altLang="zh-CN" b="0" baseline="-25000" dirty="0"/>
              <a:t>0</a:t>
            </a:r>
            <a:r>
              <a:rPr lang="en-US" altLang="zh-CN" b="0" dirty="0"/>
              <a:t>t</a:t>
            </a:r>
            <a:r>
              <a:rPr lang="en-US" altLang="zh-CN" b="0" baseline="-25000" dirty="0"/>
              <a:t>1</a:t>
            </a:r>
            <a:r>
              <a:rPr lang="en-US" altLang="zh-CN" b="0" dirty="0"/>
              <a:t>…t</a:t>
            </a:r>
            <a:r>
              <a:rPr lang="en-US" altLang="zh-CN" b="0" baseline="-25000" dirty="0"/>
              <a:t>m-1</a:t>
            </a:r>
            <a:r>
              <a:rPr lang="en-US" altLang="zh-CN" b="0" dirty="0"/>
              <a:t>”</a:t>
            </a:r>
            <a:r>
              <a:rPr lang="zh-CN" altLang="zh-CN" b="0" dirty="0"/>
              <a:t>，当主串中第</a:t>
            </a:r>
            <a:r>
              <a:rPr lang="en-US" altLang="zh-CN" b="0" dirty="0" err="1"/>
              <a:t>i</a:t>
            </a:r>
            <a:r>
              <a:rPr lang="zh-CN" altLang="zh-CN" b="0" dirty="0"/>
              <a:t>个字符与模式串中的第</a:t>
            </a:r>
            <a:r>
              <a:rPr lang="en-US" altLang="zh-CN" b="0" dirty="0"/>
              <a:t>j</a:t>
            </a:r>
            <a:r>
              <a:rPr lang="zh-CN" altLang="zh-CN" b="0" dirty="0"/>
              <a:t>个字符匹配失败时，主串中的第</a:t>
            </a:r>
            <a:r>
              <a:rPr lang="en-US" altLang="zh-CN" b="0" dirty="0" err="1"/>
              <a:t>i</a:t>
            </a:r>
            <a:r>
              <a:rPr lang="zh-CN" altLang="zh-CN" b="0" dirty="0"/>
              <a:t>个字符应该与模式串中的哪个字符重新进行比较呢？假设此时应该与模式串中的第</a:t>
            </a:r>
            <a:r>
              <a:rPr lang="en-US" altLang="zh-CN" b="0" dirty="0"/>
              <a:t>k+1</a:t>
            </a:r>
            <a:r>
              <a:rPr lang="zh-CN" altLang="zh-CN" b="0" dirty="0"/>
              <a:t>个字符进行比较，则模式</a:t>
            </a:r>
            <a:r>
              <a:rPr lang="zh-CN" altLang="en-US" b="0" dirty="0"/>
              <a:t>串</a:t>
            </a:r>
            <a:r>
              <a:rPr lang="zh-CN" altLang="zh-CN" b="0" dirty="0"/>
              <a:t>中前</a:t>
            </a:r>
            <a:r>
              <a:rPr lang="en-US" altLang="zh-CN" b="0" dirty="0"/>
              <a:t>k</a:t>
            </a:r>
            <a:r>
              <a:rPr lang="zh-CN" altLang="zh-CN" b="0" dirty="0"/>
              <a:t>个字符的子串必须满足下列关系：</a:t>
            </a:r>
          </a:p>
          <a:p>
            <a:pPr algn="just"/>
            <a:r>
              <a:rPr lang="en-US" altLang="zh-CN" b="0" dirty="0"/>
              <a:t>	                                   “t</a:t>
            </a:r>
            <a:r>
              <a:rPr lang="en-US" altLang="zh-CN" b="0" baseline="-25000" dirty="0"/>
              <a:t>0</a:t>
            </a:r>
            <a:r>
              <a:rPr lang="en-US" altLang="zh-CN" b="0" dirty="0"/>
              <a:t>t</a:t>
            </a:r>
            <a:r>
              <a:rPr lang="en-US" altLang="zh-CN" b="0" baseline="-25000" dirty="0"/>
              <a:t>1</a:t>
            </a:r>
            <a:r>
              <a:rPr lang="en-US" altLang="zh-CN" b="0" dirty="0"/>
              <a:t>…t</a:t>
            </a:r>
            <a:r>
              <a:rPr lang="en-US" altLang="zh-CN" b="0" baseline="-25000" dirty="0"/>
              <a:t>k-1</a:t>
            </a:r>
            <a:r>
              <a:rPr lang="en-US" altLang="zh-CN" b="0" dirty="0"/>
              <a:t>”</a:t>
            </a:r>
            <a:r>
              <a:rPr lang="en-US" altLang="zh-CN" b="0" baseline="-25000" dirty="0"/>
              <a:t>=</a:t>
            </a:r>
            <a:r>
              <a:rPr lang="en-US" altLang="zh-CN" b="0" dirty="0"/>
              <a:t>“s</a:t>
            </a:r>
            <a:r>
              <a:rPr lang="en-US" altLang="zh-CN" b="0" baseline="-25000" dirty="0"/>
              <a:t>i-k</a:t>
            </a:r>
            <a:r>
              <a:rPr lang="en-US" altLang="zh-CN" b="0" dirty="0"/>
              <a:t>s</a:t>
            </a:r>
            <a:r>
              <a:rPr lang="en-US" altLang="zh-CN" b="0" baseline="-25000" dirty="0"/>
              <a:t>i-k+1</a:t>
            </a:r>
            <a:r>
              <a:rPr lang="en-US" altLang="zh-CN" b="0" dirty="0"/>
              <a:t>…s</a:t>
            </a:r>
            <a:r>
              <a:rPr lang="en-US" altLang="zh-CN" b="0" baseline="-25000" dirty="0"/>
              <a:t>i-1</a:t>
            </a:r>
            <a:r>
              <a:rPr lang="en-US" altLang="zh-CN" b="0" dirty="0"/>
              <a:t>”</a:t>
            </a:r>
            <a:endParaRPr lang="zh-CN" altLang="zh-CN" b="0" dirty="0"/>
          </a:p>
          <a:p>
            <a:pPr algn="just"/>
            <a:r>
              <a:rPr lang="en-US" altLang="zh-CN" b="0" dirty="0"/>
              <a:t>	</a:t>
            </a:r>
            <a:r>
              <a:rPr lang="zh-CN" altLang="zh-CN" b="0" dirty="0"/>
              <a:t>而已经得到的</a:t>
            </a:r>
            <a:r>
              <a:rPr lang="en-US" altLang="zh-CN" b="0" dirty="0"/>
              <a:t>“</a:t>
            </a:r>
            <a:r>
              <a:rPr lang="zh-CN" altLang="zh-CN" b="0" dirty="0"/>
              <a:t>部分匹配</a:t>
            </a:r>
            <a:r>
              <a:rPr lang="en-US" altLang="zh-CN" b="0" dirty="0"/>
              <a:t>”</a:t>
            </a:r>
            <a:r>
              <a:rPr lang="zh-CN" altLang="zh-CN" b="0" dirty="0"/>
              <a:t>的结果是：</a:t>
            </a:r>
          </a:p>
          <a:p>
            <a:pPr algn="just"/>
            <a:r>
              <a:rPr lang="en-US" altLang="zh-CN" b="0" dirty="0"/>
              <a:t>			         “t</a:t>
            </a:r>
            <a:r>
              <a:rPr lang="en-US" altLang="zh-CN" b="0" baseline="-25000" dirty="0"/>
              <a:t>j-k</a:t>
            </a:r>
            <a:r>
              <a:rPr lang="en-US" altLang="zh-CN" b="0" dirty="0"/>
              <a:t>t</a:t>
            </a:r>
            <a:r>
              <a:rPr lang="en-US" altLang="zh-CN" b="0" baseline="-25000" dirty="0"/>
              <a:t>j-k+1</a:t>
            </a:r>
            <a:r>
              <a:rPr lang="en-US" altLang="zh-CN" b="0" dirty="0"/>
              <a:t>…t</a:t>
            </a:r>
            <a:r>
              <a:rPr lang="en-US" altLang="zh-CN" b="0" baseline="-25000" dirty="0"/>
              <a:t>j-1”=“</a:t>
            </a:r>
            <a:r>
              <a:rPr lang="en-US" altLang="zh-CN" b="0" dirty="0"/>
              <a:t>s</a:t>
            </a:r>
            <a:r>
              <a:rPr lang="en-US" altLang="zh-CN" b="0" baseline="-25000" dirty="0"/>
              <a:t>i-k</a:t>
            </a:r>
            <a:r>
              <a:rPr lang="en-US" altLang="zh-CN" b="0" dirty="0"/>
              <a:t>s</a:t>
            </a:r>
            <a:r>
              <a:rPr lang="en-US" altLang="zh-CN" b="0" baseline="-25000" dirty="0"/>
              <a:t>i-k+1</a:t>
            </a:r>
            <a:r>
              <a:rPr lang="en-US" altLang="zh-CN" b="0" dirty="0"/>
              <a:t>…s</a:t>
            </a:r>
            <a:r>
              <a:rPr lang="en-US" altLang="zh-CN" b="0" baseline="-25000" dirty="0"/>
              <a:t>i-1”</a:t>
            </a:r>
            <a:endParaRPr lang="zh-CN" altLang="zh-CN" b="0" dirty="0"/>
          </a:p>
          <a:p>
            <a:pPr algn="just"/>
            <a:r>
              <a:rPr lang="en-US" altLang="zh-CN" b="0" dirty="0"/>
              <a:t>	</a:t>
            </a:r>
            <a:r>
              <a:rPr lang="zh-CN" altLang="zh-CN" b="0" dirty="0"/>
              <a:t>由上面两式可推得下列等式：</a:t>
            </a:r>
          </a:p>
          <a:p>
            <a:pPr algn="just"/>
            <a:r>
              <a:rPr lang="en-US" altLang="zh-CN" b="0" dirty="0"/>
              <a:t>			         “t</a:t>
            </a:r>
            <a:r>
              <a:rPr lang="en-US" altLang="zh-CN" b="0" baseline="-25000" dirty="0"/>
              <a:t>0</a:t>
            </a:r>
            <a:r>
              <a:rPr lang="en-US" altLang="zh-CN" b="0" dirty="0"/>
              <a:t>t</a:t>
            </a:r>
            <a:r>
              <a:rPr lang="en-US" altLang="zh-CN" b="0" baseline="-25000" dirty="0"/>
              <a:t>1</a:t>
            </a:r>
            <a:r>
              <a:rPr lang="en-US" altLang="zh-CN" b="0" dirty="0"/>
              <a:t>…t</a:t>
            </a:r>
            <a:r>
              <a:rPr lang="en-US" altLang="zh-CN" b="0" baseline="-25000" dirty="0"/>
              <a:t>k-1</a:t>
            </a:r>
            <a:r>
              <a:rPr lang="en-US" altLang="zh-CN" b="0" dirty="0"/>
              <a:t>”=“t</a:t>
            </a:r>
            <a:r>
              <a:rPr lang="en-US" altLang="zh-CN" b="0" baseline="-25000" dirty="0"/>
              <a:t>j-k</a:t>
            </a:r>
            <a:r>
              <a:rPr lang="en-US" altLang="zh-CN" b="0" dirty="0"/>
              <a:t>t</a:t>
            </a:r>
            <a:r>
              <a:rPr lang="en-US" altLang="zh-CN" b="0" baseline="-25000" dirty="0"/>
              <a:t>j-k+1</a:t>
            </a:r>
            <a:r>
              <a:rPr lang="en-US" altLang="zh-CN" b="0" dirty="0"/>
              <a:t>…t</a:t>
            </a:r>
            <a:r>
              <a:rPr lang="en-US" altLang="zh-CN" b="0" baseline="-25000" dirty="0"/>
              <a:t>j-1</a:t>
            </a:r>
            <a:r>
              <a:rPr lang="en-US" altLang="zh-CN" b="0" dirty="0"/>
              <a:t>”</a:t>
            </a:r>
            <a:endParaRPr lang="zh-CN" altLang="zh-CN" b="0" dirty="0"/>
          </a:p>
          <a:p>
            <a:pPr algn="just"/>
            <a:r>
              <a:rPr lang="en-US" altLang="zh-CN" b="0" dirty="0"/>
              <a:t>	</a:t>
            </a:r>
            <a:r>
              <a:rPr lang="zh-CN" altLang="zh-CN" b="0" dirty="0"/>
              <a:t>因此，若模式串中存在满足上面式子的子串，则当匹配过程中，主串中第</a:t>
            </a:r>
            <a:r>
              <a:rPr lang="en-US" altLang="zh-CN" b="0" dirty="0" err="1"/>
              <a:t>i</a:t>
            </a:r>
            <a:r>
              <a:rPr lang="zh-CN" altLang="zh-CN" b="0" dirty="0"/>
              <a:t>个字符与模式中第</a:t>
            </a:r>
            <a:r>
              <a:rPr lang="en-US" altLang="zh-CN" b="0" dirty="0"/>
              <a:t>j</a:t>
            </a:r>
            <a:r>
              <a:rPr lang="zh-CN" altLang="zh-CN" b="0" dirty="0"/>
              <a:t>个字符比较不等时，仅需将模式串向右滑动至模式串中第</a:t>
            </a:r>
            <a:r>
              <a:rPr lang="en-US" altLang="zh-CN" b="0" dirty="0"/>
              <a:t>k</a:t>
            </a:r>
            <a:r>
              <a:rPr lang="zh-CN" altLang="zh-CN" b="0" dirty="0"/>
              <a:t>个字符和主串中第</a:t>
            </a:r>
            <a:r>
              <a:rPr lang="en-US" altLang="zh-CN" b="0" dirty="0" err="1"/>
              <a:t>i</a:t>
            </a:r>
            <a:r>
              <a:rPr lang="zh-CN" altLang="zh-CN" b="0" dirty="0"/>
              <a:t>个字符对齐。这样，下次比较就从主串的第</a:t>
            </a:r>
            <a:r>
              <a:rPr lang="en-US" altLang="zh-CN" b="0" dirty="0" err="1"/>
              <a:t>i</a:t>
            </a:r>
            <a:r>
              <a:rPr lang="zh-CN" altLang="zh-CN" b="0" dirty="0"/>
              <a:t>个字符和模式串的第</a:t>
            </a:r>
            <a:r>
              <a:rPr lang="en-US" altLang="zh-CN" b="0" dirty="0"/>
              <a:t>k</a:t>
            </a:r>
            <a:r>
              <a:rPr lang="zh-CN" altLang="zh-CN" b="0" dirty="0"/>
              <a:t>个字符开始，主串指针</a:t>
            </a:r>
            <a:r>
              <a:rPr lang="en-US" altLang="zh-CN" b="0" dirty="0" err="1"/>
              <a:t>i</a:t>
            </a:r>
            <a:r>
              <a:rPr lang="zh-CN" altLang="zh-CN" b="0" dirty="0"/>
              <a:t>也不必回溯。</a:t>
            </a:r>
          </a:p>
        </p:txBody>
      </p:sp>
    </p:spTree>
    <p:extLst>
      <p:ext uri="{BB962C8B-B14F-4D97-AF65-F5344CB8AC3E}">
        <p14:creationId xmlns:p14="http://schemas.microsoft.com/office/powerpoint/2010/main" val="299254469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124744"/>
            <a:ext cx="8208912" cy="5184576"/>
          </a:xfrm>
        </p:spPr>
        <p:txBody>
          <a:bodyPr>
            <a:normAutofit/>
          </a:bodyPr>
          <a:lstStyle/>
          <a:p>
            <a:pPr algn="just"/>
            <a:r>
              <a:rPr lang="en-US" altLang="zh-CN" b="0" dirty="0"/>
              <a:t>	</a:t>
            </a:r>
            <a:endParaRPr lang="zh-CN" altLang="zh-CN" b="0" dirty="0"/>
          </a:p>
        </p:txBody>
      </p:sp>
      <p:grpSp>
        <p:nvGrpSpPr>
          <p:cNvPr id="4" name="Group 51">
            <a:extLst>
              <a:ext uri="{FF2B5EF4-FFF2-40B4-BE49-F238E27FC236}">
                <a16:creationId xmlns:a16="http://schemas.microsoft.com/office/drawing/2014/main" id="{95195BD6-8EF6-421D-A731-241E5D7F9726}"/>
              </a:ext>
            </a:extLst>
          </p:cNvPr>
          <p:cNvGrpSpPr>
            <a:grpSpLocks/>
          </p:cNvGrpSpPr>
          <p:nvPr/>
        </p:nvGrpSpPr>
        <p:grpSpPr bwMode="auto">
          <a:xfrm>
            <a:off x="1547664" y="1196752"/>
            <a:ext cx="5112568" cy="2255912"/>
            <a:chOff x="768" y="768"/>
            <a:chExt cx="3840" cy="2489"/>
          </a:xfrm>
          <a:solidFill>
            <a:schemeClr val="bg1"/>
          </a:solidFill>
        </p:grpSpPr>
        <p:sp>
          <p:nvSpPr>
            <p:cNvPr id="5" name="Rectangle 4">
              <a:extLst>
                <a:ext uri="{FF2B5EF4-FFF2-40B4-BE49-F238E27FC236}">
                  <a16:creationId xmlns:a16="http://schemas.microsoft.com/office/drawing/2014/main" id="{6CB2ED24-910A-4D27-9E44-834A9858F0E3}"/>
                </a:ext>
              </a:extLst>
            </p:cNvPr>
            <p:cNvSpPr>
              <a:spLocks noChangeArrowheads="1"/>
            </p:cNvSpPr>
            <p:nvPr/>
          </p:nvSpPr>
          <p:spPr bwMode="auto">
            <a:xfrm>
              <a:off x="1548" y="1179"/>
              <a:ext cx="810" cy="282"/>
            </a:xfrm>
            <a:prstGeom prst="rect">
              <a:avLst/>
            </a:prstGeom>
            <a:grpFill/>
            <a:ln w="9525">
              <a:solidFill>
                <a:schemeClr val="tx1"/>
              </a:solidFill>
              <a:miter lim="800000"/>
              <a:headEnd/>
              <a:tailEnd/>
            </a:ln>
          </p:spPr>
          <p:txBody>
            <a:bodyPr/>
            <a:lstStyle/>
            <a:p>
              <a:endParaRPr lang="zh-CN" altLang="en-US"/>
            </a:p>
          </p:txBody>
        </p:sp>
        <p:sp>
          <p:nvSpPr>
            <p:cNvPr id="6" name="Rectangle 5">
              <a:extLst>
                <a:ext uri="{FF2B5EF4-FFF2-40B4-BE49-F238E27FC236}">
                  <a16:creationId xmlns:a16="http://schemas.microsoft.com/office/drawing/2014/main" id="{19791D5A-07D1-4465-BB22-E2BFF113B860}"/>
                </a:ext>
              </a:extLst>
            </p:cNvPr>
            <p:cNvSpPr>
              <a:spLocks noChangeArrowheads="1"/>
            </p:cNvSpPr>
            <p:nvPr/>
          </p:nvSpPr>
          <p:spPr bwMode="auto">
            <a:xfrm>
              <a:off x="2718" y="1179"/>
              <a:ext cx="360" cy="282"/>
            </a:xfrm>
            <a:prstGeom prst="rect">
              <a:avLst/>
            </a:prstGeom>
            <a:grpFill/>
            <a:ln w="9525">
              <a:solidFill>
                <a:schemeClr val="tx1"/>
              </a:solidFill>
              <a:miter lim="800000"/>
              <a:headEnd/>
              <a:tailEnd/>
            </a:ln>
          </p:spPr>
          <p:txBody>
            <a:bodyPr/>
            <a:lstStyle/>
            <a:p>
              <a:endParaRPr lang="zh-CN" altLang="en-US"/>
            </a:p>
          </p:txBody>
        </p:sp>
        <p:sp>
          <p:nvSpPr>
            <p:cNvPr id="7" name="Rectangle 6">
              <a:extLst>
                <a:ext uri="{FF2B5EF4-FFF2-40B4-BE49-F238E27FC236}">
                  <a16:creationId xmlns:a16="http://schemas.microsoft.com/office/drawing/2014/main" id="{D012CA8A-9985-4557-B11B-2350975913F4}"/>
                </a:ext>
              </a:extLst>
            </p:cNvPr>
            <p:cNvSpPr>
              <a:spLocks noChangeArrowheads="1"/>
            </p:cNvSpPr>
            <p:nvPr/>
          </p:nvSpPr>
          <p:spPr bwMode="auto">
            <a:xfrm>
              <a:off x="3438" y="1179"/>
              <a:ext cx="180" cy="282"/>
            </a:xfrm>
            <a:prstGeom prst="rect">
              <a:avLst/>
            </a:prstGeom>
            <a:grpFill/>
            <a:ln w="9525">
              <a:solidFill>
                <a:schemeClr val="tx1"/>
              </a:solidFill>
              <a:miter lim="800000"/>
              <a:headEnd/>
              <a:tailEnd/>
            </a:ln>
          </p:spPr>
          <p:txBody>
            <a:bodyPr/>
            <a:lstStyle/>
            <a:p>
              <a:endParaRPr lang="zh-CN" altLang="en-US"/>
            </a:p>
          </p:txBody>
        </p:sp>
        <p:sp>
          <p:nvSpPr>
            <p:cNvPr id="8" name="Line 7">
              <a:extLst>
                <a:ext uri="{FF2B5EF4-FFF2-40B4-BE49-F238E27FC236}">
                  <a16:creationId xmlns:a16="http://schemas.microsoft.com/office/drawing/2014/main" id="{E72DD9CC-8BB5-45F7-961A-247D1FC108EF}"/>
                </a:ext>
              </a:extLst>
            </p:cNvPr>
            <p:cNvSpPr>
              <a:spLocks noChangeShapeType="1"/>
            </p:cNvSpPr>
            <p:nvPr/>
          </p:nvSpPr>
          <p:spPr bwMode="auto">
            <a:xfrm>
              <a:off x="3618" y="1179"/>
              <a:ext cx="990" cy="0"/>
            </a:xfrm>
            <a:prstGeom prst="line">
              <a:avLst/>
            </a:prstGeom>
            <a:grpFill/>
            <a:ln w="9525">
              <a:solidFill>
                <a:schemeClr val="tx1"/>
              </a:solidFill>
              <a:round/>
              <a:headEnd/>
              <a:tailEnd/>
            </a:ln>
          </p:spPr>
          <p:txBody>
            <a:bodyPr/>
            <a:lstStyle/>
            <a:p>
              <a:endParaRPr lang="zh-CN" altLang="en-US"/>
            </a:p>
          </p:txBody>
        </p:sp>
        <p:sp>
          <p:nvSpPr>
            <p:cNvPr id="9" name="Line 8">
              <a:extLst>
                <a:ext uri="{FF2B5EF4-FFF2-40B4-BE49-F238E27FC236}">
                  <a16:creationId xmlns:a16="http://schemas.microsoft.com/office/drawing/2014/main" id="{EB237F39-1EC4-469F-B6DE-649C8474EB3D}"/>
                </a:ext>
              </a:extLst>
            </p:cNvPr>
            <p:cNvSpPr>
              <a:spLocks noChangeShapeType="1"/>
            </p:cNvSpPr>
            <p:nvPr/>
          </p:nvSpPr>
          <p:spPr bwMode="auto">
            <a:xfrm>
              <a:off x="3618" y="1461"/>
              <a:ext cx="990" cy="0"/>
            </a:xfrm>
            <a:prstGeom prst="line">
              <a:avLst/>
            </a:prstGeom>
            <a:grpFill/>
            <a:ln w="9525">
              <a:solidFill>
                <a:schemeClr val="tx1"/>
              </a:solidFill>
              <a:round/>
              <a:headEnd/>
              <a:tailEnd/>
            </a:ln>
          </p:spPr>
          <p:txBody>
            <a:bodyPr/>
            <a:lstStyle/>
            <a:p>
              <a:endParaRPr lang="zh-CN" altLang="en-US"/>
            </a:p>
          </p:txBody>
        </p:sp>
        <p:sp>
          <p:nvSpPr>
            <p:cNvPr id="10" name="Rectangle 9">
              <a:extLst>
                <a:ext uri="{FF2B5EF4-FFF2-40B4-BE49-F238E27FC236}">
                  <a16:creationId xmlns:a16="http://schemas.microsoft.com/office/drawing/2014/main" id="{CE6CD541-F113-4553-9FB2-C59AE8485BBE}"/>
                </a:ext>
              </a:extLst>
            </p:cNvPr>
            <p:cNvSpPr>
              <a:spLocks noChangeArrowheads="1"/>
            </p:cNvSpPr>
            <p:nvPr/>
          </p:nvSpPr>
          <p:spPr bwMode="auto">
            <a:xfrm>
              <a:off x="2358" y="1179"/>
              <a:ext cx="360" cy="282"/>
            </a:xfrm>
            <a:prstGeom prst="rect">
              <a:avLst/>
            </a:prstGeom>
            <a:grpFill/>
            <a:ln w="9525">
              <a:solidFill>
                <a:schemeClr val="tx1"/>
              </a:solidFill>
              <a:miter lim="800000"/>
              <a:headEnd/>
              <a:tailEnd/>
            </a:ln>
          </p:spPr>
          <p:txBody>
            <a:bodyPr/>
            <a:lstStyle/>
            <a:p>
              <a:endParaRPr lang="zh-CN" altLang="en-US"/>
            </a:p>
          </p:txBody>
        </p:sp>
        <p:sp>
          <p:nvSpPr>
            <p:cNvPr id="11" name="Line 10">
              <a:extLst>
                <a:ext uri="{FF2B5EF4-FFF2-40B4-BE49-F238E27FC236}">
                  <a16:creationId xmlns:a16="http://schemas.microsoft.com/office/drawing/2014/main" id="{8A1F35FC-7C44-4596-AC51-138D63AFC04B}"/>
                </a:ext>
              </a:extLst>
            </p:cNvPr>
            <p:cNvSpPr>
              <a:spLocks noChangeShapeType="1"/>
            </p:cNvSpPr>
            <p:nvPr/>
          </p:nvSpPr>
          <p:spPr bwMode="auto">
            <a:xfrm>
              <a:off x="2448" y="1179"/>
              <a:ext cx="0" cy="282"/>
            </a:xfrm>
            <a:prstGeom prst="line">
              <a:avLst/>
            </a:prstGeom>
            <a:grpFill/>
            <a:ln w="9525">
              <a:solidFill>
                <a:schemeClr val="tx1"/>
              </a:solidFill>
              <a:round/>
              <a:headEnd/>
              <a:tailEnd/>
            </a:ln>
          </p:spPr>
          <p:txBody>
            <a:bodyPr/>
            <a:lstStyle/>
            <a:p>
              <a:endParaRPr lang="zh-CN" altLang="en-US"/>
            </a:p>
          </p:txBody>
        </p:sp>
        <p:sp>
          <p:nvSpPr>
            <p:cNvPr id="12" name="Line 11">
              <a:extLst>
                <a:ext uri="{FF2B5EF4-FFF2-40B4-BE49-F238E27FC236}">
                  <a16:creationId xmlns:a16="http://schemas.microsoft.com/office/drawing/2014/main" id="{BAB552CA-CC7A-40A8-BE17-95F69EC4CBCE}"/>
                </a:ext>
              </a:extLst>
            </p:cNvPr>
            <p:cNvSpPr>
              <a:spLocks noChangeShapeType="1"/>
            </p:cNvSpPr>
            <p:nvPr/>
          </p:nvSpPr>
          <p:spPr bwMode="auto">
            <a:xfrm>
              <a:off x="2538" y="1179"/>
              <a:ext cx="0" cy="282"/>
            </a:xfrm>
            <a:prstGeom prst="line">
              <a:avLst/>
            </a:prstGeom>
            <a:grpFill/>
            <a:ln w="9525">
              <a:solidFill>
                <a:schemeClr val="tx1"/>
              </a:solidFill>
              <a:round/>
              <a:headEnd/>
              <a:tailEnd/>
            </a:ln>
          </p:spPr>
          <p:txBody>
            <a:bodyPr/>
            <a:lstStyle/>
            <a:p>
              <a:endParaRPr lang="zh-CN" altLang="en-US"/>
            </a:p>
          </p:txBody>
        </p:sp>
        <p:sp>
          <p:nvSpPr>
            <p:cNvPr id="13" name="Line 12">
              <a:extLst>
                <a:ext uri="{FF2B5EF4-FFF2-40B4-BE49-F238E27FC236}">
                  <a16:creationId xmlns:a16="http://schemas.microsoft.com/office/drawing/2014/main" id="{69E6FB53-7360-487E-8C58-4DA35701A224}"/>
                </a:ext>
              </a:extLst>
            </p:cNvPr>
            <p:cNvSpPr>
              <a:spLocks noChangeShapeType="1"/>
            </p:cNvSpPr>
            <p:nvPr/>
          </p:nvSpPr>
          <p:spPr bwMode="auto">
            <a:xfrm>
              <a:off x="2628" y="1179"/>
              <a:ext cx="0" cy="282"/>
            </a:xfrm>
            <a:prstGeom prst="line">
              <a:avLst/>
            </a:prstGeom>
            <a:grpFill/>
            <a:ln w="9525">
              <a:solidFill>
                <a:schemeClr val="tx1"/>
              </a:solidFill>
              <a:round/>
              <a:headEnd/>
              <a:tailEnd/>
            </a:ln>
          </p:spPr>
          <p:txBody>
            <a:bodyPr/>
            <a:lstStyle/>
            <a:p>
              <a:endParaRPr lang="zh-CN" altLang="en-US"/>
            </a:p>
          </p:txBody>
        </p:sp>
        <p:sp>
          <p:nvSpPr>
            <p:cNvPr id="14" name="Line 13">
              <a:extLst>
                <a:ext uri="{FF2B5EF4-FFF2-40B4-BE49-F238E27FC236}">
                  <a16:creationId xmlns:a16="http://schemas.microsoft.com/office/drawing/2014/main" id="{AE8B9273-4F05-44C0-AC2D-B25EB703A33C}"/>
                </a:ext>
              </a:extLst>
            </p:cNvPr>
            <p:cNvSpPr>
              <a:spLocks noChangeShapeType="1"/>
            </p:cNvSpPr>
            <p:nvPr/>
          </p:nvSpPr>
          <p:spPr bwMode="auto">
            <a:xfrm>
              <a:off x="2358" y="1273"/>
              <a:ext cx="360" cy="0"/>
            </a:xfrm>
            <a:prstGeom prst="line">
              <a:avLst/>
            </a:prstGeom>
            <a:grpFill/>
            <a:ln w="9525">
              <a:solidFill>
                <a:schemeClr val="tx1"/>
              </a:solidFill>
              <a:round/>
              <a:headEnd/>
              <a:tailEnd/>
            </a:ln>
          </p:spPr>
          <p:txBody>
            <a:bodyPr/>
            <a:lstStyle/>
            <a:p>
              <a:endParaRPr lang="zh-CN" altLang="en-US"/>
            </a:p>
          </p:txBody>
        </p:sp>
        <p:sp>
          <p:nvSpPr>
            <p:cNvPr id="15" name="Line 14">
              <a:extLst>
                <a:ext uri="{FF2B5EF4-FFF2-40B4-BE49-F238E27FC236}">
                  <a16:creationId xmlns:a16="http://schemas.microsoft.com/office/drawing/2014/main" id="{C37B35B6-E804-4BCC-8997-6C411126F2B5}"/>
                </a:ext>
              </a:extLst>
            </p:cNvPr>
            <p:cNvSpPr>
              <a:spLocks noChangeShapeType="1"/>
            </p:cNvSpPr>
            <p:nvPr/>
          </p:nvSpPr>
          <p:spPr bwMode="auto">
            <a:xfrm>
              <a:off x="2358" y="1367"/>
              <a:ext cx="360" cy="0"/>
            </a:xfrm>
            <a:prstGeom prst="line">
              <a:avLst/>
            </a:prstGeom>
            <a:grpFill/>
            <a:ln w="9525">
              <a:solidFill>
                <a:schemeClr val="tx1"/>
              </a:solidFill>
              <a:round/>
              <a:headEnd/>
              <a:tailEnd/>
            </a:ln>
          </p:spPr>
          <p:txBody>
            <a:bodyPr/>
            <a:lstStyle/>
            <a:p>
              <a:endParaRPr lang="zh-CN" altLang="en-US"/>
            </a:p>
          </p:txBody>
        </p:sp>
        <p:sp>
          <p:nvSpPr>
            <p:cNvPr id="16" name="Rectangle 15">
              <a:extLst>
                <a:ext uri="{FF2B5EF4-FFF2-40B4-BE49-F238E27FC236}">
                  <a16:creationId xmlns:a16="http://schemas.microsoft.com/office/drawing/2014/main" id="{5A689ECF-CF9A-40EE-88FD-1F0D63C9B7E2}"/>
                </a:ext>
              </a:extLst>
            </p:cNvPr>
            <p:cNvSpPr>
              <a:spLocks noChangeArrowheads="1"/>
            </p:cNvSpPr>
            <p:nvPr/>
          </p:nvSpPr>
          <p:spPr bwMode="auto">
            <a:xfrm>
              <a:off x="3078" y="1179"/>
              <a:ext cx="360" cy="282"/>
            </a:xfrm>
            <a:prstGeom prst="rect">
              <a:avLst/>
            </a:prstGeom>
            <a:grpFill/>
            <a:ln w="9525">
              <a:solidFill>
                <a:schemeClr val="tx1"/>
              </a:solidFill>
              <a:miter lim="800000"/>
              <a:headEnd/>
              <a:tailEnd/>
            </a:ln>
          </p:spPr>
          <p:txBody>
            <a:bodyPr/>
            <a:lstStyle/>
            <a:p>
              <a:endParaRPr lang="zh-CN" altLang="en-US"/>
            </a:p>
          </p:txBody>
        </p:sp>
        <p:sp>
          <p:nvSpPr>
            <p:cNvPr id="17" name="Line 16">
              <a:extLst>
                <a:ext uri="{FF2B5EF4-FFF2-40B4-BE49-F238E27FC236}">
                  <a16:creationId xmlns:a16="http://schemas.microsoft.com/office/drawing/2014/main" id="{E857373D-240A-49B8-8D04-AD62CAC7A2A0}"/>
                </a:ext>
              </a:extLst>
            </p:cNvPr>
            <p:cNvSpPr>
              <a:spLocks noChangeShapeType="1"/>
            </p:cNvSpPr>
            <p:nvPr/>
          </p:nvSpPr>
          <p:spPr bwMode="auto">
            <a:xfrm>
              <a:off x="3168" y="1179"/>
              <a:ext cx="0" cy="282"/>
            </a:xfrm>
            <a:prstGeom prst="line">
              <a:avLst/>
            </a:prstGeom>
            <a:grpFill/>
            <a:ln w="9525">
              <a:solidFill>
                <a:schemeClr val="tx1"/>
              </a:solidFill>
              <a:round/>
              <a:headEnd/>
              <a:tailEnd/>
            </a:ln>
          </p:spPr>
          <p:txBody>
            <a:bodyPr/>
            <a:lstStyle/>
            <a:p>
              <a:endParaRPr lang="zh-CN" altLang="en-US"/>
            </a:p>
          </p:txBody>
        </p:sp>
        <p:sp>
          <p:nvSpPr>
            <p:cNvPr id="18" name="Line 17">
              <a:extLst>
                <a:ext uri="{FF2B5EF4-FFF2-40B4-BE49-F238E27FC236}">
                  <a16:creationId xmlns:a16="http://schemas.microsoft.com/office/drawing/2014/main" id="{EAB36877-1644-4421-BEBD-2E8B87035754}"/>
                </a:ext>
              </a:extLst>
            </p:cNvPr>
            <p:cNvSpPr>
              <a:spLocks noChangeShapeType="1"/>
            </p:cNvSpPr>
            <p:nvPr/>
          </p:nvSpPr>
          <p:spPr bwMode="auto">
            <a:xfrm>
              <a:off x="3258" y="1179"/>
              <a:ext cx="0" cy="282"/>
            </a:xfrm>
            <a:prstGeom prst="line">
              <a:avLst/>
            </a:prstGeom>
            <a:grpFill/>
            <a:ln w="9525">
              <a:solidFill>
                <a:schemeClr val="tx1"/>
              </a:solidFill>
              <a:round/>
              <a:headEnd/>
              <a:tailEnd/>
            </a:ln>
          </p:spPr>
          <p:txBody>
            <a:bodyPr/>
            <a:lstStyle/>
            <a:p>
              <a:endParaRPr lang="zh-CN" altLang="en-US"/>
            </a:p>
          </p:txBody>
        </p:sp>
        <p:sp>
          <p:nvSpPr>
            <p:cNvPr id="19" name="Line 18">
              <a:extLst>
                <a:ext uri="{FF2B5EF4-FFF2-40B4-BE49-F238E27FC236}">
                  <a16:creationId xmlns:a16="http://schemas.microsoft.com/office/drawing/2014/main" id="{D0E9959A-FB49-4BA6-9185-261F73C33B2C}"/>
                </a:ext>
              </a:extLst>
            </p:cNvPr>
            <p:cNvSpPr>
              <a:spLocks noChangeShapeType="1"/>
            </p:cNvSpPr>
            <p:nvPr/>
          </p:nvSpPr>
          <p:spPr bwMode="auto">
            <a:xfrm>
              <a:off x="3348" y="1179"/>
              <a:ext cx="0" cy="282"/>
            </a:xfrm>
            <a:prstGeom prst="line">
              <a:avLst/>
            </a:prstGeom>
            <a:grpFill/>
            <a:ln w="9525">
              <a:solidFill>
                <a:schemeClr val="tx1"/>
              </a:solidFill>
              <a:round/>
              <a:headEnd/>
              <a:tailEnd/>
            </a:ln>
          </p:spPr>
          <p:txBody>
            <a:bodyPr/>
            <a:lstStyle/>
            <a:p>
              <a:endParaRPr lang="zh-CN" altLang="en-US"/>
            </a:p>
          </p:txBody>
        </p:sp>
        <p:sp>
          <p:nvSpPr>
            <p:cNvPr id="20" name="Line 19">
              <a:extLst>
                <a:ext uri="{FF2B5EF4-FFF2-40B4-BE49-F238E27FC236}">
                  <a16:creationId xmlns:a16="http://schemas.microsoft.com/office/drawing/2014/main" id="{B9F64DE9-1985-4612-B679-7212DA3266B4}"/>
                </a:ext>
              </a:extLst>
            </p:cNvPr>
            <p:cNvSpPr>
              <a:spLocks noChangeShapeType="1"/>
            </p:cNvSpPr>
            <p:nvPr/>
          </p:nvSpPr>
          <p:spPr bwMode="auto">
            <a:xfrm>
              <a:off x="3078" y="1273"/>
              <a:ext cx="360" cy="0"/>
            </a:xfrm>
            <a:prstGeom prst="line">
              <a:avLst/>
            </a:prstGeom>
            <a:grpFill/>
            <a:ln w="9525">
              <a:solidFill>
                <a:schemeClr val="tx1"/>
              </a:solidFill>
              <a:round/>
              <a:headEnd/>
              <a:tailEnd/>
            </a:ln>
          </p:spPr>
          <p:txBody>
            <a:bodyPr/>
            <a:lstStyle/>
            <a:p>
              <a:endParaRPr lang="zh-CN" altLang="en-US"/>
            </a:p>
          </p:txBody>
        </p:sp>
        <p:sp>
          <p:nvSpPr>
            <p:cNvPr id="21" name="Line 20">
              <a:extLst>
                <a:ext uri="{FF2B5EF4-FFF2-40B4-BE49-F238E27FC236}">
                  <a16:creationId xmlns:a16="http://schemas.microsoft.com/office/drawing/2014/main" id="{3FDE4EC8-14F3-450A-83C6-3226A34C91EC}"/>
                </a:ext>
              </a:extLst>
            </p:cNvPr>
            <p:cNvSpPr>
              <a:spLocks noChangeShapeType="1"/>
            </p:cNvSpPr>
            <p:nvPr/>
          </p:nvSpPr>
          <p:spPr bwMode="auto">
            <a:xfrm>
              <a:off x="3078" y="1367"/>
              <a:ext cx="360" cy="0"/>
            </a:xfrm>
            <a:prstGeom prst="line">
              <a:avLst/>
            </a:prstGeom>
            <a:grpFill/>
            <a:ln w="9525">
              <a:solidFill>
                <a:schemeClr val="tx1"/>
              </a:solidFill>
              <a:round/>
              <a:headEnd/>
              <a:tailEnd/>
            </a:ln>
          </p:spPr>
          <p:txBody>
            <a:bodyPr/>
            <a:lstStyle/>
            <a:p>
              <a:endParaRPr lang="zh-CN" altLang="en-US"/>
            </a:p>
          </p:txBody>
        </p:sp>
        <p:sp>
          <p:nvSpPr>
            <p:cNvPr id="22" name="Rectangle 21">
              <a:extLst>
                <a:ext uri="{FF2B5EF4-FFF2-40B4-BE49-F238E27FC236}">
                  <a16:creationId xmlns:a16="http://schemas.microsoft.com/office/drawing/2014/main" id="{538FFF10-9500-4D75-89C0-274508257661}"/>
                </a:ext>
              </a:extLst>
            </p:cNvPr>
            <p:cNvSpPr>
              <a:spLocks noChangeArrowheads="1"/>
            </p:cNvSpPr>
            <p:nvPr/>
          </p:nvSpPr>
          <p:spPr bwMode="auto">
            <a:xfrm>
              <a:off x="2358" y="1930"/>
              <a:ext cx="360" cy="281"/>
            </a:xfrm>
            <a:prstGeom prst="rect">
              <a:avLst/>
            </a:prstGeom>
            <a:grpFill/>
            <a:ln w="9525">
              <a:solidFill>
                <a:schemeClr val="tx1"/>
              </a:solidFill>
              <a:miter lim="800000"/>
              <a:headEnd/>
              <a:tailEnd/>
            </a:ln>
          </p:spPr>
          <p:txBody>
            <a:bodyPr/>
            <a:lstStyle/>
            <a:p>
              <a:endParaRPr lang="zh-CN" altLang="en-US"/>
            </a:p>
          </p:txBody>
        </p:sp>
        <p:sp>
          <p:nvSpPr>
            <p:cNvPr id="23" name="Line 22">
              <a:extLst>
                <a:ext uri="{FF2B5EF4-FFF2-40B4-BE49-F238E27FC236}">
                  <a16:creationId xmlns:a16="http://schemas.microsoft.com/office/drawing/2014/main" id="{90A93A50-EAAB-46F0-873F-7E679A598E46}"/>
                </a:ext>
              </a:extLst>
            </p:cNvPr>
            <p:cNvSpPr>
              <a:spLocks noChangeShapeType="1"/>
            </p:cNvSpPr>
            <p:nvPr/>
          </p:nvSpPr>
          <p:spPr bwMode="auto">
            <a:xfrm>
              <a:off x="2448" y="1930"/>
              <a:ext cx="0" cy="281"/>
            </a:xfrm>
            <a:prstGeom prst="line">
              <a:avLst/>
            </a:prstGeom>
            <a:grpFill/>
            <a:ln w="9525">
              <a:solidFill>
                <a:schemeClr val="tx1"/>
              </a:solidFill>
              <a:round/>
              <a:headEnd/>
              <a:tailEnd/>
            </a:ln>
          </p:spPr>
          <p:txBody>
            <a:bodyPr/>
            <a:lstStyle/>
            <a:p>
              <a:endParaRPr lang="zh-CN" altLang="en-US"/>
            </a:p>
          </p:txBody>
        </p:sp>
        <p:sp>
          <p:nvSpPr>
            <p:cNvPr id="24" name="Line 23">
              <a:extLst>
                <a:ext uri="{FF2B5EF4-FFF2-40B4-BE49-F238E27FC236}">
                  <a16:creationId xmlns:a16="http://schemas.microsoft.com/office/drawing/2014/main" id="{7EA2000C-9252-4456-A6F9-49274B8E6117}"/>
                </a:ext>
              </a:extLst>
            </p:cNvPr>
            <p:cNvSpPr>
              <a:spLocks noChangeShapeType="1"/>
            </p:cNvSpPr>
            <p:nvPr/>
          </p:nvSpPr>
          <p:spPr bwMode="auto">
            <a:xfrm>
              <a:off x="2538" y="1930"/>
              <a:ext cx="0" cy="281"/>
            </a:xfrm>
            <a:prstGeom prst="line">
              <a:avLst/>
            </a:prstGeom>
            <a:grpFill/>
            <a:ln w="9525">
              <a:solidFill>
                <a:schemeClr val="tx1"/>
              </a:solidFill>
              <a:round/>
              <a:headEnd/>
              <a:tailEnd/>
            </a:ln>
          </p:spPr>
          <p:txBody>
            <a:bodyPr/>
            <a:lstStyle/>
            <a:p>
              <a:endParaRPr lang="zh-CN" altLang="en-US"/>
            </a:p>
          </p:txBody>
        </p:sp>
        <p:sp>
          <p:nvSpPr>
            <p:cNvPr id="25" name="Line 24">
              <a:extLst>
                <a:ext uri="{FF2B5EF4-FFF2-40B4-BE49-F238E27FC236}">
                  <a16:creationId xmlns:a16="http://schemas.microsoft.com/office/drawing/2014/main" id="{4FE44EBF-DBEC-4F2F-AA4B-A5810F3766FD}"/>
                </a:ext>
              </a:extLst>
            </p:cNvPr>
            <p:cNvSpPr>
              <a:spLocks noChangeShapeType="1"/>
            </p:cNvSpPr>
            <p:nvPr/>
          </p:nvSpPr>
          <p:spPr bwMode="auto">
            <a:xfrm>
              <a:off x="2628" y="1930"/>
              <a:ext cx="0" cy="281"/>
            </a:xfrm>
            <a:prstGeom prst="line">
              <a:avLst/>
            </a:prstGeom>
            <a:grpFill/>
            <a:ln w="9525">
              <a:solidFill>
                <a:schemeClr val="tx1"/>
              </a:solidFill>
              <a:round/>
              <a:headEnd/>
              <a:tailEnd/>
            </a:ln>
          </p:spPr>
          <p:txBody>
            <a:bodyPr/>
            <a:lstStyle/>
            <a:p>
              <a:endParaRPr lang="zh-CN" altLang="en-US"/>
            </a:p>
          </p:txBody>
        </p:sp>
        <p:sp>
          <p:nvSpPr>
            <p:cNvPr id="26" name="Line 25">
              <a:extLst>
                <a:ext uri="{FF2B5EF4-FFF2-40B4-BE49-F238E27FC236}">
                  <a16:creationId xmlns:a16="http://schemas.microsoft.com/office/drawing/2014/main" id="{FB0D0521-D61C-450C-AC44-AD70941DAFE2}"/>
                </a:ext>
              </a:extLst>
            </p:cNvPr>
            <p:cNvSpPr>
              <a:spLocks noChangeShapeType="1"/>
            </p:cNvSpPr>
            <p:nvPr/>
          </p:nvSpPr>
          <p:spPr bwMode="auto">
            <a:xfrm>
              <a:off x="2358" y="2023"/>
              <a:ext cx="360" cy="0"/>
            </a:xfrm>
            <a:prstGeom prst="line">
              <a:avLst/>
            </a:prstGeom>
            <a:grpFill/>
            <a:ln w="9525">
              <a:solidFill>
                <a:schemeClr val="tx1"/>
              </a:solidFill>
              <a:round/>
              <a:headEnd/>
              <a:tailEnd/>
            </a:ln>
          </p:spPr>
          <p:txBody>
            <a:bodyPr/>
            <a:lstStyle/>
            <a:p>
              <a:endParaRPr lang="zh-CN" altLang="en-US"/>
            </a:p>
          </p:txBody>
        </p:sp>
        <p:sp>
          <p:nvSpPr>
            <p:cNvPr id="27" name="Line 26">
              <a:extLst>
                <a:ext uri="{FF2B5EF4-FFF2-40B4-BE49-F238E27FC236}">
                  <a16:creationId xmlns:a16="http://schemas.microsoft.com/office/drawing/2014/main" id="{30FC90DB-118D-4800-8857-038AE32D76C5}"/>
                </a:ext>
              </a:extLst>
            </p:cNvPr>
            <p:cNvSpPr>
              <a:spLocks noChangeShapeType="1"/>
            </p:cNvSpPr>
            <p:nvPr/>
          </p:nvSpPr>
          <p:spPr bwMode="auto">
            <a:xfrm>
              <a:off x="2358" y="2117"/>
              <a:ext cx="360" cy="0"/>
            </a:xfrm>
            <a:prstGeom prst="line">
              <a:avLst/>
            </a:prstGeom>
            <a:grpFill/>
            <a:ln w="9525">
              <a:solidFill>
                <a:schemeClr val="tx1"/>
              </a:solidFill>
              <a:round/>
              <a:headEnd/>
              <a:tailEnd/>
            </a:ln>
          </p:spPr>
          <p:txBody>
            <a:bodyPr/>
            <a:lstStyle/>
            <a:p>
              <a:endParaRPr lang="zh-CN" altLang="en-US"/>
            </a:p>
          </p:txBody>
        </p:sp>
        <p:sp>
          <p:nvSpPr>
            <p:cNvPr id="28" name="Rectangle 27">
              <a:extLst>
                <a:ext uri="{FF2B5EF4-FFF2-40B4-BE49-F238E27FC236}">
                  <a16:creationId xmlns:a16="http://schemas.microsoft.com/office/drawing/2014/main" id="{5BB9EFCE-D118-4A69-A2BC-C2C831AE1D61}"/>
                </a:ext>
              </a:extLst>
            </p:cNvPr>
            <p:cNvSpPr>
              <a:spLocks noChangeArrowheads="1"/>
            </p:cNvSpPr>
            <p:nvPr/>
          </p:nvSpPr>
          <p:spPr bwMode="auto">
            <a:xfrm>
              <a:off x="3078" y="1930"/>
              <a:ext cx="360" cy="281"/>
            </a:xfrm>
            <a:prstGeom prst="rect">
              <a:avLst/>
            </a:prstGeom>
            <a:grpFill/>
            <a:ln w="9525">
              <a:solidFill>
                <a:schemeClr val="tx1"/>
              </a:solidFill>
              <a:miter lim="800000"/>
              <a:headEnd/>
              <a:tailEnd/>
            </a:ln>
          </p:spPr>
          <p:txBody>
            <a:bodyPr/>
            <a:lstStyle/>
            <a:p>
              <a:endParaRPr lang="zh-CN" altLang="en-US"/>
            </a:p>
          </p:txBody>
        </p:sp>
        <p:sp>
          <p:nvSpPr>
            <p:cNvPr id="29" name="Line 28">
              <a:extLst>
                <a:ext uri="{FF2B5EF4-FFF2-40B4-BE49-F238E27FC236}">
                  <a16:creationId xmlns:a16="http://schemas.microsoft.com/office/drawing/2014/main" id="{D8EF6B6D-AE8D-472B-AAF9-74BC04E46039}"/>
                </a:ext>
              </a:extLst>
            </p:cNvPr>
            <p:cNvSpPr>
              <a:spLocks noChangeShapeType="1"/>
            </p:cNvSpPr>
            <p:nvPr/>
          </p:nvSpPr>
          <p:spPr bwMode="auto">
            <a:xfrm>
              <a:off x="3168" y="1930"/>
              <a:ext cx="0" cy="281"/>
            </a:xfrm>
            <a:prstGeom prst="line">
              <a:avLst/>
            </a:prstGeom>
            <a:grpFill/>
            <a:ln w="9525">
              <a:solidFill>
                <a:schemeClr val="tx1"/>
              </a:solidFill>
              <a:round/>
              <a:headEnd/>
              <a:tailEnd/>
            </a:ln>
          </p:spPr>
          <p:txBody>
            <a:bodyPr/>
            <a:lstStyle/>
            <a:p>
              <a:endParaRPr lang="zh-CN" altLang="en-US"/>
            </a:p>
          </p:txBody>
        </p:sp>
        <p:sp>
          <p:nvSpPr>
            <p:cNvPr id="30" name="Line 29">
              <a:extLst>
                <a:ext uri="{FF2B5EF4-FFF2-40B4-BE49-F238E27FC236}">
                  <a16:creationId xmlns:a16="http://schemas.microsoft.com/office/drawing/2014/main" id="{CC61A96C-D89D-48FC-B880-ED877CA08F0A}"/>
                </a:ext>
              </a:extLst>
            </p:cNvPr>
            <p:cNvSpPr>
              <a:spLocks noChangeShapeType="1"/>
            </p:cNvSpPr>
            <p:nvPr/>
          </p:nvSpPr>
          <p:spPr bwMode="auto">
            <a:xfrm>
              <a:off x="3258" y="1930"/>
              <a:ext cx="0" cy="281"/>
            </a:xfrm>
            <a:prstGeom prst="line">
              <a:avLst/>
            </a:prstGeom>
            <a:grpFill/>
            <a:ln w="9525">
              <a:solidFill>
                <a:schemeClr val="tx1"/>
              </a:solidFill>
              <a:round/>
              <a:headEnd/>
              <a:tailEnd/>
            </a:ln>
          </p:spPr>
          <p:txBody>
            <a:bodyPr/>
            <a:lstStyle/>
            <a:p>
              <a:endParaRPr lang="zh-CN" altLang="en-US"/>
            </a:p>
          </p:txBody>
        </p:sp>
        <p:sp>
          <p:nvSpPr>
            <p:cNvPr id="31" name="Line 30">
              <a:extLst>
                <a:ext uri="{FF2B5EF4-FFF2-40B4-BE49-F238E27FC236}">
                  <a16:creationId xmlns:a16="http://schemas.microsoft.com/office/drawing/2014/main" id="{576E33CC-89B7-42AF-8404-764A16436A5E}"/>
                </a:ext>
              </a:extLst>
            </p:cNvPr>
            <p:cNvSpPr>
              <a:spLocks noChangeShapeType="1"/>
            </p:cNvSpPr>
            <p:nvPr/>
          </p:nvSpPr>
          <p:spPr bwMode="auto">
            <a:xfrm>
              <a:off x="3348" y="1930"/>
              <a:ext cx="0" cy="281"/>
            </a:xfrm>
            <a:prstGeom prst="line">
              <a:avLst/>
            </a:prstGeom>
            <a:grpFill/>
            <a:ln w="9525">
              <a:solidFill>
                <a:schemeClr val="tx1"/>
              </a:solidFill>
              <a:round/>
              <a:headEnd/>
              <a:tailEnd/>
            </a:ln>
          </p:spPr>
          <p:txBody>
            <a:bodyPr/>
            <a:lstStyle/>
            <a:p>
              <a:endParaRPr lang="zh-CN" altLang="en-US"/>
            </a:p>
          </p:txBody>
        </p:sp>
        <p:sp>
          <p:nvSpPr>
            <p:cNvPr id="32" name="Line 31">
              <a:extLst>
                <a:ext uri="{FF2B5EF4-FFF2-40B4-BE49-F238E27FC236}">
                  <a16:creationId xmlns:a16="http://schemas.microsoft.com/office/drawing/2014/main" id="{9BD55F4C-C819-4853-B052-CAFCB3D285AA}"/>
                </a:ext>
              </a:extLst>
            </p:cNvPr>
            <p:cNvSpPr>
              <a:spLocks noChangeShapeType="1"/>
            </p:cNvSpPr>
            <p:nvPr/>
          </p:nvSpPr>
          <p:spPr bwMode="auto">
            <a:xfrm>
              <a:off x="3078" y="2023"/>
              <a:ext cx="360" cy="0"/>
            </a:xfrm>
            <a:prstGeom prst="line">
              <a:avLst/>
            </a:prstGeom>
            <a:grpFill/>
            <a:ln w="9525">
              <a:solidFill>
                <a:schemeClr val="tx1"/>
              </a:solidFill>
              <a:round/>
              <a:headEnd/>
              <a:tailEnd/>
            </a:ln>
          </p:spPr>
          <p:txBody>
            <a:bodyPr/>
            <a:lstStyle/>
            <a:p>
              <a:endParaRPr lang="zh-CN" altLang="en-US"/>
            </a:p>
          </p:txBody>
        </p:sp>
        <p:sp>
          <p:nvSpPr>
            <p:cNvPr id="33" name="Line 32">
              <a:extLst>
                <a:ext uri="{FF2B5EF4-FFF2-40B4-BE49-F238E27FC236}">
                  <a16:creationId xmlns:a16="http://schemas.microsoft.com/office/drawing/2014/main" id="{7694498B-6EBA-409E-9E1A-7511966B288A}"/>
                </a:ext>
              </a:extLst>
            </p:cNvPr>
            <p:cNvSpPr>
              <a:spLocks noChangeShapeType="1"/>
            </p:cNvSpPr>
            <p:nvPr/>
          </p:nvSpPr>
          <p:spPr bwMode="auto">
            <a:xfrm>
              <a:off x="3078" y="2117"/>
              <a:ext cx="360" cy="0"/>
            </a:xfrm>
            <a:prstGeom prst="line">
              <a:avLst/>
            </a:prstGeom>
            <a:grpFill/>
            <a:ln w="9525">
              <a:solidFill>
                <a:schemeClr val="tx1"/>
              </a:solidFill>
              <a:round/>
              <a:headEnd/>
              <a:tailEnd/>
            </a:ln>
          </p:spPr>
          <p:txBody>
            <a:bodyPr/>
            <a:lstStyle/>
            <a:p>
              <a:endParaRPr lang="zh-CN" altLang="en-US"/>
            </a:p>
          </p:txBody>
        </p:sp>
        <p:sp>
          <p:nvSpPr>
            <p:cNvPr id="34" name="Rectangle 33">
              <a:extLst>
                <a:ext uri="{FF2B5EF4-FFF2-40B4-BE49-F238E27FC236}">
                  <a16:creationId xmlns:a16="http://schemas.microsoft.com/office/drawing/2014/main" id="{7841956E-CFF0-4F85-93B0-3D3CA19CAED0}"/>
                </a:ext>
              </a:extLst>
            </p:cNvPr>
            <p:cNvSpPr>
              <a:spLocks noChangeArrowheads="1"/>
            </p:cNvSpPr>
            <p:nvPr/>
          </p:nvSpPr>
          <p:spPr bwMode="auto">
            <a:xfrm>
              <a:off x="768" y="1179"/>
              <a:ext cx="690" cy="282"/>
            </a:xfrm>
            <a:prstGeom prst="rect">
              <a:avLst/>
            </a:prstGeom>
            <a:grpFill/>
            <a:ln>
              <a:noFill/>
            </a:ln>
            <a:extLst>
              <a:ext uri="{91240B29-F687-4F45-9708-019B960494DF}">
                <a14:hiddenLine xmlns:a14="http://schemas.microsoft.com/office/drawing/2010/main" w="9525">
                  <a:solidFill>
                    <a:schemeClr val="tx1"/>
                  </a:solidFill>
                  <a:miter lim="800000"/>
                  <a:headEnd/>
                  <a:tailEnd/>
                </a14:hiddenLine>
              </a:ext>
            </a:extLst>
          </p:spPr>
          <p:txBody>
            <a:bodyPr lIns="0" tIns="0" rIns="0" bIns="0"/>
            <a:lstStyle/>
            <a:p>
              <a:pPr algn="ctr" eaLnBrk="0" hangingPunct="0"/>
              <a:r>
                <a:rPr lang="zh-CN" altLang="en-US" sz="2400" dirty="0">
                  <a:latin typeface="楷体_GB2312" pitchFamily="49" charset="-122"/>
                  <a:ea typeface="楷体_GB2312" pitchFamily="49" charset="-122"/>
                </a:rPr>
                <a:t>主串</a:t>
              </a:r>
              <a:r>
                <a:rPr lang="en-US" altLang="zh-CN" sz="2400" dirty="0">
                  <a:latin typeface="楷体_GB2312" pitchFamily="49" charset="-122"/>
                  <a:ea typeface="楷体_GB2312" pitchFamily="49" charset="-122"/>
                </a:rPr>
                <a:t>s</a:t>
              </a:r>
            </a:p>
          </p:txBody>
        </p:sp>
        <p:sp>
          <p:nvSpPr>
            <p:cNvPr id="35" name="Rectangle 34">
              <a:extLst>
                <a:ext uri="{FF2B5EF4-FFF2-40B4-BE49-F238E27FC236}">
                  <a16:creationId xmlns:a16="http://schemas.microsoft.com/office/drawing/2014/main" id="{7DF34FFF-68B9-4E3B-9F5F-97022FA68FDB}"/>
                </a:ext>
              </a:extLst>
            </p:cNvPr>
            <p:cNvSpPr>
              <a:spLocks noChangeArrowheads="1"/>
            </p:cNvSpPr>
            <p:nvPr/>
          </p:nvSpPr>
          <p:spPr bwMode="auto">
            <a:xfrm>
              <a:off x="3288" y="781"/>
              <a:ext cx="135" cy="294"/>
            </a:xfrm>
            <a:prstGeom prst="rect">
              <a:avLst/>
            </a:prstGeom>
            <a:grpFill/>
            <a:ln>
              <a:noFill/>
            </a:ln>
            <a:extLst>
              <a:ext uri="{91240B29-F687-4F45-9708-019B960494DF}">
                <a14:hiddenLine xmlns:a14="http://schemas.microsoft.com/office/drawing/2010/main" w="9525">
                  <a:solidFill>
                    <a:schemeClr val="tx1"/>
                  </a:solidFill>
                  <a:miter lim="800000"/>
                  <a:headEnd/>
                  <a:tailEnd/>
                </a14:hiddenLine>
              </a:ext>
            </a:extLst>
          </p:spPr>
          <p:txBody>
            <a:bodyPr lIns="0" tIns="0" rIns="0" bIns="0"/>
            <a:lstStyle/>
            <a:p>
              <a:pPr algn="ctr" eaLnBrk="0" hangingPunct="0"/>
              <a:r>
                <a:rPr lang="en-US" altLang="zh-CN" sz="2400">
                  <a:latin typeface="楷体_GB2312" pitchFamily="49" charset="-122"/>
                  <a:ea typeface="楷体_GB2312" pitchFamily="49" charset="-122"/>
                </a:rPr>
                <a:t>i</a:t>
              </a:r>
            </a:p>
          </p:txBody>
        </p:sp>
        <p:sp>
          <p:nvSpPr>
            <p:cNvPr id="36" name="Line 35">
              <a:extLst>
                <a:ext uri="{FF2B5EF4-FFF2-40B4-BE49-F238E27FC236}">
                  <a16:creationId xmlns:a16="http://schemas.microsoft.com/office/drawing/2014/main" id="{5F249C9B-C3B4-4B2D-8D14-E56D37AE7E53}"/>
                </a:ext>
              </a:extLst>
            </p:cNvPr>
            <p:cNvSpPr>
              <a:spLocks noChangeShapeType="1"/>
            </p:cNvSpPr>
            <p:nvPr/>
          </p:nvSpPr>
          <p:spPr bwMode="auto">
            <a:xfrm>
              <a:off x="3528" y="768"/>
              <a:ext cx="0" cy="375"/>
            </a:xfrm>
            <a:prstGeom prst="line">
              <a:avLst/>
            </a:prstGeom>
            <a:grpFill/>
            <a:ln w="9525">
              <a:solidFill>
                <a:schemeClr val="tx1"/>
              </a:solidFill>
              <a:round/>
              <a:headEnd/>
              <a:tailEnd type="triangle" w="sm" len="sm"/>
            </a:ln>
          </p:spPr>
          <p:txBody>
            <a:bodyPr/>
            <a:lstStyle/>
            <a:p>
              <a:endParaRPr lang="zh-CN" altLang="en-US"/>
            </a:p>
          </p:txBody>
        </p:sp>
        <p:sp>
          <p:nvSpPr>
            <p:cNvPr id="37" name="Rectangle 36">
              <a:extLst>
                <a:ext uri="{FF2B5EF4-FFF2-40B4-BE49-F238E27FC236}">
                  <a16:creationId xmlns:a16="http://schemas.microsoft.com/office/drawing/2014/main" id="{D51ADBB9-5292-4226-9DBF-D79B0E06A616}"/>
                </a:ext>
              </a:extLst>
            </p:cNvPr>
            <p:cNvSpPr>
              <a:spLocks noChangeArrowheads="1"/>
            </p:cNvSpPr>
            <p:nvPr/>
          </p:nvSpPr>
          <p:spPr bwMode="auto">
            <a:xfrm>
              <a:off x="2718" y="1930"/>
              <a:ext cx="360" cy="281"/>
            </a:xfrm>
            <a:prstGeom prst="rect">
              <a:avLst/>
            </a:prstGeom>
            <a:grpFill/>
            <a:ln w="9525">
              <a:solidFill>
                <a:schemeClr val="tx1"/>
              </a:solidFill>
              <a:miter lim="800000"/>
              <a:headEnd/>
              <a:tailEnd/>
            </a:ln>
          </p:spPr>
          <p:txBody>
            <a:bodyPr/>
            <a:lstStyle/>
            <a:p>
              <a:endParaRPr lang="zh-CN" altLang="en-US"/>
            </a:p>
          </p:txBody>
        </p:sp>
        <p:sp>
          <p:nvSpPr>
            <p:cNvPr id="38" name="Line 37">
              <a:extLst>
                <a:ext uri="{FF2B5EF4-FFF2-40B4-BE49-F238E27FC236}">
                  <a16:creationId xmlns:a16="http://schemas.microsoft.com/office/drawing/2014/main" id="{92098D14-CF26-42E1-AF73-0DB36BBB0B09}"/>
                </a:ext>
              </a:extLst>
            </p:cNvPr>
            <p:cNvSpPr>
              <a:spLocks noChangeShapeType="1"/>
            </p:cNvSpPr>
            <p:nvPr/>
          </p:nvSpPr>
          <p:spPr bwMode="auto">
            <a:xfrm>
              <a:off x="3618" y="1930"/>
              <a:ext cx="540" cy="0"/>
            </a:xfrm>
            <a:prstGeom prst="line">
              <a:avLst/>
            </a:prstGeom>
            <a:grpFill/>
            <a:ln w="9525">
              <a:solidFill>
                <a:schemeClr val="tx1"/>
              </a:solidFill>
              <a:round/>
              <a:headEnd/>
              <a:tailEnd/>
            </a:ln>
          </p:spPr>
          <p:txBody>
            <a:bodyPr/>
            <a:lstStyle/>
            <a:p>
              <a:endParaRPr lang="zh-CN" altLang="en-US"/>
            </a:p>
          </p:txBody>
        </p:sp>
        <p:sp>
          <p:nvSpPr>
            <p:cNvPr id="39" name="Line 38">
              <a:extLst>
                <a:ext uri="{FF2B5EF4-FFF2-40B4-BE49-F238E27FC236}">
                  <a16:creationId xmlns:a16="http://schemas.microsoft.com/office/drawing/2014/main" id="{C15AA071-DCF1-4B62-9DA4-BE76FBE5C2DA}"/>
                </a:ext>
              </a:extLst>
            </p:cNvPr>
            <p:cNvSpPr>
              <a:spLocks noChangeShapeType="1"/>
            </p:cNvSpPr>
            <p:nvPr/>
          </p:nvSpPr>
          <p:spPr bwMode="auto">
            <a:xfrm>
              <a:off x="3618" y="2211"/>
              <a:ext cx="540" cy="0"/>
            </a:xfrm>
            <a:prstGeom prst="line">
              <a:avLst/>
            </a:prstGeom>
            <a:grpFill/>
            <a:ln w="9525">
              <a:solidFill>
                <a:schemeClr val="tx1"/>
              </a:solidFill>
              <a:round/>
              <a:headEnd/>
              <a:tailEnd/>
            </a:ln>
          </p:spPr>
          <p:txBody>
            <a:bodyPr/>
            <a:lstStyle/>
            <a:p>
              <a:endParaRPr lang="zh-CN" altLang="en-US"/>
            </a:p>
          </p:txBody>
        </p:sp>
        <p:sp>
          <p:nvSpPr>
            <p:cNvPr id="40" name="Rectangle 39">
              <a:extLst>
                <a:ext uri="{FF2B5EF4-FFF2-40B4-BE49-F238E27FC236}">
                  <a16:creationId xmlns:a16="http://schemas.microsoft.com/office/drawing/2014/main" id="{E9545316-2AF0-4FDB-BCAB-89CDD08E21F7}"/>
                </a:ext>
              </a:extLst>
            </p:cNvPr>
            <p:cNvSpPr>
              <a:spLocks noChangeArrowheads="1"/>
            </p:cNvSpPr>
            <p:nvPr/>
          </p:nvSpPr>
          <p:spPr bwMode="auto">
            <a:xfrm>
              <a:off x="3438" y="1930"/>
              <a:ext cx="180" cy="281"/>
            </a:xfrm>
            <a:prstGeom prst="rect">
              <a:avLst/>
            </a:prstGeom>
            <a:grpFill/>
            <a:ln w="9525">
              <a:solidFill>
                <a:schemeClr val="tx1"/>
              </a:solidFill>
              <a:miter lim="800000"/>
              <a:headEnd/>
              <a:tailEnd/>
            </a:ln>
          </p:spPr>
          <p:txBody>
            <a:bodyPr/>
            <a:lstStyle/>
            <a:p>
              <a:endParaRPr lang="zh-CN" altLang="en-US"/>
            </a:p>
          </p:txBody>
        </p:sp>
        <p:sp>
          <p:nvSpPr>
            <p:cNvPr id="41" name="Rectangle 40">
              <a:extLst>
                <a:ext uri="{FF2B5EF4-FFF2-40B4-BE49-F238E27FC236}">
                  <a16:creationId xmlns:a16="http://schemas.microsoft.com/office/drawing/2014/main" id="{9EF32633-EDF8-4C2C-86FC-01BCED461D62}"/>
                </a:ext>
              </a:extLst>
            </p:cNvPr>
            <p:cNvSpPr>
              <a:spLocks noChangeArrowheads="1"/>
            </p:cNvSpPr>
            <p:nvPr/>
          </p:nvSpPr>
          <p:spPr bwMode="auto">
            <a:xfrm>
              <a:off x="1458" y="1930"/>
              <a:ext cx="810" cy="281"/>
            </a:xfrm>
            <a:prstGeom prst="rect">
              <a:avLst/>
            </a:prstGeom>
            <a:grpFill/>
            <a:ln>
              <a:noFill/>
            </a:ln>
            <a:extLst>
              <a:ext uri="{91240B29-F687-4F45-9708-019B960494DF}">
                <a14:hiddenLine xmlns:a14="http://schemas.microsoft.com/office/drawing/2010/main" w="9525">
                  <a:solidFill>
                    <a:schemeClr val="tx1"/>
                  </a:solidFill>
                  <a:miter lim="800000"/>
                  <a:headEnd/>
                  <a:tailEnd/>
                </a14:hiddenLine>
              </a:ext>
            </a:extLst>
          </p:spPr>
          <p:txBody>
            <a:bodyPr lIns="0" tIns="0" rIns="0" bIns="0"/>
            <a:lstStyle/>
            <a:p>
              <a:pPr algn="ctr" eaLnBrk="0" hangingPunct="0"/>
              <a:r>
                <a:rPr lang="zh-CN" altLang="en-US" sz="2400">
                  <a:latin typeface="楷体_GB2312" pitchFamily="49" charset="-122"/>
                  <a:ea typeface="楷体_GB2312" pitchFamily="49" charset="-122"/>
                </a:rPr>
                <a:t>模式串</a:t>
              </a:r>
              <a:r>
                <a:rPr lang="en-US" altLang="zh-CN" sz="2400">
                  <a:latin typeface="楷体_GB2312" pitchFamily="49" charset="-122"/>
                  <a:ea typeface="楷体_GB2312" pitchFamily="49" charset="-122"/>
                </a:rPr>
                <a:t>t</a:t>
              </a:r>
            </a:p>
          </p:txBody>
        </p:sp>
        <p:sp>
          <p:nvSpPr>
            <p:cNvPr id="42" name="Line 41">
              <a:extLst>
                <a:ext uri="{FF2B5EF4-FFF2-40B4-BE49-F238E27FC236}">
                  <a16:creationId xmlns:a16="http://schemas.microsoft.com/office/drawing/2014/main" id="{C05683AB-DEA6-49BD-A610-FCF2EDBFB7D7}"/>
                </a:ext>
              </a:extLst>
            </p:cNvPr>
            <p:cNvSpPr>
              <a:spLocks noChangeShapeType="1"/>
            </p:cNvSpPr>
            <p:nvPr/>
          </p:nvSpPr>
          <p:spPr bwMode="auto">
            <a:xfrm flipV="1">
              <a:off x="3528" y="2211"/>
              <a:ext cx="0" cy="375"/>
            </a:xfrm>
            <a:prstGeom prst="line">
              <a:avLst/>
            </a:prstGeom>
            <a:grpFill/>
            <a:ln w="9525">
              <a:solidFill>
                <a:schemeClr val="tx1"/>
              </a:solidFill>
              <a:round/>
              <a:headEnd/>
              <a:tailEnd type="triangle" w="sm" len="sm"/>
            </a:ln>
          </p:spPr>
          <p:txBody>
            <a:bodyPr/>
            <a:lstStyle/>
            <a:p>
              <a:endParaRPr lang="zh-CN" altLang="en-US"/>
            </a:p>
          </p:txBody>
        </p:sp>
        <p:sp>
          <p:nvSpPr>
            <p:cNvPr id="43" name="Rectangle 42">
              <a:extLst>
                <a:ext uri="{FF2B5EF4-FFF2-40B4-BE49-F238E27FC236}">
                  <a16:creationId xmlns:a16="http://schemas.microsoft.com/office/drawing/2014/main" id="{4E797CFB-406F-40A1-994A-B0E1EBF5A079}"/>
                </a:ext>
              </a:extLst>
            </p:cNvPr>
            <p:cNvSpPr>
              <a:spLocks noChangeArrowheads="1"/>
            </p:cNvSpPr>
            <p:nvPr/>
          </p:nvSpPr>
          <p:spPr bwMode="auto">
            <a:xfrm>
              <a:off x="3456" y="2592"/>
              <a:ext cx="180" cy="281"/>
            </a:xfrm>
            <a:prstGeom prst="rect">
              <a:avLst/>
            </a:prstGeom>
            <a:grpFill/>
            <a:ln>
              <a:noFill/>
            </a:ln>
            <a:extLst>
              <a:ext uri="{91240B29-F687-4F45-9708-019B960494DF}">
                <a14:hiddenLine xmlns:a14="http://schemas.microsoft.com/office/drawing/2010/main" w="9525">
                  <a:solidFill>
                    <a:schemeClr val="tx1"/>
                  </a:solidFill>
                  <a:miter lim="800000"/>
                  <a:headEnd/>
                  <a:tailEnd/>
                </a14:hiddenLine>
              </a:ext>
            </a:extLst>
          </p:spPr>
          <p:txBody>
            <a:bodyPr lIns="0" tIns="0" rIns="0" bIns="0"/>
            <a:lstStyle/>
            <a:p>
              <a:pPr algn="ctr" eaLnBrk="0" hangingPunct="0"/>
              <a:r>
                <a:rPr lang="en-US" altLang="zh-CN" sz="2400">
                  <a:latin typeface="楷体_GB2312" pitchFamily="49" charset="-122"/>
                  <a:ea typeface="楷体_GB2312" pitchFamily="49" charset="-122"/>
                </a:rPr>
                <a:t>j</a:t>
              </a:r>
            </a:p>
          </p:txBody>
        </p:sp>
        <p:sp>
          <p:nvSpPr>
            <p:cNvPr id="44" name="Line 43">
              <a:extLst>
                <a:ext uri="{FF2B5EF4-FFF2-40B4-BE49-F238E27FC236}">
                  <a16:creationId xmlns:a16="http://schemas.microsoft.com/office/drawing/2014/main" id="{3F68F3A4-727F-4D89-BD23-44BF7F07A61B}"/>
                </a:ext>
              </a:extLst>
            </p:cNvPr>
            <p:cNvSpPr>
              <a:spLocks noChangeShapeType="1"/>
            </p:cNvSpPr>
            <p:nvPr/>
          </p:nvSpPr>
          <p:spPr bwMode="auto">
            <a:xfrm>
              <a:off x="2898" y="1930"/>
              <a:ext cx="0" cy="281"/>
            </a:xfrm>
            <a:prstGeom prst="line">
              <a:avLst/>
            </a:prstGeom>
            <a:grpFill/>
            <a:ln w="9525">
              <a:solidFill>
                <a:schemeClr val="tx1"/>
              </a:solidFill>
              <a:round/>
              <a:headEnd/>
              <a:tailEnd/>
            </a:ln>
          </p:spPr>
          <p:txBody>
            <a:bodyPr/>
            <a:lstStyle/>
            <a:p>
              <a:endParaRPr lang="zh-CN" altLang="en-US"/>
            </a:p>
          </p:txBody>
        </p:sp>
        <p:sp>
          <p:nvSpPr>
            <p:cNvPr id="45" name="Line 44">
              <a:extLst>
                <a:ext uri="{FF2B5EF4-FFF2-40B4-BE49-F238E27FC236}">
                  <a16:creationId xmlns:a16="http://schemas.microsoft.com/office/drawing/2014/main" id="{A31B5D27-0F98-4D62-808D-1FD2C231EAE6}"/>
                </a:ext>
              </a:extLst>
            </p:cNvPr>
            <p:cNvSpPr>
              <a:spLocks noChangeShapeType="1"/>
            </p:cNvSpPr>
            <p:nvPr/>
          </p:nvSpPr>
          <p:spPr bwMode="auto">
            <a:xfrm flipV="1">
              <a:off x="2808" y="2211"/>
              <a:ext cx="0" cy="375"/>
            </a:xfrm>
            <a:prstGeom prst="line">
              <a:avLst/>
            </a:prstGeom>
            <a:grpFill/>
            <a:ln w="9525">
              <a:solidFill>
                <a:schemeClr val="tx1"/>
              </a:solidFill>
              <a:round/>
              <a:headEnd/>
              <a:tailEnd type="triangle" w="sm" len="sm"/>
            </a:ln>
          </p:spPr>
          <p:txBody>
            <a:bodyPr/>
            <a:lstStyle/>
            <a:p>
              <a:endParaRPr lang="zh-CN" altLang="en-US"/>
            </a:p>
          </p:txBody>
        </p:sp>
        <p:sp>
          <p:nvSpPr>
            <p:cNvPr id="46" name="Rectangle 45">
              <a:extLst>
                <a:ext uri="{FF2B5EF4-FFF2-40B4-BE49-F238E27FC236}">
                  <a16:creationId xmlns:a16="http://schemas.microsoft.com/office/drawing/2014/main" id="{E03A66B2-B443-413A-A4DA-AFC372D38A99}"/>
                </a:ext>
              </a:extLst>
            </p:cNvPr>
            <p:cNvSpPr>
              <a:spLocks noChangeArrowheads="1"/>
            </p:cNvSpPr>
            <p:nvPr/>
          </p:nvSpPr>
          <p:spPr bwMode="auto">
            <a:xfrm>
              <a:off x="2718" y="2586"/>
              <a:ext cx="180" cy="281"/>
            </a:xfrm>
            <a:prstGeom prst="rect">
              <a:avLst/>
            </a:prstGeom>
            <a:grpFill/>
            <a:ln>
              <a:noFill/>
            </a:ln>
            <a:extLst>
              <a:ext uri="{91240B29-F687-4F45-9708-019B960494DF}">
                <a14:hiddenLine xmlns:a14="http://schemas.microsoft.com/office/drawing/2010/main" w="9525">
                  <a:solidFill>
                    <a:schemeClr val="tx1"/>
                  </a:solidFill>
                  <a:miter lim="800000"/>
                  <a:headEnd/>
                  <a:tailEnd/>
                </a14:hiddenLine>
              </a:ext>
            </a:extLst>
          </p:spPr>
          <p:txBody>
            <a:bodyPr lIns="0" tIns="0" rIns="0" bIns="0"/>
            <a:lstStyle/>
            <a:p>
              <a:pPr algn="ctr" eaLnBrk="0" hangingPunct="0"/>
              <a:r>
                <a:rPr lang="en-US" altLang="zh-CN" sz="2400">
                  <a:latin typeface="楷体_GB2312" pitchFamily="49" charset="-122"/>
                  <a:ea typeface="楷体_GB2312" pitchFamily="49" charset="-122"/>
                </a:rPr>
                <a:t>k</a:t>
              </a:r>
            </a:p>
          </p:txBody>
        </p:sp>
        <p:sp>
          <p:nvSpPr>
            <p:cNvPr id="47" name="Line 46">
              <a:extLst>
                <a:ext uri="{FF2B5EF4-FFF2-40B4-BE49-F238E27FC236}">
                  <a16:creationId xmlns:a16="http://schemas.microsoft.com/office/drawing/2014/main" id="{CB40F2B8-9E38-4081-904C-068B607C17AA}"/>
                </a:ext>
              </a:extLst>
            </p:cNvPr>
            <p:cNvSpPr>
              <a:spLocks noChangeShapeType="1"/>
            </p:cNvSpPr>
            <p:nvPr/>
          </p:nvSpPr>
          <p:spPr bwMode="auto">
            <a:xfrm flipH="1">
              <a:off x="2358" y="1458"/>
              <a:ext cx="720" cy="469"/>
            </a:xfrm>
            <a:prstGeom prst="line">
              <a:avLst/>
            </a:prstGeom>
            <a:grpFill/>
            <a:ln w="9525" cap="rnd">
              <a:solidFill>
                <a:schemeClr val="tx1"/>
              </a:solidFill>
              <a:prstDash val="sysDot"/>
              <a:round/>
              <a:headEnd/>
              <a:tailEnd/>
            </a:ln>
          </p:spPr>
          <p:txBody>
            <a:bodyPr/>
            <a:lstStyle/>
            <a:p>
              <a:endParaRPr lang="zh-CN" altLang="en-US"/>
            </a:p>
          </p:txBody>
        </p:sp>
        <p:sp>
          <p:nvSpPr>
            <p:cNvPr id="48" name="Line 47">
              <a:extLst>
                <a:ext uri="{FF2B5EF4-FFF2-40B4-BE49-F238E27FC236}">
                  <a16:creationId xmlns:a16="http://schemas.microsoft.com/office/drawing/2014/main" id="{F924F615-CF3F-4A3D-8F30-1527E8021E3B}"/>
                </a:ext>
              </a:extLst>
            </p:cNvPr>
            <p:cNvSpPr>
              <a:spLocks noChangeShapeType="1"/>
            </p:cNvSpPr>
            <p:nvPr/>
          </p:nvSpPr>
          <p:spPr bwMode="auto">
            <a:xfrm flipH="1">
              <a:off x="2718" y="1458"/>
              <a:ext cx="720" cy="469"/>
            </a:xfrm>
            <a:prstGeom prst="line">
              <a:avLst/>
            </a:prstGeom>
            <a:grpFill/>
            <a:ln w="9525" cap="rnd">
              <a:solidFill>
                <a:schemeClr val="tx1"/>
              </a:solidFill>
              <a:prstDash val="sysDot"/>
              <a:round/>
              <a:headEnd/>
              <a:tailEnd/>
            </a:ln>
          </p:spPr>
          <p:txBody>
            <a:bodyPr/>
            <a:lstStyle/>
            <a:p>
              <a:endParaRPr lang="zh-CN" altLang="en-US"/>
            </a:p>
          </p:txBody>
        </p:sp>
        <p:sp>
          <p:nvSpPr>
            <p:cNvPr id="49" name="Line 48">
              <a:extLst>
                <a:ext uri="{FF2B5EF4-FFF2-40B4-BE49-F238E27FC236}">
                  <a16:creationId xmlns:a16="http://schemas.microsoft.com/office/drawing/2014/main" id="{B9EE8C06-3995-42D4-A619-57774B76C98F}"/>
                </a:ext>
              </a:extLst>
            </p:cNvPr>
            <p:cNvSpPr>
              <a:spLocks noChangeShapeType="1"/>
            </p:cNvSpPr>
            <p:nvPr/>
          </p:nvSpPr>
          <p:spPr bwMode="auto">
            <a:xfrm>
              <a:off x="3078" y="1458"/>
              <a:ext cx="0" cy="469"/>
            </a:xfrm>
            <a:prstGeom prst="line">
              <a:avLst/>
            </a:prstGeom>
            <a:grpFill/>
            <a:ln w="9525" cap="rnd">
              <a:solidFill>
                <a:schemeClr val="tx1"/>
              </a:solidFill>
              <a:prstDash val="sysDot"/>
              <a:round/>
              <a:headEnd/>
              <a:tailEnd/>
            </a:ln>
          </p:spPr>
          <p:txBody>
            <a:bodyPr/>
            <a:lstStyle/>
            <a:p>
              <a:endParaRPr lang="zh-CN" altLang="en-US"/>
            </a:p>
          </p:txBody>
        </p:sp>
        <p:sp>
          <p:nvSpPr>
            <p:cNvPr id="50" name="Line 49">
              <a:extLst>
                <a:ext uri="{FF2B5EF4-FFF2-40B4-BE49-F238E27FC236}">
                  <a16:creationId xmlns:a16="http://schemas.microsoft.com/office/drawing/2014/main" id="{8DE3C567-902B-49CD-87D7-921F12F9AC65}"/>
                </a:ext>
              </a:extLst>
            </p:cNvPr>
            <p:cNvSpPr>
              <a:spLocks noChangeShapeType="1"/>
            </p:cNvSpPr>
            <p:nvPr/>
          </p:nvSpPr>
          <p:spPr bwMode="auto">
            <a:xfrm>
              <a:off x="3438" y="1458"/>
              <a:ext cx="0" cy="469"/>
            </a:xfrm>
            <a:prstGeom prst="line">
              <a:avLst/>
            </a:prstGeom>
            <a:grpFill/>
            <a:ln w="9525" cap="rnd">
              <a:solidFill>
                <a:schemeClr val="tx1"/>
              </a:solidFill>
              <a:prstDash val="sysDot"/>
              <a:round/>
              <a:headEnd/>
              <a:tailEnd/>
            </a:ln>
          </p:spPr>
          <p:txBody>
            <a:bodyPr/>
            <a:lstStyle/>
            <a:p>
              <a:endParaRPr lang="zh-CN" altLang="en-US"/>
            </a:p>
          </p:txBody>
        </p:sp>
        <p:sp>
          <p:nvSpPr>
            <p:cNvPr id="51" name="Rectangle 50">
              <a:extLst>
                <a:ext uri="{FF2B5EF4-FFF2-40B4-BE49-F238E27FC236}">
                  <a16:creationId xmlns:a16="http://schemas.microsoft.com/office/drawing/2014/main" id="{754B185D-3E63-47E9-BDFF-7255FD904CE4}"/>
                </a:ext>
              </a:extLst>
            </p:cNvPr>
            <p:cNvSpPr>
              <a:spLocks noChangeArrowheads="1"/>
            </p:cNvSpPr>
            <p:nvPr/>
          </p:nvSpPr>
          <p:spPr bwMode="auto">
            <a:xfrm>
              <a:off x="1728" y="2976"/>
              <a:ext cx="2340" cy="281"/>
            </a:xfrm>
            <a:prstGeom prst="rect">
              <a:avLst/>
            </a:prstGeom>
            <a:grpFill/>
            <a:ln>
              <a:noFill/>
            </a:ln>
            <a:extLst>
              <a:ext uri="{91240B29-F687-4F45-9708-019B960494DF}">
                <a14:hiddenLine xmlns:a14="http://schemas.microsoft.com/office/drawing/2010/main" w="9525">
                  <a:solidFill>
                    <a:schemeClr val="tx1"/>
                  </a:solidFill>
                  <a:miter lim="800000"/>
                  <a:headEnd/>
                  <a:tailEnd/>
                </a14:hiddenLine>
              </a:ext>
            </a:extLst>
          </p:spPr>
          <p:txBody>
            <a:bodyPr lIns="0" tIns="0" rIns="0" bIns="0"/>
            <a:lstStyle/>
            <a:p>
              <a:pPr algn="ctr" eaLnBrk="0" hangingPunct="0"/>
              <a:r>
                <a:rPr lang="en-US" altLang="zh-CN" sz="2400" dirty="0">
                  <a:latin typeface="楷体_GB2312" pitchFamily="49" charset="-122"/>
                  <a:ea typeface="楷体_GB2312" pitchFamily="49" charset="-122"/>
                </a:rPr>
                <a:t>KMP</a:t>
              </a:r>
              <a:r>
                <a:rPr lang="zh-CN" altLang="en-US" sz="2400" dirty="0">
                  <a:latin typeface="楷体_GB2312" pitchFamily="49" charset="-122"/>
                  <a:ea typeface="楷体_GB2312" pitchFamily="49" charset="-122"/>
                </a:rPr>
                <a:t>算法核心原理</a:t>
              </a:r>
            </a:p>
          </p:txBody>
        </p:sp>
      </p:grpSp>
      <p:pic>
        <p:nvPicPr>
          <p:cNvPr id="52" name="Picture 2">
            <a:extLst>
              <a:ext uri="{FF2B5EF4-FFF2-40B4-BE49-F238E27FC236}">
                <a16:creationId xmlns:a16="http://schemas.microsoft.com/office/drawing/2014/main" id="{776048FB-413B-4652-A5B2-55EA15A7148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1600" y="5431404"/>
            <a:ext cx="7411928" cy="8696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3" name="文本框 52">
            <a:extLst>
              <a:ext uri="{FF2B5EF4-FFF2-40B4-BE49-F238E27FC236}">
                <a16:creationId xmlns:a16="http://schemas.microsoft.com/office/drawing/2014/main" id="{6339A142-3230-4282-91E0-6F83FB1C6310}"/>
              </a:ext>
            </a:extLst>
          </p:cNvPr>
          <p:cNvSpPr txBox="1"/>
          <p:nvPr/>
        </p:nvSpPr>
        <p:spPr>
          <a:xfrm>
            <a:off x="578004" y="4373277"/>
            <a:ext cx="7987992" cy="923330"/>
          </a:xfrm>
          <a:prstGeom prst="rect">
            <a:avLst/>
          </a:prstGeom>
          <a:noFill/>
        </p:spPr>
        <p:txBody>
          <a:bodyPr wrap="square">
            <a:spAutoFit/>
          </a:bodyPr>
          <a:lstStyle/>
          <a:p>
            <a:pPr algn="just"/>
            <a:r>
              <a:rPr lang="zh-CN" altLang="zh-CN" sz="1800" dirty="0">
                <a:solidFill>
                  <a:srgbClr val="000000"/>
                </a:solidFill>
                <a:effectLst/>
                <a:latin typeface="楷体" panose="02010609060101010101" pitchFamily="49" charset="-122"/>
                <a:ea typeface="楷体" panose="02010609060101010101" pitchFamily="49" charset="-122"/>
                <a:cs typeface="Times New Roman" panose="02020603050405020304" pitchFamily="18" charset="0"/>
              </a:rPr>
              <a:t>若令</a:t>
            </a:r>
            <a:r>
              <a:rPr lang="en-US" altLang="zh-CN" sz="1800" dirty="0">
                <a:solidFill>
                  <a:srgbClr val="000000"/>
                </a:solidFill>
                <a:effectLst/>
                <a:latin typeface="楷体" panose="02010609060101010101" pitchFamily="49" charset="-122"/>
                <a:ea typeface="楷体" panose="02010609060101010101" pitchFamily="49" charset="-122"/>
              </a:rPr>
              <a:t>next[j]=k</a:t>
            </a:r>
            <a:r>
              <a:rPr lang="zh-CN" altLang="zh-CN" sz="1800" dirty="0">
                <a:solidFill>
                  <a:srgbClr val="000000"/>
                </a:solidFill>
                <a:effectLst/>
                <a:latin typeface="楷体" panose="02010609060101010101" pitchFamily="49" charset="-122"/>
                <a:ea typeface="楷体" panose="02010609060101010101" pitchFamily="49" charset="-122"/>
                <a:cs typeface="Times New Roman" panose="02020603050405020304" pitchFamily="18" charset="0"/>
              </a:rPr>
              <a:t>，则</a:t>
            </a:r>
            <a:r>
              <a:rPr lang="en-US" altLang="zh-CN" sz="1800" dirty="0">
                <a:solidFill>
                  <a:srgbClr val="000000"/>
                </a:solidFill>
                <a:effectLst/>
                <a:latin typeface="楷体" panose="02010609060101010101" pitchFamily="49" charset="-122"/>
                <a:ea typeface="楷体" panose="02010609060101010101" pitchFamily="49" charset="-122"/>
              </a:rPr>
              <a:t>next[j]</a:t>
            </a:r>
            <a:r>
              <a:rPr lang="zh-CN" altLang="zh-CN" sz="1800" dirty="0">
                <a:solidFill>
                  <a:srgbClr val="000000"/>
                </a:solidFill>
                <a:effectLst/>
                <a:latin typeface="楷体" panose="02010609060101010101" pitchFamily="49" charset="-122"/>
                <a:ea typeface="楷体" panose="02010609060101010101" pitchFamily="49" charset="-122"/>
                <a:cs typeface="Times New Roman" panose="02020603050405020304" pitchFamily="18" charset="0"/>
              </a:rPr>
              <a:t>表明当模式串中第</a:t>
            </a:r>
            <a:r>
              <a:rPr lang="en-US" altLang="zh-CN" sz="1800" dirty="0">
                <a:solidFill>
                  <a:srgbClr val="000000"/>
                </a:solidFill>
                <a:effectLst/>
                <a:latin typeface="楷体" panose="02010609060101010101" pitchFamily="49" charset="-122"/>
                <a:ea typeface="楷体" panose="02010609060101010101" pitchFamily="49" charset="-122"/>
              </a:rPr>
              <a:t>j</a:t>
            </a:r>
            <a:r>
              <a:rPr lang="zh-CN" altLang="zh-CN" sz="1800" dirty="0">
                <a:solidFill>
                  <a:srgbClr val="000000"/>
                </a:solidFill>
                <a:effectLst/>
                <a:latin typeface="楷体" panose="02010609060101010101" pitchFamily="49" charset="-122"/>
                <a:ea typeface="楷体" panose="02010609060101010101" pitchFamily="49" charset="-122"/>
                <a:cs typeface="Times New Roman" panose="02020603050405020304" pitchFamily="18" charset="0"/>
              </a:rPr>
              <a:t>个字符与主串中相应字符</a:t>
            </a:r>
            <a:r>
              <a:rPr lang="en-US" altLang="zh-CN" sz="1800" dirty="0">
                <a:solidFill>
                  <a:srgbClr val="000000"/>
                </a:solidFill>
                <a:effectLst/>
                <a:latin typeface="楷体" panose="02010609060101010101" pitchFamily="49" charset="-122"/>
                <a:ea typeface="楷体" panose="02010609060101010101" pitchFamily="49" charset="-122"/>
              </a:rPr>
              <a:t>“</a:t>
            </a:r>
            <a:r>
              <a:rPr lang="zh-CN" altLang="zh-CN" sz="1800" dirty="0">
                <a:solidFill>
                  <a:srgbClr val="000000"/>
                </a:solidFill>
                <a:effectLst/>
                <a:latin typeface="楷体" panose="02010609060101010101" pitchFamily="49" charset="-122"/>
                <a:ea typeface="楷体" panose="02010609060101010101" pitchFamily="49" charset="-122"/>
                <a:cs typeface="Times New Roman" panose="02020603050405020304" pitchFamily="18" charset="0"/>
              </a:rPr>
              <a:t>失配</a:t>
            </a:r>
            <a:r>
              <a:rPr lang="en-US" altLang="zh-CN" sz="1800" dirty="0">
                <a:solidFill>
                  <a:srgbClr val="000000"/>
                </a:solidFill>
                <a:effectLst/>
                <a:latin typeface="楷体" panose="02010609060101010101" pitchFamily="49" charset="-122"/>
                <a:ea typeface="楷体" panose="02010609060101010101" pitchFamily="49" charset="-122"/>
              </a:rPr>
              <a:t>”</a:t>
            </a:r>
            <a:r>
              <a:rPr lang="zh-CN" altLang="zh-CN" sz="1800" dirty="0">
                <a:solidFill>
                  <a:srgbClr val="000000"/>
                </a:solidFill>
                <a:effectLst/>
                <a:latin typeface="楷体" panose="02010609060101010101" pitchFamily="49" charset="-122"/>
                <a:ea typeface="楷体" panose="02010609060101010101" pitchFamily="49" charset="-122"/>
                <a:cs typeface="Times New Roman" panose="02020603050405020304" pitchFamily="18" charset="0"/>
              </a:rPr>
              <a:t>时，在模式串中需重新和主串中该字符进行比较的字符位置。通过上面的分析，可以将</a:t>
            </a:r>
            <a:r>
              <a:rPr lang="en-US" altLang="zh-CN" sz="1800" dirty="0">
                <a:solidFill>
                  <a:srgbClr val="000000"/>
                </a:solidFill>
                <a:effectLst/>
                <a:latin typeface="楷体" panose="02010609060101010101" pitchFamily="49" charset="-122"/>
                <a:ea typeface="楷体" panose="02010609060101010101" pitchFamily="49" charset="-122"/>
              </a:rPr>
              <a:t>next[j]</a:t>
            </a:r>
            <a:r>
              <a:rPr lang="zh-CN" altLang="zh-CN" sz="1800" dirty="0">
                <a:solidFill>
                  <a:srgbClr val="000000"/>
                </a:solidFill>
                <a:effectLst/>
                <a:latin typeface="楷体" panose="02010609060101010101" pitchFamily="49" charset="-122"/>
                <a:ea typeface="楷体" panose="02010609060101010101" pitchFamily="49" charset="-122"/>
                <a:cs typeface="Times New Roman" panose="02020603050405020304" pitchFamily="18" charset="0"/>
              </a:rPr>
              <a:t>定义为：</a:t>
            </a:r>
            <a:endParaRPr lang="zh-CN" altLang="en-US"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75929888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052736"/>
            <a:ext cx="7520940" cy="5184576"/>
          </a:xfrm>
        </p:spPr>
        <p:txBody>
          <a:bodyPr>
            <a:normAutofit/>
          </a:bodyPr>
          <a:lstStyle/>
          <a:p>
            <a:pPr algn="just"/>
            <a:r>
              <a:rPr lang="en-US" altLang="zh-CN" b="0" dirty="0">
                <a:solidFill>
                  <a:srgbClr val="FF0000"/>
                </a:solidFill>
              </a:rPr>
              <a:t>KMP</a:t>
            </a:r>
            <a:r>
              <a:rPr lang="zh-CN" altLang="zh-CN" b="0" dirty="0">
                <a:solidFill>
                  <a:srgbClr val="FF0000"/>
                </a:solidFill>
              </a:rPr>
              <a:t>算法的思想：</a:t>
            </a:r>
            <a:endParaRPr lang="en-US" altLang="zh-CN" b="0" dirty="0">
              <a:solidFill>
                <a:srgbClr val="FF0000"/>
              </a:solidFill>
            </a:endParaRPr>
          </a:p>
          <a:p>
            <a:pPr algn="just"/>
            <a:r>
              <a:rPr lang="en-US" altLang="zh-CN" b="0" dirty="0"/>
              <a:t>	</a:t>
            </a:r>
            <a:r>
              <a:rPr lang="zh-CN" altLang="zh-CN" b="0" dirty="0"/>
              <a:t>设</a:t>
            </a:r>
            <a:r>
              <a:rPr lang="en-US" altLang="zh-CN" b="0" dirty="0"/>
              <a:t>s</a:t>
            </a:r>
            <a:r>
              <a:rPr lang="zh-CN" altLang="zh-CN" b="0" dirty="0"/>
              <a:t>为主串，</a:t>
            </a:r>
            <a:r>
              <a:rPr lang="en-US" altLang="zh-CN" b="0" dirty="0"/>
              <a:t>t</a:t>
            </a:r>
            <a:r>
              <a:rPr lang="zh-CN" altLang="zh-CN" b="0" dirty="0"/>
              <a:t>为模式串，</a:t>
            </a:r>
            <a:r>
              <a:rPr lang="en-US" altLang="zh-CN" b="0" dirty="0" err="1"/>
              <a:t>i</a:t>
            </a:r>
            <a:r>
              <a:rPr lang="zh-CN" altLang="zh-CN" b="0" dirty="0"/>
              <a:t>和</a:t>
            </a:r>
            <a:r>
              <a:rPr lang="en-US" altLang="zh-CN" b="0" dirty="0"/>
              <a:t>j</a:t>
            </a:r>
            <a:r>
              <a:rPr lang="zh-CN" altLang="zh-CN" b="0" dirty="0"/>
              <a:t>分别为指向主串和模式串中正在进行比较字符的指针。开始时，令</a:t>
            </a:r>
            <a:r>
              <a:rPr lang="en-US" altLang="zh-CN" b="0" dirty="0" err="1"/>
              <a:t>i</a:t>
            </a:r>
            <a:r>
              <a:rPr lang="en-US" altLang="zh-CN" b="0" dirty="0"/>
              <a:t>=0</a:t>
            </a:r>
            <a:r>
              <a:rPr lang="zh-CN" altLang="zh-CN" b="0" dirty="0"/>
              <a:t>，</a:t>
            </a:r>
            <a:r>
              <a:rPr lang="en-US" altLang="zh-CN" b="0" dirty="0"/>
              <a:t>j=0</a:t>
            </a:r>
            <a:r>
              <a:rPr lang="zh-CN" altLang="zh-CN" b="0" dirty="0"/>
              <a:t>。如果</a:t>
            </a:r>
            <a:r>
              <a:rPr lang="en-US" altLang="zh-CN" b="0" dirty="0" err="1"/>
              <a:t>s</a:t>
            </a:r>
            <a:r>
              <a:rPr lang="en-US" altLang="zh-CN" b="0" baseline="-25000" dirty="0" err="1"/>
              <a:t>i</a:t>
            </a:r>
            <a:r>
              <a:rPr lang="en-US" altLang="zh-CN" b="0" dirty="0"/>
              <a:t>=</a:t>
            </a:r>
            <a:r>
              <a:rPr lang="en-US" altLang="zh-CN" b="0" dirty="0" err="1"/>
              <a:t>t</a:t>
            </a:r>
            <a:r>
              <a:rPr lang="en-US" altLang="zh-CN" b="0" baseline="-25000" dirty="0" err="1"/>
              <a:t>j</a:t>
            </a:r>
            <a:r>
              <a:rPr lang="zh-CN" altLang="zh-CN" b="0" dirty="0"/>
              <a:t>，则使</a:t>
            </a:r>
            <a:r>
              <a:rPr lang="en-US" altLang="zh-CN" b="0" dirty="0" err="1"/>
              <a:t>i</a:t>
            </a:r>
            <a:r>
              <a:rPr lang="zh-CN" altLang="zh-CN" b="0" dirty="0"/>
              <a:t>和</a:t>
            </a:r>
            <a:r>
              <a:rPr lang="en-US" altLang="zh-CN" b="0" dirty="0"/>
              <a:t>j</a:t>
            </a:r>
            <a:r>
              <a:rPr lang="zh-CN" altLang="zh-CN" b="0" dirty="0"/>
              <a:t>的分别加</a:t>
            </a:r>
            <a:r>
              <a:rPr lang="en-US" altLang="zh-CN" b="0" dirty="0"/>
              <a:t>1</a:t>
            </a:r>
            <a:r>
              <a:rPr lang="zh-CN" altLang="zh-CN" b="0" dirty="0"/>
              <a:t>；反之，</a:t>
            </a:r>
            <a:r>
              <a:rPr lang="en-US" altLang="zh-CN" b="0" dirty="0" err="1"/>
              <a:t>i</a:t>
            </a:r>
            <a:r>
              <a:rPr lang="zh-CN" altLang="zh-CN" b="0" dirty="0"/>
              <a:t>不变，</a:t>
            </a:r>
            <a:r>
              <a:rPr lang="en-US" altLang="zh-CN" b="0" dirty="0"/>
              <a:t>j</a:t>
            </a:r>
            <a:r>
              <a:rPr lang="zh-CN" altLang="zh-CN" b="0" dirty="0"/>
              <a:t>退回到</a:t>
            </a:r>
            <a:r>
              <a:rPr lang="en-US" altLang="zh-CN" b="0" dirty="0"/>
              <a:t>j=next[j]</a:t>
            </a:r>
            <a:r>
              <a:rPr lang="zh-CN" altLang="zh-CN" b="0" dirty="0"/>
              <a:t>的位置，然后再对</a:t>
            </a:r>
            <a:r>
              <a:rPr lang="en-US" altLang="zh-CN" b="0" dirty="0" err="1"/>
              <a:t>s</a:t>
            </a:r>
            <a:r>
              <a:rPr lang="en-US" altLang="zh-CN" b="0" baseline="-25000" dirty="0" err="1"/>
              <a:t>i</a:t>
            </a:r>
            <a:r>
              <a:rPr lang="zh-CN" altLang="zh-CN" b="0" dirty="0"/>
              <a:t>和</a:t>
            </a:r>
            <a:r>
              <a:rPr lang="en-US" altLang="zh-CN" b="0" dirty="0" err="1"/>
              <a:t>t</a:t>
            </a:r>
            <a:r>
              <a:rPr lang="en-US" altLang="zh-CN" b="0" baseline="-25000" dirty="0" err="1"/>
              <a:t>j</a:t>
            </a:r>
            <a:r>
              <a:rPr lang="zh-CN" altLang="zh-CN" b="0" dirty="0"/>
              <a:t>进行比较。依次类推，出现下列两种情况之一。</a:t>
            </a:r>
          </a:p>
          <a:p>
            <a:pPr algn="just"/>
            <a:r>
              <a:rPr lang="zh-CN" altLang="zh-CN" b="0" dirty="0"/>
              <a:t>（</a:t>
            </a:r>
            <a:r>
              <a:rPr lang="en-US" altLang="zh-CN" b="0" dirty="0"/>
              <a:t>1</a:t>
            </a:r>
            <a:r>
              <a:rPr lang="zh-CN" altLang="zh-CN" b="0" dirty="0"/>
              <a:t>）</a:t>
            </a:r>
            <a:r>
              <a:rPr lang="en-US" altLang="zh-CN" b="0" dirty="0"/>
              <a:t>j</a:t>
            </a:r>
            <a:r>
              <a:rPr lang="zh-CN" altLang="zh-CN" b="0" dirty="0"/>
              <a:t>退回到某个</a:t>
            </a:r>
            <a:r>
              <a:rPr lang="en-US" altLang="zh-CN" b="0" dirty="0"/>
              <a:t>j=next[j]</a:t>
            </a:r>
            <a:r>
              <a:rPr lang="zh-CN" altLang="zh-CN" b="0" dirty="0"/>
              <a:t>时，若</a:t>
            </a:r>
            <a:r>
              <a:rPr lang="en-US" altLang="zh-CN" b="0" dirty="0" err="1"/>
              <a:t>s</a:t>
            </a:r>
            <a:r>
              <a:rPr lang="en-US" altLang="zh-CN" b="0" baseline="-25000" dirty="0" err="1"/>
              <a:t>i</a:t>
            </a:r>
            <a:r>
              <a:rPr lang="en-US" altLang="zh-CN" b="0" dirty="0"/>
              <a:t>=</a:t>
            </a:r>
            <a:r>
              <a:rPr lang="en-US" altLang="zh-CN" b="0" dirty="0" err="1"/>
              <a:t>t</a:t>
            </a:r>
            <a:r>
              <a:rPr lang="en-US" altLang="zh-CN" b="0" baseline="-25000" dirty="0" err="1"/>
              <a:t>j</a:t>
            </a:r>
            <a:r>
              <a:rPr lang="zh-CN" altLang="zh-CN" b="0" dirty="0"/>
              <a:t>，则指针</a:t>
            </a:r>
            <a:r>
              <a:rPr lang="en-US" altLang="zh-CN" b="0" dirty="0" err="1"/>
              <a:t>i</a:t>
            </a:r>
            <a:r>
              <a:rPr lang="zh-CN" altLang="zh-CN" b="0" dirty="0"/>
              <a:t>、</a:t>
            </a:r>
            <a:r>
              <a:rPr lang="en-US" altLang="zh-CN" b="0" dirty="0"/>
              <a:t>j</a:t>
            </a:r>
            <a:r>
              <a:rPr lang="zh-CN" altLang="zh-CN" b="0" dirty="0"/>
              <a:t>的值各加</a:t>
            </a:r>
            <a:r>
              <a:rPr lang="en-US" altLang="zh-CN" b="0" dirty="0"/>
              <a:t>1</a:t>
            </a:r>
            <a:r>
              <a:rPr lang="zh-CN" altLang="zh-CN" b="0" dirty="0"/>
              <a:t>，然后继续匹配。</a:t>
            </a:r>
          </a:p>
          <a:p>
            <a:pPr algn="just"/>
            <a:r>
              <a:rPr lang="zh-CN" altLang="zh-CN" b="0" dirty="0"/>
              <a:t>（</a:t>
            </a:r>
            <a:r>
              <a:rPr lang="en-US" altLang="zh-CN" b="0" dirty="0"/>
              <a:t>2</a:t>
            </a:r>
            <a:r>
              <a:rPr lang="zh-CN" altLang="zh-CN" b="0" dirty="0"/>
              <a:t>）</a:t>
            </a:r>
            <a:r>
              <a:rPr lang="en-US" altLang="zh-CN" b="0" dirty="0"/>
              <a:t>j</a:t>
            </a:r>
            <a:r>
              <a:rPr lang="zh-CN" altLang="zh-CN" b="0" dirty="0"/>
              <a:t>值退回到</a:t>
            </a:r>
            <a:r>
              <a:rPr lang="en-US" altLang="zh-CN" b="0" dirty="0"/>
              <a:t>j=-1</a:t>
            </a:r>
            <a:r>
              <a:rPr lang="zh-CN" altLang="zh-CN" b="0" dirty="0"/>
              <a:t>，此时令指针</a:t>
            </a:r>
            <a:r>
              <a:rPr lang="en-US" altLang="zh-CN" b="0" dirty="0" err="1"/>
              <a:t>i</a:t>
            </a:r>
            <a:r>
              <a:rPr lang="zh-CN" altLang="zh-CN" b="0" dirty="0"/>
              <a:t>、</a:t>
            </a:r>
            <a:r>
              <a:rPr lang="en-US" altLang="zh-CN" b="0" dirty="0"/>
              <a:t>j</a:t>
            </a:r>
            <a:r>
              <a:rPr lang="zh-CN" altLang="zh-CN" b="0" dirty="0"/>
              <a:t>的值各加</a:t>
            </a:r>
            <a:r>
              <a:rPr lang="en-US" altLang="zh-CN" b="0" dirty="0"/>
              <a:t>1</a:t>
            </a:r>
            <a:r>
              <a:rPr lang="zh-CN" altLang="zh-CN" b="0" dirty="0"/>
              <a:t>，也即下一次对</a:t>
            </a:r>
            <a:r>
              <a:rPr lang="en-US" altLang="zh-CN" b="0" dirty="0"/>
              <a:t>s</a:t>
            </a:r>
            <a:r>
              <a:rPr lang="en-US" altLang="zh-CN" b="0" baseline="-25000" dirty="0"/>
              <a:t>i+1</a:t>
            </a:r>
            <a:r>
              <a:rPr lang="zh-CN" altLang="zh-CN" b="0" dirty="0"/>
              <a:t>和</a:t>
            </a:r>
            <a:r>
              <a:rPr lang="en-US" altLang="zh-CN" b="0" dirty="0"/>
              <a:t>t</a:t>
            </a:r>
            <a:r>
              <a:rPr lang="en-US" altLang="zh-CN" b="0" baseline="-25000" dirty="0"/>
              <a:t>0</a:t>
            </a:r>
            <a:r>
              <a:rPr lang="zh-CN" altLang="zh-CN" b="0" dirty="0"/>
              <a:t>进行比较。</a:t>
            </a:r>
          </a:p>
          <a:p>
            <a:pPr algn="just"/>
            <a:endParaRPr lang="zh-CN" altLang="en-US" dirty="0"/>
          </a:p>
        </p:txBody>
      </p:sp>
    </p:spTree>
    <p:extLst>
      <p:ext uri="{BB962C8B-B14F-4D97-AF65-F5344CB8AC3E}">
        <p14:creationId xmlns:p14="http://schemas.microsoft.com/office/powerpoint/2010/main" val="180416506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00644" y="1052736"/>
            <a:ext cx="7520940" cy="3579849"/>
          </a:xfrm>
        </p:spPr>
        <p:txBody>
          <a:bodyPr>
            <a:normAutofit/>
          </a:bodyPr>
          <a:lstStyle/>
          <a:p>
            <a:pPr algn="just">
              <a:buFont typeface="Arial" panose="020B0604020202020204" pitchFamily="34" charset="0"/>
              <a:buChar char="•"/>
            </a:pPr>
            <a:r>
              <a:rPr lang="en-US" altLang="zh-CN" b="0" dirty="0"/>
              <a:t>KMP</a:t>
            </a:r>
            <a:r>
              <a:rPr lang="zh-CN" altLang="zh-CN" b="0" dirty="0"/>
              <a:t>算法和</a:t>
            </a:r>
            <a:r>
              <a:rPr lang="en-US" altLang="zh-CN" b="0" dirty="0"/>
              <a:t>Brute-Force</a:t>
            </a:r>
            <a:r>
              <a:rPr lang="zh-CN" altLang="zh-CN" b="0" dirty="0"/>
              <a:t>算法很相似，不同之处仅在于，当匹配过程中产生</a:t>
            </a:r>
            <a:r>
              <a:rPr lang="en-US" altLang="zh-CN" b="0" dirty="0"/>
              <a:t>“</a:t>
            </a:r>
            <a:r>
              <a:rPr lang="zh-CN" altLang="zh-CN" b="0" dirty="0"/>
              <a:t>失配</a:t>
            </a:r>
            <a:r>
              <a:rPr lang="en-US" altLang="zh-CN" b="0" dirty="0"/>
              <a:t>”</a:t>
            </a:r>
            <a:r>
              <a:rPr lang="zh-CN" altLang="zh-CN" b="0" dirty="0"/>
              <a:t>时，指针</a:t>
            </a:r>
            <a:r>
              <a:rPr lang="en-US" altLang="zh-CN" b="0" dirty="0" err="1"/>
              <a:t>i</a:t>
            </a:r>
            <a:r>
              <a:rPr lang="zh-CN" altLang="zh-CN" b="0" dirty="0"/>
              <a:t>不变，指针</a:t>
            </a:r>
            <a:r>
              <a:rPr lang="en-US" altLang="zh-CN" b="0" dirty="0"/>
              <a:t>j</a:t>
            </a:r>
            <a:r>
              <a:rPr lang="zh-CN" altLang="zh-CN" b="0" dirty="0"/>
              <a:t>退回到</a:t>
            </a:r>
            <a:r>
              <a:rPr lang="en-US" altLang="zh-CN" b="0" dirty="0"/>
              <a:t>next[j]</a:t>
            </a:r>
            <a:r>
              <a:rPr lang="zh-CN" altLang="zh-CN" b="0" dirty="0"/>
              <a:t>所指位置的字符，然后继续比较。假设已知</a:t>
            </a:r>
            <a:r>
              <a:rPr lang="en-US" altLang="zh-CN" b="0" dirty="0"/>
              <a:t>next[j]</a:t>
            </a:r>
            <a:r>
              <a:rPr lang="zh-CN" altLang="zh-CN" b="0" dirty="0"/>
              <a:t>，则</a:t>
            </a:r>
            <a:r>
              <a:rPr lang="en-US" altLang="zh-CN" b="0" dirty="0"/>
              <a:t>KMP</a:t>
            </a:r>
            <a:r>
              <a:rPr lang="zh-CN" altLang="zh-CN" b="0" dirty="0"/>
              <a:t>算法的描述如下。</a:t>
            </a:r>
          </a:p>
        </p:txBody>
      </p:sp>
    </p:spTree>
    <p:extLst>
      <p:ext uri="{BB962C8B-B14F-4D97-AF65-F5344CB8AC3E}">
        <p14:creationId xmlns:p14="http://schemas.microsoft.com/office/powerpoint/2010/main" val="396173787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8064896" cy="5400600"/>
          </a:xfrm>
        </p:spPr>
        <p:txBody>
          <a:bodyPr>
            <a:normAutofit fontScale="70000" lnSpcReduction="20000"/>
          </a:bodyPr>
          <a:lstStyle/>
          <a:p>
            <a:pPr algn="just"/>
            <a:r>
              <a:rPr lang="zh-CN" altLang="zh-CN" dirty="0"/>
              <a:t>算法</a:t>
            </a:r>
            <a:r>
              <a:rPr lang="en-US" altLang="zh-CN" dirty="0"/>
              <a:t>3.33</a:t>
            </a:r>
            <a:r>
              <a:rPr lang="zh-CN" altLang="zh-CN" dirty="0"/>
              <a:t>：</a:t>
            </a:r>
            <a:r>
              <a:rPr lang="en-US" altLang="zh-CN" dirty="0"/>
              <a:t> </a:t>
            </a:r>
            <a:r>
              <a:rPr lang="en-US" altLang="zh-CN" dirty="0">
                <a:solidFill>
                  <a:srgbClr val="FF0000"/>
                </a:solidFill>
              </a:rPr>
              <a:t>KMP</a:t>
            </a:r>
            <a:r>
              <a:rPr lang="zh-CN" altLang="zh-CN" dirty="0">
                <a:solidFill>
                  <a:srgbClr val="FF0000"/>
                </a:solidFill>
              </a:rPr>
              <a:t>算法描述</a:t>
            </a:r>
          </a:p>
          <a:p>
            <a:pPr algn="just"/>
            <a:r>
              <a:rPr lang="en-US" altLang="zh-CN" b="0" dirty="0"/>
              <a:t>int String::KMP_Find(const String &amp;pat, int next[ ]){</a:t>
            </a:r>
            <a:endParaRPr lang="zh-CN" altLang="zh-CN" b="0" dirty="0"/>
          </a:p>
          <a:p>
            <a:pPr algn="just"/>
            <a:r>
              <a:rPr lang="en-US" altLang="zh-CN" b="0" dirty="0"/>
              <a:t>	//</a:t>
            </a:r>
            <a:r>
              <a:rPr lang="zh-CN" altLang="zh-CN" b="0" dirty="0"/>
              <a:t>在串中查找模式串</a:t>
            </a:r>
            <a:r>
              <a:rPr lang="en-US" altLang="zh-CN" b="0" dirty="0"/>
              <a:t>t</a:t>
            </a:r>
            <a:r>
              <a:rPr lang="zh-CN" altLang="zh-CN" b="0" dirty="0"/>
              <a:t>，若找到则返回</a:t>
            </a:r>
            <a:r>
              <a:rPr lang="en-US" altLang="zh-CN" b="0" dirty="0"/>
              <a:t>t</a:t>
            </a:r>
            <a:r>
              <a:rPr lang="zh-CN" altLang="zh-CN" b="0" dirty="0"/>
              <a:t>的首字符在</a:t>
            </a:r>
            <a:r>
              <a:rPr lang="en-US" altLang="zh-CN" b="0" dirty="0" err="1"/>
              <a:t>ch</a:t>
            </a:r>
            <a:r>
              <a:rPr lang="zh-CN" altLang="zh-CN" b="0" dirty="0"/>
              <a:t>中的位置，否则返回</a:t>
            </a:r>
            <a:r>
              <a:rPr lang="en-US" altLang="zh-CN" b="0" dirty="0"/>
              <a:t>-1</a:t>
            </a:r>
            <a:endParaRPr lang="zh-CN" altLang="zh-CN" b="0" dirty="0"/>
          </a:p>
          <a:p>
            <a:pPr algn="just"/>
            <a:r>
              <a:rPr lang="en-US" altLang="zh-CN" b="0" dirty="0"/>
              <a:t>	</a:t>
            </a:r>
            <a:r>
              <a:rPr lang="en-US" altLang="zh-CN" b="0" dirty="0" err="1"/>
              <a:t>int</a:t>
            </a:r>
            <a:r>
              <a:rPr lang="en-US" altLang="zh-CN" b="0" dirty="0"/>
              <a:t> </a:t>
            </a:r>
            <a:r>
              <a:rPr lang="en-US" altLang="zh-CN" b="0" dirty="0" err="1"/>
              <a:t>i</a:t>
            </a:r>
            <a:r>
              <a:rPr lang="en-US" altLang="zh-CN" b="0" dirty="0"/>
              <a:t>=0, j=0, </a:t>
            </a:r>
            <a:r>
              <a:rPr lang="en-US" altLang="zh-CN" b="0" dirty="0" err="1"/>
              <a:t>pos</a:t>
            </a:r>
            <a:r>
              <a:rPr lang="en-US" altLang="zh-CN" b="0" dirty="0"/>
              <a:t>;</a:t>
            </a:r>
            <a:endParaRPr lang="zh-CN" altLang="zh-CN" b="0" dirty="0"/>
          </a:p>
          <a:p>
            <a:pPr algn="just"/>
            <a:r>
              <a:rPr lang="en-US" altLang="zh-CN" b="0" dirty="0"/>
              <a:t>	while ( </a:t>
            </a:r>
            <a:r>
              <a:rPr lang="en-US" altLang="zh-CN" b="0" dirty="0" err="1"/>
              <a:t>i</a:t>
            </a:r>
            <a:r>
              <a:rPr lang="en-US" altLang="zh-CN" b="0" dirty="0"/>
              <a:t> &lt; size -1 &amp;&amp; j &lt; </a:t>
            </a:r>
            <a:r>
              <a:rPr lang="en-US" altLang="zh-CN" b="0" dirty="0" err="1"/>
              <a:t>pat.size</a:t>
            </a:r>
            <a:r>
              <a:rPr lang="en-US" altLang="zh-CN" b="0" dirty="0"/>
              <a:t> - 1){</a:t>
            </a:r>
            <a:endParaRPr lang="zh-CN" altLang="zh-CN" b="0" dirty="0"/>
          </a:p>
          <a:p>
            <a:pPr algn="just"/>
            <a:r>
              <a:rPr lang="en-US" altLang="zh-CN" b="0" dirty="0"/>
              <a:t>		if ( j == -1 || ch[i] == pat.ch[j] ){  //</a:t>
            </a:r>
            <a:r>
              <a:rPr lang="zh-CN" altLang="zh-CN" b="0" dirty="0"/>
              <a:t>当</a:t>
            </a:r>
            <a:r>
              <a:rPr lang="en-US" altLang="zh-CN" b="0" dirty="0" err="1"/>
              <a:t>s</a:t>
            </a:r>
            <a:r>
              <a:rPr lang="en-US" altLang="zh-CN" b="0" baseline="-25000" dirty="0" err="1"/>
              <a:t>i</a:t>
            </a:r>
            <a:r>
              <a:rPr lang="en-US" altLang="zh-CN" b="0" dirty="0"/>
              <a:t>=</a:t>
            </a:r>
            <a:r>
              <a:rPr lang="en-US" altLang="zh-CN" b="0" dirty="0" err="1"/>
              <a:t>t</a:t>
            </a:r>
            <a:r>
              <a:rPr lang="en-US" altLang="zh-CN" b="0" baseline="-25000" dirty="0" err="1"/>
              <a:t>j</a:t>
            </a:r>
            <a:r>
              <a:rPr lang="zh-CN" altLang="zh-CN" b="0" dirty="0"/>
              <a:t>时，</a:t>
            </a:r>
            <a:r>
              <a:rPr lang="en-US" altLang="zh-CN" b="0" dirty="0" err="1"/>
              <a:t>i</a:t>
            </a:r>
            <a:r>
              <a:rPr lang="zh-CN" altLang="zh-CN" b="0" dirty="0"/>
              <a:t>，</a:t>
            </a:r>
            <a:r>
              <a:rPr lang="en-US" altLang="zh-CN" b="0" dirty="0"/>
              <a:t>j</a:t>
            </a:r>
            <a:r>
              <a:rPr lang="zh-CN" altLang="zh-CN" b="0" dirty="0"/>
              <a:t>分别加</a:t>
            </a:r>
            <a:r>
              <a:rPr lang="en-US" altLang="zh-CN" b="0" dirty="0"/>
              <a:t>1</a:t>
            </a:r>
            <a:r>
              <a:rPr lang="zh-CN" altLang="zh-CN" b="0" dirty="0"/>
              <a:t>然后继续比较；</a:t>
            </a:r>
          </a:p>
          <a:p>
            <a:pPr algn="just"/>
            <a:r>
              <a:rPr lang="en-US" altLang="zh-CN" b="0" dirty="0"/>
              <a:t>			         //</a:t>
            </a:r>
            <a:r>
              <a:rPr lang="zh-CN" altLang="zh-CN" b="0" dirty="0"/>
              <a:t>当</a:t>
            </a:r>
            <a:r>
              <a:rPr lang="en-US" altLang="zh-CN" b="0" dirty="0"/>
              <a:t>j== -1</a:t>
            </a:r>
            <a:r>
              <a:rPr lang="zh-CN" altLang="zh-CN" b="0" dirty="0"/>
              <a:t>时要使</a:t>
            </a:r>
            <a:r>
              <a:rPr lang="en-US" altLang="zh-CN" b="0" dirty="0"/>
              <a:t>s</a:t>
            </a:r>
            <a:r>
              <a:rPr lang="en-US" altLang="zh-CN" b="0" baseline="-25000" dirty="0"/>
              <a:t>i+1</a:t>
            </a:r>
            <a:r>
              <a:rPr lang="zh-CN" altLang="zh-CN" b="0" dirty="0"/>
              <a:t>和</a:t>
            </a:r>
            <a:r>
              <a:rPr lang="en-US" altLang="zh-CN" b="0" dirty="0"/>
              <a:t>t</a:t>
            </a:r>
            <a:r>
              <a:rPr lang="en-US" altLang="zh-CN" b="0" baseline="-25000" dirty="0"/>
              <a:t>0</a:t>
            </a:r>
            <a:r>
              <a:rPr lang="zh-CN" altLang="zh-CN" b="0" dirty="0"/>
              <a:t>进行比较，因而</a:t>
            </a:r>
            <a:r>
              <a:rPr lang="en-US" altLang="zh-CN" b="0" dirty="0" err="1"/>
              <a:t>i,j</a:t>
            </a:r>
            <a:r>
              <a:rPr lang="zh-CN" altLang="zh-CN" b="0" dirty="0"/>
              <a:t>分别加</a:t>
            </a:r>
            <a:r>
              <a:rPr lang="en-US" altLang="zh-CN" b="0" dirty="0"/>
              <a:t>1</a:t>
            </a:r>
            <a:r>
              <a:rPr lang="zh-CN" altLang="zh-CN" b="0" dirty="0"/>
              <a:t>继续比较</a:t>
            </a:r>
          </a:p>
          <a:p>
            <a:pPr algn="just"/>
            <a:r>
              <a:rPr lang="en-US" altLang="zh-CN" b="0" dirty="0"/>
              <a:t>			i++; j++;</a:t>
            </a:r>
            <a:endParaRPr lang="zh-CN" altLang="zh-CN" b="0" dirty="0"/>
          </a:p>
          <a:p>
            <a:pPr algn="just"/>
            <a:r>
              <a:rPr lang="en-US" altLang="zh-CN" b="0" dirty="0"/>
              <a:t>		}else j = next[j];</a:t>
            </a:r>
            <a:endParaRPr lang="zh-CN" altLang="zh-CN" b="0" dirty="0"/>
          </a:p>
          <a:p>
            <a:pPr algn="just"/>
            <a:r>
              <a:rPr lang="en-US" altLang="zh-CN" b="0" dirty="0"/>
              <a:t>	}</a:t>
            </a:r>
            <a:endParaRPr lang="zh-CN" altLang="zh-CN" b="0" dirty="0"/>
          </a:p>
          <a:p>
            <a:pPr algn="just"/>
            <a:r>
              <a:rPr lang="en-US" altLang="zh-CN" b="0" dirty="0"/>
              <a:t>	if ( j &gt; pat.size – 1 ) pos = i – pat.size + 1;</a:t>
            </a:r>
            <a:endParaRPr lang="zh-CN" altLang="zh-CN" b="0" dirty="0"/>
          </a:p>
          <a:p>
            <a:pPr algn="just"/>
            <a:r>
              <a:rPr lang="en-US" altLang="zh-CN" b="0" dirty="0"/>
              <a:t>	else pos = -1;</a:t>
            </a:r>
            <a:endParaRPr lang="zh-CN" altLang="zh-CN" b="0" dirty="0"/>
          </a:p>
          <a:p>
            <a:pPr algn="just"/>
            <a:r>
              <a:rPr lang="en-US" altLang="zh-CN" b="0" dirty="0"/>
              <a:t>	return pos;</a:t>
            </a:r>
            <a:endParaRPr lang="zh-CN" altLang="zh-CN" b="0" dirty="0"/>
          </a:p>
          <a:p>
            <a:pPr algn="just"/>
            <a:r>
              <a:rPr lang="en-US" altLang="zh-CN" b="0" dirty="0"/>
              <a:t>}</a:t>
            </a:r>
            <a:endParaRPr lang="zh-CN" altLang="zh-CN" b="0" dirty="0"/>
          </a:p>
          <a:p>
            <a:pPr algn="just"/>
            <a:endParaRPr lang="zh-CN" altLang="en-US" dirty="0"/>
          </a:p>
        </p:txBody>
      </p:sp>
    </p:spTree>
    <p:extLst>
      <p:ext uri="{BB962C8B-B14F-4D97-AF65-F5344CB8AC3E}">
        <p14:creationId xmlns:p14="http://schemas.microsoft.com/office/powerpoint/2010/main" val="232614473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60" y="764704"/>
            <a:ext cx="8352928" cy="6093296"/>
          </a:xfrm>
        </p:spPr>
        <p:txBody>
          <a:bodyPr>
            <a:normAutofit fontScale="70000" lnSpcReduction="20000"/>
          </a:bodyPr>
          <a:lstStyle/>
          <a:p>
            <a:pPr algn="just">
              <a:buFont typeface="Arial" panose="020B0604020202020204" pitchFamily="34" charset="0"/>
              <a:buChar char="•"/>
            </a:pPr>
            <a:r>
              <a:rPr lang="zh-CN" altLang="zh-CN" sz="2900" b="0" dirty="0"/>
              <a:t>给出了</a:t>
            </a:r>
            <a:r>
              <a:rPr lang="en-US" altLang="zh-CN" sz="2900" b="0" dirty="0"/>
              <a:t>KMP</a:t>
            </a:r>
            <a:r>
              <a:rPr lang="zh-CN" altLang="zh-CN" sz="2900" b="0" dirty="0"/>
              <a:t>算法后，下面的问题就是：如何确定模式串的</a:t>
            </a:r>
            <a:r>
              <a:rPr lang="en-US" altLang="zh-CN" sz="2900" b="0" dirty="0"/>
              <a:t>next[]</a:t>
            </a:r>
            <a:r>
              <a:rPr lang="zh-CN" altLang="zh-CN" sz="2900" b="0" dirty="0"/>
              <a:t>数组？由</a:t>
            </a:r>
            <a:r>
              <a:rPr lang="en-US" altLang="zh-CN" sz="2900" b="0" dirty="0"/>
              <a:t>next[]</a:t>
            </a:r>
            <a:r>
              <a:rPr lang="zh-CN" altLang="zh-CN" sz="2900" b="0" dirty="0"/>
              <a:t>的定义可知，求模式串的</a:t>
            </a:r>
            <a:r>
              <a:rPr lang="en-US" altLang="zh-CN" sz="2900" b="0" dirty="0"/>
              <a:t>next[j]</a:t>
            </a:r>
            <a:r>
              <a:rPr lang="zh-CN" altLang="zh-CN" sz="2900" b="0" dirty="0"/>
              <a:t>值只与模式串本身相关，而与主串无关。</a:t>
            </a:r>
            <a:endParaRPr lang="en-US" altLang="zh-CN" sz="2900" b="0" dirty="0"/>
          </a:p>
          <a:p>
            <a:pPr algn="just"/>
            <a:r>
              <a:rPr lang="zh-CN" altLang="zh-CN" dirty="0"/>
              <a:t>算法</a:t>
            </a:r>
            <a:r>
              <a:rPr lang="en-US" altLang="zh-CN" dirty="0"/>
              <a:t>3.34</a:t>
            </a:r>
            <a:r>
              <a:rPr lang="zh-CN" altLang="zh-CN" dirty="0"/>
              <a:t>：</a:t>
            </a:r>
            <a:r>
              <a:rPr lang="zh-CN" altLang="zh-CN" dirty="0">
                <a:solidFill>
                  <a:srgbClr val="FF0000"/>
                </a:solidFill>
              </a:rPr>
              <a:t>计算串的</a:t>
            </a:r>
            <a:r>
              <a:rPr lang="en-US" altLang="zh-CN" dirty="0">
                <a:solidFill>
                  <a:srgbClr val="FF0000"/>
                </a:solidFill>
              </a:rPr>
              <a:t>next[j]</a:t>
            </a:r>
            <a:r>
              <a:rPr lang="zh-CN" altLang="zh-CN" dirty="0">
                <a:solidFill>
                  <a:srgbClr val="FF0000"/>
                </a:solidFill>
              </a:rPr>
              <a:t>的算法</a:t>
            </a:r>
          </a:p>
          <a:p>
            <a:pPr algn="just"/>
            <a:r>
              <a:rPr lang="en-US" altLang="zh-CN" b="0" dirty="0"/>
              <a:t>void String::</a:t>
            </a:r>
            <a:r>
              <a:rPr lang="en-US" altLang="zh-CN" b="0" dirty="0" err="1"/>
              <a:t>getNext</a:t>
            </a:r>
            <a:r>
              <a:rPr lang="en-US" altLang="zh-CN" b="0" dirty="0"/>
              <a:t>(</a:t>
            </a:r>
            <a:r>
              <a:rPr lang="en-US" altLang="zh-CN" b="0" dirty="0" err="1"/>
              <a:t>int</a:t>
            </a:r>
            <a:r>
              <a:rPr lang="en-US" altLang="zh-CN" b="0" dirty="0"/>
              <a:t> next[]){</a:t>
            </a:r>
            <a:endParaRPr lang="zh-CN" altLang="zh-CN" b="0" dirty="0"/>
          </a:p>
          <a:p>
            <a:pPr algn="just"/>
            <a:r>
              <a:rPr lang="en-US" altLang="zh-CN" b="0" dirty="0"/>
              <a:t>	</a:t>
            </a:r>
            <a:r>
              <a:rPr lang="en-US" altLang="zh-CN" b="0" dirty="0" err="1"/>
              <a:t>int</a:t>
            </a:r>
            <a:r>
              <a:rPr lang="en-US" altLang="zh-CN" b="0" dirty="0"/>
              <a:t> j=0, k=-1;</a:t>
            </a:r>
            <a:endParaRPr lang="zh-CN" altLang="zh-CN" b="0" dirty="0"/>
          </a:p>
          <a:p>
            <a:pPr algn="just"/>
            <a:r>
              <a:rPr lang="en-US" altLang="zh-CN" b="0" dirty="0"/>
              <a:t>	next[0]=-1;</a:t>
            </a:r>
            <a:endParaRPr lang="zh-CN" altLang="zh-CN" b="0" dirty="0"/>
          </a:p>
          <a:p>
            <a:pPr algn="just"/>
            <a:r>
              <a:rPr lang="en-US" altLang="zh-CN" b="0" dirty="0"/>
              <a:t>	while( j &lt; size -1){</a:t>
            </a:r>
            <a:endParaRPr lang="zh-CN" altLang="zh-CN" b="0" dirty="0"/>
          </a:p>
          <a:p>
            <a:pPr algn="just"/>
            <a:r>
              <a:rPr lang="en-US" altLang="zh-CN" b="0" dirty="0"/>
              <a:t>		if ( k == -1 || ch[j] == ch[k] ){</a:t>
            </a:r>
          </a:p>
          <a:p>
            <a:pPr algn="just"/>
            <a:r>
              <a:rPr lang="en-US" altLang="zh-CN" b="0" dirty="0"/>
              <a:t>		//</a:t>
            </a:r>
            <a:r>
              <a:rPr lang="zh-CN" altLang="zh-CN" b="0" dirty="0"/>
              <a:t>当</a:t>
            </a:r>
            <a:r>
              <a:rPr lang="en-US" altLang="zh-CN" b="0" dirty="0" err="1"/>
              <a:t>t</a:t>
            </a:r>
            <a:r>
              <a:rPr lang="en-US" altLang="zh-CN" b="0" baseline="-25000" dirty="0" err="1"/>
              <a:t>j</a:t>
            </a:r>
            <a:r>
              <a:rPr lang="en-US" altLang="zh-CN" b="0" dirty="0"/>
              <a:t>=</a:t>
            </a:r>
            <a:r>
              <a:rPr lang="en-US" altLang="zh-CN" b="0" dirty="0" err="1"/>
              <a:t>t</a:t>
            </a:r>
            <a:r>
              <a:rPr lang="en-US" altLang="zh-CN" b="0" baseline="-25000" dirty="0" err="1"/>
              <a:t>k</a:t>
            </a:r>
            <a:r>
              <a:rPr lang="zh-CN" altLang="zh-CN" b="0" dirty="0"/>
              <a:t>时，</a:t>
            </a:r>
            <a:r>
              <a:rPr lang="en-US" altLang="zh-CN" b="0" dirty="0"/>
              <a:t>j</a:t>
            </a:r>
            <a:r>
              <a:rPr lang="zh-CN" altLang="zh-CN" b="0" dirty="0"/>
              <a:t>和</a:t>
            </a:r>
            <a:r>
              <a:rPr lang="en-US" altLang="zh-CN" b="0" dirty="0"/>
              <a:t>k</a:t>
            </a:r>
            <a:r>
              <a:rPr lang="zh-CN" altLang="zh-CN" b="0" dirty="0"/>
              <a:t>分别加</a:t>
            </a:r>
            <a:r>
              <a:rPr lang="en-US" altLang="zh-CN" b="0" dirty="0"/>
              <a:t>1</a:t>
            </a:r>
            <a:r>
              <a:rPr lang="zh-CN" altLang="zh-CN" b="0" dirty="0"/>
              <a:t>，同时计算</a:t>
            </a:r>
            <a:r>
              <a:rPr lang="en-US" altLang="zh-CN" b="0" dirty="0"/>
              <a:t>next[j],</a:t>
            </a:r>
            <a:r>
              <a:rPr lang="zh-CN" altLang="zh-CN" b="0" dirty="0"/>
              <a:t>再继续比较</a:t>
            </a:r>
          </a:p>
          <a:p>
            <a:pPr algn="just"/>
            <a:r>
              <a:rPr lang="en-US" altLang="zh-CN" b="0" dirty="0"/>
              <a:t>		//</a:t>
            </a:r>
            <a:r>
              <a:rPr lang="zh-CN" altLang="zh-CN" b="0" dirty="0"/>
              <a:t>当</a:t>
            </a:r>
            <a:r>
              <a:rPr lang="en-US" altLang="zh-CN" b="0" dirty="0"/>
              <a:t>k==-1</a:t>
            </a:r>
            <a:r>
              <a:rPr lang="zh-CN" altLang="zh-CN" b="0" dirty="0"/>
              <a:t>时，要使</a:t>
            </a:r>
            <a:r>
              <a:rPr lang="en-US" altLang="zh-CN" b="0" dirty="0"/>
              <a:t>s</a:t>
            </a:r>
            <a:r>
              <a:rPr lang="en-US" altLang="zh-CN" b="0" baseline="-25000" dirty="0"/>
              <a:t>j+1</a:t>
            </a:r>
            <a:r>
              <a:rPr lang="zh-CN" altLang="zh-CN" b="0" dirty="0"/>
              <a:t>与</a:t>
            </a:r>
            <a:r>
              <a:rPr lang="en-US" altLang="zh-CN" b="0" dirty="0"/>
              <a:t>t</a:t>
            </a:r>
            <a:r>
              <a:rPr lang="en-US" altLang="zh-CN" b="0" baseline="-25000" dirty="0"/>
              <a:t>1</a:t>
            </a:r>
            <a:r>
              <a:rPr lang="zh-CN" altLang="zh-CN" b="0" dirty="0"/>
              <a:t>比较，因而</a:t>
            </a:r>
            <a:r>
              <a:rPr lang="en-US" altLang="zh-CN" b="0" dirty="0"/>
              <a:t>j</a:t>
            </a:r>
            <a:r>
              <a:rPr lang="zh-CN" altLang="zh-CN" b="0" dirty="0"/>
              <a:t>和</a:t>
            </a:r>
            <a:r>
              <a:rPr lang="en-US" altLang="zh-CN" b="0" dirty="0"/>
              <a:t>k</a:t>
            </a:r>
            <a:r>
              <a:rPr lang="zh-CN" altLang="zh-CN" b="0" dirty="0"/>
              <a:t>分别加</a:t>
            </a:r>
            <a:r>
              <a:rPr lang="en-US" altLang="zh-CN" b="0" dirty="0"/>
              <a:t>1</a:t>
            </a:r>
            <a:r>
              <a:rPr lang="zh-CN" altLang="zh-CN" b="0" dirty="0"/>
              <a:t>，计算</a:t>
            </a:r>
            <a:r>
              <a:rPr lang="en-US" altLang="zh-CN" b="0" dirty="0"/>
              <a:t>next[j],</a:t>
            </a:r>
            <a:r>
              <a:rPr lang="zh-CN" altLang="zh-CN" b="0" dirty="0"/>
              <a:t>再继续比较</a:t>
            </a:r>
          </a:p>
          <a:p>
            <a:pPr algn="just"/>
            <a:r>
              <a:rPr lang="en-US" altLang="zh-CN" b="0" dirty="0"/>
              <a:t>			j++; k++;</a:t>
            </a:r>
            <a:endParaRPr lang="zh-CN" altLang="zh-CN" b="0" dirty="0"/>
          </a:p>
          <a:p>
            <a:pPr algn="just"/>
            <a:r>
              <a:rPr lang="en-US" altLang="zh-CN" b="0" dirty="0"/>
              <a:t>			next[j]=k;</a:t>
            </a:r>
            <a:endParaRPr lang="zh-CN" altLang="zh-CN" b="0" dirty="0"/>
          </a:p>
          <a:p>
            <a:pPr algn="just"/>
            <a:r>
              <a:rPr lang="en-US" altLang="zh-CN" b="0" dirty="0"/>
              <a:t>		} else k=next[k];</a:t>
            </a:r>
            <a:endParaRPr lang="zh-CN" altLang="zh-CN" b="0" dirty="0"/>
          </a:p>
          <a:p>
            <a:pPr algn="just"/>
            <a:r>
              <a:rPr lang="en-US" altLang="zh-CN" b="0" dirty="0"/>
              <a:t>	} </a:t>
            </a:r>
            <a:endParaRPr lang="zh-CN" altLang="zh-CN" b="0" dirty="0"/>
          </a:p>
          <a:p>
            <a:pPr algn="just"/>
            <a:r>
              <a:rPr lang="en-US" altLang="zh-CN" b="0" dirty="0"/>
              <a:t>}</a:t>
            </a:r>
            <a:endParaRPr lang="zh-CN" altLang="zh-CN" b="0" dirty="0"/>
          </a:p>
          <a:p>
            <a:pPr algn="just">
              <a:buFont typeface="Arial" panose="020B0604020202020204" pitchFamily="34" charset="0"/>
              <a:buChar char="•"/>
            </a:pPr>
            <a:endParaRPr lang="zh-CN" altLang="en-US" b="0" dirty="0"/>
          </a:p>
        </p:txBody>
      </p:sp>
    </p:spTree>
    <p:extLst>
      <p:ext uri="{BB962C8B-B14F-4D97-AF65-F5344CB8AC3E}">
        <p14:creationId xmlns:p14="http://schemas.microsoft.com/office/powerpoint/2010/main" val="2238106268"/>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角度">
  <a:themeElements>
    <a:clrScheme name="角度">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角度">
      <a:majorFont>
        <a:latin typeface="Franklin Gothic Medium"/>
        <a:ea typeface=""/>
        <a:cs typeface=""/>
        <a:font script="Jpan" typeface="HG創英角ｺﾞｼｯｸUB"/>
        <a:font script="Hang" typeface="돋움"/>
        <a:font script="Hans" typeface="微软雅黑"/>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ＭＳ Ｐゴシック"/>
        <a:font script="Hang" typeface="맑은 고딕"/>
        <a:font script="Hans" typeface="隶书"/>
        <a:font script="Hant" typeface="新細明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角度">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blipFill rotWithShape="1">
          <a:blip xmlns:r="http://schemas.openxmlformats.org/officeDocument/2006/relationships" r:embed="rId1">
            <a:duotone>
              <a:schemeClr val="phClr">
                <a:tint val="90000"/>
                <a:shade val="85000"/>
              </a:schemeClr>
              <a:schemeClr val="phClr">
                <a:tint val="95000"/>
                <a:shade val="99000"/>
              </a:schemeClr>
            </a:duotone>
          </a:blip>
          <a:tile tx="0" ty="0" sx="100000" sy="100000" flip="none" algn="tl"/>
        </a:blipFill>
        <a:blipFill rotWithShape="1">
          <a:blip xmlns:r="http://schemas.openxmlformats.org/officeDocument/2006/relationships" r:embed="rId2">
            <a:duotone>
              <a:schemeClr val="phClr">
                <a:tint val="93000"/>
                <a:shade val="85000"/>
              </a:schemeClr>
              <a:schemeClr val="phClr">
                <a:tint val="96000"/>
                <a:shade val="99000"/>
              </a:schemeClr>
            </a:duotone>
          </a:blip>
          <a:tile tx="0" ty="0" sx="90000" sy="90000" flip="none" algn="tl"/>
        </a:blip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Angles</Template>
  <TotalTime>2533</TotalTime>
  <Words>12398</Words>
  <Application>Microsoft Office PowerPoint</Application>
  <PresentationFormat>全屏显示(4:3)</PresentationFormat>
  <Paragraphs>950</Paragraphs>
  <Slides>100</Slides>
  <Notes>0</Notes>
  <HiddenSlides>0</HiddenSlides>
  <MMClips>0</MMClips>
  <ScaleCrop>false</ScaleCrop>
  <HeadingPairs>
    <vt:vector size="8" baseType="variant">
      <vt:variant>
        <vt:lpstr>已用的字体</vt:lpstr>
      </vt:variant>
      <vt:variant>
        <vt:i4>19</vt:i4>
      </vt:variant>
      <vt:variant>
        <vt:lpstr>主题</vt:lpstr>
      </vt:variant>
      <vt:variant>
        <vt:i4>1</vt:i4>
      </vt:variant>
      <vt:variant>
        <vt:lpstr>嵌入 OLE 服务器</vt:lpstr>
      </vt:variant>
      <vt:variant>
        <vt:i4>0</vt:i4>
      </vt:variant>
      <vt:variant>
        <vt:lpstr>幻灯片标题</vt:lpstr>
      </vt:variant>
      <vt:variant>
        <vt:i4>100</vt:i4>
      </vt:variant>
    </vt:vector>
  </HeadingPairs>
  <TitlesOfParts>
    <vt:vector size="120" baseType="lpstr">
      <vt:lpstr>等线</vt:lpstr>
      <vt:lpstr>方正兰亭超细黑简体</vt:lpstr>
      <vt:lpstr>方正启体简体</vt:lpstr>
      <vt:lpstr>方正舒体</vt:lpstr>
      <vt:lpstr>仿宋</vt:lpstr>
      <vt:lpstr>黑体</vt:lpstr>
      <vt:lpstr>华文行楷</vt:lpstr>
      <vt:lpstr>华文中宋</vt:lpstr>
      <vt:lpstr>楷体</vt:lpstr>
      <vt:lpstr>楷体_GB2312</vt:lpstr>
      <vt:lpstr>隶书</vt:lpstr>
      <vt:lpstr>宋体</vt:lpstr>
      <vt:lpstr>Arial</vt:lpstr>
      <vt:lpstr>Calibri</vt:lpstr>
      <vt:lpstr>Consolas</vt:lpstr>
      <vt:lpstr>Franklin Gothic Book</vt:lpstr>
      <vt:lpstr>Franklin Gothic Medium</vt:lpstr>
      <vt:lpstr>Times New Roman</vt:lpstr>
      <vt:lpstr>Wingdings</vt:lpstr>
      <vt:lpstr>角度</vt:lpstr>
      <vt:lpstr>第3章  受限线性表——   栈、队列及串</vt:lpstr>
      <vt:lpstr>3.1 操作受限线性表---栈</vt:lpstr>
      <vt:lpstr>PowerPoint 演示文稿</vt:lpstr>
      <vt:lpstr>PowerPoint 演示文稿</vt:lpstr>
      <vt:lpstr>PowerPoint 演示文稿</vt:lpstr>
      <vt:lpstr>PowerPoint 演示文稿</vt:lpstr>
      <vt:lpstr>3.2 栈的存储结构</vt:lpstr>
      <vt:lpstr>3.2 栈的存储结构</vt:lpstr>
      <vt:lpstr>PowerPoint 演示文稿</vt:lpstr>
      <vt:lpstr>PowerPoint 演示文稿</vt:lpstr>
      <vt:lpstr>PowerPoint 演示文稿</vt:lpstr>
      <vt:lpstr>顺序栈基本操作</vt:lpstr>
      <vt:lpstr>PowerPoint 演示文稿</vt:lpstr>
      <vt:lpstr>PowerPoint 演示文稿</vt:lpstr>
      <vt:lpstr>PowerPoint 演示文稿</vt:lpstr>
      <vt:lpstr>PowerPoint 演示文稿</vt:lpstr>
      <vt:lpstr>3.2.2 链栈的定义及实现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3.3 栈的应用</vt:lpstr>
      <vt:lpstr>PowerPoint 演示文稿</vt:lpstr>
      <vt:lpstr>PowerPoint 演示文稿</vt:lpstr>
      <vt:lpstr>PowerPoint 演示文稿</vt:lpstr>
      <vt:lpstr>PowerPoint 演示文稿</vt:lpstr>
      <vt:lpstr>【例】走迷宫问题</vt:lpstr>
      <vt:lpstr>PowerPoint 演示文稿</vt:lpstr>
      <vt:lpstr>PowerPoint 演示文稿</vt:lpstr>
      <vt:lpstr>PowerPoint 演示文稿</vt:lpstr>
      <vt:lpstr>PowerPoint 演示文稿</vt:lpstr>
      <vt:lpstr>3.3.2 栈与递归</vt:lpstr>
      <vt:lpstr>PowerPoint 演示文稿</vt:lpstr>
      <vt:lpstr>PowerPoint 演示文稿</vt:lpstr>
      <vt:lpstr>PowerPoint 演示文稿</vt:lpstr>
      <vt:lpstr>汉诺塔问题</vt:lpstr>
      <vt:lpstr>PowerPoint 演示文稿</vt:lpstr>
      <vt:lpstr>PowerPoint 演示文稿</vt:lpstr>
      <vt:lpstr>PowerPoint 演示文稿</vt:lpstr>
      <vt:lpstr>PowerPoint 演示文稿</vt:lpstr>
      <vt:lpstr>3.4 操作受限线性表---队列</vt:lpstr>
      <vt:lpstr>PowerPoint 演示文稿</vt:lpstr>
      <vt:lpstr> 3.5 队列的存储结构及实现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3.5.2 队列的链式存储结构及实现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3.6 队列的应用</vt:lpstr>
      <vt:lpstr>PowerPoint 演示文稿</vt:lpstr>
      <vt:lpstr>PowerPoint 演示文稿</vt:lpstr>
      <vt:lpstr>3.6.2 火车车厢重排</vt:lpstr>
      <vt:lpstr>PowerPoint 演示文稿</vt:lpstr>
      <vt:lpstr>PowerPoint 演示文稿</vt:lpstr>
      <vt:lpstr>3.7 类型受限线性表---字符串*</vt:lpstr>
      <vt:lpstr>3.7.2 串的操作</vt:lpstr>
      <vt:lpstr>PowerPoint 演示文稿</vt:lpstr>
      <vt:lpstr>PowerPoint 演示文稿</vt:lpstr>
      <vt:lpstr>3.7.3 串的存储结构</vt:lpstr>
      <vt:lpstr>PowerPoint 演示文稿</vt:lpstr>
      <vt:lpstr>PowerPoint 演示文稿</vt:lpstr>
      <vt:lpstr>PowerPoint 演示文稿</vt:lpstr>
      <vt:lpstr>3.7.4 串类及其实现</vt:lpstr>
      <vt:lpstr>PowerPoint 演示文稿</vt:lpstr>
      <vt:lpstr>PowerPoint 演示文稿</vt:lpstr>
      <vt:lpstr>PowerPoint 演示文稿</vt:lpstr>
      <vt:lpstr>PowerPoint 演示文稿</vt:lpstr>
      <vt:lpstr>PowerPoint 演示文稿</vt:lpstr>
      <vt:lpstr>3.7.5 串的模式匹配</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第2章 　算法分析</dc:title>
  <dc:creator>Admin</dc:creator>
  <cp:lastModifiedBy>xy yang</cp:lastModifiedBy>
  <cp:revision>342</cp:revision>
  <dcterms:created xsi:type="dcterms:W3CDTF">2016-02-05T07:36:15Z</dcterms:created>
  <dcterms:modified xsi:type="dcterms:W3CDTF">2025-09-28T01:33:06Z</dcterms:modified>
</cp:coreProperties>
</file>